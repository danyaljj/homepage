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9"/>
  </p:notesMasterIdLst>
  <p:sldIdLst>
    <p:sldId id="278" r:id="rId2"/>
    <p:sldId id="2886" r:id="rId3"/>
    <p:sldId id="2891" r:id="rId4"/>
    <p:sldId id="2114" r:id="rId5"/>
    <p:sldId id="2142" r:id="rId6"/>
    <p:sldId id="2143" r:id="rId7"/>
    <p:sldId id="2144" r:id="rId8"/>
    <p:sldId id="2146" r:id="rId9"/>
    <p:sldId id="2145" r:id="rId10"/>
    <p:sldId id="2147" r:id="rId11"/>
    <p:sldId id="2150" r:id="rId12"/>
    <p:sldId id="2154" r:id="rId13"/>
    <p:sldId id="2157" r:id="rId14"/>
    <p:sldId id="2158" r:id="rId15"/>
    <p:sldId id="2671" r:id="rId16"/>
    <p:sldId id="2924" r:id="rId17"/>
    <p:sldId id="2892" r:id="rId18"/>
    <p:sldId id="2893" r:id="rId19"/>
    <p:sldId id="2942" r:id="rId20"/>
    <p:sldId id="2894" r:id="rId21"/>
    <p:sldId id="2895" r:id="rId22"/>
    <p:sldId id="2932" r:id="rId23"/>
    <p:sldId id="2187" r:id="rId24"/>
    <p:sldId id="2926" r:id="rId25"/>
    <p:sldId id="2927" r:id="rId26"/>
    <p:sldId id="470" r:id="rId27"/>
    <p:sldId id="2592" r:id="rId28"/>
    <p:sldId id="2124" r:id="rId29"/>
    <p:sldId id="2922" r:id="rId30"/>
    <p:sldId id="2923" r:id="rId31"/>
    <p:sldId id="2775" r:id="rId32"/>
    <p:sldId id="2928" r:id="rId33"/>
    <p:sldId id="2929" r:id="rId34"/>
    <p:sldId id="2909" r:id="rId35"/>
    <p:sldId id="2911" r:id="rId36"/>
    <p:sldId id="2912" r:id="rId37"/>
    <p:sldId id="2913" r:id="rId38"/>
    <p:sldId id="2915" r:id="rId39"/>
    <p:sldId id="2914" r:id="rId40"/>
    <p:sldId id="2916" r:id="rId41"/>
    <p:sldId id="2897" r:id="rId42"/>
    <p:sldId id="2933" r:id="rId43"/>
    <p:sldId id="2940" r:id="rId44"/>
    <p:sldId id="2899" r:id="rId45"/>
    <p:sldId id="2900" r:id="rId46"/>
    <p:sldId id="2901" r:id="rId47"/>
    <p:sldId id="2902" r:id="rId48"/>
    <p:sldId id="2903" r:id="rId49"/>
    <p:sldId id="2904" r:id="rId50"/>
    <p:sldId id="2905" r:id="rId51"/>
    <p:sldId id="2906" r:id="rId52"/>
    <p:sldId id="2907" r:id="rId53"/>
    <p:sldId id="2908" r:id="rId54"/>
    <p:sldId id="2941" r:id="rId55"/>
    <p:sldId id="2919" r:id="rId56"/>
    <p:sldId id="2920" r:id="rId57"/>
    <p:sldId id="2921" r:id="rId58"/>
    <p:sldId id="2918" r:id="rId59"/>
    <p:sldId id="2925" r:id="rId60"/>
    <p:sldId id="2930" r:id="rId61"/>
    <p:sldId id="2931" r:id="rId62"/>
    <p:sldId id="2935" r:id="rId63"/>
    <p:sldId id="2937" r:id="rId64"/>
    <p:sldId id="2936" r:id="rId65"/>
    <p:sldId id="2939" r:id="rId66"/>
    <p:sldId id="2885" r:id="rId67"/>
    <p:sldId id="2934" r:id="rId6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orbel" panose="020B0503020204020204" pitchFamily="34" charset="0"/>
        <a:ea typeface="+mn-ea"/>
        <a:cs typeface="+mn-cs"/>
      </a:defRPr>
    </a:lvl1pPr>
    <a:lvl2pPr marL="457200" algn="l" rtl="0" eaLnBrk="0" fontAlgn="base" hangingPunct="0">
      <a:spcBef>
        <a:spcPct val="0"/>
      </a:spcBef>
      <a:spcAft>
        <a:spcPct val="0"/>
      </a:spcAft>
      <a:defRPr kern="1200">
        <a:solidFill>
          <a:schemeClr val="tx1"/>
        </a:solidFill>
        <a:latin typeface="Corbel" panose="020B0503020204020204" pitchFamily="34" charset="0"/>
        <a:ea typeface="+mn-ea"/>
        <a:cs typeface="+mn-cs"/>
      </a:defRPr>
    </a:lvl2pPr>
    <a:lvl3pPr marL="914400" algn="l" rtl="0" eaLnBrk="0" fontAlgn="base" hangingPunct="0">
      <a:spcBef>
        <a:spcPct val="0"/>
      </a:spcBef>
      <a:spcAft>
        <a:spcPct val="0"/>
      </a:spcAft>
      <a:defRPr kern="1200">
        <a:solidFill>
          <a:schemeClr val="tx1"/>
        </a:solidFill>
        <a:latin typeface="Corbel" panose="020B0503020204020204" pitchFamily="34" charset="0"/>
        <a:ea typeface="+mn-ea"/>
        <a:cs typeface="+mn-cs"/>
      </a:defRPr>
    </a:lvl3pPr>
    <a:lvl4pPr marL="1371600" algn="l" rtl="0" eaLnBrk="0" fontAlgn="base" hangingPunct="0">
      <a:spcBef>
        <a:spcPct val="0"/>
      </a:spcBef>
      <a:spcAft>
        <a:spcPct val="0"/>
      </a:spcAft>
      <a:defRPr kern="1200">
        <a:solidFill>
          <a:schemeClr val="tx1"/>
        </a:solidFill>
        <a:latin typeface="Corbel" panose="020B0503020204020204" pitchFamily="34" charset="0"/>
        <a:ea typeface="+mn-ea"/>
        <a:cs typeface="+mn-cs"/>
      </a:defRPr>
    </a:lvl4pPr>
    <a:lvl5pPr marL="1828800" algn="l" rtl="0" eaLnBrk="0" fontAlgn="base" hangingPunct="0">
      <a:spcBef>
        <a:spcPct val="0"/>
      </a:spcBef>
      <a:spcAft>
        <a:spcPct val="0"/>
      </a:spcAft>
      <a:defRPr kern="1200">
        <a:solidFill>
          <a:schemeClr val="tx1"/>
        </a:solidFill>
        <a:latin typeface="Corbel" panose="020B0503020204020204" pitchFamily="34" charset="0"/>
        <a:ea typeface="+mn-ea"/>
        <a:cs typeface="+mn-cs"/>
      </a:defRPr>
    </a:lvl5pPr>
    <a:lvl6pPr marL="2286000" algn="l" defTabSz="914400" rtl="0" eaLnBrk="1" latinLnBrk="0" hangingPunct="1">
      <a:defRPr kern="1200">
        <a:solidFill>
          <a:schemeClr val="tx1"/>
        </a:solidFill>
        <a:latin typeface="Corbel" panose="020B0503020204020204" pitchFamily="34" charset="0"/>
        <a:ea typeface="+mn-ea"/>
        <a:cs typeface="+mn-cs"/>
      </a:defRPr>
    </a:lvl6pPr>
    <a:lvl7pPr marL="2743200" algn="l" defTabSz="914400" rtl="0" eaLnBrk="1" latinLnBrk="0" hangingPunct="1">
      <a:defRPr kern="1200">
        <a:solidFill>
          <a:schemeClr val="tx1"/>
        </a:solidFill>
        <a:latin typeface="Corbel" panose="020B0503020204020204" pitchFamily="34" charset="0"/>
        <a:ea typeface="+mn-ea"/>
        <a:cs typeface="+mn-cs"/>
      </a:defRPr>
    </a:lvl7pPr>
    <a:lvl8pPr marL="3200400" algn="l" defTabSz="914400" rtl="0" eaLnBrk="1" latinLnBrk="0" hangingPunct="1">
      <a:defRPr kern="1200">
        <a:solidFill>
          <a:schemeClr val="tx1"/>
        </a:solidFill>
        <a:latin typeface="Corbel" panose="020B0503020204020204" pitchFamily="34" charset="0"/>
        <a:ea typeface="+mn-ea"/>
        <a:cs typeface="+mn-cs"/>
      </a:defRPr>
    </a:lvl8pPr>
    <a:lvl9pPr marL="3657600" algn="l" defTabSz="914400" rtl="0" eaLnBrk="1" latinLnBrk="0" hangingPunct="1">
      <a:defRPr kern="1200">
        <a:solidFill>
          <a:schemeClr val="tx1"/>
        </a:solidFill>
        <a:latin typeface="Corbel" panose="020B0503020204020204" pitchFamily="34" charset="0"/>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C97BE05-7214-46BD-569F-A0959E827800}" name="Daniel Khashabi" initials="DK" userId="S::dkhasha1@jh.edu::62390808-c838-45e6-be59-d6fd0d208bc8" providerId="AD"/>
  <p188:author id="{CC7901B2-AA95-7F71-1AE9-930C15FFDB5A}" name="Muhan Gao" initials="MG" userId="S::mgao38@jh.edu::d9422188-f87e-4b1a-b204-cc34f11d7e5e" providerId="AD"/>
  <p188:author id="{CCF597F8-0F90-52B1-F925-7EE32040DA8A}" name="Tianjian Li" initials="TL" userId="S::tli104@jh.edu::503e8ea7-3d63-4c0d-9464-605bc52cb3c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833C"/>
    <a:srgbClr val="F8FAFD"/>
    <a:srgbClr val="6154AC"/>
    <a:srgbClr val="FFE1E2"/>
    <a:srgbClr val="E4FFE8"/>
    <a:srgbClr val="AFB8C3"/>
    <a:srgbClr val="2151B6"/>
    <a:srgbClr val="FFFEFD"/>
    <a:srgbClr val="FFFDFD"/>
    <a:srgbClr val="214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B48ECE-D0D0-7146-B890-5F892558EF36}" v="887" dt="2026-07-28T18:55:08.5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909"/>
    <p:restoredTop sz="74759"/>
  </p:normalViewPr>
  <p:slideViewPr>
    <p:cSldViewPr snapToGrid="0">
      <p:cViewPr varScale="1">
        <p:scale>
          <a:sx n="100" d="100"/>
          <a:sy n="100" d="100"/>
        </p:scale>
        <p:origin x="168" y="224"/>
      </p:cViewPr>
      <p:guideLst/>
    </p:cSldViewPr>
  </p:slideViewPr>
  <p:notesTextViewPr>
    <p:cViewPr>
      <p:scale>
        <a:sx n="155" d="100"/>
        <a:sy n="15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75"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US" sz="1200" dirty="0"/>
              <a:t>Probability</a:t>
            </a:r>
          </a:p>
        </c:rich>
      </c:tx>
      <c:layout>
        <c:manualLayout>
          <c:xMode val="edge"/>
          <c:yMode val="edge"/>
          <c:x val="0.46972476808802072"/>
          <c:y val="4.0319337619952676E-2"/>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Sheet1!$A$3:$A$7</c:f>
              <c:strCache>
                <c:ptCount val="5"/>
                <c:pt idx="0">
                  <c:v>science</c:v>
                </c:pt>
                <c:pt idx="1">
                  <c:v>technology</c:v>
                </c:pt>
                <c:pt idx="2">
                  <c:v>program </c:v>
                </c:pt>
                <c:pt idx="3">
                  <c:v>code</c:v>
                </c:pt>
                <c:pt idx="4">
                  <c:v>industry</c:v>
                </c:pt>
              </c:strCache>
            </c:strRef>
          </c:cat>
          <c:val>
            <c:numRef>
              <c:f>Sheet1!$B$3:$B$7</c:f>
              <c:numCache>
                <c:formatCode>General</c:formatCode>
                <c:ptCount val="5"/>
                <c:pt idx="0">
                  <c:v>0.1</c:v>
                </c:pt>
                <c:pt idx="1">
                  <c:v>0.2</c:v>
                </c:pt>
                <c:pt idx="2">
                  <c:v>0.25</c:v>
                </c:pt>
                <c:pt idx="3">
                  <c:v>0.3</c:v>
                </c:pt>
                <c:pt idx="4">
                  <c:v>0.35</c:v>
                </c:pt>
              </c:numCache>
            </c:numRef>
          </c:val>
          <c:extLst>
            <c:ext xmlns:c16="http://schemas.microsoft.com/office/drawing/2014/chart" uri="{C3380CC4-5D6E-409C-BE32-E72D297353CC}">
              <c16:uniqueId val="{00000000-5AD6-3644-BE9E-7C9932E60821}"/>
            </c:ext>
          </c:extLst>
        </c:ser>
        <c:dLbls>
          <c:showLegendKey val="0"/>
          <c:showVal val="0"/>
          <c:showCatName val="0"/>
          <c:showSerName val="0"/>
          <c:showPercent val="0"/>
          <c:showBubbleSize val="0"/>
        </c:dLbls>
        <c:gapWidth val="182"/>
        <c:axId val="1714282639"/>
        <c:axId val="1627076911"/>
      </c:barChart>
      <c:catAx>
        <c:axId val="1714282639"/>
        <c:scaling>
          <c:orientation val="minMax"/>
        </c:scaling>
        <c:delete val="0"/>
        <c:axPos val="l"/>
        <c:numFmt formatCode="General" sourceLinked="1"/>
        <c:majorTickMark val="none"/>
        <c:minorTickMark val="none"/>
        <c:tickLblPos val="nextTo"/>
        <c:spPr>
          <a:noFill/>
          <a:ln w="9525" cap="flat" cmpd="sng" algn="ctr">
            <a:solidFill>
              <a:srgbClr val="000000"/>
            </a:solidFill>
            <a:round/>
          </a:ln>
          <a:effectLst/>
        </c:spPr>
        <c:txPr>
          <a:bodyPr rot="-60000000" spcFirstLastPara="1" vertOverflow="ellipsis" vert="horz" wrap="square" anchor="ctr" anchorCtr="1"/>
          <a:lstStyle/>
          <a:p>
            <a:pPr>
              <a:defRPr sz="1197" b="0" i="0" u="none" strike="noStrike" kern="1200" baseline="0">
                <a:solidFill>
                  <a:srgbClr val="000000"/>
                </a:solidFill>
                <a:latin typeface="+mn-lt"/>
                <a:ea typeface="+mn-ea"/>
                <a:cs typeface="+mn-cs"/>
              </a:defRPr>
            </a:pPr>
            <a:endParaRPr lang="en-US"/>
          </a:p>
        </c:txPr>
        <c:crossAx val="1627076911"/>
        <c:crosses val="autoZero"/>
        <c:auto val="1"/>
        <c:lblAlgn val="ctr"/>
        <c:lblOffset val="100"/>
        <c:noMultiLvlLbl val="0"/>
      </c:catAx>
      <c:valAx>
        <c:axId val="162707691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in"/>
        <c:minorTickMark val="none"/>
        <c:tickLblPos val="low"/>
        <c:spPr>
          <a:noFill/>
          <a:ln>
            <a:solidFill>
              <a:schemeClr val="tx1"/>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1428263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Probability</c:v>
                </c:pt>
              </c:strCache>
            </c:strRef>
          </c:tx>
          <c:spPr>
            <a:solidFill>
              <a:schemeClr val="accent1"/>
            </a:solidFill>
            <a:ln>
              <a:noFill/>
            </a:ln>
            <a:effectLst/>
          </c:spPr>
          <c:invertIfNegative val="0"/>
          <c:cat>
            <c:strRef>
              <c:f>Sheet1!$A$2:$A$5</c:f>
              <c:strCache>
                <c:ptCount val="4"/>
                <c:pt idx="0">
                  <c:v>A</c:v>
                </c:pt>
                <c:pt idx="1">
                  <c:v>T</c:v>
                </c:pt>
                <c:pt idx="2">
                  <c:v>C</c:v>
                </c:pt>
                <c:pt idx="3">
                  <c:v>G</c:v>
                </c:pt>
              </c:strCache>
            </c:strRef>
          </c:cat>
          <c:val>
            <c:numRef>
              <c:f>Sheet1!$B$2:$B$5</c:f>
              <c:numCache>
                <c:formatCode>General</c:formatCode>
                <c:ptCount val="4"/>
                <c:pt idx="0">
                  <c:v>0.1</c:v>
                </c:pt>
                <c:pt idx="1">
                  <c:v>0.4</c:v>
                </c:pt>
                <c:pt idx="2">
                  <c:v>0.2</c:v>
                </c:pt>
                <c:pt idx="3">
                  <c:v>0.34</c:v>
                </c:pt>
              </c:numCache>
            </c:numRef>
          </c:val>
          <c:extLst>
            <c:ext xmlns:c16="http://schemas.microsoft.com/office/drawing/2014/chart" uri="{C3380CC4-5D6E-409C-BE32-E72D297353CC}">
              <c16:uniqueId val="{00000000-6664-7F4B-8917-666CDA40CF9A}"/>
            </c:ext>
          </c:extLst>
        </c:ser>
        <c:dLbls>
          <c:showLegendKey val="0"/>
          <c:showVal val="0"/>
          <c:showCatName val="0"/>
          <c:showSerName val="0"/>
          <c:showPercent val="0"/>
          <c:showBubbleSize val="0"/>
        </c:dLbls>
        <c:gapWidth val="182"/>
        <c:axId val="555093328"/>
        <c:axId val="1389264799"/>
      </c:barChart>
      <c:catAx>
        <c:axId val="555093328"/>
        <c:scaling>
          <c:orientation val="minMax"/>
        </c:scaling>
        <c:delete val="0"/>
        <c:axPos val="l"/>
        <c:numFmt formatCode="General" sourceLinked="1"/>
        <c:majorTickMark val="none"/>
        <c:minorTickMark val="none"/>
        <c:tickLblPos val="nextTo"/>
        <c:spPr>
          <a:noFill/>
          <a:ln w="9525" cap="flat" cmpd="sng" algn="ctr">
            <a:solidFill>
              <a:srgbClr val="000000"/>
            </a:solidFill>
            <a:round/>
          </a:ln>
          <a:effectLst/>
        </c:spPr>
        <c:txPr>
          <a:bodyPr rot="-60000000" spcFirstLastPara="1" vertOverflow="ellipsis" vert="horz" wrap="square" anchor="ctr" anchorCtr="1"/>
          <a:lstStyle/>
          <a:p>
            <a:pPr>
              <a:defRPr sz="1197" b="0" i="0" u="none" strike="noStrike" kern="1200" baseline="0">
                <a:solidFill>
                  <a:srgbClr val="000000"/>
                </a:solidFill>
                <a:latin typeface="+mn-lt"/>
                <a:ea typeface="+mn-ea"/>
                <a:cs typeface="+mn-cs"/>
              </a:defRPr>
            </a:pPr>
            <a:endParaRPr lang="en-US"/>
          </a:p>
        </c:txPr>
        <c:crossAx val="1389264799"/>
        <c:crosses val="autoZero"/>
        <c:auto val="1"/>
        <c:lblAlgn val="ctr"/>
        <c:lblOffset val="100"/>
        <c:noMultiLvlLbl val="0"/>
      </c:catAx>
      <c:valAx>
        <c:axId val="138926479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in"/>
        <c:minorTickMark val="none"/>
        <c:tickLblPos val="nextTo"/>
        <c:spPr>
          <a:noFill/>
          <a:ln>
            <a:solidFill>
              <a:srgbClr val="000000"/>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550933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792736-9163-5E44-B940-F3F4CF8F5651}" type="doc">
      <dgm:prSet loTypeId="urn:microsoft.com/office/officeart/2005/8/layout/process1" loCatId="" qsTypeId="urn:microsoft.com/office/officeart/2005/8/quickstyle/simple1" qsCatId="simple" csTypeId="urn:microsoft.com/office/officeart/2005/8/colors/accent1_2" csCatId="accent1" phldr="1"/>
      <dgm:spPr/>
    </dgm:pt>
    <dgm:pt modelId="{EFD45820-6CB5-6E46-892C-40C79EC88D49}">
      <dgm:prSet phldrT="[Text]"/>
      <dgm:spPr/>
      <dgm:t>
        <a:bodyPr/>
        <a:lstStyle/>
        <a:p>
          <a:pPr rtl="0"/>
          <a:r>
            <a:rPr lang="en-US" dirty="0">
              <a:latin typeface="Avenir Book" panose="02000503020000020003" pitchFamily="2" charset="0"/>
            </a:rPr>
            <a:t>Pre-training</a:t>
          </a:r>
        </a:p>
      </dgm:t>
    </dgm:pt>
    <dgm:pt modelId="{43FA1DA3-81DE-BF42-8095-2370761DFF57}" type="parTrans" cxnId="{E645B731-36DC-EF48-954B-2F2ACDBE082C}">
      <dgm:prSet/>
      <dgm:spPr/>
      <dgm:t>
        <a:bodyPr/>
        <a:lstStyle/>
        <a:p>
          <a:endParaRPr lang="en-US">
            <a:latin typeface="Avenir Book" panose="02000503020000020003" pitchFamily="2" charset="0"/>
          </a:endParaRPr>
        </a:p>
      </dgm:t>
    </dgm:pt>
    <dgm:pt modelId="{31D3B1CD-47A5-8145-A9E5-8C3719C062BB}" type="sibTrans" cxnId="{E645B731-36DC-EF48-954B-2F2ACDBE082C}">
      <dgm:prSet/>
      <dgm:spPr/>
      <dgm:t>
        <a:bodyPr/>
        <a:lstStyle/>
        <a:p>
          <a:endParaRPr lang="en-US">
            <a:latin typeface="Avenir Book" panose="02000503020000020003" pitchFamily="2" charset="0"/>
          </a:endParaRPr>
        </a:p>
      </dgm:t>
    </dgm:pt>
    <dgm:pt modelId="{2FAC68C7-A55A-EF40-87EE-A1F96207CF08}">
      <dgm:prSet phldrT="[Text]"/>
      <dgm:spPr/>
      <dgm:t>
        <a:bodyPr/>
        <a:lstStyle/>
        <a:p>
          <a:pPr rtl="0"/>
          <a:r>
            <a:rPr lang="en-US" dirty="0">
              <a:latin typeface="Avenir Book" panose="02000503020000020003" pitchFamily="2" charset="0"/>
            </a:rPr>
            <a:t>Post-training</a:t>
          </a:r>
        </a:p>
      </dgm:t>
    </dgm:pt>
    <dgm:pt modelId="{16831F9D-2B7F-6440-A8B5-544769798531}" type="parTrans" cxnId="{846A8516-ED33-DB4B-A99B-82A562C8C9B0}">
      <dgm:prSet/>
      <dgm:spPr/>
      <dgm:t>
        <a:bodyPr/>
        <a:lstStyle/>
        <a:p>
          <a:endParaRPr lang="en-US">
            <a:latin typeface="Avenir Book" panose="02000503020000020003" pitchFamily="2" charset="0"/>
          </a:endParaRPr>
        </a:p>
      </dgm:t>
    </dgm:pt>
    <dgm:pt modelId="{491EEE02-9E9A-F94E-94DB-315E9CA71098}" type="sibTrans" cxnId="{846A8516-ED33-DB4B-A99B-82A562C8C9B0}">
      <dgm:prSet/>
      <dgm:spPr/>
      <dgm:t>
        <a:bodyPr/>
        <a:lstStyle/>
        <a:p>
          <a:endParaRPr lang="en-US">
            <a:latin typeface="Avenir Book" panose="02000503020000020003" pitchFamily="2" charset="0"/>
          </a:endParaRPr>
        </a:p>
      </dgm:t>
    </dgm:pt>
    <dgm:pt modelId="{7E47E4EC-78B8-FE4B-99C1-86EFE752885F}" type="pres">
      <dgm:prSet presAssocID="{31792736-9163-5E44-B940-F3F4CF8F5651}" presName="Name0" presStyleCnt="0">
        <dgm:presLayoutVars>
          <dgm:dir/>
          <dgm:resizeHandles val="exact"/>
        </dgm:presLayoutVars>
      </dgm:prSet>
      <dgm:spPr/>
    </dgm:pt>
    <dgm:pt modelId="{9446EEE7-DB1E-7347-87BD-0552F95AF0A2}" type="pres">
      <dgm:prSet presAssocID="{EFD45820-6CB5-6E46-892C-40C79EC88D49}" presName="node" presStyleLbl="node1" presStyleIdx="0" presStyleCnt="2" custScaleX="80004">
        <dgm:presLayoutVars>
          <dgm:bulletEnabled val="1"/>
        </dgm:presLayoutVars>
      </dgm:prSet>
      <dgm:spPr/>
    </dgm:pt>
    <dgm:pt modelId="{53DA70F4-85DF-894C-BBEB-17AB10B12C30}" type="pres">
      <dgm:prSet presAssocID="{31D3B1CD-47A5-8145-A9E5-8C3719C062BB}" presName="sibTrans" presStyleLbl="sibTrans2D1" presStyleIdx="0" presStyleCnt="1"/>
      <dgm:spPr/>
    </dgm:pt>
    <dgm:pt modelId="{CD1E78D9-1C37-0641-952A-363FF533EAA3}" type="pres">
      <dgm:prSet presAssocID="{31D3B1CD-47A5-8145-A9E5-8C3719C062BB}" presName="connectorText" presStyleLbl="sibTrans2D1" presStyleIdx="0" presStyleCnt="1"/>
      <dgm:spPr/>
    </dgm:pt>
    <dgm:pt modelId="{3737C87E-1F59-9341-8BF7-2EFEB10C6D28}" type="pres">
      <dgm:prSet presAssocID="{2FAC68C7-A55A-EF40-87EE-A1F96207CF08}" presName="node" presStyleLbl="node1" presStyleIdx="1" presStyleCnt="2" custScaleX="100206" custLinFactNeighborX="-944" custLinFactNeighborY="88119">
        <dgm:presLayoutVars>
          <dgm:bulletEnabled val="1"/>
        </dgm:presLayoutVars>
      </dgm:prSet>
      <dgm:spPr/>
    </dgm:pt>
  </dgm:ptLst>
  <dgm:cxnLst>
    <dgm:cxn modelId="{846A8516-ED33-DB4B-A99B-82A562C8C9B0}" srcId="{31792736-9163-5E44-B940-F3F4CF8F5651}" destId="{2FAC68C7-A55A-EF40-87EE-A1F96207CF08}" srcOrd="1" destOrd="0" parTransId="{16831F9D-2B7F-6440-A8B5-544769798531}" sibTransId="{491EEE02-9E9A-F94E-94DB-315E9CA71098}"/>
    <dgm:cxn modelId="{972C3221-14DA-B149-9DFF-B7BCE391220C}" type="presOf" srcId="{31D3B1CD-47A5-8145-A9E5-8C3719C062BB}" destId="{CD1E78D9-1C37-0641-952A-363FF533EAA3}" srcOrd="1" destOrd="0" presId="urn:microsoft.com/office/officeart/2005/8/layout/process1"/>
    <dgm:cxn modelId="{4D7E632E-0FA5-4441-B84C-5998E1FE81B5}" type="presOf" srcId="{31D3B1CD-47A5-8145-A9E5-8C3719C062BB}" destId="{53DA70F4-85DF-894C-BBEB-17AB10B12C30}" srcOrd="0" destOrd="0" presId="urn:microsoft.com/office/officeart/2005/8/layout/process1"/>
    <dgm:cxn modelId="{E645B731-36DC-EF48-954B-2F2ACDBE082C}" srcId="{31792736-9163-5E44-B940-F3F4CF8F5651}" destId="{EFD45820-6CB5-6E46-892C-40C79EC88D49}" srcOrd="0" destOrd="0" parTransId="{43FA1DA3-81DE-BF42-8095-2370761DFF57}" sibTransId="{31D3B1CD-47A5-8145-A9E5-8C3719C062BB}"/>
    <dgm:cxn modelId="{88A6BEA9-684D-4845-AF3C-15CC8A5C5703}" type="presOf" srcId="{2FAC68C7-A55A-EF40-87EE-A1F96207CF08}" destId="{3737C87E-1F59-9341-8BF7-2EFEB10C6D28}" srcOrd="0" destOrd="0" presId="urn:microsoft.com/office/officeart/2005/8/layout/process1"/>
    <dgm:cxn modelId="{70B299B4-5F37-B649-9F6E-BC525602D5EF}" type="presOf" srcId="{EFD45820-6CB5-6E46-892C-40C79EC88D49}" destId="{9446EEE7-DB1E-7347-87BD-0552F95AF0A2}" srcOrd="0" destOrd="0" presId="urn:microsoft.com/office/officeart/2005/8/layout/process1"/>
    <dgm:cxn modelId="{FABEFEDA-DE78-F745-AE2A-EBA75C23B19F}" type="presOf" srcId="{31792736-9163-5E44-B940-F3F4CF8F5651}" destId="{7E47E4EC-78B8-FE4B-99C1-86EFE752885F}" srcOrd="0" destOrd="0" presId="urn:microsoft.com/office/officeart/2005/8/layout/process1"/>
    <dgm:cxn modelId="{286DBBD8-0E63-6E48-BCB6-B7585EA05337}" type="presParOf" srcId="{7E47E4EC-78B8-FE4B-99C1-86EFE752885F}" destId="{9446EEE7-DB1E-7347-87BD-0552F95AF0A2}" srcOrd="0" destOrd="0" presId="urn:microsoft.com/office/officeart/2005/8/layout/process1"/>
    <dgm:cxn modelId="{D64856D7-2144-4C49-BF4D-7B68E98700CA}" type="presParOf" srcId="{7E47E4EC-78B8-FE4B-99C1-86EFE752885F}" destId="{53DA70F4-85DF-894C-BBEB-17AB10B12C30}" srcOrd="1" destOrd="0" presId="urn:microsoft.com/office/officeart/2005/8/layout/process1"/>
    <dgm:cxn modelId="{CB000023-BCD0-0848-AF41-F853A2804FF2}" type="presParOf" srcId="{53DA70F4-85DF-894C-BBEB-17AB10B12C30}" destId="{CD1E78D9-1C37-0641-952A-363FF533EAA3}" srcOrd="0" destOrd="0" presId="urn:microsoft.com/office/officeart/2005/8/layout/process1"/>
    <dgm:cxn modelId="{E413F1CD-A165-D845-A32B-493626E3567A}" type="presParOf" srcId="{7E47E4EC-78B8-FE4B-99C1-86EFE752885F}" destId="{3737C87E-1F59-9341-8BF7-2EFEB10C6D28}"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792736-9163-5E44-B940-F3F4CF8F5651}" type="doc">
      <dgm:prSet loTypeId="urn:microsoft.com/office/officeart/2005/8/layout/process1" loCatId="" qsTypeId="urn:microsoft.com/office/officeart/2005/8/quickstyle/simple1" qsCatId="simple" csTypeId="urn:microsoft.com/office/officeart/2005/8/colors/accent1_2" csCatId="accent1" phldr="1"/>
      <dgm:spPr/>
    </dgm:pt>
    <dgm:pt modelId="{EFD45820-6CB5-6E46-892C-40C79EC88D49}">
      <dgm:prSet phldrT="[Text]"/>
      <dgm:spPr/>
      <dgm:t>
        <a:bodyPr/>
        <a:lstStyle/>
        <a:p>
          <a:pPr rtl="0"/>
          <a:r>
            <a:rPr lang="en-US" dirty="0">
              <a:latin typeface="Avenir Book" panose="02000503020000020003" pitchFamily="2" charset="0"/>
            </a:rPr>
            <a:t>Pre-training</a:t>
          </a:r>
        </a:p>
      </dgm:t>
    </dgm:pt>
    <dgm:pt modelId="{43FA1DA3-81DE-BF42-8095-2370761DFF57}" type="parTrans" cxnId="{E645B731-36DC-EF48-954B-2F2ACDBE082C}">
      <dgm:prSet/>
      <dgm:spPr/>
      <dgm:t>
        <a:bodyPr/>
        <a:lstStyle/>
        <a:p>
          <a:endParaRPr lang="en-US">
            <a:latin typeface="Avenir Book" panose="02000503020000020003" pitchFamily="2" charset="0"/>
          </a:endParaRPr>
        </a:p>
      </dgm:t>
    </dgm:pt>
    <dgm:pt modelId="{31D3B1CD-47A5-8145-A9E5-8C3719C062BB}" type="sibTrans" cxnId="{E645B731-36DC-EF48-954B-2F2ACDBE082C}">
      <dgm:prSet/>
      <dgm:spPr/>
      <dgm:t>
        <a:bodyPr/>
        <a:lstStyle/>
        <a:p>
          <a:endParaRPr lang="en-US">
            <a:latin typeface="Avenir Book" panose="02000503020000020003" pitchFamily="2" charset="0"/>
          </a:endParaRPr>
        </a:p>
      </dgm:t>
    </dgm:pt>
    <dgm:pt modelId="{2FAC68C7-A55A-EF40-87EE-A1F96207CF08}">
      <dgm:prSet phldrT="[Text]"/>
      <dgm:spPr/>
      <dgm:t>
        <a:bodyPr/>
        <a:lstStyle/>
        <a:p>
          <a:pPr rtl="0"/>
          <a:r>
            <a:rPr lang="en-US" dirty="0">
              <a:latin typeface="Avenir Book" panose="02000503020000020003" pitchFamily="2" charset="0"/>
            </a:rPr>
            <a:t>Post-training</a:t>
          </a:r>
        </a:p>
      </dgm:t>
    </dgm:pt>
    <dgm:pt modelId="{16831F9D-2B7F-6440-A8B5-544769798531}" type="parTrans" cxnId="{846A8516-ED33-DB4B-A99B-82A562C8C9B0}">
      <dgm:prSet/>
      <dgm:spPr/>
      <dgm:t>
        <a:bodyPr/>
        <a:lstStyle/>
        <a:p>
          <a:endParaRPr lang="en-US">
            <a:latin typeface="Avenir Book" panose="02000503020000020003" pitchFamily="2" charset="0"/>
          </a:endParaRPr>
        </a:p>
      </dgm:t>
    </dgm:pt>
    <dgm:pt modelId="{491EEE02-9E9A-F94E-94DB-315E9CA71098}" type="sibTrans" cxnId="{846A8516-ED33-DB4B-A99B-82A562C8C9B0}">
      <dgm:prSet/>
      <dgm:spPr/>
      <dgm:t>
        <a:bodyPr/>
        <a:lstStyle/>
        <a:p>
          <a:endParaRPr lang="en-US">
            <a:latin typeface="Avenir Book" panose="02000503020000020003" pitchFamily="2" charset="0"/>
          </a:endParaRPr>
        </a:p>
      </dgm:t>
    </dgm:pt>
    <dgm:pt modelId="{7E47E4EC-78B8-FE4B-99C1-86EFE752885F}" type="pres">
      <dgm:prSet presAssocID="{31792736-9163-5E44-B940-F3F4CF8F5651}" presName="Name0" presStyleCnt="0">
        <dgm:presLayoutVars>
          <dgm:dir/>
          <dgm:resizeHandles val="exact"/>
        </dgm:presLayoutVars>
      </dgm:prSet>
      <dgm:spPr/>
    </dgm:pt>
    <dgm:pt modelId="{9446EEE7-DB1E-7347-87BD-0552F95AF0A2}" type="pres">
      <dgm:prSet presAssocID="{EFD45820-6CB5-6E46-892C-40C79EC88D49}" presName="node" presStyleLbl="node1" presStyleIdx="0" presStyleCnt="2" custScaleX="80004">
        <dgm:presLayoutVars>
          <dgm:bulletEnabled val="1"/>
        </dgm:presLayoutVars>
      </dgm:prSet>
      <dgm:spPr/>
    </dgm:pt>
    <dgm:pt modelId="{53DA70F4-85DF-894C-BBEB-17AB10B12C30}" type="pres">
      <dgm:prSet presAssocID="{31D3B1CD-47A5-8145-A9E5-8C3719C062BB}" presName="sibTrans" presStyleLbl="sibTrans2D1" presStyleIdx="0" presStyleCnt="1"/>
      <dgm:spPr/>
    </dgm:pt>
    <dgm:pt modelId="{CD1E78D9-1C37-0641-952A-363FF533EAA3}" type="pres">
      <dgm:prSet presAssocID="{31D3B1CD-47A5-8145-A9E5-8C3719C062BB}" presName="connectorText" presStyleLbl="sibTrans2D1" presStyleIdx="0" presStyleCnt="1"/>
      <dgm:spPr/>
    </dgm:pt>
    <dgm:pt modelId="{3737C87E-1F59-9341-8BF7-2EFEB10C6D28}" type="pres">
      <dgm:prSet presAssocID="{2FAC68C7-A55A-EF40-87EE-A1F96207CF08}" presName="node" presStyleLbl="node1" presStyleIdx="1" presStyleCnt="2" custScaleX="100206" custLinFactNeighborX="-944" custLinFactNeighborY="88119">
        <dgm:presLayoutVars>
          <dgm:bulletEnabled val="1"/>
        </dgm:presLayoutVars>
      </dgm:prSet>
      <dgm:spPr/>
    </dgm:pt>
  </dgm:ptLst>
  <dgm:cxnLst>
    <dgm:cxn modelId="{846A8516-ED33-DB4B-A99B-82A562C8C9B0}" srcId="{31792736-9163-5E44-B940-F3F4CF8F5651}" destId="{2FAC68C7-A55A-EF40-87EE-A1F96207CF08}" srcOrd="1" destOrd="0" parTransId="{16831F9D-2B7F-6440-A8B5-544769798531}" sibTransId="{491EEE02-9E9A-F94E-94DB-315E9CA71098}"/>
    <dgm:cxn modelId="{972C3221-14DA-B149-9DFF-B7BCE391220C}" type="presOf" srcId="{31D3B1CD-47A5-8145-A9E5-8C3719C062BB}" destId="{CD1E78D9-1C37-0641-952A-363FF533EAA3}" srcOrd="1" destOrd="0" presId="urn:microsoft.com/office/officeart/2005/8/layout/process1"/>
    <dgm:cxn modelId="{4D7E632E-0FA5-4441-B84C-5998E1FE81B5}" type="presOf" srcId="{31D3B1CD-47A5-8145-A9E5-8C3719C062BB}" destId="{53DA70F4-85DF-894C-BBEB-17AB10B12C30}" srcOrd="0" destOrd="0" presId="urn:microsoft.com/office/officeart/2005/8/layout/process1"/>
    <dgm:cxn modelId="{E645B731-36DC-EF48-954B-2F2ACDBE082C}" srcId="{31792736-9163-5E44-B940-F3F4CF8F5651}" destId="{EFD45820-6CB5-6E46-892C-40C79EC88D49}" srcOrd="0" destOrd="0" parTransId="{43FA1DA3-81DE-BF42-8095-2370761DFF57}" sibTransId="{31D3B1CD-47A5-8145-A9E5-8C3719C062BB}"/>
    <dgm:cxn modelId="{88A6BEA9-684D-4845-AF3C-15CC8A5C5703}" type="presOf" srcId="{2FAC68C7-A55A-EF40-87EE-A1F96207CF08}" destId="{3737C87E-1F59-9341-8BF7-2EFEB10C6D28}" srcOrd="0" destOrd="0" presId="urn:microsoft.com/office/officeart/2005/8/layout/process1"/>
    <dgm:cxn modelId="{70B299B4-5F37-B649-9F6E-BC525602D5EF}" type="presOf" srcId="{EFD45820-6CB5-6E46-892C-40C79EC88D49}" destId="{9446EEE7-DB1E-7347-87BD-0552F95AF0A2}" srcOrd="0" destOrd="0" presId="urn:microsoft.com/office/officeart/2005/8/layout/process1"/>
    <dgm:cxn modelId="{FABEFEDA-DE78-F745-AE2A-EBA75C23B19F}" type="presOf" srcId="{31792736-9163-5E44-B940-F3F4CF8F5651}" destId="{7E47E4EC-78B8-FE4B-99C1-86EFE752885F}" srcOrd="0" destOrd="0" presId="urn:microsoft.com/office/officeart/2005/8/layout/process1"/>
    <dgm:cxn modelId="{286DBBD8-0E63-6E48-BCB6-B7585EA05337}" type="presParOf" srcId="{7E47E4EC-78B8-FE4B-99C1-86EFE752885F}" destId="{9446EEE7-DB1E-7347-87BD-0552F95AF0A2}" srcOrd="0" destOrd="0" presId="urn:microsoft.com/office/officeart/2005/8/layout/process1"/>
    <dgm:cxn modelId="{D64856D7-2144-4C49-BF4D-7B68E98700CA}" type="presParOf" srcId="{7E47E4EC-78B8-FE4B-99C1-86EFE752885F}" destId="{53DA70F4-85DF-894C-BBEB-17AB10B12C30}" srcOrd="1" destOrd="0" presId="urn:microsoft.com/office/officeart/2005/8/layout/process1"/>
    <dgm:cxn modelId="{CB000023-BCD0-0848-AF41-F853A2804FF2}" type="presParOf" srcId="{53DA70F4-85DF-894C-BBEB-17AB10B12C30}" destId="{CD1E78D9-1C37-0641-952A-363FF533EAA3}" srcOrd="0" destOrd="0" presId="urn:microsoft.com/office/officeart/2005/8/layout/process1"/>
    <dgm:cxn modelId="{E413F1CD-A165-D845-A32B-493626E3567A}" type="presParOf" srcId="{7E47E4EC-78B8-FE4B-99C1-86EFE752885F}" destId="{3737C87E-1F59-9341-8BF7-2EFEB10C6D28}"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46EEE7-DB1E-7347-87BD-0552F95AF0A2}">
      <dsp:nvSpPr>
        <dsp:cNvPr id="0" name=""/>
        <dsp:cNvSpPr/>
      </dsp:nvSpPr>
      <dsp:spPr>
        <a:xfrm>
          <a:off x="98" y="0"/>
          <a:ext cx="3123760" cy="148958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rtl="0">
            <a:lnSpc>
              <a:spcPct val="90000"/>
            </a:lnSpc>
            <a:spcBef>
              <a:spcPct val="0"/>
            </a:spcBef>
            <a:spcAft>
              <a:spcPct val="35000"/>
            </a:spcAft>
            <a:buNone/>
          </a:pPr>
          <a:r>
            <a:rPr lang="en-US" sz="4100" kern="1200" dirty="0">
              <a:latin typeface="Avenir Book" panose="02000503020000020003" pitchFamily="2" charset="0"/>
            </a:rPr>
            <a:t>Pre-training</a:t>
          </a:r>
        </a:p>
      </dsp:txBody>
      <dsp:txXfrm>
        <a:off x="43727" y="43629"/>
        <a:ext cx="3036502" cy="1402329"/>
      </dsp:txXfrm>
    </dsp:sp>
    <dsp:sp modelId="{53DA70F4-85DF-894C-BBEB-17AB10B12C30}">
      <dsp:nvSpPr>
        <dsp:cNvPr id="0" name=""/>
        <dsp:cNvSpPr/>
      </dsp:nvSpPr>
      <dsp:spPr>
        <a:xfrm>
          <a:off x="3510623" y="260634"/>
          <a:ext cx="819941" cy="96831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466850">
            <a:lnSpc>
              <a:spcPct val="90000"/>
            </a:lnSpc>
            <a:spcBef>
              <a:spcPct val="0"/>
            </a:spcBef>
            <a:spcAft>
              <a:spcPct val="35000"/>
            </a:spcAft>
            <a:buNone/>
          </a:pPr>
          <a:endParaRPr lang="en-US" sz="3300" kern="1200">
            <a:latin typeface="Avenir Book" panose="02000503020000020003" pitchFamily="2" charset="0"/>
          </a:endParaRPr>
        </a:p>
      </dsp:txBody>
      <dsp:txXfrm>
        <a:off x="3510623" y="454297"/>
        <a:ext cx="573959" cy="580991"/>
      </dsp:txXfrm>
    </dsp:sp>
    <dsp:sp modelId="{3737C87E-1F59-9341-8BF7-2EFEB10C6D28}">
      <dsp:nvSpPr>
        <dsp:cNvPr id="0" name=""/>
        <dsp:cNvSpPr/>
      </dsp:nvSpPr>
      <dsp:spPr>
        <a:xfrm>
          <a:off x="4670918" y="0"/>
          <a:ext cx="3912548" cy="148958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rtl="0">
            <a:lnSpc>
              <a:spcPct val="90000"/>
            </a:lnSpc>
            <a:spcBef>
              <a:spcPct val="0"/>
            </a:spcBef>
            <a:spcAft>
              <a:spcPct val="35000"/>
            </a:spcAft>
            <a:buNone/>
          </a:pPr>
          <a:r>
            <a:rPr lang="en-US" sz="4100" kern="1200" dirty="0">
              <a:latin typeface="Avenir Book" panose="02000503020000020003" pitchFamily="2" charset="0"/>
            </a:rPr>
            <a:t>Post-training</a:t>
          </a:r>
        </a:p>
      </dsp:txBody>
      <dsp:txXfrm>
        <a:off x="4714547" y="43629"/>
        <a:ext cx="3825290" cy="14023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46EEE7-DB1E-7347-87BD-0552F95AF0A2}">
      <dsp:nvSpPr>
        <dsp:cNvPr id="0" name=""/>
        <dsp:cNvSpPr/>
      </dsp:nvSpPr>
      <dsp:spPr>
        <a:xfrm>
          <a:off x="98" y="0"/>
          <a:ext cx="3123760" cy="148958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rtl="0">
            <a:lnSpc>
              <a:spcPct val="90000"/>
            </a:lnSpc>
            <a:spcBef>
              <a:spcPct val="0"/>
            </a:spcBef>
            <a:spcAft>
              <a:spcPct val="35000"/>
            </a:spcAft>
            <a:buNone/>
          </a:pPr>
          <a:r>
            <a:rPr lang="en-US" sz="4100" kern="1200" dirty="0">
              <a:latin typeface="Avenir Book" panose="02000503020000020003" pitchFamily="2" charset="0"/>
            </a:rPr>
            <a:t>Pre-training</a:t>
          </a:r>
        </a:p>
      </dsp:txBody>
      <dsp:txXfrm>
        <a:off x="43727" y="43629"/>
        <a:ext cx="3036502" cy="1402329"/>
      </dsp:txXfrm>
    </dsp:sp>
    <dsp:sp modelId="{53DA70F4-85DF-894C-BBEB-17AB10B12C30}">
      <dsp:nvSpPr>
        <dsp:cNvPr id="0" name=""/>
        <dsp:cNvSpPr/>
      </dsp:nvSpPr>
      <dsp:spPr>
        <a:xfrm>
          <a:off x="3510623" y="260634"/>
          <a:ext cx="819941" cy="96831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466850">
            <a:lnSpc>
              <a:spcPct val="90000"/>
            </a:lnSpc>
            <a:spcBef>
              <a:spcPct val="0"/>
            </a:spcBef>
            <a:spcAft>
              <a:spcPct val="35000"/>
            </a:spcAft>
            <a:buNone/>
          </a:pPr>
          <a:endParaRPr lang="en-US" sz="3300" kern="1200">
            <a:latin typeface="Avenir Book" panose="02000503020000020003" pitchFamily="2" charset="0"/>
          </a:endParaRPr>
        </a:p>
      </dsp:txBody>
      <dsp:txXfrm>
        <a:off x="3510623" y="454297"/>
        <a:ext cx="573959" cy="580991"/>
      </dsp:txXfrm>
    </dsp:sp>
    <dsp:sp modelId="{3737C87E-1F59-9341-8BF7-2EFEB10C6D28}">
      <dsp:nvSpPr>
        <dsp:cNvPr id="0" name=""/>
        <dsp:cNvSpPr/>
      </dsp:nvSpPr>
      <dsp:spPr>
        <a:xfrm>
          <a:off x="4670918" y="0"/>
          <a:ext cx="3912548" cy="148958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rtl="0">
            <a:lnSpc>
              <a:spcPct val="90000"/>
            </a:lnSpc>
            <a:spcBef>
              <a:spcPct val="0"/>
            </a:spcBef>
            <a:spcAft>
              <a:spcPct val="35000"/>
            </a:spcAft>
            <a:buNone/>
          </a:pPr>
          <a:r>
            <a:rPr lang="en-US" sz="4100" kern="1200" dirty="0">
              <a:latin typeface="Avenir Book" panose="02000503020000020003" pitchFamily="2" charset="0"/>
            </a:rPr>
            <a:t>Post-training</a:t>
          </a:r>
        </a:p>
      </dsp:txBody>
      <dsp:txXfrm>
        <a:off x="4714547" y="43629"/>
        <a:ext cx="3825290" cy="140232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venir Book" panose="02000503020000020003"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venir Book" panose="02000503020000020003" pitchFamily="2" charset="0"/>
              </a:defRPr>
            </a:lvl1pPr>
          </a:lstStyle>
          <a:p>
            <a:fld id="{42BC4B6E-97D4-384E-8346-04988064FF86}" type="datetimeFigureOut">
              <a:rPr lang="en-US" smtClean="0"/>
              <a:pPr/>
              <a:t>9/12/2026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venir Book" panose="02000503020000020003"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venir Book" panose="02000503020000020003" pitchFamily="2" charset="0"/>
              </a:defRPr>
            </a:lvl1pPr>
          </a:lstStyle>
          <a:p>
            <a:fld id="{7E3EFFCD-2707-464E-8668-7D1BDDA9873E}" type="slidenum">
              <a:rPr lang="en-US" smtClean="0"/>
              <a:pPr/>
              <a:t>‹#›</a:t>
            </a:fld>
            <a:endParaRPr lang="en-US"/>
          </a:p>
        </p:txBody>
      </p:sp>
    </p:spTree>
    <p:extLst>
      <p:ext uri="{BB962C8B-B14F-4D97-AF65-F5344CB8AC3E}">
        <p14:creationId xmlns:p14="http://schemas.microsoft.com/office/powerpoint/2010/main" val="1940575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venir Book" panose="02000503020000020003" pitchFamily="2" charset="0"/>
        <a:ea typeface="+mn-ea"/>
        <a:cs typeface="+mn-cs"/>
      </a:defRPr>
    </a:lvl1pPr>
    <a:lvl2pPr marL="457200" algn="l" defTabSz="914400" rtl="0" eaLnBrk="1" latinLnBrk="0" hangingPunct="1">
      <a:defRPr sz="1200" b="0" i="0" kern="1200">
        <a:solidFill>
          <a:schemeClr val="tx1"/>
        </a:solidFill>
        <a:latin typeface="Avenir Book" panose="02000503020000020003" pitchFamily="2" charset="0"/>
        <a:ea typeface="+mn-ea"/>
        <a:cs typeface="+mn-cs"/>
      </a:defRPr>
    </a:lvl2pPr>
    <a:lvl3pPr marL="914400" algn="l" defTabSz="914400" rtl="0" eaLnBrk="1" latinLnBrk="0" hangingPunct="1">
      <a:defRPr sz="1200" b="0" i="0" kern="1200">
        <a:solidFill>
          <a:schemeClr val="tx1"/>
        </a:solidFill>
        <a:latin typeface="Avenir Book" panose="02000503020000020003" pitchFamily="2" charset="0"/>
        <a:ea typeface="+mn-ea"/>
        <a:cs typeface="+mn-cs"/>
      </a:defRPr>
    </a:lvl3pPr>
    <a:lvl4pPr marL="1371600" algn="l" defTabSz="914400" rtl="0" eaLnBrk="1" latinLnBrk="0" hangingPunct="1">
      <a:defRPr sz="1200" b="0" i="0" kern="1200">
        <a:solidFill>
          <a:schemeClr val="tx1"/>
        </a:solidFill>
        <a:latin typeface="Avenir Book" panose="02000503020000020003" pitchFamily="2" charset="0"/>
        <a:ea typeface="+mn-ea"/>
        <a:cs typeface="+mn-cs"/>
      </a:defRPr>
    </a:lvl4pPr>
    <a:lvl5pPr marL="1828800" algn="l" defTabSz="914400" rtl="0" eaLnBrk="1" latinLnBrk="0" hangingPunct="1">
      <a:defRPr sz="1200" b="0" i="0" kern="1200">
        <a:solidFill>
          <a:schemeClr val="tx1"/>
        </a:solidFill>
        <a:latin typeface="Avenir Book" panose="02000503020000020003"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rtl="0">
              <a:spcBef>
                <a:spcPts val="0"/>
              </a:spcBef>
              <a:spcAft>
                <a:spcPts val="0"/>
              </a:spcAft>
            </a:pPr>
            <a:r>
              <a:rPr lang="en-US" sz="1800" u="none" strike="noStrike" dirty="0">
                <a:solidFill>
                  <a:srgbClr val="000000"/>
                </a:solidFill>
                <a:effectLst/>
                <a:latin typeface="Avenir Book" panose="02000503020000020003" pitchFamily="2" charset="0"/>
              </a:rPr>
              <a:t>Thank you for having me! It's an honor to be here. </a:t>
            </a:r>
            <a:endParaRPr lang="en-US" sz="1800" b="0" u="none" strike="noStrike" dirty="0">
              <a:solidFill>
                <a:srgbClr val="000000"/>
              </a:solidFill>
              <a:effectLst/>
              <a:latin typeface="Avenir Book" panose="02000503020000020003" pitchFamily="2" charset="0"/>
            </a:endParaRPr>
          </a:p>
        </p:txBody>
      </p:sp>
      <p:sp>
        <p:nvSpPr>
          <p:cNvPr id="4" name="Slide Number Placeholder 3"/>
          <p:cNvSpPr>
            <a:spLocks noGrp="1"/>
          </p:cNvSpPr>
          <p:nvPr>
            <p:ph type="sldNum" sz="quarter" idx="5"/>
          </p:nvPr>
        </p:nvSpPr>
        <p:spPr/>
        <p:txBody>
          <a:bodyPr/>
          <a:lstStyle/>
          <a:p>
            <a:fld id="{7E3EFFCD-2707-464E-8668-7D1BDDA9873E}" type="slidenum">
              <a:rPr lang="en-US" smtClean="0"/>
              <a:t>1</a:t>
            </a:fld>
            <a:endParaRPr lang="en-US"/>
          </a:p>
        </p:txBody>
      </p:sp>
    </p:spTree>
    <p:extLst>
      <p:ext uri="{BB962C8B-B14F-4D97-AF65-F5344CB8AC3E}">
        <p14:creationId xmlns:p14="http://schemas.microsoft.com/office/powerpoint/2010/main" val="2126774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are at a point where we dreamed of a few years ago. </a:t>
            </a:r>
          </a:p>
          <a:p>
            <a:r>
              <a:rPr lang="en-US" dirty="0"/>
              <a:t>We now have language models that reason across ... </a:t>
            </a:r>
          </a:p>
        </p:txBody>
      </p:sp>
      <p:sp>
        <p:nvSpPr>
          <p:cNvPr id="4" name="Slide Number Placeholder 3"/>
          <p:cNvSpPr>
            <a:spLocks noGrp="1"/>
          </p:cNvSpPr>
          <p:nvPr>
            <p:ph type="sldNum" sz="quarter" idx="5"/>
          </p:nvPr>
        </p:nvSpPr>
        <p:spPr/>
        <p:txBody>
          <a:bodyPr/>
          <a:lstStyle/>
          <a:p>
            <a:fld id="{7E3EFFCD-2707-464E-8668-7D1BDDA9873E}" type="slidenum">
              <a:rPr lang="en-US" smtClean="0"/>
              <a:t>2</a:t>
            </a:fld>
            <a:endParaRPr lang="en-US"/>
          </a:p>
        </p:txBody>
      </p:sp>
    </p:spTree>
    <p:extLst>
      <p:ext uri="{BB962C8B-B14F-4D97-AF65-F5344CB8AC3E}">
        <p14:creationId xmlns:p14="http://schemas.microsoft.com/office/powerpoint/2010/main" val="3157847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the progress is real. </a:t>
            </a:r>
            <a:br>
              <a:rPr lang="en-US" dirty="0"/>
            </a:br>
            <a:r>
              <a:rPr lang="en-US" dirty="0"/>
              <a:t>The question now is: </a:t>
            </a:r>
            <a:r>
              <a:rPr lang="en-US" i="1" dirty="0"/>
              <a:t>how [the hell] did we get here, and can we do better?</a:t>
            </a:r>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fld id="{7E3EFFCD-2707-464E-8668-7D1BDDA9873E}" type="slidenum">
              <a:rPr lang="en-US" smtClean="0"/>
              <a:pPr/>
              <a:t>3</a:t>
            </a:fld>
            <a:endParaRPr lang="en-US"/>
          </a:p>
        </p:txBody>
      </p:sp>
    </p:spTree>
    <p:extLst>
      <p:ext uri="{BB962C8B-B14F-4D97-AF65-F5344CB8AC3E}">
        <p14:creationId xmlns:p14="http://schemas.microsoft.com/office/powerpoint/2010/main" val="117319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then a few more photos</a:t>
            </a:r>
          </a:p>
          <a:p>
            <a:endParaRPr lang="en-US" dirty="0"/>
          </a:p>
          <a:p>
            <a:endParaRPr lang="en-US" dirty="0"/>
          </a:p>
        </p:txBody>
      </p:sp>
    </p:spTree>
    <p:extLst>
      <p:ext uri="{BB962C8B-B14F-4D97-AF65-F5344CB8AC3E}">
        <p14:creationId xmlns:p14="http://schemas.microsoft.com/office/powerpoint/2010/main" val="2880357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then a few more photos</a:t>
            </a:r>
          </a:p>
          <a:p>
            <a:endParaRPr lang="en-US" dirty="0"/>
          </a:p>
          <a:p>
            <a:endParaRPr lang="en-US" dirty="0"/>
          </a:p>
        </p:txBody>
      </p:sp>
    </p:spTree>
    <p:extLst>
      <p:ext uri="{BB962C8B-B14F-4D97-AF65-F5344CB8AC3E}">
        <p14:creationId xmlns:p14="http://schemas.microsoft.com/office/powerpoint/2010/main" val="35358627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then a few more photos</a:t>
            </a:r>
          </a:p>
          <a:p>
            <a:endParaRPr lang="en-US" dirty="0"/>
          </a:p>
          <a:p>
            <a:endParaRPr lang="en-US" dirty="0"/>
          </a:p>
        </p:txBody>
      </p:sp>
    </p:spTree>
    <p:extLst>
      <p:ext uri="{BB962C8B-B14F-4D97-AF65-F5344CB8AC3E}">
        <p14:creationId xmlns:p14="http://schemas.microsoft.com/office/powerpoint/2010/main" val="2811916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then a few more photos</a:t>
            </a:r>
          </a:p>
          <a:p>
            <a:endParaRPr lang="en-US" dirty="0"/>
          </a:p>
          <a:p>
            <a:endParaRPr lang="en-US" dirty="0"/>
          </a:p>
        </p:txBody>
      </p:sp>
    </p:spTree>
    <p:extLst>
      <p:ext uri="{BB962C8B-B14F-4D97-AF65-F5344CB8AC3E}">
        <p14:creationId xmlns:p14="http://schemas.microsoft.com/office/powerpoint/2010/main" val="3395380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Generation is not just the product of AI, it is what fuels it. </a:t>
            </a:r>
          </a:p>
          <a:p>
            <a:endParaRPr lang="en-US" dirty="0"/>
          </a:p>
          <a:p>
            <a:endParaRPr lang="en-US" dirty="0"/>
          </a:p>
        </p:txBody>
      </p:sp>
    </p:spTree>
    <p:extLst>
      <p:ext uri="{BB962C8B-B14F-4D97-AF65-F5344CB8AC3E}">
        <p14:creationId xmlns:p14="http://schemas.microsoft.com/office/powerpoint/2010/main" val="1466108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Generation is not just the product of AI, it is what fuels it. </a:t>
            </a:r>
          </a:p>
          <a:p>
            <a:endParaRPr lang="en-US" dirty="0"/>
          </a:p>
          <a:p>
            <a:endParaRPr lang="en-US" dirty="0"/>
          </a:p>
        </p:txBody>
      </p:sp>
    </p:spTree>
    <p:extLst>
      <p:ext uri="{BB962C8B-B14F-4D97-AF65-F5344CB8AC3E}">
        <p14:creationId xmlns:p14="http://schemas.microsoft.com/office/powerpoint/2010/main" val="2909755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Generation is not just the product of AI, it is what fuels it. </a:t>
            </a:r>
          </a:p>
          <a:p>
            <a:endParaRPr lang="en-US" dirty="0"/>
          </a:p>
          <a:p>
            <a:endParaRPr lang="en-US" dirty="0"/>
          </a:p>
        </p:txBody>
      </p:sp>
    </p:spTree>
    <p:extLst>
      <p:ext uri="{BB962C8B-B14F-4D97-AF65-F5344CB8AC3E}">
        <p14:creationId xmlns:p14="http://schemas.microsoft.com/office/powerpoint/2010/main" val="3959299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Generation is not just the product of AI, it is what fuels it. </a:t>
            </a:r>
          </a:p>
          <a:p>
            <a:endParaRPr lang="en-US" dirty="0"/>
          </a:p>
          <a:p>
            <a:endParaRPr lang="en-US" dirty="0"/>
          </a:p>
        </p:txBody>
      </p:sp>
    </p:spTree>
    <p:extLst>
      <p:ext uri="{BB962C8B-B14F-4D97-AF65-F5344CB8AC3E}">
        <p14:creationId xmlns:p14="http://schemas.microsoft.com/office/powerpoint/2010/main" val="3116755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Generation is not just the product of AI, it is what fuels it. </a:t>
            </a:r>
          </a:p>
          <a:p>
            <a:endParaRPr lang="en-US" dirty="0"/>
          </a:p>
          <a:p>
            <a:endParaRPr lang="en-US" dirty="0"/>
          </a:p>
        </p:txBody>
      </p:sp>
    </p:spTree>
    <p:extLst>
      <p:ext uri="{BB962C8B-B14F-4D97-AF65-F5344CB8AC3E}">
        <p14:creationId xmlns:p14="http://schemas.microsoft.com/office/powerpoint/2010/main" val="3814331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Generation is not just the product of AI, it is what fuels it. </a:t>
            </a:r>
          </a:p>
          <a:p>
            <a:endParaRPr lang="en-US" dirty="0"/>
          </a:p>
          <a:p>
            <a:endParaRPr lang="en-US" dirty="0"/>
          </a:p>
        </p:txBody>
      </p:sp>
    </p:spTree>
    <p:extLst>
      <p:ext uri="{BB962C8B-B14F-4D97-AF65-F5344CB8AC3E}">
        <p14:creationId xmlns:p14="http://schemas.microsoft.com/office/powerpoint/2010/main" val="9979139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Generation is not just the product of AI, it is what fuels it. </a:t>
            </a:r>
          </a:p>
          <a:p>
            <a:endParaRPr lang="en-US" dirty="0"/>
          </a:p>
          <a:p>
            <a:endParaRPr lang="en-US" dirty="0"/>
          </a:p>
        </p:txBody>
      </p:sp>
    </p:spTree>
    <p:extLst>
      <p:ext uri="{BB962C8B-B14F-4D97-AF65-F5344CB8AC3E}">
        <p14:creationId xmlns:p14="http://schemas.microsoft.com/office/powerpoint/2010/main" val="9633278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So the core claim of this talk is simple: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Scaling laws -- while powerful --  they obscure ... [read]</a:t>
            </a:r>
          </a:p>
          <a:p>
            <a:endParaRPr lang="en-US" dirty="0"/>
          </a:p>
          <a:p>
            <a:r>
              <a:rPr lang="en-US" dirty="0"/>
              <a:t>To understand how LLMs behave, and why they succeed or fail, [read] </a:t>
            </a:r>
          </a:p>
        </p:txBody>
      </p:sp>
      <p:sp>
        <p:nvSpPr>
          <p:cNvPr id="4" name="Slide Number Placeholder 3"/>
          <p:cNvSpPr>
            <a:spLocks noGrp="1"/>
          </p:cNvSpPr>
          <p:nvPr>
            <p:ph type="sldNum" sz="quarter" idx="5"/>
          </p:nvPr>
        </p:nvSpPr>
        <p:spPr/>
        <p:txBody>
          <a:bodyPr/>
          <a:lstStyle/>
          <a:p>
            <a:fld id="{7E3EFFCD-2707-464E-8668-7D1BDDA9873E}" type="slidenum">
              <a:rPr lang="en-US" smtClean="0"/>
              <a:pPr/>
              <a:t>15</a:t>
            </a:fld>
            <a:endParaRPr lang="en-US"/>
          </a:p>
        </p:txBody>
      </p:sp>
    </p:spTree>
    <p:extLst>
      <p:ext uri="{BB962C8B-B14F-4D97-AF65-F5344CB8AC3E}">
        <p14:creationId xmlns:p14="http://schemas.microsoft.com/office/powerpoint/2010/main" val="24638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1689F-847C-AF4D-0C97-BBDE456258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4906CD-67C5-7B68-B4F9-89A075FEAD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A9E017A-3A44-F8B9-91BA-A71EDFF22026}"/>
              </a:ext>
            </a:extLst>
          </p:cNvPr>
          <p:cNvSpPr>
            <a:spLocks noGrp="1"/>
          </p:cNvSpPr>
          <p:nvPr>
            <p:ph type="body" idx="1"/>
          </p:nvPr>
        </p:nvSpPr>
        <p:spPr/>
        <p:txBody>
          <a:bodyPr/>
          <a:lstStyle/>
          <a:p>
            <a:r>
              <a:rPr lang="en-US" dirty="0"/>
              <a:t>So the core claim of this talk is simple: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Scaling laws -- while powerful --  they obscure ... [read]</a:t>
            </a:r>
          </a:p>
          <a:p>
            <a:endParaRPr lang="en-US" dirty="0"/>
          </a:p>
          <a:p>
            <a:r>
              <a:rPr lang="en-US" dirty="0"/>
              <a:t>To understand how LLMs behave, and why they succeed or fail, [read] </a:t>
            </a:r>
          </a:p>
        </p:txBody>
      </p:sp>
      <p:sp>
        <p:nvSpPr>
          <p:cNvPr id="4" name="Slide Number Placeholder 3">
            <a:extLst>
              <a:ext uri="{FF2B5EF4-FFF2-40B4-BE49-F238E27FC236}">
                <a16:creationId xmlns:a16="http://schemas.microsoft.com/office/drawing/2014/main" id="{02B72E2C-46AF-1A05-CA6B-24A4466FF9EA}"/>
              </a:ext>
            </a:extLst>
          </p:cNvPr>
          <p:cNvSpPr>
            <a:spLocks noGrp="1"/>
          </p:cNvSpPr>
          <p:nvPr>
            <p:ph type="sldNum" sz="quarter" idx="5"/>
          </p:nvPr>
        </p:nvSpPr>
        <p:spPr/>
        <p:txBody>
          <a:bodyPr/>
          <a:lstStyle/>
          <a:p>
            <a:fld id="{7E3EFFCD-2707-464E-8668-7D1BDDA9873E}" type="slidenum">
              <a:rPr lang="en-US" smtClean="0"/>
              <a:pPr/>
              <a:t>16</a:t>
            </a:fld>
            <a:endParaRPr lang="en-US"/>
          </a:p>
        </p:txBody>
      </p:sp>
    </p:spTree>
    <p:extLst>
      <p:ext uri="{BB962C8B-B14F-4D97-AF65-F5344CB8AC3E}">
        <p14:creationId xmlns:p14="http://schemas.microsoft.com/office/powerpoint/2010/main" val="19598869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 how did we get here? </a:t>
            </a:r>
          </a:p>
          <a:p>
            <a:pPr marL="171450" indent="-171450">
              <a:buFont typeface="Arial" panose="020B0604020202020204" pitchFamily="34" charset="0"/>
              <a:buChar char="•"/>
            </a:pPr>
            <a:r>
              <a:rPr lang="en-US" dirty="0"/>
              <a:t>Let's to a quick review of our current reasoning stack. </a:t>
            </a:r>
          </a:p>
          <a:p>
            <a:pPr marL="171450" indent="-171450">
              <a:buFont typeface="Arial" panose="020B0604020202020204" pitchFamily="34" charset="0"/>
              <a:buChar char="•"/>
            </a:pPr>
            <a:r>
              <a:rPr lang="en-US" dirty="0"/>
              <a:t>It should not be a surprise to this audience that, the most crucial step is training next-token prediction models on massive amounts of data. </a:t>
            </a:r>
          </a:p>
          <a:p>
            <a:pPr marL="171450" indent="-171450">
              <a:buFont typeface="Arial" panose="020B0604020202020204" pitchFamily="34" charset="0"/>
              <a:buChar char="•"/>
            </a:pPr>
            <a:r>
              <a:rPr lang="en-US" dirty="0"/>
              <a:t>The model memorizes facts and statistical structure of language. </a:t>
            </a:r>
          </a:p>
          <a:p>
            <a:pPr marL="171450" indent="-171450">
              <a:buFont typeface="Arial" panose="020B0604020202020204" pitchFamily="34" charset="0"/>
              <a:buChar char="•"/>
            </a:pPr>
            <a:r>
              <a:rPr lang="en-US" dirty="0"/>
              <a:t>This is the foundation, that is then goes through post-training </a:t>
            </a:r>
          </a:p>
        </p:txBody>
      </p:sp>
      <p:sp>
        <p:nvSpPr>
          <p:cNvPr id="4" name="Slide Number Placeholder 3"/>
          <p:cNvSpPr>
            <a:spLocks noGrp="1"/>
          </p:cNvSpPr>
          <p:nvPr>
            <p:ph type="sldNum" sz="quarter" idx="5"/>
          </p:nvPr>
        </p:nvSpPr>
        <p:spPr/>
        <p:txBody>
          <a:bodyPr/>
          <a:lstStyle/>
          <a:p>
            <a:fld id="{7E3EFFCD-2707-464E-8668-7D1BDDA9873E}" type="slidenum">
              <a:rPr lang="en-US" smtClean="0"/>
              <a:t>17</a:t>
            </a:fld>
            <a:endParaRPr lang="en-US"/>
          </a:p>
        </p:txBody>
      </p:sp>
    </p:spTree>
    <p:extLst>
      <p:ext uri="{BB962C8B-B14F-4D97-AF65-F5344CB8AC3E}">
        <p14:creationId xmlns:p14="http://schemas.microsoft.com/office/powerpoint/2010/main" val="36132480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 … to align them … [read]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is done through techniques such as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p:cNvSpPr>
            <a:spLocks noGrp="1"/>
          </p:cNvSpPr>
          <p:nvPr>
            <p:ph type="sldNum" sz="quarter" idx="5"/>
          </p:nvPr>
        </p:nvSpPr>
        <p:spPr/>
        <p:txBody>
          <a:bodyPr/>
          <a:lstStyle/>
          <a:p>
            <a:fld id="{7E3EFFCD-2707-464E-8668-7D1BDDA9873E}" type="slidenum">
              <a:rPr lang="en-US" smtClean="0"/>
              <a:pPr/>
              <a:t>18</a:t>
            </a:fld>
            <a:endParaRPr lang="en-US"/>
          </a:p>
        </p:txBody>
      </p:sp>
    </p:spTree>
    <p:extLst>
      <p:ext uri="{BB962C8B-B14F-4D97-AF65-F5344CB8AC3E}">
        <p14:creationId xmlns:p14="http://schemas.microsoft.com/office/powerpoint/2010/main" val="9593438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964E7-A877-CA57-2F2C-6F11D57F7D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F12B6E-4270-88CF-D2B2-1E4BF562664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57E3F30-EFAA-3219-5BD6-90DE10C08C7B}"/>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 … to align them … [read]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is done through techniques such as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a:extLst>
              <a:ext uri="{FF2B5EF4-FFF2-40B4-BE49-F238E27FC236}">
                <a16:creationId xmlns:a16="http://schemas.microsoft.com/office/drawing/2014/main" id="{A98F6D7A-D5E0-4A74-325B-3C53D53FF2FB}"/>
              </a:ext>
            </a:extLst>
          </p:cNvPr>
          <p:cNvSpPr>
            <a:spLocks noGrp="1"/>
          </p:cNvSpPr>
          <p:nvPr>
            <p:ph type="sldNum" sz="quarter" idx="5"/>
          </p:nvPr>
        </p:nvSpPr>
        <p:spPr/>
        <p:txBody>
          <a:bodyPr/>
          <a:lstStyle/>
          <a:p>
            <a:fld id="{7E3EFFCD-2707-464E-8668-7D1BDDA9873E}" type="slidenum">
              <a:rPr lang="en-US" smtClean="0"/>
              <a:pPr/>
              <a:t>19</a:t>
            </a:fld>
            <a:endParaRPr lang="en-US"/>
          </a:p>
        </p:txBody>
      </p:sp>
    </p:spTree>
    <p:extLst>
      <p:ext uri="{BB962C8B-B14F-4D97-AF65-F5344CB8AC3E}">
        <p14:creationId xmlns:p14="http://schemas.microsoft.com/office/powerpoint/2010/main" val="34847497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Or Reinforcement learning to teach models using human preference data or verifiers. </a:t>
            </a:r>
          </a:p>
          <a:p>
            <a:endParaRPr lang="en-US" dirty="0"/>
          </a:p>
          <a:p>
            <a:endParaRPr lang="en-US" dirty="0"/>
          </a:p>
        </p:txBody>
      </p:sp>
      <p:sp>
        <p:nvSpPr>
          <p:cNvPr id="4" name="Slide Number Placeholder 3"/>
          <p:cNvSpPr>
            <a:spLocks noGrp="1"/>
          </p:cNvSpPr>
          <p:nvPr>
            <p:ph type="sldNum" sz="quarter" idx="5"/>
          </p:nvPr>
        </p:nvSpPr>
        <p:spPr/>
        <p:txBody>
          <a:bodyPr/>
          <a:lstStyle/>
          <a:p>
            <a:fld id="{7E3EFFCD-2707-464E-8668-7D1BDDA9873E}" type="slidenum">
              <a:rPr lang="en-US" smtClean="0"/>
              <a:pPr/>
              <a:t>20</a:t>
            </a:fld>
            <a:endParaRPr lang="en-US"/>
          </a:p>
        </p:txBody>
      </p:sp>
    </p:spTree>
    <p:extLst>
      <p:ext uri="{BB962C8B-B14F-4D97-AF65-F5344CB8AC3E}">
        <p14:creationId xmlns:p14="http://schemas.microsoft.com/office/powerpoint/2010/main" val="32410473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Putting these pieces together,  gives us the canonical recipe used for training modern reasoning LLMs: </a:t>
            </a:r>
          </a:p>
          <a:p>
            <a:pPr marL="628650" lvl="1" indent="-171450">
              <a:buFont typeface="Arial" panose="020B0604020202020204" pitchFamily="34" charset="0"/>
              <a:buChar char="•"/>
            </a:pPr>
            <a:r>
              <a:rPr lang="en-US" dirty="0"/>
              <a:t>Large-scale pre-training following by post-hoc alignment. </a:t>
            </a:r>
          </a:p>
          <a:p>
            <a:pPr marL="628650" lvl="1" indent="-171450">
              <a:buFont typeface="Arial" panose="020B0604020202020204" pitchFamily="34" charset="0"/>
              <a:buChar char="•"/>
            </a:pPr>
            <a:r>
              <a:rPr lang="en-US" dirty="0"/>
              <a:t>And of course, one alternate repeat this process multiple times.</a:t>
            </a:r>
          </a:p>
          <a:p>
            <a:pPr marL="171450" indent="-171450">
              <a:buFont typeface="Arial" panose="020B0604020202020204" pitchFamily="34" charset="0"/>
              <a:buChar char="•"/>
            </a:pPr>
            <a:r>
              <a:rPr lang="en-US" dirty="0"/>
              <a:t>This simple recipe is what has given us the remarkable successes we have witnessed in the past few years.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7E3EFFCD-2707-464E-8668-7D1BDDA9873E}" type="slidenum">
              <a:rPr lang="en-US" smtClean="0"/>
              <a:pPr/>
              <a:t>21</a:t>
            </a:fld>
            <a:endParaRPr lang="en-US"/>
          </a:p>
        </p:txBody>
      </p:sp>
    </p:spTree>
    <p:extLst>
      <p:ext uri="{BB962C8B-B14F-4D97-AF65-F5344CB8AC3E}">
        <p14:creationId xmlns:p14="http://schemas.microsoft.com/office/powerpoint/2010/main" val="32896477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3EFFCD-2707-464E-8668-7D1BDDA9873E}" type="slidenum">
              <a:rPr lang="en-US" smtClean="0"/>
              <a:pPr/>
              <a:t>23</a:t>
            </a:fld>
            <a:endParaRPr lang="en-US" dirty="0"/>
          </a:p>
        </p:txBody>
      </p:sp>
    </p:spTree>
    <p:extLst>
      <p:ext uri="{BB962C8B-B14F-4D97-AF65-F5344CB8AC3E}">
        <p14:creationId xmlns:p14="http://schemas.microsoft.com/office/powerpoint/2010/main" val="19043722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8E0EE-82CF-5D34-11DD-4572841FA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0553D-2690-E399-9DDC-EFCAE7E1758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F595915-6061-F419-2A57-1F5A2DC75B2B}"/>
              </a:ext>
            </a:extLst>
          </p:cNvPr>
          <p:cNvSpPr>
            <a:spLocks noGrp="1"/>
          </p:cNvSpPr>
          <p:nvPr>
            <p:ph type="body" idx="1"/>
          </p:nvPr>
        </p:nvSpPr>
        <p:spPr/>
        <p:txBody>
          <a:bodyPr/>
          <a:lstStyle/>
          <a:p>
            <a:r>
              <a:rPr lang="en-US" dirty="0"/>
              <a:t>So the core claim of this talk is simple: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Scaling laws -- while powerful --  they obscure ... [read]</a:t>
            </a:r>
          </a:p>
          <a:p>
            <a:endParaRPr lang="en-US" dirty="0"/>
          </a:p>
          <a:p>
            <a:r>
              <a:rPr lang="en-US" dirty="0"/>
              <a:t>To understand how LLMs behave, and why they succeed or fail, [read] </a:t>
            </a:r>
          </a:p>
        </p:txBody>
      </p:sp>
      <p:sp>
        <p:nvSpPr>
          <p:cNvPr id="4" name="Slide Number Placeholder 3">
            <a:extLst>
              <a:ext uri="{FF2B5EF4-FFF2-40B4-BE49-F238E27FC236}">
                <a16:creationId xmlns:a16="http://schemas.microsoft.com/office/drawing/2014/main" id="{C21CBE01-0D60-AA84-F52C-2283A791800F}"/>
              </a:ext>
            </a:extLst>
          </p:cNvPr>
          <p:cNvSpPr>
            <a:spLocks noGrp="1"/>
          </p:cNvSpPr>
          <p:nvPr>
            <p:ph type="sldNum" sz="quarter" idx="5"/>
          </p:nvPr>
        </p:nvSpPr>
        <p:spPr/>
        <p:txBody>
          <a:bodyPr/>
          <a:lstStyle/>
          <a:p>
            <a:fld id="{7E3EFFCD-2707-464E-8668-7D1BDDA9873E}" type="slidenum">
              <a:rPr lang="en-US" smtClean="0"/>
              <a:pPr/>
              <a:t>24</a:t>
            </a:fld>
            <a:endParaRPr lang="en-US"/>
          </a:p>
        </p:txBody>
      </p:sp>
    </p:spTree>
    <p:extLst>
      <p:ext uri="{BB962C8B-B14F-4D97-AF65-F5344CB8AC3E}">
        <p14:creationId xmlns:p14="http://schemas.microsoft.com/office/powerpoint/2010/main" val="25879939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7D627-82F5-967C-3FA9-BDEC4351A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E2BF3B-E486-E340-0483-264C2F72E9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FB528D6-7318-4CB4-EA67-252C76CB3242}"/>
              </a:ext>
            </a:extLst>
          </p:cNvPr>
          <p:cNvSpPr>
            <a:spLocks noGrp="1"/>
          </p:cNvSpPr>
          <p:nvPr>
            <p:ph type="body" idx="1"/>
          </p:nvPr>
        </p:nvSpPr>
        <p:spPr/>
        <p:txBody>
          <a:bodyPr/>
          <a:lstStyle/>
          <a:p>
            <a:r>
              <a:rPr lang="en-US" dirty="0"/>
              <a:t>So the core claim of this talk is simple: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Scaling laws -- while powerful --  they obscure ... [read]</a:t>
            </a:r>
          </a:p>
          <a:p>
            <a:endParaRPr lang="en-US" dirty="0"/>
          </a:p>
          <a:p>
            <a:r>
              <a:rPr lang="en-US" dirty="0"/>
              <a:t>To understand how LLMs behave, and why they succeed or fail, [read] </a:t>
            </a:r>
          </a:p>
        </p:txBody>
      </p:sp>
      <p:sp>
        <p:nvSpPr>
          <p:cNvPr id="4" name="Slide Number Placeholder 3">
            <a:extLst>
              <a:ext uri="{FF2B5EF4-FFF2-40B4-BE49-F238E27FC236}">
                <a16:creationId xmlns:a16="http://schemas.microsoft.com/office/drawing/2014/main" id="{1AD58BFE-5A9E-6724-9B4D-9678188C5DC7}"/>
              </a:ext>
            </a:extLst>
          </p:cNvPr>
          <p:cNvSpPr>
            <a:spLocks noGrp="1"/>
          </p:cNvSpPr>
          <p:nvPr>
            <p:ph type="sldNum" sz="quarter" idx="5"/>
          </p:nvPr>
        </p:nvSpPr>
        <p:spPr/>
        <p:txBody>
          <a:bodyPr/>
          <a:lstStyle/>
          <a:p>
            <a:fld id="{7E3EFFCD-2707-464E-8668-7D1BDDA9873E}" type="slidenum">
              <a:rPr lang="en-US" smtClean="0"/>
              <a:pPr/>
              <a:t>25</a:t>
            </a:fld>
            <a:endParaRPr lang="en-US"/>
          </a:p>
        </p:txBody>
      </p:sp>
    </p:spTree>
    <p:extLst>
      <p:ext uri="{BB962C8B-B14F-4D97-AF65-F5344CB8AC3E}">
        <p14:creationId xmlns:p14="http://schemas.microsoft.com/office/powerpoint/2010/main" val="295044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Perhaps nothing better captures the progress of modern AI than the scaling laws.</a:t>
            </a:r>
          </a:p>
          <a:p>
            <a:pPr marL="171450" indent="-171450">
              <a:buFont typeface="Arial" panose="020B0604020202020204" pitchFamily="34" charset="0"/>
              <a:buChar char="•"/>
            </a:pPr>
            <a:r>
              <a:rPr lang="en-US" dirty="0"/>
              <a:t>The idea is deceptively simple: </a:t>
            </a:r>
          </a:p>
          <a:p>
            <a:pPr marL="628650" lvl="1" indent="-171450">
              <a:buFont typeface="Arial" panose="020B0604020202020204" pitchFamily="34" charset="0"/>
              <a:buChar char="•"/>
            </a:pPr>
            <a:r>
              <a:rPr lang="en-US" dirty="0"/>
              <a:t>Basically, with more compute and data, the models become better.</a:t>
            </a:r>
          </a:p>
          <a:p>
            <a:pPr marL="171450" indent="-171450">
              <a:buFont typeface="Arial" panose="020B0604020202020204" pitchFamily="34" charset="0"/>
              <a:buChar char="•"/>
            </a:pPr>
            <a:r>
              <a:rPr lang="en-US" dirty="0"/>
              <a:t>At first glance, this is extremely good news. </a:t>
            </a:r>
          </a:p>
          <a:p>
            <a:pPr marL="171450" indent="-171450">
              <a:buFont typeface="Arial" panose="020B0604020202020204" pitchFamily="34" charset="0"/>
              <a:buChar char="•"/>
            </a:pPr>
            <a:r>
              <a:rPr lang="en-US" dirty="0"/>
              <a:t>Industry loved this because it offered a predictable path forward. </a:t>
            </a:r>
          </a:p>
          <a:p>
            <a:pPr marL="628650" lvl="1" indent="-171450">
              <a:buFont typeface="Arial" panose="020B0604020202020204" pitchFamily="34" charset="0"/>
              <a:buChar char="•"/>
            </a:pPr>
            <a:r>
              <a:rPr lang="en-US" dirty="0"/>
              <a:t>Invest in data, invest in compute, and performance improves.</a:t>
            </a:r>
          </a:p>
          <a:p>
            <a:pPr marL="628650" lvl="1" indent="-171450">
              <a:buFont typeface="Arial" panose="020B0604020202020204" pitchFamily="34" charset="0"/>
              <a:buChar char="•"/>
            </a:pPr>
            <a:r>
              <a:rPr lang="en-US" dirty="0"/>
              <a:t>Compared to open-ended research bets, this is much less riskier. </a:t>
            </a:r>
          </a:p>
          <a:p>
            <a:pPr marL="171450" indent="-171450">
              <a:buFont typeface="Arial" panose="020B0604020202020204" pitchFamily="34" charset="0"/>
              <a:buChar char="•"/>
            </a:pPr>
            <a:r>
              <a:rPr lang="en-US" dirty="0"/>
              <a:t>Despite all this, …. </a:t>
            </a:r>
          </a:p>
        </p:txBody>
      </p:sp>
      <p:sp>
        <p:nvSpPr>
          <p:cNvPr id="4" name="Slide Number Placeholder 3"/>
          <p:cNvSpPr>
            <a:spLocks noGrp="1"/>
          </p:cNvSpPr>
          <p:nvPr>
            <p:ph type="sldNum" sz="quarter" idx="5"/>
          </p:nvPr>
        </p:nvSpPr>
        <p:spPr/>
        <p:txBody>
          <a:bodyPr/>
          <a:lstStyle/>
          <a:p>
            <a:fld id="{7E3EFFCD-2707-464E-8668-7D1BDDA9873E}" type="slidenum">
              <a:rPr lang="en-US" smtClean="0"/>
              <a:pPr/>
              <a:t>27</a:t>
            </a:fld>
            <a:endParaRPr lang="en-US"/>
          </a:p>
        </p:txBody>
      </p:sp>
    </p:spTree>
    <p:extLst>
      <p:ext uri="{BB962C8B-B14F-4D97-AF65-F5344CB8AC3E}">
        <p14:creationId xmlns:p14="http://schemas.microsoft.com/office/powerpoint/2010/main" val="41253714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4837C-5D99-FABB-6E29-DF04C4A804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144ED-FA91-A0CB-4E2E-D2CA2D5971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400624-2F49-8467-BE55-EDC459413296}"/>
              </a:ext>
            </a:extLst>
          </p:cNvPr>
          <p:cNvSpPr>
            <a:spLocks noGrp="1"/>
          </p:cNvSpPr>
          <p:nvPr>
            <p:ph type="body" idx="1"/>
          </p:nvPr>
        </p:nvSpPr>
        <p:spPr/>
        <p:txBody>
          <a:bodyPr/>
          <a:lstStyle/>
          <a:p>
            <a:r>
              <a:rPr lang="en-US" dirty="0"/>
              <a:t>So the core claim of this talk is simple: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Scaling laws -- while powerful --  they obscure ... [read]</a:t>
            </a:r>
          </a:p>
          <a:p>
            <a:endParaRPr lang="en-US" dirty="0"/>
          </a:p>
          <a:p>
            <a:r>
              <a:rPr lang="en-US" dirty="0"/>
              <a:t>To understand how LLMs behave, and why they succeed or fail, [read] </a:t>
            </a:r>
          </a:p>
        </p:txBody>
      </p:sp>
      <p:sp>
        <p:nvSpPr>
          <p:cNvPr id="4" name="Slide Number Placeholder 3">
            <a:extLst>
              <a:ext uri="{FF2B5EF4-FFF2-40B4-BE49-F238E27FC236}">
                <a16:creationId xmlns:a16="http://schemas.microsoft.com/office/drawing/2014/main" id="{1DEA816E-74C7-95D2-5533-51DADA06C235}"/>
              </a:ext>
            </a:extLst>
          </p:cNvPr>
          <p:cNvSpPr>
            <a:spLocks noGrp="1"/>
          </p:cNvSpPr>
          <p:nvPr>
            <p:ph type="sldNum" sz="quarter" idx="5"/>
          </p:nvPr>
        </p:nvSpPr>
        <p:spPr/>
        <p:txBody>
          <a:bodyPr/>
          <a:lstStyle/>
          <a:p>
            <a:fld id="{7E3EFFCD-2707-464E-8668-7D1BDDA9873E}" type="slidenum">
              <a:rPr lang="en-US" smtClean="0"/>
              <a:pPr/>
              <a:t>32</a:t>
            </a:fld>
            <a:endParaRPr lang="en-US"/>
          </a:p>
        </p:txBody>
      </p:sp>
    </p:spTree>
    <p:extLst>
      <p:ext uri="{BB962C8B-B14F-4D97-AF65-F5344CB8AC3E}">
        <p14:creationId xmlns:p14="http://schemas.microsoft.com/office/powerpoint/2010/main" val="40025374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14E59-E33A-FA3D-C274-554F03390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7CA8C0-A531-5649-B05D-6AED89B783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D2155B-5523-C661-1652-9D4F69AE10AC}"/>
              </a:ext>
            </a:extLst>
          </p:cNvPr>
          <p:cNvSpPr>
            <a:spLocks noGrp="1"/>
          </p:cNvSpPr>
          <p:nvPr>
            <p:ph type="body" idx="1"/>
          </p:nvPr>
        </p:nvSpPr>
        <p:spPr/>
        <p:txBody>
          <a:bodyPr/>
          <a:lstStyle/>
          <a:p>
            <a:r>
              <a:rPr lang="en-US" dirty="0"/>
              <a:t>So the core claim of this talk is simple: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Scaling laws -- while powerful --  they obscure ... [read]</a:t>
            </a:r>
          </a:p>
          <a:p>
            <a:endParaRPr lang="en-US" dirty="0"/>
          </a:p>
          <a:p>
            <a:r>
              <a:rPr lang="en-US" dirty="0"/>
              <a:t>To understand how LLMs behave, and why they succeed or fail, [read] </a:t>
            </a:r>
          </a:p>
        </p:txBody>
      </p:sp>
      <p:sp>
        <p:nvSpPr>
          <p:cNvPr id="4" name="Slide Number Placeholder 3">
            <a:extLst>
              <a:ext uri="{FF2B5EF4-FFF2-40B4-BE49-F238E27FC236}">
                <a16:creationId xmlns:a16="http://schemas.microsoft.com/office/drawing/2014/main" id="{C2050573-698D-65FF-55EC-7CDE2CE35AF3}"/>
              </a:ext>
            </a:extLst>
          </p:cNvPr>
          <p:cNvSpPr>
            <a:spLocks noGrp="1"/>
          </p:cNvSpPr>
          <p:nvPr>
            <p:ph type="sldNum" sz="quarter" idx="5"/>
          </p:nvPr>
        </p:nvSpPr>
        <p:spPr/>
        <p:txBody>
          <a:bodyPr/>
          <a:lstStyle/>
          <a:p>
            <a:fld id="{7E3EFFCD-2707-464E-8668-7D1BDDA9873E}" type="slidenum">
              <a:rPr lang="en-US" smtClean="0"/>
              <a:pPr/>
              <a:t>33</a:t>
            </a:fld>
            <a:endParaRPr lang="en-US"/>
          </a:p>
        </p:txBody>
      </p:sp>
    </p:spTree>
    <p:extLst>
      <p:ext uri="{BB962C8B-B14F-4D97-AF65-F5344CB8AC3E}">
        <p14:creationId xmlns:p14="http://schemas.microsoft.com/office/powerpoint/2010/main" val="10582840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DC6E-C3A3-B751-423A-D4536A247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284DBF-3D75-02FC-70CE-F1D7980E11F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DA89439-EAC7-48F0-840E-46F254293CDB}"/>
              </a:ext>
            </a:extLst>
          </p:cNvPr>
          <p:cNvSpPr>
            <a:spLocks noGrp="1"/>
          </p:cNvSpPr>
          <p:nvPr>
            <p:ph type="body" idx="1"/>
          </p:nvPr>
        </p:nvSpPr>
        <p:spPr/>
        <p:txBody>
          <a:bodyPr/>
          <a:lstStyle/>
          <a:p>
            <a:r>
              <a:rPr lang="en-US" dirty="0"/>
              <a:t>Let me first clearly define what we mean by in-context learning.</a:t>
            </a:r>
          </a:p>
          <a:p>
            <a:r>
              <a:rPr lang="en-US" dirty="0"/>
              <a:t>- We give the model a few examples — say, university acronyms mapped to cities — and then ask it to complete a new one.</a:t>
            </a:r>
          </a:p>
          <a:p>
            <a:pPr marL="628650" lvl="1" indent="-171450">
              <a:buFont typeface="Arial" panose="020B0604020202020204" pitchFamily="34" charset="0"/>
              <a:buChar char="•"/>
            </a:pPr>
            <a:r>
              <a:rPr lang="en-US" dirty="0"/>
              <a:t>There are no parameter updates, no gradient steps, no task-specific training—just inference from context.</a:t>
            </a:r>
          </a:p>
          <a:p>
            <a:pPr marL="171450" indent="-171450">
              <a:buFont typeface="Arial" panose="020B0604020202020204" pitchFamily="34" charset="0"/>
              <a:buChar char="•"/>
            </a:pPr>
            <a:r>
              <a:rPr lang="en-US" dirty="0"/>
              <a:t>This behavior — which we now call </a:t>
            </a:r>
            <a:r>
              <a:rPr lang="en-US" i="1" dirty="0"/>
              <a:t>in-context learning</a:t>
            </a:r>
            <a:r>
              <a:rPr lang="en-US" dirty="0"/>
              <a:t> — amounts to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Because of its simplicity and generality,  …[read] </a:t>
            </a:r>
          </a:p>
        </p:txBody>
      </p:sp>
      <p:sp>
        <p:nvSpPr>
          <p:cNvPr id="4" name="Slide Number Placeholder 3">
            <a:extLst>
              <a:ext uri="{FF2B5EF4-FFF2-40B4-BE49-F238E27FC236}">
                <a16:creationId xmlns:a16="http://schemas.microsoft.com/office/drawing/2014/main" id="{749803F4-CC98-A9E1-2E96-5A7DB318FEEA}"/>
              </a:ext>
            </a:extLst>
          </p:cNvPr>
          <p:cNvSpPr>
            <a:spLocks noGrp="1"/>
          </p:cNvSpPr>
          <p:nvPr>
            <p:ph type="sldNum" sz="quarter" idx="5"/>
          </p:nvPr>
        </p:nvSpPr>
        <p:spPr/>
        <p:txBody>
          <a:bodyPr/>
          <a:lstStyle/>
          <a:p>
            <a:fld id="{7E3EFFCD-2707-464E-8668-7D1BDDA9873E}" type="slidenum">
              <a:rPr lang="en-US" smtClean="0"/>
              <a:pPr/>
              <a:t>34</a:t>
            </a:fld>
            <a:endParaRPr lang="en-US" dirty="0"/>
          </a:p>
        </p:txBody>
      </p:sp>
    </p:spTree>
    <p:extLst>
      <p:ext uri="{BB962C8B-B14F-4D97-AF65-F5344CB8AC3E}">
        <p14:creationId xmlns:p14="http://schemas.microsoft.com/office/powerpoint/2010/main" val="11563627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59A98-9E37-AC5C-E544-0881F1797A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DD9D8D-E6E9-2FA3-A8E6-77DED3CCF4C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AB6AA87-6C9B-4B2B-E55E-C9660EC30975}"/>
              </a:ext>
            </a:extLst>
          </p:cNvPr>
          <p:cNvSpPr>
            <a:spLocks noGrp="1"/>
          </p:cNvSpPr>
          <p:nvPr>
            <p:ph type="body" idx="1"/>
          </p:nvPr>
        </p:nvSpPr>
        <p:spPr/>
        <p:txBody>
          <a:bodyPr/>
          <a:lstStyle/>
          <a:p>
            <a:r>
              <a:rPr lang="en-US" dirty="0"/>
              <a:t>Let me first clearly define what we mean by in-context learning.</a:t>
            </a:r>
          </a:p>
          <a:p>
            <a:r>
              <a:rPr lang="en-US" dirty="0"/>
              <a:t>- We give the model a few examples — say, university acronyms mapped to cities — and then ask it to complete a new one.</a:t>
            </a:r>
          </a:p>
          <a:p>
            <a:pPr marL="628650" lvl="1" indent="-171450">
              <a:buFont typeface="Arial" panose="020B0604020202020204" pitchFamily="34" charset="0"/>
              <a:buChar char="•"/>
            </a:pPr>
            <a:r>
              <a:rPr lang="en-US" dirty="0"/>
              <a:t>There are no parameter updates, no gradient steps, no task-specific training—just inference from context.</a:t>
            </a:r>
          </a:p>
          <a:p>
            <a:pPr marL="171450" indent="-171450">
              <a:buFont typeface="Arial" panose="020B0604020202020204" pitchFamily="34" charset="0"/>
              <a:buChar char="•"/>
            </a:pPr>
            <a:r>
              <a:rPr lang="en-US" dirty="0"/>
              <a:t>This behavior — which we now call </a:t>
            </a:r>
            <a:r>
              <a:rPr lang="en-US" i="1" dirty="0"/>
              <a:t>in-context learning</a:t>
            </a:r>
            <a:r>
              <a:rPr lang="en-US" dirty="0"/>
              <a:t> — amounts to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Because of its simplicity and generality,  …[read] </a:t>
            </a:r>
          </a:p>
        </p:txBody>
      </p:sp>
      <p:sp>
        <p:nvSpPr>
          <p:cNvPr id="4" name="Slide Number Placeholder 3">
            <a:extLst>
              <a:ext uri="{FF2B5EF4-FFF2-40B4-BE49-F238E27FC236}">
                <a16:creationId xmlns:a16="http://schemas.microsoft.com/office/drawing/2014/main" id="{E78190A8-9F61-806A-42A3-352720492B4F}"/>
              </a:ext>
            </a:extLst>
          </p:cNvPr>
          <p:cNvSpPr>
            <a:spLocks noGrp="1"/>
          </p:cNvSpPr>
          <p:nvPr>
            <p:ph type="sldNum" sz="quarter" idx="5"/>
          </p:nvPr>
        </p:nvSpPr>
        <p:spPr/>
        <p:txBody>
          <a:bodyPr/>
          <a:lstStyle/>
          <a:p>
            <a:fld id="{7E3EFFCD-2707-464E-8668-7D1BDDA9873E}" type="slidenum">
              <a:rPr lang="en-US" smtClean="0"/>
              <a:pPr/>
              <a:t>35</a:t>
            </a:fld>
            <a:endParaRPr lang="en-US" dirty="0"/>
          </a:p>
        </p:txBody>
      </p:sp>
    </p:spTree>
    <p:extLst>
      <p:ext uri="{BB962C8B-B14F-4D97-AF65-F5344CB8AC3E}">
        <p14:creationId xmlns:p14="http://schemas.microsoft.com/office/powerpoint/2010/main" val="7939547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3B975-DCA4-96E1-8CF7-D6FD32B85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C9BE5C-B358-BE16-89DE-F553393CA6E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FEB34A9-E040-44CE-EF8A-CFFD18E51585}"/>
              </a:ext>
            </a:extLst>
          </p:cNvPr>
          <p:cNvSpPr>
            <a:spLocks noGrp="1"/>
          </p:cNvSpPr>
          <p:nvPr>
            <p:ph type="body" idx="1"/>
          </p:nvPr>
        </p:nvSpPr>
        <p:spPr/>
        <p:txBody>
          <a:bodyPr/>
          <a:lstStyle/>
          <a:p>
            <a:r>
              <a:rPr lang="en-US" dirty="0"/>
              <a:t>Let me first clearly define what we mean by in-context learning.</a:t>
            </a:r>
          </a:p>
          <a:p>
            <a:r>
              <a:rPr lang="en-US" dirty="0"/>
              <a:t>- We give the model a few examples — say, university acronyms mapped to cities — and then ask it to complete a new one.</a:t>
            </a:r>
          </a:p>
          <a:p>
            <a:pPr marL="628650" lvl="1" indent="-171450">
              <a:buFont typeface="Arial" panose="020B0604020202020204" pitchFamily="34" charset="0"/>
              <a:buChar char="•"/>
            </a:pPr>
            <a:r>
              <a:rPr lang="en-US" dirty="0"/>
              <a:t>There are no parameter updates, no gradient steps, no task-specific training—just inference from context.</a:t>
            </a:r>
          </a:p>
          <a:p>
            <a:pPr marL="171450" indent="-171450">
              <a:buFont typeface="Arial" panose="020B0604020202020204" pitchFamily="34" charset="0"/>
              <a:buChar char="•"/>
            </a:pPr>
            <a:r>
              <a:rPr lang="en-US" dirty="0"/>
              <a:t>This behavior — which we now call </a:t>
            </a:r>
            <a:r>
              <a:rPr lang="en-US" i="1" dirty="0"/>
              <a:t>in-context learning</a:t>
            </a:r>
            <a:r>
              <a:rPr lang="en-US" dirty="0"/>
              <a:t> — amounts to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Because of its simplicity and generality,  …[read] </a:t>
            </a:r>
          </a:p>
        </p:txBody>
      </p:sp>
      <p:sp>
        <p:nvSpPr>
          <p:cNvPr id="4" name="Slide Number Placeholder 3">
            <a:extLst>
              <a:ext uri="{FF2B5EF4-FFF2-40B4-BE49-F238E27FC236}">
                <a16:creationId xmlns:a16="http://schemas.microsoft.com/office/drawing/2014/main" id="{8AC160AF-2F51-65B8-FEC0-5EF9831C5F38}"/>
              </a:ext>
            </a:extLst>
          </p:cNvPr>
          <p:cNvSpPr>
            <a:spLocks noGrp="1"/>
          </p:cNvSpPr>
          <p:nvPr>
            <p:ph type="sldNum" sz="quarter" idx="5"/>
          </p:nvPr>
        </p:nvSpPr>
        <p:spPr/>
        <p:txBody>
          <a:bodyPr/>
          <a:lstStyle/>
          <a:p>
            <a:fld id="{7E3EFFCD-2707-464E-8668-7D1BDDA9873E}" type="slidenum">
              <a:rPr lang="en-US" smtClean="0"/>
              <a:pPr/>
              <a:t>36</a:t>
            </a:fld>
            <a:endParaRPr lang="en-US" dirty="0"/>
          </a:p>
        </p:txBody>
      </p:sp>
    </p:spTree>
    <p:extLst>
      <p:ext uri="{BB962C8B-B14F-4D97-AF65-F5344CB8AC3E}">
        <p14:creationId xmlns:p14="http://schemas.microsoft.com/office/powerpoint/2010/main" val="19094511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7267A-1605-F513-D927-52ED3D7D8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AD120-1692-5F6E-8DCB-EC049153273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652166-44C2-D88D-719E-895FF68B3907}"/>
              </a:ext>
            </a:extLst>
          </p:cNvPr>
          <p:cNvSpPr>
            <a:spLocks noGrp="1"/>
          </p:cNvSpPr>
          <p:nvPr>
            <p:ph type="body" idx="1"/>
          </p:nvPr>
        </p:nvSpPr>
        <p:spPr/>
        <p:txBody>
          <a:bodyPr/>
          <a:lstStyle/>
          <a:p>
            <a:r>
              <a:rPr lang="en-US" dirty="0"/>
              <a:t>Let me first clearly define what we mean by in-context learning.</a:t>
            </a:r>
          </a:p>
          <a:p>
            <a:r>
              <a:rPr lang="en-US" dirty="0"/>
              <a:t>- We give the model a few examples — say, university acronyms mapped to cities — and then ask it to complete a new one.</a:t>
            </a:r>
          </a:p>
          <a:p>
            <a:pPr marL="628650" lvl="1" indent="-171450">
              <a:buFont typeface="Arial" panose="020B0604020202020204" pitchFamily="34" charset="0"/>
              <a:buChar char="•"/>
            </a:pPr>
            <a:r>
              <a:rPr lang="en-US" dirty="0"/>
              <a:t>There are no parameter updates, no gradient steps, no task-specific training—just inference from context.</a:t>
            </a:r>
          </a:p>
          <a:p>
            <a:pPr marL="171450" indent="-171450">
              <a:buFont typeface="Arial" panose="020B0604020202020204" pitchFamily="34" charset="0"/>
              <a:buChar char="•"/>
            </a:pPr>
            <a:r>
              <a:rPr lang="en-US" dirty="0"/>
              <a:t>This behavior — which we now call </a:t>
            </a:r>
            <a:r>
              <a:rPr lang="en-US" i="1" dirty="0"/>
              <a:t>in-context learning</a:t>
            </a:r>
            <a:r>
              <a:rPr lang="en-US" dirty="0"/>
              <a:t> — amounts to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Because of its simplicity and generality,  …[read] </a:t>
            </a:r>
          </a:p>
        </p:txBody>
      </p:sp>
      <p:sp>
        <p:nvSpPr>
          <p:cNvPr id="4" name="Slide Number Placeholder 3">
            <a:extLst>
              <a:ext uri="{FF2B5EF4-FFF2-40B4-BE49-F238E27FC236}">
                <a16:creationId xmlns:a16="http://schemas.microsoft.com/office/drawing/2014/main" id="{7CB63B97-02B7-3538-FB28-ED16CC10BF0C}"/>
              </a:ext>
            </a:extLst>
          </p:cNvPr>
          <p:cNvSpPr>
            <a:spLocks noGrp="1"/>
          </p:cNvSpPr>
          <p:nvPr>
            <p:ph type="sldNum" sz="quarter" idx="5"/>
          </p:nvPr>
        </p:nvSpPr>
        <p:spPr/>
        <p:txBody>
          <a:bodyPr/>
          <a:lstStyle/>
          <a:p>
            <a:fld id="{7E3EFFCD-2707-464E-8668-7D1BDDA9873E}" type="slidenum">
              <a:rPr lang="en-US" smtClean="0"/>
              <a:pPr/>
              <a:t>37</a:t>
            </a:fld>
            <a:endParaRPr lang="en-US" dirty="0"/>
          </a:p>
        </p:txBody>
      </p:sp>
    </p:spTree>
    <p:extLst>
      <p:ext uri="{BB962C8B-B14F-4D97-AF65-F5344CB8AC3E}">
        <p14:creationId xmlns:p14="http://schemas.microsoft.com/office/powerpoint/2010/main" val="3173146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62263-799C-A90D-8986-7383FCD4F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4076A7-B9A4-1223-B71E-6ECDCF681D1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E9BAFFC-2924-6DA0-C359-7B1B4C628981}"/>
              </a:ext>
            </a:extLst>
          </p:cNvPr>
          <p:cNvSpPr>
            <a:spLocks noGrp="1"/>
          </p:cNvSpPr>
          <p:nvPr>
            <p:ph type="body" idx="1"/>
          </p:nvPr>
        </p:nvSpPr>
        <p:spPr/>
        <p:txBody>
          <a:bodyPr/>
          <a:lstStyle/>
          <a:p>
            <a:r>
              <a:rPr lang="en-US" dirty="0"/>
              <a:t>Let me first clearly define what we mean by in-context learning.</a:t>
            </a:r>
          </a:p>
          <a:p>
            <a:r>
              <a:rPr lang="en-US" dirty="0"/>
              <a:t>- We give the model a few examples — say, university acronyms mapped to cities — and then ask it to complete a new one.</a:t>
            </a:r>
          </a:p>
          <a:p>
            <a:pPr marL="628650" lvl="1" indent="-171450">
              <a:buFont typeface="Arial" panose="020B0604020202020204" pitchFamily="34" charset="0"/>
              <a:buChar char="•"/>
            </a:pPr>
            <a:r>
              <a:rPr lang="en-US" dirty="0"/>
              <a:t>There are no parameter updates, no gradient steps, no task-specific training—just inference from context.</a:t>
            </a:r>
          </a:p>
          <a:p>
            <a:pPr marL="171450" indent="-171450">
              <a:buFont typeface="Arial" panose="020B0604020202020204" pitchFamily="34" charset="0"/>
              <a:buChar char="•"/>
            </a:pPr>
            <a:r>
              <a:rPr lang="en-US" dirty="0"/>
              <a:t>This behavior — which we now call </a:t>
            </a:r>
            <a:r>
              <a:rPr lang="en-US" i="1" dirty="0"/>
              <a:t>in-context learning</a:t>
            </a:r>
            <a:r>
              <a:rPr lang="en-US" dirty="0"/>
              <a:t> — amounts to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Because of its simplicity and generality,  …[read] </a:t>
            </a:r>
          </a:p>
        </p:txBody>
      </p:sp>
      <p:sp>
        <p:nvSpPr>
          <p:cNvPr id="4" name="Slide Number Placeholder 3">
            <a:extLst>
              <a:ext uri="{FF2B5EF4-FFF2-40B4-BE49-F238E27FC236}">
                <a16:creationId xmlns:a16="http://schemas.microsoft.com/office/drawing/2014/main" id="{EC924905-D073-1266-BC22-A421130F3597}"/>
              </a:ext>
            </a:extLst>
          </p:cNvPr>
          <p:cNvSpPr>
            <a:spLocks noGrp="1"/>
          </p:cNvSpPr>
          <p:nvPr>
            <p:ph type="sldNum" sz="quarter" idx="5"/>
          </p:nvPr>
        </p:nvSpPr>
        <p:spPr/>
        <p:txBody>
          <a:bodyPr/>
          <a:lstStyle/>
          <a:p>
            <a:fld id="{7E3EFFCD-2707-464E-8668-7D1BDDA9873E}" type="slidenum">
              <a:rPr lang="en-US" smtClean="0"/>
              <a:pPr/>
              <a:t>38</a:t>
            </a:fld>
            <a:endParaRPr lang="en-US" dirty="0"/>
          </a:p>
        </p:txBody>
      </p:sp>
    </p:spTree>
    <p:extLst>
      <p:ext uri="{BB962C8B-B14F-4D97-AF65-F5344CB8AC3E}">
        <p14:creationId xmlns:p14="http://schemas.microsoft.com/office/powerpoint/2010/main" val="22921171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25043-1CA9-7FA9-86CD-A9B5D976D8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214EF-1B34-F9F7-DF40-A396BFFA7DD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C1C9096-D9E2-37C1-3407-1A08838A9519}"/>
              </a:ext>
            </a:extLst>
          </p:cNvPr>
          <p:cNvSpPr>
            <a:spLocks noGrp="1"/>
          </p:cNvSpPr>
          <p:nvPr>
            <p:ph type="body" idx="1"/>
          </p:nvPr>
        </p:nvSpPr>
        <p:spPr/>
        <p:txBody>
          <a:bodyPr/>
          <a:lstStyle/>
          <a:p>
            <a:r>
              <a:rPr lang="en-US" dirty="0"/>
              <a:t>Let me first clearly define what we mean by in-context learning.</a:t>
            </a:r>
          </a:p>
          <a:p>
            <a:r>
              <a:rPr lang="en-US" dirty="0"/>
              <a:t>- We give the model a few examples — say, university acronyms mapped to cities — and then ask it to complete a new one.</a:t>
            </a:r>
          </a:p>
          <a:p>
            <a:pPr marL="628650" lvl="1" indent="-171450">
              <a:buFont typeface="Arial" panose="020B0604020202020204" pitchFamily="34" charset="0"/>
              <a:buChar char="•"/>
            </a:pPr>
            <a:r>
              <a:rPr lang="en-US" dirty="0"/>
              <a:t>There are no parameter updates, no gradient steps, no task-specific training—just inference from context.</a:t>
            </a:r>
          </a:p>
          <a:p>
            <a:pPr marL="171450" indent="-171450">
              <a:buFont typeface="Arial" panose="020B0604020202020204" pitchFamily="34" charset="0"/>
              <a:buChar char="•"/>
            </a:pPr>
            <a:r>
              <a:rPr lang="en-US" dirty="0"/>
              <a:t>This behavior — which we now call </a:t>
            </a:r>
            <a:r>
              <a:rPr lang="en-US" i="1" dirty="0"/>
              <a:t>in-context learning</a:t>
            </a:r>
            <a:r>
              <a:rPr lang="en-US" dirty="0"/>
              <a:t> — amounts to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Because of its simplicity and generality,  …[read] </a:t>
            </a:r>
          </a:p>
        </p:txBody>
      </p:sp>
      <p:sp>
        <p:nvSpPr>
          <p:cNvPr id="4" name="Slide Number Placeholder 3">
            <a:extLst>
              <a:ext uri="{FF2B5EF4-FFF2-40B4-BE49-F238E27FC236}">
                <a16:creationId xmlns:a16="http://schemas.microsoft.com/office/drawing/2014/main" id="{EABF2E11-EC85-3F20-9C41-F1C60A470046}"/>
              </a:ext>
            </a:extLst>
          </p:cNvPr>
          <p:cNvSpPr>
            <a:spLocks noGrp="1"/>
          </p:cNvSpPr>
          <p:nvPr>
            <p:ph type="sldNum" sz="quarter" idx="5"/>
          </p:nvPr>
        </p:nvSpPr>
        <p:spPr/>
        <p:txBody>
          <a:bodyPr/>
          <a:lstStyle/>
          <a:p>
            <a:fld id="{7E3EFFCD-2707-464E-8668-7D1BDDA9873E}" type="slidenum">
              <a:rPr lang="en-US" smtClean="0"/>
              <a:pPr/>
              <a:t>39</a:t>
            </a:fld>
            <a:endParaRPr lang="en-US" dirty="0"/>
          </a:p>
        </p:txBody>
      </p:sp>
    </p:spTree>
    <p:extLst>
      <p:ext uri="{BB962C8B-B14F-4D97-AF65-F5344CB8AC3E}">
        <p14:creationId xmlns:p14="http://schemas.microsoft.com/office/powerpoint/2010/main" val="2221451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FDD39-FE4A-57C5-AD17-E0AA7C7502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5075DE-95BA-9154-89F0-27E722A65BF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4EE5D1-AB93-55A7-A4A3-201280468974}"/>
              </a:ext>
            </a:extLst>
          </p:cNvPr>
          <p:cNvSpPr>
            <a:spLocks noGrp="1"/>
          </p:cNvSpPr>
          <p:nvPr>
            <p:ph type="body" idx="1"/>
          </p:nvPr>
        </p:nvSpPr>
        <p:spPr/>
        <p:txBody>
          <a:bodyPr/>
          <a:lstStyle/>
          <a:p>
            <a:r>
              <a:rPr lang="en-US" dirty="0"/>
              <a:t>Let me first clearly define what we mean by in-context learning.</a:t>
            </a:r>
          </a:p>
          <a:p>
            <a:r>
              <a:rPr lang="en-US" dirty="0"/>
              <a:t>- We give the model a few examples — say, university acronyms mapped to cities — and then ask it to complete a new one.</a:t>
            </a:r>
          </a:p>
          <a:p>
            <a:pPr marL="628650" lvl="1" indent="-171450">
              <a:buFont typeface="Arial" panose="020B0604020202020204" pitchFamily="34" charset="0"/>
              <a:buChar char="•"/>
            </a:pPr>
            <a:r>
              <a:rPr lang="en-US" dirty="0"/>
              <a:t>There are no parameter updates, no gradient steps, no task-specific training—just inference from context.</a:t>
            </a:r>
          </a:p>
          <a:p>
            <a:pPr marL="171450" indent="-171450">
              <a:buFont typeface="Arial" panose="020B0604020202020204" pitchFamily="34" charset="0"/>
              <a:buChar char="•"/>
            </a:pPr>
            <a:r>
              <a:rPr lang="en-US" dirty="0"/>
              <a:t>This behavior — which we now call </a:t>
            </a:r>
            <a:r>
              <a:rPr lang="en-US" i="1" dirty="0"/>
              <a:t>in-context learning</a:t>
            </a:r>
            <a:r>
              <a:rPr lang="en-US" dirty="0"/>
              <a:t> — amounts to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Because of its simplicity and generality,  …[read] </a:t>
            </a:r>
          </a:p>
        </p:txBody>
      </p:sp>
      <p:sp>
        <p:nvSpPr>
          <p:cNvPr id="4" name="Slide Number Placeholder 3">
            <a:extLst>
              <a:ext uri="{FF2B5EF4-FFF2-40B4-BE49-F238E27FC236}">
                <a16:creationId xmlns:a16="http://schemas.microsoft.com/office/drawing/2014/main" id="{9C3868FD-13F1-5A45-A049-5B942EE39036}"/>
              </a:ext>
            </a:extLst>
          </p:cNvPr>
          <p:cNvSpPr>
            <a:spLocks noGrp="1"/>
          </p:cNvSpPr>
          <p:nvPr>
            <p:ph type="sldNum" sz="quarter" idx="5"/>
          </p:nvPr>
        </p:nvSpPr>
        <p:spPr/>
        <p:txBody>
          <a:bodyPr/>
          <a:lstStyle/>
          <a:p>
            <a:fld id="{7E3EFFCD-2707-464E-8668-7D1BDDA9873E}" type="slidenum">
              <a:rPr lang="en-US" smtClean="0"/>
              <a:pPr/>
              <a:t>40</a:t>
            </a:fld>
            <a:endParaRPr lang="en-US" dirty="0"/>
          </a:p>
        </p:txBody>
      </p:sp>
    </p:spTree>
    <p:extLst>
      <p:ext uri="{BB962C8B-B14F-4D97-AF65-F5344CB8AC3E}">
        <p14:creationId xmlns:p14="http://schemas.microsoft.com/office/powerpoint/2010/main" val="3201511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 me first clearly define what we mean by in-context learning.</a:t>
            </a:r>
          </a:p>
          <a:p>
            <a:r>
              <a:rPr lang="en-US" dirty="0"/>
              <a:t>- We give the model a few examples — say, university acronyms mapped to cities — and then ask it to complete a new one.</a:t>
            </a:r>
          </a:p>
          <a:p>
            <a:pPr marL="628650" lvl="1" indent="-171450">
              <a:buFont typeface="Arial" panose="020B0604020202020204" pitchFamily="34" charset="0"/>
              <a:buChar char="•"/>
            </a:pPr>
            <a:r>
              <a:rPr lang="en-US" dirty="0"/>
              <a:t>There are no parameter updates, no gradient steps, no task-specific training—just inference from context.</a:t>
            </a:r>
          </a:p>
          <a:p>
            <a:pPr marL="171450" indent="-171450">
              <a:buFont typeface="Arial" panose="020B0604020202020204" pitchFamily="34" charset="0"/>
              <a:buChar char="•"/>
            </a:pPr>
            <a:r>
              <a:rPr lang="en-US" dirty="0"/>
              <a:t>This behavior — which we now call </a:t>
            </a:r>
            <a:r>
              <a:rPr lang="en-US" i="1" dirty="0"/>
              <a:t>in-context learning</a:t>
            </a:r>
            <a:r>
              <a:rPr lang="en-US" dirty="0"/>
              <a:t> — amounts to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Because of its simplicity and generality,  …[read] </a:t>
            </a:r>
          </a:p>
        </p:txBody>
      </p:sp>
      <p:sp>
        <p:nvSpPr>
          <p:cNvPr id="4" name="Slide Number Placeholder 3"/>
          <p:cNvSpPr>
            <a:spLocks noGrp="1"/>
          </p:cNvSpPr>
          <p:nvPr>
            <p:ph type="sldNum" sz="quarter" idx="5"/>
          </p:nvPr>
        </p:nvSpPr>
        <p:spPr/>
        <p:txBody>
          <a:bodyPr/>
          <a:lstStyle/>
          <a:p>
            <a:fld id="{7E3EFFCD-2707-464E-8668-7D1BDDA9873E}" type="slidenum">
              <a:rPr lang="en-US" smtClean="0"/>
              <a:pPr/>
              <a:t>41</a:t>
            </a:fld>
            <a:endParaRPr lang="en-US" dirty="0"/>
          </a:p>
        </p:txBody>
      </p:sp>
    </p:spTree>
    <p:extLst>
      <p:ext uri="{BB962C8B-B14F-4D97-AF65-F5344CB8AC3E}">
        <p14:creationId xmlns:p14="http://schemas.microsoft.com/office/powerpoint/2010/main" val="39330574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6B0F4-2003-EED3-79EC-502E9BD493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BD96D-30EB-674F-DBC3-688E5B678A3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8F8566A-517B-DFF4-F8E4-0EAE345F52C4}"/>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And that brings us to a big open questions: … [read]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For years — going back at least to GPT-2 —  …. [read]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implicit assumption has been: [ … read]</a:t>
            </a:r>
          </a:p>
        </p:txBody>
      </p:sp>
      <p:sp>
        <p:nvSpPr>
          <p:cNvPr id="4" name="Slide Number Placeholder 3">
            <a:extLst>
              <a:ext uri="{FF2B5EF4-FFF2-40B4-BE49-F238E27FC236}">
                <a16:creationId xmlns:a16="http://schemas.microsoft.com/office/drawing/2014/main" id="{5A4BDA3E-810F-0394-0215-7A44464938D1}"/>
              </a:ext>
            </a:extLst>
          </p:cNvPr>
          <p:cNvSpPr>
            <a:spLocks noGrp="1"/>
          </p:cNvSpPr>
          <p:nvPr>
            <p:ph type="sldNum" sz="quarter" idx="5"/>
          </p:nvPr>
        </p:nvSpPr>
        <p:spPr/>
        <p:txBody>
          <a:bodyPr/>
          <a:lstStyle/>
          <a:p>
            <a:fld id="{7E3EFFCD-2707-464E-8668-7D1BDDA9873E}" type="slidenum">
              <a:rPr lang="en-US" smtClean="0"/>
              <a:pPr/>
              <a:t>43</a:t>
            </a:fld>
            <a:endParaRPr lang="en-US"/>
          </a:p>
        </p:txBody>
      </p:sp>
    </p:spTree>
    <p:extLst>
      <p:ext uri="{BB962C8B-B14F-4D97-AF65-F5344CB8AC3E}">
        <p14:creationId xmlns:p14="http://schemas.microsoft.com/office/powerpoint/2010/main" val="26749177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And that brings us to a big open questions: … [read]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For years — going back at least to GPT-2 —  …. [read]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implicit assumption has been: [ … read]</a:t>
            </a:r>
          </a:p>
        </p:txBody>
      </p:sp>
      <p:sp>
        <p:nvSpPr>
          <p:cNvPr id="4" name="Slide Number Placeholder 3"/>
          <p:cNvSpPr>
            <a:spLocks noGrp="1"/>
          </p:cNvSpPr>
          <p:nvPr>
            <p:ph type="sldNum" sz="quarter" idx="5"/>
          </p:nvPr>
        </p:nvSpPr>
        <p:spPr/>
        <p:txBody>
          <a:bodyPr/>
          <a:lstStyle/>
          <a:p>
            <a:fld id="{7E3EFFCD-2707-464E-8668-7D1BDDA9873E}" type="slidenum">
              <a:rPr lang="en-US" smtClean="0"/>
              <a:pPr/>
              <a:t>44</a:t>
            </a:fld>
            <a:endParaRPr lang="en-US"/>
          </a:p>
        </p:txBody>
      </p:sp>
    </p:spTree>
    <p:extLst>
      <p:ext uri="{BB962C8B-B14F-4D97-AF65-F5344CB8AC3E}">
        <p14:creationId xmlns:p14="http://schemas.microsoft.com/office/powerpoint/2010/main" val="15034182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1C8FA-7C5C-508F-EF42-EF9878554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B478AA-A638-8446-C4A9-F0ABAD96D0E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AA6E6DB-4B4D-3A66-007E-686E75B1AF9B}"/>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But… [read]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We can ask fundamental questions here: … [read]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Arial" panose="020B0604020202020204" pitchFamily="34" charset="0"/>
                <a:cs typeface="Arial" panose="020B0604020202020204" pitchFamily="34" charset="0"/>
              </a:rPr>
              <a:t>or is it a more </a:t>
            </a:r>
            <a:r>
              <a:rPr lang="en-US" sz="1200" i="1" dirty="0">
                <a:solidFill>
                  <a:schemeClr val="tx1"/>
                </a:solidFill>
                <a:latin typeface="Arial" panose="020B0604020202020204" pitchFamily="34" charset="0"/>
                <a:cs typeface="Arial" panose="020B0604020202020204" pitchFamily="34" charset="0"/>
              </a:rPr>
              <a:t>general computational principle</a:t>
            </a:r>
            <a:r>
              <a:rPr lang="en-US" sz="1200" dirty="0">
                <a:solidFill>
                  <a:schemeClr val="tx1"/>
                </a:solidFill>
                <a:latin typeface="Arial" panose="020B0604020202020204" pitchFamily="34" charset="0"/>
                <a:cs typeface="Arial" panose="020B0604020202020204" pitchFamily="34" charset="0"/>
              </a:rPr>
              <a:t> that [human] language happens to expose particularly well?</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That's our research question. And to answer it, …</a:t>
            </a:r>
          </a:p>
        </p:txBody>
      </p:sp>
      <p:sp>
        <p:nvSpPr>
          <p:cNvPr id="4" name="Slide Number Placeholder 3">
            <a:extLst>
              <a:ext uri="{FF2B5EF4-FFF2-40B4-BE49-F238E27FC236}">
                <a16:creationId xmlns:a16="http://schemas.microsoft.com/office/drawing/2014/main" id="{30B972BF-3464-F835-488B-824BD516F16D}"/>
              </a:ext>
            </a:extLst>
          </p:cNvPr>
          <p:cNvSpPr>
            <a:spLocks noGrp="1"/>
          </p:cNvSpPr>
          <p:nvPr>
            <p:ph type="sldNum" sz="quarter" idx="5"/>
          </p:nvPr>
        </p:nvSpPr>
        <p:spPr/>
        <p:txBody>
          <a:bodyPr/>
          <a:lstStyle/>
          <a:p>
            <a:fld id="{7E3EFFCD-2707-464E-8668-7D1BDDA9873E}" type="slidenum">
              <a:rPr lang="en-US" smtClean="0"/>
              <a:pPr/>
              <a:t>45</a:t>
            </a:fld>
            <a:endParaRPr lang="en-US"/>
          </a:p>
        </p:txBody>
      </p:sp>
    </p:spTree>
    <p:extLst>
      <p:ext uri="{BB962C8B-B14F-4D97-AF65-F5344CB8AC3E}">
        <p14:creationId xmlns:p14="http://schemas.microsoft.com/office/powerpoint/2010/main" val="33470443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7A930-F54B-4457-B4B7-F594F6D85A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3CF7CE-EBB4-F189-7DF2-E147AEE9505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C4AAEA-8A1F-5D66-770F-31FD39340767}"/>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To answer this, my students (Nathan) conduct a controlled comparison comparing the emergence of ICL on two modalities: human language and genomic language.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These two languages are different in many ways: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their vocabulary,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how we interpret them: human language obviously our language communication and genomic sequences have no human-readable semantics;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and their evolutionary path. One emerged from human cognition and communication. The other from billions of years of natural selection.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But they’re also similar in some structural form. Both are long symbolic sequences, and they both encode short- and long-range dependencies.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So maybe if we train separate LMs on these languages, they will share some traits.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a:extLst>
              <a:ext uri="{FF2B5EF4-FFF2-40B4-BE49-F238E27FC236}">
                <a16:creationId xmlns:a16="http://schemas.microsoft.com/office/drawing/2014/main" id="{59A49A4C-2688-7815-84A7-FFE150581C1B}"/>
              </a:ext>
            </a:extLst>
          </p:cNvPr>
          <p:cNvSpPr>
            <a:spLocks noGrp="1"/>
          </p:cNvSpPr>
          <p:nvPr>
            <p:ph type="sldNum" sz="quarter" idx="5"/>
          </p:nvPr>
        </p:nvSpPr>
        <p:spPr/>
        <p:txBody>
          <a:bodyPr/>
          <a:lstStyle/>
          <a:p>
            <a:fld id="{7E3EFFCD-2707-464E-8668-7D1BDDA9873E}" type="slidenum">
              <a:rPr lang="en-US" smtClean="0"/>
              <a:pPr/>
              <a:t>46</a:t>
            </a:fld>
            <a:endParaRPr lang="en-US"/>
          </a:p>
        </p:txBody>
      </p:sp>
    </p:spTree>
    <p:extLst>
      <p:ext uri="{BB962C8B-B14F-4D97-AF65-F5344CB8AC3E}">
        <p14:creationId xmlns:p14="http://schemas.microsoft.com/office/powerpoint/2010/main" val="4326202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F5E0D-0D7D-A7E7-9FC8-98F8B4EF8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C8EBE6-DB73-68A3-ADB6-17802098FE5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380EF6-B44F-BE88-4961-693E321C2E23}"/>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Specifically, found two languages models: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On the top, we have a standard language model trained on human text.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On the bottom, we have a genomic model trained on DNA sequences.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Crucially, these models are trained at a </a:t>
            </a:r>
            <a:r>
              <a:rPr lang="en-US" b="1" dirty="0"/>
              <a:t>comparable scale</a:t>
            </a:r>
            <a:r>
              <a:rPr lang="en-US" dirty="0"/>
              <a:t> — similar compute and data budgets.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allows us to explore an interesting hypothesis: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14A9380A-A6FA-33E2-D56F-990CF61C2193}"/>
              </a:ext>
            </a:extLst>
          </p:cNvPr>
          <p:cNvSpPr>
            <a:spLocks noGrp="1"/>
          </p:cNvSpPr>
          <p:nvPr>
            <p:ph type="sldNum" sz="quarter" idx="5"/>
          </p:nvPr>
        </p:nvSpPr>
        <p:spPr/>
        <p:txBody>
          <a:bodyPr/>
          <a:lstStyle/>
          <a:p>
            <a:fld id="{7E3EFFCD-2707-464E-8668-7D1BDDA9873E}" type="slidenum">
              <a:rPr lang="en-US" smtClean="0"/>
              <a:pPr/>
              <a:t>47</a:t>
            </a:fld>
            <a:endParaRPr lang="en-US"/>
          </a:p>
        </p:txBody>
      </p:sp>
    </p:spTree>
    <p:extLst>
      <p:ext uri="{BB962C8B-B14F-4D97-AF65-F5344CB8AC3E}">
        <p14:creationId xmlns:p14="http://schemas.microsoft.com/office/powerpoint/2010/main" val="25095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24FB2-1138-84BD-C920-B03B0CCB0E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03F0A-B1A8-CD26-4588-70B33FB19CD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7EF078-6705-4603-CC77-6E48F1C3E4F4}"/>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But it’s actually unclear how we can compare these models fairly?</a:t>
            </a:r>
          </a:p>
        </p:txBody>
      </p:sp>
      <p:sp>
        <p:nvSpPr>
          <p:cNvPr id="4" name="Slide Number Placeholder 3">
            <a:extLst>
              <a:ext uri="{FF2B5EF4-FFF2-40B4-BE49-F238E27FC236}">
                <a16:creationId xmlns:a16="http://schemas.microsoft.com/office/drawing/2014/main" id="{DB153F86-42AB-C69B-0157-801676409B7D}"/>
              </a:ext>
            </a:extLst>
          </p:cNvPr>
          <p:cNvSpPr>
            <a:spLocks noGrp="1"/>
          </p:cNvSpPr>
          <p:nvPr>
            <p:ph type="sldNum" sz="quarter" idx="5"/>
          </p:nvPr>
        </p:nvSpPr>
        <p:spPr/>
        <p:txBody>
          <a:bodyPr/>
          <a:lstStyle/>
          <a:p>
            <a:fld id="{7E3EFFCD-2707-464E-8668-7D1BDDA9873E}" type="slidenum">
              <a:rPr lang="en-US" smtClean="0"/>
              <a:pPr/>
              <a:t>48</a:t>
            </a:fld>
            <a:endParaRPr lang="en-US"/>
          </a:p>
        </p:txBody>
      </p:sp>
    </p:spTree>
    <p:extLst>
      <p:ext uri="{BB962C8B-B14F-4D97-AF65-F5344CB8AC3E}">
        <p14:creationId xmlns:p14="http://schemas.microsoft.com/office/powerpoint/2010/main" val="27544874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We did what many computer scientists would do: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we defined a family of </a:t>
            </a:r>
            <a:r>
              <a:rPr lang="en-US" b="1" dirty="0"/>
              <a:t>simple reasoning tasks over bitstrings</a:t>
            </a:r>
            <a:r>
              <a:rPr lang="en-US" dirty="0"/>
              <a:t> — e.g. reversal, bitwise operations, and structured transformations.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challenge, of course, is that our genomic model doesn’t natively speaks “bitstrings.”</a:t>
            </a:r>
            <a:br>
              <a:rPr lang="en-US" dirty="0"/>
            </a:br>
            <a:r>
              <a:rPr lang="en-US" dirty="0"/>
              <a:t>So we need to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p:cNvSpPr>
            <a:spLocks noGrp="1"/>
          </p:cNvSpPr>
          <p:nvPr>
            <p:ph type="sldNum" sz="quarter" idx="5"/>
          </p:nvPr>
        </p:nvSpPr>
        <p:spPr/>
        <p:txBody>
          <a:bodyPr/>
          <a:lstStyle/>
          <a:p>
            <a:fld id="{7E3EFFCD-2707-464E-8668-7D1BDDA9873E}" type="slidenum">
              <a:rPr lang="en-US" smtClean="0"/>
              <a:pPr/>
              <a:t>49</a:t>
            </a:fld>
            <a:endParaRPr lang="en-US"/>
          </a:p>
        </p:txBody>
      </p:sp>
    </p:spTree>
    <p:extLst>
      <p:ext uri="{BB962C8B-B14F-4D97-AF65-F5344CB8AC3E}">
        <p14:creationId xmlns:p14="http://schemas.microsoft.com/office/powerpoint/2010/main" val="12319756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For each model, we define a mapping/codebook from bits to their tokens.</a:t>
            </a:r>
            <a:r>
              <a:rPr lang="en-US" i="1" dirty="0"/>
              <a: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1" dirty="0"/>
              <a:t>For the genomic model, it maps the bits to </a:t>
            </a:r>
            <a:r>
              <a:rPr lang="en-US" dirty="0"/>
              <a:t>nucleotide sequences — A, T, C, and 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For consistency, we do the same for the language model: we map bits into digits.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Importantly, this transformation does not change the task logic --- only the surface representation does.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allows us to probe two different models on the same problem. </a:t>
            </a:r>
          </a:p>
        </p:txBody>
      </p:sp>
      <p:sp>
        <p:nvSpPr>
          <p:cNvPr id="4" name="Slide Number Placeholder 3"/>
          <p:cNvSpPr>
            <a:spLocks noGrp="1"/>
          </p:cNvSpPr>
          <p:nvPr>
            <p:ph type="sldNum" sz="quarter" idx="5"/>
          </p:nvPr>
        </p:nvSpPr>
        <p:spPr/>
        <p:txBody>
          <a:bodyPr/>
          <a:lstStyle/>
          <a:p>
            <a:fld id="{7E3EFFCD-2707-464E-8668-7D1BDDA9873E}" type="slidenum">
              <a:rPr lang="en-US" smtClean="0"/>
              <a:pPr/>
              <a:t>50</a:t>
            </a:fld>
            <a:endParaRPr lang="en-US"/>
          </a:p>
        </p:txBody>
      </p:sp>
    </p:spTree>
    <p:extLst>
      <p:ext uri="{BB962C8B-B14F-4D97-AF65-F5344CB8AC3E}">
        <p14:creationId xmlns:p14="http://schemas.microsoft.com/office/powerpoint/2010/main" val="3973072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Let’s start on the right. This is Qwen3, a standard language model. </a:t>
            </a:r>
          </a:p>
          <a:p>
            <a:pPr marL="628650" lvl="1" indent="-171450">
              <a:buFont typeface="Arial" panose="020B0604020202020204" pitchFamily="34" charset="0"/>
              <a:buChar char="•"/>
            </a:pPr>
            <a:r>
              <a:rPr lang="en-US" dirty="0"/>
              <a:t>As we increase the number of in-context examples, accuracy improves steadily. </a:t>
            </a:r>
          </a:p>
          <a:p>
            <a:pPr marL="628650" lvl="1" indent="-171450">
              <a:buFont typeface="Arial" panose="020B0604020202020204" pitchFamily="34" charset="0"/>
              <a:buChar char="•"/>
            </a:pPr>
            <a:r>
              <a:rPr lang="en-US" dirty="0"/>
              <a:t>This is exactly what we expect and is well documented that now we now take it for granted.</a:t>
            </a:r>
          </a:p>
          <a:p>
            <a:pPr marL="171450" lvl="0" indent="-171450">
              <a:buFont typeface="Arial" panose="020B0604020202020204" pitchFamily="34" charset="0"/>
              <a:buChar char="•"/>
            </a:pPr>
            <a:r>
              <a:rPr lang="en-US" dirty="0"/>
              <a:t>Now look at the left. This is Evo2, a genomic model trained on DNA sequences, not human language. </a:t>
            </a:r>
          </a:p>
          <a:p>
            <a:pPr marL="628650" lvl="1" indent="-171450">
              <a:buFont typeface="Arial" panose="020B0604020202020204" pitchFamily="34" charset="0"/>
              <a:buChar char="•"/>
            </a:pPr>
            <a:r>
              <a:rPr lang="en-US" dirty="0"/>
              <a:t>There is no natural notion of words, syntax, or semantics here — [now show it]  and yet we see the same qualitative behavior. </a:t>
            </a:r>
          </a:p>
          <a:p>
            <a:pPr marL="628650" lvl="1" indent="-171450">
              <a:buFont typeface="Arial" panose="020B0604020202020204" pitchFamily="34" charset="0"/>
              <a:buChar char="•"/>
            </a:pPr>
            <a:r>
              <a:rPr lang="en-US" dirty="0"/>
              <a:t>As we add more in-context demonstrations, the model’s accuracy improves.</a:t>
            </a:r>
          </a:p>
          <a:p>
            <a:pPr marL="171450" lvl="0" indent="-171450">
              <a:buFont typeface="Arial" panose="020B0604020202020204" pitchFamily="34" charset="0"/>
              <a:buChar char="•"/>
            </a:pPr>
            <a:r>
              <a:rPr lang="en-US" dirty="0"/>
              <a:t>In conclusion,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To our knowledge, this is the first evidence of </a:t>
            </a:r>
            <a:r>
              <a:rPr lang="en-US" b="1" i="1" dirty="0"/>
              <a:t>emergent</a:t>
            </a:r>
            <a:r>
              <a:rPr lang="en-US" b="1" dirty="0"/>
              <a:t> in-context learning in non–human-language symbolic sequences.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ICL arising in genomic models trained purely on DNA, with no linguistic supervision at all.</a:t>
            </a:r>
            <a:endParaRPr lang="en-US" b="1" dirty="0"/>
          </a:p>
          <a:p>
            <a:pPr marL="171450" lvl="0" indent="-171450">
              <a:buFont typeface="Arial" panose="020B0604020202020204" pitchFamily="34" charset="0"/>
              <a:buChar char="•"/>
            </a:pPr>
            <a:endParaRPr lang="en-US" b="1" dirty="0"/>
          </a:p>
        </p:txBody>
      </p:sp>
      <p:sp>
        <p:nvSpPr>
          <p:cNvPr id="4" name="Slide Number Placeholder 3"/>
          <p:cNvSpPr>
            <a:spLocks noGrp="1"/>
          </p:cNvSpPr>
          <p:nvPr>
            <p:ph type="sldNum" sz="quarter" idx="5"/>
          </p:nvPr>
        </p:nvSpPr>
        <p:spPr/>
        <p:txBody>
          <a:bodyPr/>
          <a:lstStyle/>
          <a:p>
            <a:fld id="{7E3EFFCD-2707-464E-8668-7D1BDDA9873E}" type="slidenum">
              <a:rPr lang="en-US" smtClean="0"/>
              <a:pPr/>
              <a:t>51</a:t>
            </a:fld>
            <a:endParaRPr lang="en-US"/>
          </a:p>
        </p:txBody>
      </p:sp>
    </p:spTree>
    <p:extLst>
      <p:ext uri="{BB962C8B-B14F-4D97-AF65-F5344CB8AC3E}">
        <p14:creationId xmlns:p14="http://schemas.microsoft.com/office/powerpoint/2010/main" val="15825214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So, we have established that … </a:t>
            </a:r>
          </a:p>
        </p:txBody>
      </p:sp>
      <p:sp>
        <p:nvSpPr>
          <p:cNvPr id="4" name="Slide Number Placeholder 3"/>
          <p:cNvSpPr>
            <a:spLocks noGrp="1"/>
          </p:cNvSpPr>
          <p:nvPr>
            <p:ph type="sldNum" sz="quarter" idx="5"/>
          </p:nvPr>
        </p:nvSpPr>
        <p:spPr/>
        <p:txBody>
          <a:bodyPr/>
          <a:lstStyle/>
          <a:p>
            <a:fld id="{7E3EFFCD-2707-464E-8668-7D1BDDA9873E}" type="slidenum">
              <a:rPr lang="en-US" smtClean="0"/>
              <a:pPr/>
              <a:t>52</a:t>
            </a:fld>
            <a:endParaRPr lang="en-US"/>
          </a:p>
        </p:txBody>
      </p:sp>
    </p:spTree>
    <p:extLst>
      <p:ext uri="{BB962C8B-B14F-4D97-AF65-F5344CB8AC3E}">
        <p14:creationId xmlns:p14="http://schemas.microsoft.com/office/powerpoint/2010/main" val="273018612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8BD0A-8185-80FA-7E24-32BD02DF05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EB8498-C6DD-6859-EF90-A64D3C8147B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CA83F8B-AEF0-5B2B-34B3-DF4C28DF81D7}"/>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leads to interesting questions: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One can also ask questions about the nature of computational reasoning.</a:t>
            </a:r>
          </a:p>
          <a:p>
            <a:pPr marL="628650" lvl="1" indent="-171450">
              <a:buFont typeface="Arial" panose="020B0604020202020204" pitchFamily="34" charset="0"/>
              <a:buChar char="•"/>
            </a:pPr>
            <a:r>
              <a:rPr lang="en-US" dirty="0"/>
              <a:t>We’ve shown that ICL exhibits shared behavior in both language and genomics models. The two aren’t identical, but they clearly overlap. This naturally raises the question: [read] </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A83300E-6FCD-4D22-6E9D-6D16FD4FC63E}"/>
              </a:ext>
            </a:extLst>
          </p:cNvPr>
          <p:cNvSpPr>
            <a:spLocks noGrp="1"/>
          </p:cNvSpPr>
          <p:nvPr>
            <p:ph type="sldNum" sz="quarter" idx="5"/>
          </p:nvPr>
        </p:nvSpPr>
        <p:spPr/>
        <p:txBody>
          <a:bodyPr/>
          <a:lstStyle/>
          <a:p>
            <a:fld id="{7E3EFFCD-2707-464E-8668-7D1BDDA9873E}" type="slidenum">
              <a:rPr lang="en-US" smtClean="0"/>
              <a:pPr/>
              <a:t>53</a:t>
            </a:fld>
            <a:endParaRPr lang="en-US"/>
          </a:p>
        </p:txBody>
      </p:sp>
    </p:spTree>
    <p:extLst>
      <p:ext uri="{BB962C8B-B14F-4D97-AF65-F5344CB8AC3E}">
        <p14:creationId xmlns:p14="http://schemas.microsoft.com/office/powerpoint/2010/main" val="311852097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26C48-4EB4-F447-ABBE-80C2589C25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497549-DB37-5416-93E9-4D1295B2805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CBA226-3912-DFF2-4B1E-8425292D9AF5}"/>
              </a:ext>
            </a:extLst>
          </p:cNvPr>
          <p:cNvSpPr>
            <a:spLocks noGrp="1"/>
          </p:cNvSpPr>
          <p:nvPr>
            <p:ph type="body" idx="1"/>
          </p:nvPr>
        </p:nvSpPr>
        <p:spPr/>
        <p:txBody>
          <a:bodyPr/>
          <a:lstStyle/>
          <a:p>
            <a:pPr marL="171450" indent="-171450">
              <a:buFont typeface="Arial" panose="020B0604020202020204" pitchFamily="34" charset="0"/>
              <a:buChar char="•"/>
            </a:pPr>
            <a:r>
              <a:rPr lang="en-US" dirty="0"/>
              <a:t>So, we have established that … </a:t>
            </a:r>
          </a:p>
        </p:txBody>
      </p:sp>
      <p:sp>
        <p:nvSpPr>
          <p:cNvPr id="4" name="Slide Number Placeholder 3">
            <a:extLst>
              <a:ext uri="{FF2B5EF4-FFF2-40B4-BE49-F238E27FC236}">
                <a16:creationId xmlns:a16="http://schemas.microsoft.com/office/drawing/2014/main" id="{D8AB7B28-35E1-E53E-E002-6443198D1C71}"/>
              </a:ext>
            </a:extLst>
          </p:cNvPr>
          <p:cNvSpPr>
            <a:spLocks noGrp="1"/>
          </p:cNvSpPr>
          <p:nvPr>
            <p:ph type="sldNum" sz="quarter" idx="5"/>
          </p:nvPr>
        </p:nvSpPr>
        <p:spPr/>
        <p:txBody>
          <a:bodyPr/>
          <a:lstStyle/>
          <a:p>
            <a:fld id="{7E3EFFCD-2707-464E-8668-7D1BDDA9873E}" type="slidenum">
              <a:rPr lang="en-US" smtClean="0"/>
              <a:pPr/>
              <a:t>57</a:t>
            </a:fld>
            <a:endParaRPr lang="en-US"/>
          </a:p>
        </p:txBody>
      </p:sp>
    </p:spTree>
    <p:extLst>
      <p:ext uri="{BB962C8B-B14F-4D97-AF65-F5344CB8AC3E}">
        <p14:creationId xmlns:p14="http://schemas.microsoft.com/office/powerpoint/2010/main" val="33133820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8B354-2C11-6E56-F993-CFC7EFC72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32047B-5B5F-D7AE-85D6-8E1CE7120E9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4B3F05A-7F56-F09D-8429-862EB5399F71}"/>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leads to interesting questions: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One can also ask questions about the nature of computational reasoning.</a:t>
            </a:r>
          </a:p>
          <a:p>
            <a:pPr marL="628650" lvl="1" indent="-171450">
              <a:buFont typeface="Arial" panose="020B0604020202020204" pitchFamily="34" charset="0"/>
              <a:buChar char="•"/>
            </a:pPr>
            <a:r>
              <a:rPr lang="en-US" dirty="0"/>
              <a:t>We’ve shown that ICL exhibits shared behavior in both language and genomics models. The two aren’t identical, but they clearly overlap. This naturally raises the question: [read] </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77F41A8-7479-4152-EF52-0CF82C059BCC}"/>
              </a:ext>
            </a:extLst>
          </p:cNvPr>
          <p:cNvSpPr>
            <a:spLocks noGrp="1"/>
          </p:cNvSpPr>
          <p:nvPr>
            <p:ph type="sldNum" sz="quarter" idx="5"/>
          </p:nvPr>
        </p:nvSpPr>
        <p:spPr/>
        <p:txBody>
          <a:bodyPr/>
          <a:lstStyle/>
          <a:p>
            <a:fld id="{7E3EFFCD-2707-464E-8668-7D1BDDA9873E}" type="slidenum">
              <a:rPr lang="en-US" smtClean="0"/>
              <a:pPr/>
              <a:t>58</a:t>
            </a:fld>
            <a:endParaRPr lang="en-US"/>
          </a:p>
        </p:txBody>
      </p:sp>
    </p:spTree>
    <p:extLst>
      <p:ext uri="{BB962C8B-B14F-4D97-AF65-F5344CB8AC3E}">
        <p14:creationId xmlns:p14="http://schemas.microsoft.com/office/powerpoint/2010/main" val="24110274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3EFFCD-2707-464E-8668-7D1BDDA9873E}" type="slidenum">
              <a:rPr lang="en-US" smtClean="0"/>
              <a:pPr/>
              <a:t>59</a:t>
            </a:fld>
            <a:endParaRPr lang="en-US"/>
          </a:p>
        </p:txBody>
      </p:sp>
    </p:spTree>
    <p:extLst>
      <p:ext uri="{BB962C8B-B14F-4D97-AF65-F5344CB8AC3E}">
        <p14:creationId xmlns:p14="http://schemas.microsoft.com/office/powerpoint/2010/main" val="237661712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1D983-B6B8-2D40-1747-C25D912B4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606AF8-1277-1D90-11A3-48BBE8AAD2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58F2CAF-9273-30A0-4AA9-2C36921B161F}"/>
              </a:ext>
            </a:extLst>
          </p:cNvPr>
          <p:cNvSpPr>
            <a:spLocks noGrp="1"/>
          </p:cNvSpPr>
          <p:nvPr>
            <p:ph type="body" idx="1"/>
          </p:nvPr>
        </p:nvSpPr>
        <p:spPr/>
        <p:txBody>
          <a:bodyPr/>
          <a:lstStyle/>
          <a:p>
            <a:r>
              <a:rPr lang="en-US" dirty="0"/>
              <a:t>So the core claim of this talk is simple: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Scaling laws -- while powerful --  they obscure ... [read]</a:t>
            </a:r>
          </a:p>
          <a:p>
            <a:endParaRPr lang="en-US" dirty="0"/>
          </a:p>
          <a:p>
            <a:r>
              <a:rPr lang="en-US" dirty="0"/>
              <a:t>To understand how LLMs behave, and why they succeed or fail, [read] </a:t>
            </a:r>
          </a:p>
        </p:txBody>
      </p:sp>
      <p:sp>
        <p:nvSpPr>
          <p:cNvPr id="4" name="Slide Number Placeholder 3">
            <a:extLst>
              <a:ext uri="{FF2B5EF4-FFF2-40B4-BE49-F238E27FC236}">
                <a16:creationId xmlns:a16="http://schemas.microsoft.com/office/drawing/2014/main" id="{F5E46F38-5870-2AB2-9402-2D812382C168}"/>
              </a:ext>
            </a:extLst>
          </p:cNvPr>
          <p:cNvSpPr>
            <a:spLocks noGrp="1"/>
          </p:cNvSpPr>
          <p:nvPr>
            <p:ph type="sldNum" sz="quarter" idx="5"/>
          </p:nvPr>
        </p:nvSpPr>
        <p:spPr/>
        <p:txBody>
          <a:bodyPr/>
          <a:lstStyle/>
          <a:p>
            <a:fld id="{7E3EFFCD-2707-464E-8668-7D1BDDA9873E}" type="slidenum">
              <a:rPr lang="en-US" smtClean="0"/>
              <a:pPr/>
              <a:t>60</a:t>
            </a:fld>
            <a:endParaRPr lang="en-US"/>
          </a:p>
        </p:txBody>
      </p:sp>
    </p:spTree>
    <p:extLst>
      <p:ext uri="{BB962C8B-B14F-4D97-AF65-F5344CB8AC3E}">
        <p14:creationId xmlns:p14="http://schemas.microsoft.com/office/powerpoint/2010/main" val="267312867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82E0E-910A-68C6-0026-C6FBD1D07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6DFC3-04CC-4C4F-3F60-CD7F1D8A6C9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3BD11E4-6B26-3529-C930-6B8CDBA50B1E}"/>
              </a:ext>
            </a:extLst>
          </p:cNvPr>
          <p:cNvSpPr>
            <a:spLocks noGrp="1"/>
          </p:cNvSpPr>
          <p:nvPr>
            <p:ph type="body" idx="1"/>
          </p:nvPr>
        </p:nvSpPr>
        <p:spPr/>
        <p:txBody>
          <a:bodyPr/>
          <a:lstStyle/>
          <a:p>
            <a:r>
              <a:rPr lang="en-US" dirty="0"/>
              <a:t>So the core claim of this talk is simple: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Scaling laws -- while powerful --  they obscure ... [read]</a:t>
            </a:r>
          </a:p>
          <a:p>
            <a:endParaRPr lang="en-US" dirty="0"/>
          </a:p>
          <a:p>
            <a:r>
              <a:rPr lang="en-US" dirty="0"/>
              <a:t>To understand how LLMs behave, and why they succeed or fail, [read] </a:t>
            </a:r>
          </a:p>
        </p:txBody>
      </p:sp>
      <p:sp>
        <p:nvSpPr>
          <p:cNvPr id="4" name="Slide Number Placeholder 3">
            <a:extLst>
              <a:ext uri="{FF2B5EF4-FFF2-40B4-BE49-F238E27FC236}">
                <a16:creationId xmlns:a16="http://schemas.microsoft.com/office/drawing/2014/main" id="{2A4CB1A2-F900-780C-B308-63E74B5081FB}"/>
              </a:ext>
            </a:extLst>
          </p:cNvPr>
          <p:cNvSpPr>
            <a:spLocks noGrp="1"/>
          </p:cNvSpPr>
          <p:nvPr>
            <p:ph type="sldNum" sz="quarter" idx="5"/>
          </p:nvPr>
        </p:nvSpPr>
        <p:spPr/>
        <p:txBody>
          <a:bodyPr/>
          <a:lstStyle/>
          <a:p>
            <a:fld id="{7E3EFFCD-2707-464E-8668-7D1BDDA9873E}" type="slidenum">
              <a:rPr lang="en-US" smtClean="0"/>
              <a:pPr/>
              <a:t>61</a:t>
            </a:fld>
            <a:endParaRPr lang="en-US"/>
          </a:p>
        </p:txBody>
      </p:sp>
    </p:spTree>
    <p:extLst>
      <p:ext uri="{BB962C8B-B14F-4D97-AF65-F5344CB8AC3E}">
        <p14:creationId xmlns:p14="http://schemas.microsoft.com/office/powerpoint/2010/main" val="4229734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450428" y="2091617"/>
            <a:ext cx="9159765" cy="1909762"/>
          </a:xfrm>
          <a:prstGeom prst="rect">
            <a:avLst/>
          </a:prstGeom>
        </p:spPr>
        <p:txBody>
          <a:bodyPr anchor="b"/>
          <a:lstStyle>
            <a:lvl1pPr algn="ctr">
              <a:defRPr sz="6000" b="1">
                <a:solidFill>
                  <a:schemeClr val="tx2"/>
                </a:solidFill>
                <a:latin typeface="Arial" panose="020B0604020202020204" pitchFamily="34" charset="0"/>
                <a:cs typeface="Arial" panose="020B0604020202020204" pitchFamily="34" charset="0"/>
              </a:defRPr>
            </a:lvl1pPr>
          </a:lstStyle>
          <a:p>
            <a:r>
              <a:rPr lang="en-US" dirty="0"/>
              <a:t>Section Title Goes Here</a:t>
            </a:r>
          </a:p>
        </p:txBody>
      </p:sp>
      <p:sp>
        <p:nvSpPr>
          <p:cNvPr id="3" name="Subtitle 2"/>
          <p:cNvSpPr>
            <a:spLocks noGrp="1"/>
          </p:cNvSpPr>
          <p:nvPr>
            <p:ph type="subTitle" idx="1" hasCustomPrompt="1"/>
          </p:nvPr>
        </p:nvSpPr>
        <p:spPr>
          <a:xfrm>
            <a:off x="1450428" y="4198386"/>
            <a:ext cx="9159765" cy="834038"/>
          </a:xfrm>
          <a:prstGeom prst="rect">
            <a:avLst/>
          </a:prstGeo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something extra to this if you like</a:t>
            </a:r>
          </a:p>
        </p:txBody>
      </p:sp>
    </p:spTree>
    <p:extLst>
      <p:ext uri="{BB962C8B-B14F-4D97-AF65-F5344CB8AC3E}">
        <p14:creationId xmlns:p14="http://schemas.microsoft.com/office/powerpoint/2010/main" val="2659003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FDC36-8356-5740-92A0-F32405C3E797}"/>
              </a:ext>
            </a:extLst>
          </p:cNvPr>
          <p:cNvSpPr>
            <a:spLocks noGrp="1"/>
          </p:cNvSpPr>
          <p:nvPr>
            <p:ph type="ctrTitle"/>
          </p:nvPr>
        </p:nvSpPr>
        <p:spPr>
          <a:xfrm>
            <a:off x="1198181" y="1122363"/>
            <a:ext cx="9963807" cy="2387600"/>
          </a:xfrm>
          <a:prstGeom prst="rect">
            <a:avLst/>
          </a:prstGeo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15CBB3F7-BD50-304A-8949-9A499BFD2DCE}"/>
              </a:ext>
            </a:extLst>
          </p:cNvPr>
          <p:cNvSpPr>
            <a:spLocks noGrp="1"/>
          </p:cNvSpPr>
          <p:nvPr>
            <p:ph type="subTitle" idx="1"/>
          </p:nvPr>
        </p:nvSpPr>
        <p:spPr>
          <a:xfrm>
            <a:off x="1292771" y="3602038"/>
            <a:ext cx="9758855"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546696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FDC36-8356-5740-92A0-F32405C3E797}"/>
              </a:ext>
            </a:extLst>
          </p:cNvPr>
          <p:cNvSpPr>
            <a:spLocks noGrp="1"/>
          </p:cNvSpPr>
          <p:nvPr>
            <p:ph type="ctrTitle"/>
          </p:nvPr>
        </p:nvSpPr>
        <p:spPr>
          <a:xfrm>
            <a:off x="682906" y="304239"/>
            <a:ext cx="10914926" cy="1748158"/>
          </a:xfrm>
          <a:prstGeom prst="rect">
            <a:avLst/>
          </a:prstGeom>
        </p:spPr>
        <p:txBody>
          <a:bodyPr anchor="t"/>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15CBB3F7-BD50-304A-8949-9A499BFD2DCE}"/>
              </a:ext>
            </a:extLst>
          </p:cNvPr>
          <p:cNvSpPr>
            <a:spLocks noGrp="1"/>
          </p:cNvSpPr>
          <p:nvPr>
            <p:ph type="subTitle" idx="1"/>
          </p:nvPr>
        </p:nvSpPr>
        <p:spPr>
          <a:xfrm>
            <a:off x="401256" y="4794230"/>
            <a:ext cx="9144000" cy="1655762"/>
          </a:xfrm>
          <a:prstGeom prst="rect">
            <a:avLst/>
          </a:prstGeom>
        </p:spPr>
        <p:txBody>
          <a:bodyPr/>
          <a:lstStyle>
            <a:lvl1pPr marL="0" indent="0" algn="l">
              <a:buNone/>
              <a:defRPr sz="2000" b="0" i="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222258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1D929-0714-2648-8C25-0283B1667986}"/>
              </a:ext>
            </a:extLst>
          </p:cNvPr>
          <p:cNvSpPr>
            <a:spLocks noGrp="1"/>
          </p:cNvSpPr>
          <p:nvPr>
            <p:ph type="title"/>
          </p:nvPr>
        </p:nvSpPr>
        <p:spPr>
          <a:xfrm>
            <a:off x="200025" y="125504"/>
            <a:ext cx="11830050" cy="1006475"/>
          </a:xfrm>
          <a:prstGeom prst="rect">
            <a:avLst/>
          </a:prstGeom>
        </p:spPr>
        <p:txBody>
          <a:bodyPr/>
          <a:lstStyle>
            <a:lvl1pPr algn="ct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29B37F10-A93F-6241-8C35-0375AF297CDD}"/>
              </a:ext>
            </a:extLst>
          </p:cNvPr>
          <p:cNvSpPr>
            <a:spLocks noGrp="1"/>
          </p:cNvSpPr>
          <p:nvPr>
            <p:ph idx="1"/>
          </p:nvPr>
        </p:nvSpPr>
        <p:spPr>
          <a:xfrm>
            <a:off x="838200" y="1514475"/>
            <a:ext cx="10515600" cy="4662488"/>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0DC71061-0BFF-3847-9AC2-9B89AD1B0109}"/>
              </a:ext>
            </a:extLst>
          </p:cNvPr>
          <p:cNvSpPr>
            <a:spLocks noGrp="1"/>
          </p:cNvSpPr>
          <p:nvPr>
            <p:ph type="sldNum" sz="quarter" idx="10"/>
          </p:nvPr>
        </p:nvSpPr>
        <p:spPr>
          <a:xfrm>
            <a:off x="11656084" y="6497505"/>
            <a:ext cx="530225" cy="365125"/>
          </a:xfrm>
        </p:spPr>
        <p:txBody>
          <a:bodyPr/>
          <a:lstStyle>
            <a:lvl1pPr algn="ctr">
              <a:defRPr/>
            </a:lvl1pPr>
          </a:lstStyle>
          <a:p>
            <a:pPr>
              <a:defRPr/>
            </a:pPr>
            <a:fld id="{0121240C-47AF-2F4D-83B3-CC3EDF50F794}" type="slidenum">
              <a:rPr lang="en-US" smtClean="0"/>
              <a:pPr>
                <a:defRPr/>
              </a:pPr>
              <a:t>‹#›</a:t>
            </a:fld>
            <a:endParaRPr lang="en-US"/>
          </a:p>
        </p:txBody>
      </p:sp>
    </p:spTree>
    <p:extLst>
      <p:ext uri="{BB962C8B-B14F-4D97-AF65-F5344CB8AC3E}">
        <p14:creationId xmlns:p14="http://schemas.microsoft.com/office/powerpoint/2010/main" val="2288568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85238F4E-C287-2836-630C-203C88D54E66}"/>
              </a:ext>
            </a:extLst>
          </p:cNvPr>
          <p:cNvSpPr>
            <a:spLocks noGrp="1"/>
          </p:cNvSpPr>
          <p:nvPr>
            <p:ph idx="1"/>
          </p:nvPr>
        </p:nvSpPr>
        <p:spPr>
          <a:xfrm>
            <a:off x="838200" y="1450307"/>
            <a:ext cx="10515600" cy="4662488"/>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DFCB7A92-5EF2-F5B5-406A-8A6E16952073}"/>
              </a:ext>
            </a:extLst>
          </p:cNvPr>
          <p:cNvSpPr>
            <a:spLocks noGrp="1"/>
          </p:cNvSpPr>
          <p:nvPr>
            <p:ph type="sldNum" sz="quarter" idx="10"/>
          </p:nvPr>
        </p:nvSpPr>
        <p:spPr>
          <a:xfrm>
            <a:off x="11656084" y="6497505"/>
            <a:ext cx="530225" cy="365125"/>
          </a:xfrm>
        </p:spPr>
        <p:txBody>
          <a:bodyPr/>
          <a:lstStyle>
            <a:lvl1pPr algn="ctr">
              <a:defRPr/>
            </a:lvl1pPr>
          </a:lstStyle>
          <a:p>
            <a:pPr>
              <a:defRPr/>
            </a:pPr>
            <a:fld id="{0121240C-47AF-2F4D-83B3-CC3EDF50F794}" type="slidenum">
              <a:rPr lang="en-US" smtClean="0"/>
              <a:pPr>
                <a:defRPr/>
              </a:pPr>
              <a:t>‹#›</a:t>
            </a:fld>
            <a:endParaRPr lang="en-US"/>
          </a:p>
        </p:txBody>
      </p:sp>
      <p:sp>
        <p:nvSpPr>
          <p:cNvPr id="7" name="Title 1">
            <a:extLst>
              <a:ext uri="{FF2B5EF4-FFF2-40B4-BE49-F238E27FC236}">
                <a16:creationId xmlns:a16="http://schemas.microsoft.com/office/drawing/2014/main" id="{77ADF71D-1518-5EC2-1E2E-C1D0C164B9C8}"/>
              </a:ext>
            </a:extLst>
          </p:cNvPr>
          <p:cNvSpPr>
            <a:spLocks noGrp="1"/>
          </p:cNvSpPr>
          <p:nvPr>
            <p:ph type="title"/>
          </p:nvPr>
        </p:nvSpPr>
        <p:spPr>
          <a:xfrm>
            <a:off x="200025" y="173629"/>
            <a:ext cx="11830050" cy="1006475"/>
          </a:xfrm>
          <a:prstGeom prst="rect">
            <a:avLst/>
          </a:prstGeom>
        </p:spPr>
        <p:txBody>
          <a:bodyPr/>
          <a:lstStyle>
            <a:lvl1pPr algn="ctr">
              <a:defRPr>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94830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B294A-189C-ED42-BA56-CA9AC5EF642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A122B1B7-9947-3845-B8E0-2012946C5A3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569744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 Alternat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8083EC3A-EB3E-7345-B46A-27ACBD087784}"/>
              </a:ext>
            </a:extLst>
          </p:cNvPr>
          <p:cNvSpPr>
            <a:spLocks noGrp="1"/>
          </p:cNvSpPr>
          <p:nvPr>
            <p:ph type="sldNum" sz="quarter" idx="10"/>
          </p:nvPr>
        </p:nvSpPr>
        <p:spPr>
          <a:xfrm>
            <a:off x="11473721" y="6326005"/>
            <a:ext cx="530225" cy="365125"/>
          </a:xfrm>
        </p:spPr>
        <p:txBody>
          <a:bodyPr/>
          <a:lstStyle>
            <a:lvl1pPr>
              <a:defRPr/>
            </a:lvl1pPr>
          </a:lstStyle>
          <a:p>
            <a:pPr>
              <a:defRPr/>
            </a:pPr>
            <a:fld id="{37E6B2A9-E175-7F40-B993-EC9D598FC2D7}" type="slidenum">
              <a:rPr lang="en-US"/>
              <a:pPr>
                <a:defRPr/>
              </a:pPr>
              <a:t>‹#›</a:t>
            </a:fld>
            <a:endParaRPr lang="en-US"/>
          </a:p>
        </p:txBody>
      </p:sp>
      <p:sp>
        <p:nvSpPr>
          <p:cNvPr id="4" name="Title 1">
            <a:extLst>
              <a:ext uri="{FF2B5EF4-FFF2-40B4-BE49-F238E27FC236}">
                <a16:creationId xmlns:a16="http://schemas.microsoft.com/office/drawing/2014/main" id="{BB94F01B-B209-594F-BAFD-824E7CC200AD}"/>
              </a:ext>
            </a:extLst>
          </p:cNvPr>
          <p:cNvSpPr>
            <a:spLocks noGrp="1"/>
          </p:cNvSpPr>
          <p:nvPr>
            <p:ph type="title"/>
          </p:nvPr>
        </p:nvSpPr>
        <p:spPr>
          <a:xfrm>
            <a:off x="838200" y="2288865"/>
            <a:ext cx="10515600" cy="2288865"/>
          </a:xfrm>
          <a:prstGeom prst="rect">
            <a:avLst/>
          </a:prstGeom>
        </p:spPr>
        <p:txBody>
          <a:bodyPr anchor="ctr"/>
          <a:lstStyle>
            <a:lvl1pPr algn="ctr">
              <a:defRPr b="1">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889972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lank - Alternat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8083EC3A-EB3E-7345-B46A-27ACBD087784}"/>
              </a:ext>
            </a:extLst>
          </p:cNvPr>
          <p:cNvSpPr>
            <a:spLocks noGrp="1"/>
          </p:cNvSpPr>
          <p:nvPr>
            <p:ph type="sldNum" sz="quarter" idx="10"/>
          </p:nvPr>
        </p:nvSpPr>
        <p:spPr>
          <a:xfrm>
            <a:off x="11353800" y="6367017"/>
            <a:ext cx="530225" cy="365125"/>
          </a:xfrm>
        </p:spPr>
        <p:txBody>
          <a:bodyPr/>
          <a:lstStyle>
            <a:lvl1pPr>
              <a:defRPr/>
            </a:lvl1pPr>
          </a:lstStyle>
          <a:p>
            <a:pPr>
              <a:defRPr/>
            </a:pPr>
            <a:fld id="{37E6B2A9-E175-7F40-B993-EC9D598FC2D7}" type="slidenum">
              <a:rPr lang="en-US"/>
              <a:pPr>
                <a:defRPr/>
              </a:pPr>
              <a:t>‹#›</a:t>
            </a:fld>
            <a:endParaRPr lang="en-US"/>
          </a:p>
        </p:txBody>
      </p:sp>
      <p:sp>
        <p:nvSpPr>
          <p:cNvPr id="5" name="Rectangle 4">
            <a:extLst>
              <a:ext uri="{FF2B5EF4-FFF2-40B4-BE49-F238E27FC236}">
                <a16:creationId xmlns:a16="http://schemas.microsoft.com/office/drawing/2014/main" id="{2B4B19BE-D489-B545-8B09-E36213AE6617}"/>
              </a:ext>
            </a:extLst>
          </p:cNvPr>
          <p:cNvSpPr/>
          <p:nvPr userDrawn="1"/>
        </p:nvSpPr>
        <p:spPr>
          <a:xfrm>
            <a:off x="0" y="735980"/>
            <a:ext cx="12192000" cy="269302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2"/>
              </a:solidFill>
              <a:latin typeface="Avenir Book" panose="02000503020000020003" pitchFamily="2" charset="0"/>
            </a:endParaRPr>
          </a:p>
        </p:txBody>
      </p:sp>
      <p:sp>
        <p:nvSpPr>
          <p:cNvPr id="6" name="Title 1">
            <a:extLst>
              <a:ext uri="{FF2B5EF4-FFF2-40B4-BE49-F238E27FC236}">
                <a16:creationId xmlns:a16="http://schemas.microsoft.com/office/drawing/2014/main" id="{BEA8ACAB-4798-2148-B6FB-DF61A8471A79}"/>
              </a:ext>
            </a:extLst>
          </p:cNvPr>
          <p:cNvSpPr>
            <a:spLocks noGrp="1"/>
          </p:cNvSpPr>
          <p:nvPr>
            <p:ph type="title"/>
          </p:nvPr>
        </p:nvSpPr>
        <p:spPr>
          <a:xfrm>
            <a:off x="838200" y="969110"/>
            <a:ext cx="10515600" cy="2288865"/>
          </a:xfrm>
          <a:prstGeom prst="rect">
            <a:avLst/>
          </a:prstGeom>
        </p:spPr>
        <p:txBody>
          <a:bodyPr anchor="ctr"/>
          <a:lstStyle>
            <a:lvl1pPr algn="ctr">
              <a:defRPr b="1">
                <a:solidFill>
                  <a:schemeClr val="bg1">
                    <a:lumMod val="95000"/>
                  </a:schemeClr>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7" name="Text Placeholder 2">
            <a:extLst>
              <a:ext uri="{FF2B5EF4-FFF2-40B4-BE49-F238E27FC236}">
                <a16:creationId xmlns:a16="http://schemas.microsoft.com/office/drawing/2014/main" id="{57D1FE82-8E3B-0A46-AD93-005C43A0989D}"/>
              </a:ext>
            </a:extLst>
          </p:cNvPr>
          <p:cNvSpPr>
            <a:spLocks noGrp="1"/>
          </p:cNvSpPr>
          <p:nvPr>
            <p:ph type="body" idx="1"/>
          </p:nvPr>
        </p:nvSpPr>
        <p:spPr>
          <a:xfrm>
            <a:off x="631115" y="4248165"/>
            <a:ext cx="10929769" cy="1482250"/>
          </a:xfrm>
        </p:spPr>
        <p:txBody>
          <a:bodyPr>
            <a:normAutofit/>
          </a:bodyPr>
          <a:lstStyle>
            <a:lvl1pPr marL="0" indent="0" algn="ctr">
              <a:buNone/>
              <a:defRPr sz="2100" b="0">
                <a:solidFill>
                  <a:srgbClr val="57595C"/>
                </a:solidFill>
                <a:latin typeface="Arial" panose="020B0604020202020204" pitchFamily="34" charset="0"/>
                <a:ea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375281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415600" y="352737"/>
            <a:ext cx="11360800" cy="763600"/>
          </a:xfrm>
          <a:prstGeom prst="rect">
            <a:avLst/>
          </a:prstGeom>
        </p:spPr>
        <p:txBody>
          <a:bodyPr spcFirstLastPara="1" wrap="square" lIns="91425" tIns="91425" rIns="91425" bIns="91425" anchor="t" anchorCtr="0">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19" name="Google Shape;19;p4"/>
          <p:cNvSpPr txBox="1">
            <a:spLocks noGrp="1"/>
          </p:cNvSpPr>
          <p:nvPr>
            <p:ph type="body" idx="1"/>
          </p:nvPr>
        </p:nvSpPr>
        <p:spPr>
          <a:xfrm>
            <a:off x="415600" y="1376213"/>
            <a:ext cx="11360800" cy="4555200"/>
          </a:xfrm>
          <a:prstGeom prst="rect">
            <a:avLst/>
          </a:prstGeom>
        </p:spPr>
        <p:txBody>
          <a:bodyPr spcFirstLastPara="1" wrap="square" lIns="91425" tIns="91425" rIns="91425" bIns="91425" anchor="t" anchorCtr="0">
            <a:normAutofit/>
          </a:bodyPr>
          <a:lstStyle>
            <a:lvl1pPr marL="533387" lvl="0" indent="-380990">
              <a:spcBef>
                <a:spcPts val="0"/>
              </a:spcBef>
              <a:spcAft>
                <a:spcPts val="0"/>
              </a:spcAft>
              <a:buSzPts val="1800"/>
              <a:buFont typeface="Arial" panose="020B0604020202020204" pitchFamily="34" charset="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endParaRPr dirty="0"/>
          </a:p>
        </p:txBody>
      </p:sp>
      <p:sp>
        <p:nvSpPr>
          <p:cNvPr id="20" name="Google Shape;20;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b="0" i="0"/>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617274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Bullet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54A0AA2-B636-401F-B58B-6DF5349EBC51}"/>
              </a:ext>
            </a:extLst>
          </p:cNvPr>
          <p:cNvSpPr>
            <a:spLocks noGrp="1"/>
          </p:cNvSpPr>
          <p:nvPr>
            <p:ph type="title" hasCustomPrompt="1"/>
          </p:nvPr>
        </p:nvSpPr>
        <p:spPr>
          <a:xfrm>
            <a:off x="711893" y="142826"/>
            <a:ext cx="10780553" cy="1143389"/>
          </a:xfrm>
          <a:prstGeom prst="rect">
            <a:avLst/>
          </a:prstGeom>
        </p:spPr>
        <p:txBody>
          <a:bodyPr anchor="ctr"/>
          <a:lstStyle>
            <a:lvl1pPr algn="ctr">
              <a:defRPr sz="4000" b="1">
                <a:solidFill>
                  <a:schemeClr val="tx2"/>
                </a:solidFill>
                <a:latin typeface="Arial" panose="020B0604020202020204" pitchFamily="34" charset="0"/>
                <a:cs typeface="Arial" panose="020B0604020202020204" pitchFamily="34" charset="0"/>
              </a:defRPr>
            </a:lvl1pPr>
          </a:lstStyle>
          <a:p>
            <a:r>
              <a:rPr lang="en-US" noProof="0" dirty="0"/>
              <a:t>Click to add title</a:t>
            </a:r>
          </a:p>
        </p:txBody>
      </p:sp>
      <p:sp>
        <p:nvSpPr>
          <p:cNvPr id="10" name="Bullets">
            <a:extLst>
              <a:ext uri="{FF2B5EF4-FFF2-40B4-BE49-F238E27FC236}">
                <a16:creationId xmlns:a16="http://schemas.microsoft.com/office/drawing/2014/main" id="{489A78E5-4DD4-4398-92E6-73293FB04D0D}"/>
              </a:ext>
            </a:extLst>
          </p:cNvPr>
          <p:cNvSpPr>
            <a:spLocks noGrp="1"/>
          </p:cNvSpPr>
          <p:nvPr userDrawn="1">
            <p:ph type="body" sz="quarter" idx="16" hasCustomPrompt="1"/>
          </p:nvPr>
        </p:nvSpPr>
        <p:spPr>
          <a:xfrm>
            <a:off x="444286" y="1405181"/>
            <a:ext cx="11303428" cy="5075044"/>
          </a:xfrm>
          <a:prstGeom prst="rect">
            <a:avLst/>
          </a:prstGeom>
        </p:spPr>
        <p:txBody>
          <a:bodyPr>
            <a:noAutofit/>
          </a:bodyPr>
          <a:lstStyle>
            <a:lvl1pPr marL="306910" indent="-306910">
              <a:spcBef>
                <a:spcPts val="1000"/>
              </a:spcBef>
              <a:buClr>
                <a:srgbClr val="092C74"/>
              </a:buClr>
              <a:buFont typeface="Wingdings" panose="05000000000000000000" pitchFamily="2" charset="2"/>
              <a:buChar char="§"/>
              <a:defRPr sz="2133" b="0">
                <a:solidFill>
                  <a:schemeClr val="tx1"/>
                </a:solidFill>
                <a:latin typeface="Arial" panose="020B0604020202020204" pitchFamily="34" charset="0"/>
                <a:ea typeface="Tahoma" panose="020B0604030504040204" pitchFamily="34" charset="0"/>
                <a:cs typeface="Arial" panose="020B0604020202020204" pitchFamily="34" charset="0"/>
              </a:defRPr>
            </a:lvl1pPr>
            <a:lvl2pPr marL="761981" indent="-304792">
              <a:buClr>
                <a:srgbClr val="092C74"/>
              </a:buClr>
              <a:buFont typeface="Courier New" panose="02070309020205020404" pitchFamily="49" charset="0"/>
              <a:buChar char="o"/>
              <a:defRPr sz="2133">
                <a:latin typeface="Arial" panose="020B0604020202020204" pitchFamily="34" charset="0"/>
                <a:cs typeface="Arial" panose="020B0604020202020204" pitchFamily="34" charset="0"/>
              </a:defRPr>
            </a:lvl2pPr>
            <a:lvl3pPr marL="1219170" indent="-304792">
              <a:buClr>
                <a:srgbClr val="092C74"/>
              </a:buClr>
              <a:defRPr sz="2133">
                <a:latin typeface="Arial" panose="020B0604020202020204" pitchFamily="34" charset="0"/>
                <a:cs typeface="Arial" panose="020B0604020202020204" pitchFamily="34" charset="0"/>
              </a:defRPr>
            </a:lvl3pPr>
          </a:lstStyle>
          <a:p>
            <a:pPr lvl="0"/>
            <a:r>
              <a:rPr lang="en-US" noProof="0" dirty="0"/>
              <a:t>Click to add bullets</a:t>
            </a:r>
          </a:p>
          <a:p>
            <a:pPr lvl="1"/>
            <a:r>
              <a:rPr lang="en-US" noProof="0" dirty="0"/>
              <a:t>Second level</a:t>
            </a:r>
          </a:p>
          <a:p>
            <a:pPr lvl="2"/>
            <a:r>
              <a:rPr lang="en-US" noProof="0" dirty="0"/>
              <a:t>Third level</a:t>
            </a:r>
          </a:p>
        </p:txBody>
      </p:sp>
      <p:sp>
        <p:nvSpPr>
          <p:cNvPr id="7" name="Page Number">
            <a:extLst>
              <a:ext uri="{FF2B5EF4-FFF2-40B4-BE49-F238E27FC236}">
                <a16:creationId xmlns:a16="http://schemas.microsoft.com/office/drawing/2014/main" id="{A10FF969-5C1A-4F23-A07F-2B9FBF69C84B}"/>
              </a:ext>
            </a:extLst>
          </p:cNvPr>
          <p:cNvSpPr txBox="1"/>
          <p:nvPr userDrawn="1"/>
        </p:nvSpPr>
        <p:spPr>
          <a:xfrm>
            <a:off x="11055208" y="6597699"/>
            <a:ext cx="1060451" cy="234951"/>
          </a:xfrm>
          <a:prstGeom prst="rect">
            <a:avLst/>
          </a:prstGeom>
        </p:spPr>
        <p:txBody>
          <a:bodyPr wrap="none" anchor="ctr" anchorCtr="1">
            <a:no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algn="r" defTabSz="914354">
              <a:defRPr/>
            </a:pPr>
            <a:r>
              <a:rPr lang="en-US" sz="1333" b="0" i="0" baseline="0" dirty="0">
                <a:solidFill>
                  <a:schemeClr val="bg1">
                    <a:lumMod val="50000"/>
                  </a:schemeClr>
                </a:solidFill>
                <a:latin typeface="Arial" panose="020B0604020202020204" pitchFamily="34" charset="0"/>
                <a:ea typeface="Tahoma" panose="020B0604030504040204" pitchFamily="34" charset="0"/>
                <a:cs typeface="Arial" panose="020B0604020202020204" pitchFamily="34" charset="0"/>
              </a:rPr>
              <a:t>                </a:t>
            </a:r>
            <a:fld id="{F2C1E792-EDA4-4DC5-8412-A2C2E5D30ADF}" type="slidenum">
              <a:rPr lang="en-US" sz="1333" b="0" i="0" baseline="0">
                <a:solidFill>
                  <a:schemeClr val="bg1">
                    <a:lumMod val="50000"/>
                  </a:schemeClr>
                </a:solidFill>
                <a:latin typeface="Arial" panose="020B0604020202020204" pitchFamily="34" charset="0"/>
                <a:ea typeface="Tahoma" panose="020B0604030504040204" pitchFamily="34" charset="0"/>
                <a:cs typeface="Arial" panose="020B0604020202020204" pitchFamily="34" charset="0"/>
              </a:rPr>
              <a:pPr algn="r" defTabSz="914354">
                <a:defRPr/>
              </a:pPr>
              <a:t>‹#›</a:t>
            </a:fld>
            <a:endParaRPr lang="en-US" sz="1333" b="0" i="0" baseline="0" dirty="0">
              <a:solidFill>
                <a:schemeClr val="bg1">
                  <a:lumMod val="50000"/>
                </a:schemeClr>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820360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8A3AE55B-C10E-6E47-8794-001829270100}"/>
              </a:ext>
            </a:extLst>
          </p:cNvPr>
          <p:cNvSpPr>
            <a:spLocks noGrp="1" noChangeArrowheads="1"/>
          </p:cNvSpPr>
          <p:nvPr>
            <p:ph type="title"/>
          </p:nvPr>
        </p:nvSpPr>
        <p:spPr bwMode="auto">
          <a:xfrm>
            <a:off x="838200" y="14440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7" name="Text Placeholder 2">
            <a:extLst>
              <a:ext uri="{FF2B5EF4-FFF2-40B4-BE49-F238E27FC236}">
                <a16:creationId xmlns:a16="http://schemas.microsoft.com/office/drawing/2014/main" id="{1CF84D15-F03F-D54A-9E48-12212D4D4A04}"/>
              </a:ext>
            </a:extLst>
          </p:cNvPr>
          <p:cNvSpPr>
            <a:spLocks noGrp="1" noChangeArrowheads="1"/>
          </p:cNvSpPr>
          <p:nvPr>
            <p:ph type="body" idx="1"/>
          </p:nvPr>
        </p:nvSpPr>
        <p:spPr bwMode="auto">
          <a:xfrm>
            <a:off x="838200" y="1655378"/>
            <a:ext cx="10515600" cy="4824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6" name="Slide Number Placeholder 5">
            <a:extLst>
              <a:ext uri="{FF2B5EF4-FFF2-40B4-BE49-F238E27FC236}">
                <a16:creationId xmlns:a16="http://schemas.microsoft.com/office/drawing/2014/main" id="{A69D563D-C0A6-CD4E-A739-F924D1FC0BE7}"/>
              </a:ext>
            </a:extLst>
          </p:cNvPr>
          <p:cNvSpPr>
            <a:spLocks noGrp="1"/>
          </p:cNvSpPr>
          <p:nvPr>
            <p:ph type="sldNum" sz="quarter" idx="4"/>
          </p:nvPr>
        </p:nvSpPr>
        <p:spPr>
          <a:xfrm>
            <a:off x="11565924" y="6479918"/>
            <a:ext cx="626076" cy="365125"/>
          </a:xfrm>
          <a:prstGeom prst="rect">
            <a:avLst/>
          </a:prstGeom>
        </p:spPr>
        <p:txBody>
          <a:bodyPr vert="horz" lIns="91440" tIns="45720" rIns="91440" bIns="45720" rtlCol="0" anchor="ctr"/>
          <a:lstStyle>
            <a:lvl1pPr algn="ctr" eaLnBrk="1" fontAlgn="auto" hangingPunct="1">
              <a:spcBef>
                <a:spcPts val="0"/>
              </a:spcBef>
              <a:spcAft>
                <a:spcPts val="0"/>
              </a:spcAft>
              <a:defRPr sz="1200" b="0" i="0" smtClean="0">
                <a:solidFill>
                  <a:schemeClr val="tx1">
                    <a:tint val="75000"/>
                  </a:schemeClr>
                </a:solidFill>
                <a:latin typeface="Avenir Book" panose="02000503020000020003" pitchFamily="2" charset="0"/>
              </a:defRPr>
            </a:lvl1pPr>
          </a:lstStyle>
          <a:p>
            <a:pPr>
              <a:defRPr/>
            </a:pPr>
            <a:fld id="{0DBE22DD-494E-1849-B805-BC38FDC97163}"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91" r:id="rId1"/>
    <p:sldLayoutId id="2147483714" r:id="rId2"/>
    <p:sldLayoutId id="2147483726" r:id="rId3"/>
    <p:sldLayoutId id="2147483715" r:id="rId4"/>
    <p:sldLayoutId id="2147483694" r:id="rId5"/>
    <p:sldLayoutId id="2147483716" r:id="rId6"/>
    <p:sldLayoutId id="2147483706" r:id="rId7"/>
    <p:sldLayoutId id="2147483710" r:id="rId8"/>
    <p:sldLayoutId id="2147483727" r:id="rId9"/>
    <p:sldLayoutId id="2147483728" r:id="rId10"/>
  </p:sldLayoutIdLst>
  <p:hf hdr="0" ftr="0" dt="0"/>
  <p:txStyles>
    <p:titleStyle>
      <a:lvl1pPr algn="l" rtl="0" eaLnBrk="1" fontAlgn="base" hangingPunct="1">
        <a:lnSpc>
          <a:spcPct val="100000"/>
        </a:lnSpc>
        <a:spcBef>
          <a:spcPct val="0"/>
        </a:spcBef>
        <a:spcAft>
          <a:spcPct val="0"/>
        </a:spcAft>
        <a:defRPr sz="4400" b="0" kern="1200">
          <a:solidFill>
            <a:schemeClr val="tx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Corbel" panose="020B0503020204020204" pitchFamily="34" charset="0"/>
        </a:defRPr>
      </a:lvl2pPr>
      <a:lvl3pPr algn="l" rtl="0" eaLnBrk="1" fontAlgn="base" hangingPunct="1">
        <a:lnSpc>
          <a:spcPct val="90000"/>
        </a:lnSpc>
        <a:spcBef>
          <a:spcPct val="0"/>
        </a:spcBef>
        <a:spcAft>
          <a:spcPct val="0"/>
        </a:spcAft>
        <a:defRPr sz="4400">
          <a:solidFill>
            <a:schemeClr val="tx1"/>
          </a:solidFill>
          <a:latin typeface="Corbel" panose="020B0503020204020204" pitchFamily="34" charset="0"/>
        </a:defRPr>
      </a:lvl3pPr>
      <a:lvl4pPr algn="l" rtl="0" eaLnBrk="1" fontAlgn="base" hangingPunct="1">
        <a:lnSpc>
          <a:spcPct val="90000"/>
        </a:lnSpc>
        <a:spcBef>
          <a:spcPct val="0"/>
        </a:spcBef>
        <a:spcAft>
          <a:spcPct val="0"/>
        </a:spcAft>
        <a:defRPr sz="4400">
          <a:solidFill>
            <a:schemeClr val="tx1"/>
          </a:solidFill>
          <a:latin typeface="Corbel" panose="020B0503020204020204" pitchFamily="34" charset="0"/>
        </a:defRPr>
      </a:lvl4pPr>
      <a:lvl5pPr algn="l" rtl="0" eaLnBrk="1" fontAlgn="base" hangingPunct="1">
        <a:lnSpc>
          <a:spcPct val="90000"/>
        </a:lnSpc>
        <a:spcBef>
          <a:spcPct val="0"/>
        </a:spcBef>
        <a:spcAft>
          <a:spcPct val="0"/>
        </a:spcAft>
        <a:defRPr sz="4400">
          <a:solidFill>
            <a:schemeClr val="tx1"/>
          </a:solidFill>
          <a:latin typeface="Corbel" panose="020B0503020204020204" pitchFamily="34" charset="0"/>
        </a:defRPr>
      </a:lvl5pPr>
      <a:lvl6pPr marL="457200" algn="l" rtl="0" eaLnBrk="1" fontAlgn="base" hangingPunct="1">
        <a:lnSpc>
          <a:spcPct val="90000"/>
        </a:lnSpc>
        <a:spcBef>
          <a:spcPct val="0"/>
        </a:spcBef>
        <a:spcAft>
          <a:spcPct val="0"/>
        </a:spcAft>
        <a:defRPr sz="4400">
          <a:solidFill>
            <a:schemeClr val="tx1"/>
          </a:solidFill>
          <a:latin typeface="Corbel" panose="020B0503020204020204" pitchFamily="34" charset="0"/>
        </a:defRPr>
      </a:lvl6pPr>
      <a:lvl7pPr marL="914400" algn="l" rtl="0" eaLnBrk="1" fontAlgn="base" hangingPunct="1">
        <a:lnSpc>
          <a:spcPct val="90000"/>
        </a:lnSpc>
        <a:spcBef>
          <a:spcPct val="0"/>
        </a:spcBef>
        <a:spcAft>
          <a:spcPct val="0"/>
        </a:spcAft>
        <a:defRPr sz="4400">
          <a:solidFill>
            <a:schemeClr val="tx1"/>
          </a:solidFill>
          <a:latin typeface="Corbel" panose="020B0503020204020204" pitchFamily="34" charset="0"/>
        </a:defRPr>
      </a:lvl7pPr>
      <a:lvl8pPr marL="1371600" algn="l" rtl="0" eaLnBrk="1" fontAlgn="base" hangingPunct="1">
        <a:lnSpc>
          <a:spcPct val="90000"/>
        </a:lnSpc>
        <a:spcBef>
          <a:spcPct val="0"/>
        </a:spcBef>
        <a:spcAft>
          <a:spcPct val="0"/>
        </a:spcAft>
        <a:defRPr sz="4400">
          <a:solidFill>
            <a:schemeClr val="tx1"/>
          </a:solidFill>
          <a:latin typeface="Corbel" panose="020B0503020204020204" pitchFamily="34" charset="0"/>
        </a:defRPr>
      </a:lvl8pPr>
      <a:lvl9pPr marL="1828800" algn="l" rtl="0" eaLnBrk="1" fontAlgn="base" hangingPunct="1">
        <a:lnSpc>
          <a:spcPct val="90000"/>
        </a:lnSpc>
        <a:spcBef>
          <a:spcPct val="0"/>
        </a:spcBef>
        <a:spcAft>
          <a:spcPct val="0"/>
        </a:spcAft>
        <a:defRPr sz="4400">
          <a:solidFill>
            <a:schemeClr val="tx1"/>
          </a:solidFill>
          <a:latin typeface="Corbel" panose="020B0503020204020204" pitchFamily="34" charset="0"/>
        </a:defRPr>
      </a:lvl9pPr>
    </p:titleStyle>
    <p:bodyStyle>
      <a:lvl1pPr marL="228600" indent="-228600" algn="l" rtl="0" eaLnBrk="1" fontAlgn="base" hangingPunct="1">
        <a:lnSpc>
          <a:spcPct val="100000"/>
        </a:lnSpc>
        <a:spcBef>
          <a:spcPts val="1000"/>
        </a:spcBef>
        <a:spcAft>
          <a:spcPct val="0"/>
        </a:spcAft>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rtl="0" eaLnBrk="1" fontAlgn="base" hangingPunct="1">
        <a:lnSpc>
          <a:spcPct val="100000"/>
        </a:lnSpc>
        <a:spcBef>
          <a:spcPts val="500"/>
        </a:spcBef>
        <a:spcAft>
          <a:spcPct val="0"/>
        </a:spcAft>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lnSpc>
          <a:spcPct val="100000"/>
        </a:lnSpc>
        <a:spcBef>
          <a:spcPts val="5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lnSpc>
          <a:spcPct val="10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lnSpc>
          <a:spcPct val="10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hyperlink" Target="https://gist.github.com/danyaljj/3ac2f34651d6d9dd4b422daa09dd282a" TargetMode="Externa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6.jpe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hyperlink" Target="https://gist.github.com/danyaljj/3ac2f34651d6d9dd4b422daa09dd282a" TargetMode="Externa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CCC58-4645-A448-8A30-C8E0609AF0B5}"/>
              </a:ext>
            </a:extLst>
          </p:cNvPr>
          <p:cNvSpPr>
            <a:spLocks noGrp="1"/>
          </p:cNvSpPr>
          <p:nvPr>
            <p:ph type="ctrTitle"/>
          </p:nvPr>
        </p:nvSpPr>
        <p:spPr>
          <a:xfrm>
            <a:off x="258417" y="1950315"/>
            <a:ext cx="11658600" cy="1909762"/>
          </a:xfrm>
        </p:spPr>
        <p:txBody>
          <a:bodyPr/>
          <a:lstStyle/>
          <a:p>
            <a:pPr>
              <a:spcBef>
                <a:spcPts val="600"/>
              </a:spcBef>
              <a:spcAft>
                <a:spcPts val="600"/>
              </a:spcAft>
            </a:pPr>
            <a:r>
              <a:rPr lang="en-US" sz="4800" dirty="0"/>
              <a:t>Emergent phenomena </a:t>
            </a:r>
            <a:br>
              <a:rPr lang="en-US" sz="4800" dirty="0"/>
            </a:br>
            <a:r>
              <a:rPr lang="en-US" sz="4800" dirty="0"/>
              <a:t>in large-scale LLMs</a:t>
            </a:r>
            <a:endParaRPr lang="en-US" sz="900" dirty="0">
              <a:solidFill>
                <a:schemeClr val="tx2"/>
              </a:solidFill>
            </a:endParaRPr>
          </a:p>
        </p:txBody>
      </p:sp>
      <p:sp>
        <p:nvSpPr>
          <p:cNvPr id="3" name="Subtitle 2">
            <a:extLst>
              <a:ext uri="{FF2B5EF4-FFF2-40B4-BE49-F238E27FC236}">
                <a16:creationId xmlns:a16="http://schemas.microsoft.com/office/drawing/2014/main" id="{C4AB8135-824C-134E-AD47-DC9D63351773}"/>
              </a:ext>
            </a:extLst>
          </p:cNvPr>
          <p:cNvSpPr>
            <a:spLocks noGrp="1"/>
          </p:cNvSpPr>
          <p:nvPr>
            <p:ph type="subTitle" idx="1"/>
          </p:nvPr>
        </p:nvSpPr>
        <p:spPr>
          <a:xfrm>
            <a:off x="1883519" y="4740827"/>
            <a:ext cx="8551090" cy="834038"/>
          </a:xfrm>
        </p:spPr>
        <p:txBody>
          <a:bodyPr/>
          <a:lstStyle/>
          <a:p>
            <a:pPr algn="ctr"/>
            <a:r>
              <a:rPr lang="en-US" dirty="0"/>
              <a:t>Daniel Khashabi</a:t>
            </a:r>
          </a:p>
          <a:p>
            <a:pPr algn="ctr"/>
            <a:endParaRPr lang="en-US" sz="2800" dirty="0"/>
          </a:p>
          <a:p>
            <a:pPr algn="ctr"/>
            <a:endParaRPr lang="en-US" sz="2800" dirty="0"/>
          </a:p>
        </p:txBody>
      </p:sp>
      <p:pic>
        <p:nvPicPr>
          <p:cNvPr id="4" name="Google Shape;13;p2">
            <a:extLst>
              <a:ext uri="{FF2B5EF4-FFF2-40B4-BE49-F238E27FC236}">
                <a16:creationId xmlns:a16="http://schemas.microsoft.com/office/drawing/2014/main" id="{07C99FA7-A1B1-DAAF-5F40-23553715276F}"/>
              </a:ext>
            </a:extLst>
          </p:cNvPr>
          <p:cNvPicPr preferRelativeResize="0">
            <a:picLocks noChangeAspect="1"/>
          </p:cNvPicPr>
          <p:nvPr/>
        </p:nvPicPr>
        <p:blipFill>
          <a:blip r:embed="rId3">
            <a:alphaModFix/>
          </a:blip>
          <a:stretch>
            <a:fillRect/>
          </a:stretch>
        </p:blipFill>
        <p:spPr>
          <a:xfrm>
            <a:off x="4843620" y="5243671"/>
            <a:ext cx="2443038" cy="662388"/>
          </a:xfrm>
          <a:prstGeom prst="rect">
            <a:avLst/>
          </a:prstGeom>
          <a:noFill/>
          <a:ln>
            <a:noFill/>
          </a:ln>
        </p:spPr>
      </p:pic>
    </p:spTree>
    <p:extLst>
      <p:ext uri="{BB962C8B-B14F-4D97-AF65-F5344CB8AC3E}">
        <p14:creationId xmlns:p14="http://schemas.microsoft.com/office/powerpoint/2010/main" val="3152608649"/>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0C1D8-4C83-DE46-9CEC-0A21C5E5D9FA}"/>
              </a:ext>
            </a:extLst>
          </p:cNvPr>
          <p:cNvSpPr>
            <a:spLocks noGrp="1"/>
          </p:cNvSpPr>
          <p:nvPr>
            <p:ph type="title"/>
          </p:nvPr>
        </p:nvSpPr>
        <p:spPr/>
        <p:txBody>
          <a:bodyPr/>
          <a:lstStyle/>
          <a:p>
            <a:pPr algn="ctr"/>
            <a:r>
              <a:rPr lang="en-US" dirty="0"/>
              <a:t>The success we dreamed of</a:t>
            </a:r>
          </a:p>
        </p:txBody>
      </p:sp>
      <p:sp>
        <p:nvSpPr>
          <p:cNvPr id="4" name="Slide Number Placeholder 3">
            <a:extLst>
              <a:ext uri="{FF2B5EF4-FFF2-40B4-BE49-F238E27FC236}">
                <a16:creationId xmlns:a16="http://schemas.microsoft.com/office/drawing/2014/main" id="{60688B62-DD36-1165-A07B-11474D234130}"/>
              </a:ext>
            </a:extLst>
          </p:cNvPr>
          <p:cNvSpPr>
            <a:spLocks noGrp="1"/>
          </p:cNvSpPr>
          <p:nvPr>
            <p:ph type="sldNum" sz="quarter" idx="10"/>
          </p:nvPr>
        </p:nvSpPr>
        <p:spPr/>
        <p:txBody>
          <a:bodyPr/>
          <a:lstStyle/>
          <a:p>
            <a:pPr>
              <a:defRPr/>
            </a:pPr>
            <a:fld id="{0121240C-47AF-2F4D-83B3-CC3EDF50F794}" type="slidenum">
              <a:rPr lang="en-US" smtClean="0"/>
              <a:pPr>
                <a:defRPr/>
              </a:pPr>
              <a:t>2</a:t>
            </a:fld>
            <a:endParaRPr lang="en-US" dirty="0"/>
          </a:p>
        </p:txBody>
      </p:sp>
      <p:pic>
        <p:nvPicPr>
          <p:cNvPr id="6" name="Picture 2" descr="Explainer: Bard vs ChatGPT: What do we know about Google's AI chatbot? |  Reuters">
            <a:extLst>
              <a:ext uri="{FF2B5EF4-FFF2-40B4-BE49-F238E27FC236}">
                <a16:creationId xmlns:a16="http://schemas.microsoft.com/office/drawing/2014/main" id="{4A12BF36-35AB-C2A8-F840-1013EE52B5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0794" y="3576177"/>
            <a:ext cx="2066544" cy="20665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7B36D00-863A-A4B7-3312-A22436AA0B7E}"/>
              </a:ext>
            </a:extLst>
          </p:cNvPr>
          <p:cNvSpPr txBox="1"/>
          <p:nvPr/>
        </p:nvSpPr>
        <p:spPr>
          <a:xfrm>
            <a:off x="949748" y="1951798"/>
            <a:ext cx="10292504" cy="954107"/>
          </a:xfrm>
          <a:prstGeom prst="rect">
            <a:avLst/>
          </a:prstGeom>
          <a:noFill/>
        </p:spPr>
        <p:txBody>
          <a:bodyPr wrap="square">
            <a:spAutoFit/>
          </a:bodyPr>
          <a:lstStyle/>
          <a:p>
            <a:pPr algn="ctr"/>
            <a:r>
              <a:rPr lang="en-US" sz="2800" dirty="0">
                <a:latin typeface="Arial" panose="020B0604020202020204" pitchFamily="34" charset="0"/>
                <a:cs typeface="Arial" panose="020B0604020202020204" pitchFamily="34" charset="0"/>
              </a:rPr>
              <a:t>Language models that </a:t>
            </a:r>
            <a:r>
              <a:rPr lang="en-US" sz="2800" b="1" dirty="0">
                <a:latin typeface="Arial" panose="020B0604020202020204" pitchFamily="34" charset="0"/>
                <a:cs typeface="Arial" panose="020B0604020202020204" pitchFamily="34" charset="0"/>
              </a:rPr>
              <a:t>reason</a:t>
            </a:r>
            <a:r>
              <a:rPr lang="en-US" sz="2800" dirty="0">
                <a:latin typeface="Arial" panose="020B0604020202020204" pitchFamily="34" charset="0"/>
                <a:cs typeface="Arial" panose="020B0604020202020204" pitchFamily="34" charset="0"/>
              </a:rPr>
              <a:t> </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across many tasks that were once considered aspirational.</a:t>
            </a:r>
          </a:p>
        </p:txBody>
      </p:sp>
      <p:pic>
        <p:nvPicPr>
          <p:cNvPr id="13" name="Picture 4" descr="claude - anthropic thumbnail - Wasserman Next Gen">
            <a:extLst>
              <a:ext uri="{FF2B5EF4-FFF2-40B4-BE49-F238E27FC236}">
                <a16:creationId xmlns:a16="http://schemas.microsoft.com/office/drawing/2014/main" id="{B44F6F94-D47C-8E87-F0BB-2E0D0771FD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9904" y="3564378"/>
            <a:ext cx="2070694" cy="2066544"/>
          </a:xfrm>
          <a:prstGeom prst="rect">
            <a:avLst/>
          </a:prstGeom>
          <a:noFill/>
          <a:ln>
            <a:solidFill>
              <a:srgbClr val="000000"/>
            </a:solidFill>
          </a:ln>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A55DC49E-0185-9C4D-B081-775524E32F33}"/>
              </a:ext>
            </a:extLst>
          </p:cNvPr>
          <p:cNvSpPr/>
          <p:nvPr/>
        </p:nvSpPr>
        <p:spPr>
          <a:xfrm>
            <a:off x="3925405" y="3582355"/>
            <a:ext cx="2066544" cy="2054187"/>
          </a:xfrm>
          <a:prstGeom prst="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Gemini logo hi-res stock photography and images - Alamy">
            <a:extLst>
              <a:ext uri="{FF2B5EF4-FFF2-40B4-BE49-F238E27FC236}">
                <a16:creationId xmlns:a16="http://schemas.microsoft.com/office/drawing/2014/main" id="{6C2DD088-C36A-04F6-ED85-164D5D319F1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143" r="7597" b="8970"/>
          <a:stretch>
            <a:fillRect/>
          </a:stretch>
        </p:blipFill>
        <p:spPr bwMode="auto">
          <a:xfrm>
            <a:off x="3950231" y="3758597"/>
            <a:ext cx="1996033" cy="174596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D5B4536F-46BC-B762-03B7-C85AC6D14A27}"/>
              </a:ext>
            </a:extLst>
          </p:cNvPr>
          <p:cNvPicPr>
            <a:picLocks noChangeAspect="1"/>
          </p:cNvPicPr>
          <p:nvPr/>
        </p:nvPicPr>
        <p:blipFill>
          <a:blip r:embed="rId6"/>
          <a:srcRect r="5384"/>
          <a:stretch>
            <a:fillRect/>
          </a:stretch>
        </p:blipFill>
        <p:spPr>
          <a:xfrm>
            <a:off x="8514515" y="3554190"/>
            <a:ext cx="2066544" cy="2076732"/>
          </a:xfrm>
          <a:prstGeom prst="rect">
            <a:avLst/>
          </a:prstGeom>
          <a:ln>
            <a:solidFill>
              <a:schemeClr val="tx1"/>
            </a:solidFill>
          </a:ln>
        </p:spPr>
      </p:pic>
    </p:spTree>
    <p:extLst>
      <p:ext uri="{BB962C8B-B14F-4D97-AF65-F5344CB8AC3E}">
        <p14:creationId xmlns:p14="http://schemas.microsoft.com/office/powerpoint/2010/main" val="3267500711"/>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3BBE7-863C-B6F6-DBBF-20521CF2B84C}"/>
              </a:ext>
            </a:extLst>
          </p:cNvPr>
          <p:cNvSpPr>
            <a:spLocks noGrp="1"/>
          </p:cNvSpPr>
          <p:nvPr>
            <p:ph type="title"/>
          </p:nvPr>
        </p:nvSpPr>
        <p:spPr>
          <a:xfrm>
            <a:off x="2257858" y="2057400"/>
            <a:ext cx="7676284" cy="1758167"/>
          </a:xfrm>
          <a:solidFill>
            <a:schemeClr val="bg1"/>
          </a:solidFill>
          <a:ln>
            <a:solidFill>
              <a:schemeClr val="tx1"/>
            </a:solidFill>
          </a:ln>
        </p:spPr>
        <p:txBody>
          <a:bodyPr/>
          <a:lstStyle/>
          <a:p>
            <a:r>
              <a:rPr lang="en-US" dirty="0"/>
              <a:t>How do these models work?</a:t>
            </a:r>
          </a:p>
        </p:txBody>
      </p:sp>
      <p:sp>
        <p:nvSpPr>
          <p:cNvPr id="4" name="Slide Number Placeholder 3">
            <a:extLst>
              <a:ext uri="{FF2B5EF4-FFF2-40B4-BE49-F238E27FC236}">
                <a16:creationId xmlns:a16="http://schemas.microsoft.com/office/drawing/2014/main" id="{6FE6B883-00D2-0EAB-BB59-37A571E428A8}"/>
              </a:ext>
            </a:extLst>
          </p:cNvPr>
          <p:cNvSpPr>
            <a:spLocks noGrp="1"/>
          </p:cNvSpPr>
          <p:nvPr>
            <p:ph type="sldNum" sz="quarter" idx="10"/>
          </p:nvPr>
        </p:nvSpPr>
        <p:spPr/>
        <p:txBody>
          <a:bodyPr/>
          <a:lstStyle/>
          <a:p>
            <a:pPr>
              <a:defRPr/>
            </a:pPr>
            <a:fld id="{0121240C-47AF-2F4D-83B3-CC3EDF50F794}" type="slidenum">
              <a:rPr lang="en-US" smtClean="0"/>
              <a:pPr>
                <a:defRPr/>
              </a:pPr>
              <a:t>3</a:t>
            </a:fld>
            <a:endParaRPr lang="en-US"/>
          </a:p>
        </p:txBody>
      </p:sp>
    </p:spTree>
    <p:extLst>
      <p:ext uri="{BB962C8B-B14F-4D97-AF65-F5344CB8AC3E}">
        <p14:creationId xmlns:p14="http://schemas.microsoft.com/office/powerpoint/2010/main" val="2309975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24290-664D-C8CF-02D4-D1D0E71EAD54}"/>
              </a:ext>
            </a:extLst>
          </p:cNvPr>
          <p:cNvSpPr>
            <a:spLocks noGrp="1"/>
          </p:cNvSpPr>
          <p:nvPr>
            <p:ph type="title"/>
          </p:nvPr>
        </p:nvSpPr>
        <p:spPr/>
        <p:txBody>
          <a:bodyPr>
            <a:normAutofit fontScale="90000"/>
          </a:bodyPr>
          <a:lstStyle/>
          <a:p>
            <a:r>
              <a:rPr lang="en-US" dirty="0"/>
              <a:t>Learning ~ Compression + Replication</a:t>
            </a:r>
          </a:p>
        </p:txBody>
      </p:sp>
      <p:sp>
        <p:nvSpPr>
          <p:cNvPr id="3" name="Text Placeholder 2">
            <a:extLst>
              <a:ext uri="{FF2B5EF4-FFF2-40B4-BE49-F238E27FC236}">
                <a16:creationId xmlns:a16="http://schemas.microsoft.com/office/drawing/2014/main" id="{C1946BE8-30CD-E156-F598-FE8511D49DEF}"/>
              </a:ext>
            </a:extLst>
          </p:cNvPr>
          <p:cNvSpPr>
            <a:spLocks noGrp="1"/>
          </p:cNvSpPr>
          <p:nvPr>
            <p:ph type="body" idx="1"/>
          </p:nvPr>
        </p:nvSpPr>
        <p:spPr>
          <a:xfrm>
            <a:off x="415600" y="1536633"/>
            <a:ext cx="11360800" cy="4555200"/>
          </a:xfrm>
        </p:spPr>
        <p:txBody>
          <a:bodyPr/>
          <a:lstStyle/>
          <a:p>
            <a:endParaRPr lang="en-US" dirty="0"/>
          </a:p>
        </p:txBody>
      </p:sp>
      <p:sp>
        <p:nvSpPr>
          <p:cNvPr id="9" name="TextBox 8">
            <a:extLst>
              <a:ext uri="{FF2B5EF4-FFF2-40B4-BE49-F238E27FC236}">
                <a16:creationId xmlns:a16="http://schemas.microsoft.com/office/drawing/2014/main" id="{210B9911-C771-55EA-E4A5-DD070693CDBF}"/>
              </a:ext>
            </a:extLst>
          </p:cNvPr>
          <p:cNvSpPr txBox="1"/>
          <p:nvPr/>
        </p:nvSpPr>
        <p:spPr>
          <a:xfrm>
            <a:off x="5184480" y="5230683"/>
            <a:ext cx="1229916" cy="1233262"/>
          </a:xfrm>
          <a:prstGeom prst="rect">
            <a:avLst/>
          </a:prstGeom>
          <a:noFill/>
        </p:spPr>
        <p:txBody>
          <a:bodyPr wrap="square">
            <a:noAutofit/>
          </a:bodyPr>
          <a:lstStyle/>
          <a:p>
            <a:pPr algn="ctr"/>
            <a:r>
              <a:rPr lang="en-US" sz="9600" dirty="0">
                <a:latin typeface="Avenir Book" panose="02000503020000020003" pitchFamily="2" charset="0"/>
              </a:rPr>
              <a:t>🤖</a:t>
            </a:r>
          </a:p>
        </p:txBody>
      </p:sp>
      <p:cxnSp>
        <p:nvCxnSpPr>
          <p:cNvPr id="13" name="Curved Connector 12">
            <a:extLst>
              <a:ext uri="{FF2B5EF4-FFF2-40B4-BE49-F238E27FC236}">
                <a16:creationId xmlns:a16="http://schemas.microsoft.com/office/drawing/2014/main" id="{E69CD403-55A8-C94A-8697-0FAE75F63573}"/>
              </a:ext>
            </a:extLst>
          </p:cNvPr>
          <p:cNvCxnSpPr>
            <a:cxnSpLocks/>
            <a:stCxn id="11" idx="6"/>
            <a:endCxn id="9" idx="1"/>
          </p:cNvCxnSpPr>
          <p:nvPr/>
        </p:nvCxnSpPr>
        <p:spPr>
          <a:xfrm rot="16200000" flipH="1">
            <a:off x="3933877" y="4596711"/>
            <a:ext cx="795106" cy="1706099"/>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3" name="Rounded Rectangle 22">
            <a:extLst>
              <a:ext uri="{FF2B5EF4-FFF2-40B4-BE49-F238E27FC236}">
                <a16:creationId xmlns:a16="http://schemas.microsoft.com/office/drawing/2014/main" id="{338E22A2-0415-5D6B-8569-DFEFD22C68E9}"/>
              </a:ext>
            </a:extLst>
          </p:cNvPr>
          <p:cNvSpPr/>
          <p:nvPr/>
        </p:nvSpPr>
        <p:spPr>
          <a:xfrm>
            <a:off x="6786450" y="2902849"/>
            <a:ext cx="2286000" cy="1866572"/>
          </a:xfrm>
          <a:prstGeom prst="roundRect">
            <a:avLst>
              <a:gd name="adj" fmla="val 37734"/>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New Instances</a:t>
            </a:r>
          </a:p>
        </p:txBody>
      </p:sp>
      <p:cxnSp>
        <p:nvCxnSpPr>
          <p:cNvPr id="24" name="Curved Connector 23">
            <a:extLst>
              <a:ext uri="{FF2B5EF4-FFF2-40B4-BE49-F238E27FC236}">
                <a16:creationId xmlns:a16="http://schemas.microsoft.com/office/drawing/2014/main" id="{52901E96-5CA2-E9CB-8ED3-421D5F826A3A}"/>
              </a:ext>
            </a:extLst>
          </p:cNvPr>
          <p:cNvCxnSpPr>
            <a:cxnSpLocks/>
            <a:stCxn id="9" idx="3"/>
            <a:endCxn id="23" idx="2"/>
          </p:cNvCxnSpPr>
          <p:nvPr/>
        </p:nvCxnSpPr>
        <p:spPr>
          <a:xfrm flipV="1">
            <a:off x="6414396" y="4769421"/>
            <a:ext cx="1515054" cy="1077893"/>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CF0D0CA1-7576-5AC2-AF9C-EC2D99EC6D52}"/>
              </a:ext>
            </a:extLst>
          </p:cNvPr>
          <p:cNvSpPr>
            <a:spLocks noGrp="1"/>
          </p:cNvSpPr>
          <p:nvPr>
            <p:ph type="sldNum" idx="12"/>
          </p:nvPr>
        </p:nvSpPr>
        <p:spPr/>
        <p:txBody>
          <a:bodyPr/>
          <a:lstStyle/>
          <a:p>
            <a:fld id="{00000000-1234-1234-1234-123412341234}" type="slidenum">
              <a:rPr lang="en" smtClean="0"/>
              <a:pPr/>
              <a:t>4</a:t>
            </a:fld>
            <a:endParaRPr lang="en" dirty="0"/>
          </a:p>
        </p:txBody>
      </p:sp>
      <p:pic>
        <p:nvPicPr>
          <p:cNvPr id="4" name="Picture 2" descr="Abstract People Connection Technology Concept With Dotted World Globe  Global Business Concept And Internet Technology Background Modern Company  Processes Analytical Networks Vector Illustration Stock Illustration -  Download Image Now - iStock">
            <a:extLst>
              <a:ext uri="{FF2B5EF4-FFF2-40B4-BE49-F238E27FC236}">
                <a16:creationId xmlns:a16="http://schemas.microsoft.com/office/drawing/2014/main" id="{ADB08801-A751-1D04-3288-D45707825F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376" t="13544" r="8462" b="14474"/>
          <a:stretch/>
        </p:blipFill>
        <p:spPr bwMode="auto">
          <a:xfrm>
            <a:off x="563525" y="1410843"/>
            <a:ext cx="3112831" cy="1961337"/>
          </a:xfrm>
          <a:prstGeom prst="rect">
            <a:avLst/>
          </a:prstGeom>
          <a:noFill/>
          <a:extLst>
            <a:ext uri="{909E8E84-426E-40DD-AFC4-6F175D3DCCD1}">
              <a14:hiddenFill xmlns:a14="http://schemas.microsoft.com/office/drawing/2010/main">
                <a:solidFill>
                  <a:srgbClr val="FFFFFF"/>
                </a:solidFill>
              </a14:hiddenFill>
            </a:ext>
          </a:extLst>
        </p:spPr>
      </p:pic>
      <p:sp>
        <p:nvSpPr>
          <p:cNvPr id="11" name="16-Point Star 10">
            <a:extLst>
              <a:ext uri="{FF2B5EF4-FFF2-40B4-BE49-F238E27FC236}">
                <a16:creationId xmlns:a16="http://schemas.microsoft.com/office/drawing/2014/main" id="{043CB37E-DD1B-155C-EA02-032E37EA09DB}"/>
              </a:ext>
            </a:extLst>
          </p:cNvPr>
          <p:cNvSpPr/>
          <p:nvPr/>
        </p:nvSpPr>
        <p:spPr>
          <a:xfrm>
            <a:off x="2035424" y="2629582"/>
            <a:ext cx="2885914" cy="2422626"/>
          </a:xfrm>
          <a:prstGeom prst="star16">
            <a:avLst>
              <a:gd name="adj" fmla="val 4262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Examples of the World</a:t>
            </a:r>
          </a:p>
        </p:txBody>
      </p:sp>
    </p:spTree>
    <p:extLst>
      <p:ext uri="{BB962C8B-B14F-4D97-AF65-F5344CB8AC3E}">
        <p14:creationId xmlns:p14="http://schemas.microsoft.com/office/powerpoint/2010/main" val="33167376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1946BE8-30CD-E156-F598-FE8511D49DEF}"/>
              </a:ext>
            </a:extLst>
          </p:cNvPr>
          <p:cNvSpPr>
            <a:spLocks noGrp="1"/>
          </p:cNvSpPr>
          <p:nvPr>
            <p:ph type="body" idx="1"/>
          </p:nvPr>
        </p:nvSpPr>
        <p:spPr>
          <a:xfrm>
            <a:off x="415600" y="1536633"/>
            <a:ext cx="11360800" cy="4555200"/>
          </a:xfrm>
        </p:spPr>
        <p:txBody>
          <a:bodyPr/>
          <a:lstStyle/>
          <a:p>
            <a:endParaRPr lang="en-US" dirty="0"/>
          </a:p>
        </p:txBody>
      </p:sp>
      <p:sp>
        <p:nvSpPr>
          <p:cNvPr id="9" name="TextBox 8">
            <a:extLst>
              <a:ext uri="{FF2B5EF4-FFF2-40B4-BE49-F238E27FC236}">
                <a16:creationId xmlns:a16="http://schemas.microsoft.com/office/drawing/2014/main" id="{210B9911-C771-55EA-E4A5-DD070693CDBF}"/>
              </a:ext>
            </a:extLst>
          </p:cNvPr>
          <p:cNvSpPr txBox="1"/>
          <p:nvPr/>
        </p:nvSpPr>
        <p:spPr>
          <a:xfrm>
            <a:off x="5184480" y="5230683"/>
            <a:ext cx="1229916" cy="1233262"/>
          </a:xfrm>
          <a:prstGeom prst="rect">
            <a:avLst/>
          </a:prstGeom>
          <a:noFill/>
        </p:spPr>
        <p:txBody>
          <a:bodyPr wrap="square">
            <a:noAutofit/>
          </a:bodyPr>
          <a:lstStyle/>
          <a:p>
            <a:pPr algn="ctr"/>
            <a:r>
              <a:rPr lang="en-US" sz="9600" dirty="0">
                <a:latin typeface="Avenir Book" panose="02000503020000020003" pitchFamily="2" charset="0"/>
              </a:rPr>
              <a:t>🤖</a:t>
            </a:r>
          </a:p>
        </p:txBody>
      </p:sp>
      <p:sp>
        <p:nvSpPr>
          <p:cNvPr id="11" name="16-Point Star 10">
            <a:extLst>
              <a:ext uri="{FF2B5EF4-FFF2-40B4-BE49-F238E27FC236}">
                <a16:creationId xmlns:a16="http://schemas.microsoft.com/office/drawing/2014/main" id="{043CB37E-DD1B-155C-EA02-032E37EA09DB}"/>
              </a:ext>
            </a:extLst>
          </p:cNvPr>
          <p:cNvSpPr/>
          <p:nvPr/>
        </p:nvSpPr>
        <p:spPr>
          <a:xfrm>
            <a:off x="2035424" y="2629582"/>
            <a:ext cx="2885914" cy="2422626"/>
          </a:xfrm>
          <a:prstGeom prst="star16">
            <a:avLst>
              <a:gd name="adj" fmla="val 4262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Examples of the World</a:t>
            </a:r>
          </a:p>
        </p:txBody>
      </p:sp>
      <p:cxnSp>
        <p:nvCxnSpPr>
          <p:cNvPr id="13" name="Curved Connector 12">
            <a:extLst>
              <a:ext uri="{FF2B5EF4-FFF2-40B4-BE49-F238E27FC236}">
                <a16:creationId xmlns:a16="http://schemas.microsoft.com/office/drawing/2014/main" id="{E69CD403-55A8-C94A-8697-0FAE75F63573}"/>
              </a:ext>
            </a:extLst>
          </p:cNvPr>
          <p:cNvCxnSpPr>
            <a:cxnSpLocks/>
            <a:stCxn id="11" idx="6"/>
            <a:endCxn id="9" idx="1"/>
          </p:cNvCxnSpPr>
          <p:nvPr/>
        </p:nvCxnSpPr>
        <p:spPr>
          <a:xfrm rot="16200000" flipH="1">
            <a:off x="3933877" y="4596711"/>
            <a:ext cx="795106" cy="1706099"/>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3" name="Rounded Rectangle 22">
            <a:extLst>
              <a:ext uri="{FF2B5EF4-FFF2-40B4-BE49-F238E27FC236}">
                <a16:creationId xmlns:a16="http://schemas.microsoft.com/office/drawing/2014/main" id="{338E22A2-0415-5D6B-8569-DFEFD22C68E9}"/>
              </a:ext>
            </a:extLst>
          </p:cNvPr>
          <p:cNvSpPr/>
          <p:nvPr/>
        </p:nvSpPr>
        <p:spPr>
          <a:xfrm>
            <a:off x="6786450" y="2902849"/>
            <a:ext cx="2286000" cy="1866572"/>
          </a:xfrm>
          <a:prstGeom prst="roundRect">
            <a:avLst>
              <a:gd name="adj" fmla="val 37734"/>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New Instances</a:t>
            </a:r>
          </a:p>
        </p:txBody>
      </p:sp>
      <p:cxnSp>
        <p:nvCxnSpPr>
          <p:cNvPr id="24" name="Curved Connector 23">
            <a:extLst>
              <a:ext uri="{FF2B5EF4-FFF2-40B4-BE49-F238E27FC236}">
                <a16:creationId xmlns:a16="http://schemas.microsoft.com/office/drawing/2014/main" id="{52901E96-5CA2-E9CB-8ED3-421D5F826A3A}"/>
              </a:ext>
            </a:extLst>
          </p:cNvPr>
          <p:cNvCxnSpPr>
            <a:cxnSpLocks/>
            <a:stCxn id="9" idx="3"/>
            <a:endCxn id="23" idx="2"/>
          </p:cNvCxnSpPr>
          <p:nvPr/>
        </p:nvCxnSpPr>
        <p:spPr>
          <a:xfrm flipV="1">
            <a:off x="6414396" y="4769421"/>
            <a:ext cx="1515054" cy="1077893"/>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22" name="Google Shape;671;p110">
            <a:extLst>
              <a:ext uri="{FF2B5EF4-FFF2-40B4-BE49-F238E27FC236}">
                <a16:creationId xmlns:a16="http://schemas.microsoft.com/office/drawing/2014/main" id="{98B56E41-4E2A-A59D-723C-4D950CA88106}"/>
              </a:ext>
            </a:extLst>
          </p:cNvPr>
          <p:cNvPicPr preferRelativeResize="0"/>
          <p:nvPr/>
        </p:nvPicPr>
        <p:blipFill rotWithShape="1">
          <a:blip r:embed="rId3">
            <a:alphaModFix/>
          </a:blip>
          <a:srcRect r="39007"/>
          <a:stretch/>
        </p:blipFill>
        <p:spPr>
          <a:xfrm>
            <a:off x="1423113" y="1627316"/>
            <a:ext cx="3738480" cy="3424890"/>
          </a:xfrm>
          <a:prstGeom prst="rect">
            <a:avLst/>
          </a:prstGeom>
          <a:noFill/>
          <a:ln>
            <a:noFill/>
          </a:ln>
        </p:spPr>
      </p:pic>
      <p:sp>
        <p:nvSpPr>
          <p:cNvPr id="5" name="Slide Number Placeholder 4">
            <a:extLst>
              <a:ext uri="{FF2B5EF4-FFF2-40B4-BE49-F238E27FC236}">
                <a16:creationId xmlns:a16="http://schemas.microsoft.com/office/drawing/2014/main" id="{E7EA5119-B7FA-9DA4-CC47-7475CF1DDB58}"/>
              </a:ext>
            </a:extLst>
          </p:cNvPr>
          <p:cNvSpPr>
            <a:spLocks noGrp="1"/>
          </p:cNvSpPr>
          <p:nvPr>
            <p:ph type="sldNum" idx="12"/>
          </p:nvPr>
        </p:nvSpPr>
        <p:spPr/>
        <p:txBody>
          <a:bodyPr/>
          <a:lstStyle/>
          <a:p>
            <a:fld id="{00000000-1234-1234-1234-123412341234}" type="slidenum">
              <a:rPr lang="en" smtClean="0"/>
              <a:pPr/>
              <a:t>5</a:t>
            </a:fld>
            <a:endParaRPr lang="en" dirty="0"/>
          </a:p>
        </p:txBody>
      </p:sp>
      <p:sp>
        <p:nvSpPr>
          <p:cNvPr id="4" name="Title 3">
            <a:extLst>
              <a:ext uri="{FF2B5EF4-FFF2-40B4-BE49-F238E27FC236}">
                <a16:creationId xmlns:a16="http://schemas.microsoft.com/office/drawing/2014/main" id="{E1E2C24F-959F-660B-195D-C7777FA4DE4A}"/>
              </a:ext>
            </a:extLst>
          </p:cNvPr>
          <p:cNvSpPr>
            <a:spLocks noGrp="1"/>
          </p:cNvSpPr>
          <p:nvPr>
            <p:ph type="title"/>
          </p:nvPr>
        </p:nvSpPr>
        <p:spPr/>
        <p:txBody>
          <a:bodyPr>
            <a:normAutofit fontScale="90000"/>
          </a:bodyPr>
          <a:lstStyle/>
          <a:p>
            <a:r>
              <a:rPr lang="en-US" dirty="0"/>
              <a:t>Learning ~ Compression + Replication</a:t>
            </a:r>
          </a:p>
        </p:txBody>
      </p:sp>
    </p:spTree>
    <p:extLst>
      <p:ext uri="{BB962C8B-B14F-4D97-AF65-F5344CB8AC3E}">
        <p14:creationId xmlns:p14="http://schemas.microsoft.com/office/powerpoint/2010/main" val="361865447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1946BE8-30CD-E156-F598-FE8511D49DEF}"/>
              </a:ext>
            </a:extLst>
          </p:cNvPr>
          <p:cNvSpPr>
            <a:spLocks noGrp="1"/>
          </p:cNvSpPr>
          <p:nvPr>
            <p:ph type="body" idx="1"/>
          </p:nvPr>
        </p:nvSpPr>
        <p:spPr>
          <a:xfrm>
            <a:off x="415600" y="1536633"/>
            <a:ext cx="11360800" cy="4555200"/>
          </a:xfrm>
        </p:spPr>
        <p:txBody>
          <a:bodyPr/>
          <a:lstStyle/>
          <a:p>
            <a:endParaRPr lang="en-US" dirty="0"/>
          </a:p>
        </p:txBody>
      </p:sp>
      <p:sp>
        <p:nvSpPr>
          <p:cNvPr id="9" name="TextBox 8">
            <a:extLst>
              <a:ext uri="{FF2B5EF4-FFF2-40B4-BE49-F238E27FC236}">
                <a16:creationId xmlns:a16="http://schemas.microsoft.com/office/drawing/2014/main" id="{210B9911-C771-55EA-E4A5-DD070693CDBF}"/>
              </a:ext>
            </a:extLst>
          </p:cNvPr>
          <p:cNvSpPr txBox="1"/>
          <p:nvPr/>
        </p:nvSpPr>
        <p:spPr>
          <a:xfrm>
            <a:off x="5184480" y="5230683"/>
            <a:ext cx="1229916" cy="1233262"/>
          </a:xfrm>
          <a:prstGeom prst="rect">
            <a:avLst/>
          </a:prstGeom>
          <a:noFill/>
        </p:spPr>
        <p:txBody>
          <a:bodyPr wrap="square">
            <a:noAutofit/>
          </a:bodyPr>
          <a:lstStyle/>
          <a:p>
            <a:pPr algn="ctr"/>
            <a:r>
              <a:rPr lang="en-US" sz="9600" dirty="0">
                <a:latin typeface="Avenir Book" panose="02000503020000020003" pitchFamily="2" charset="0"/>
              </a:rPr>
              <a:t>🤖</a:t>
            </a:r>
          </a:p>
        </p:txBody>
      </p:sp>
      <p:sp>
        <p:nvSpPr>
          <p:cNvPr id="11" name="16-Point Star 10">
            <a:extLst>
              <a:ext uri="{FF2B5EF4-FFF2-40B4-BE49-F238E27FC236}">
                <a16:creationId xmlns:a16="http://schemas.microsoft.com/office/drawing/2014/main" id="{043CB37E-DD1B-155C-EA02-032E37EA09DB}"/>
              </a:ext>
            </a:extLst>
          </p:cNvPr>
          <p:cNvSpPr/>
          <p:nvPr/>
        </p:nvSpPr>
        <p:spPr>
          <a:xfrm>
            <a:off x="2035424" y="2629582"/>
            <a:ext cx="2885914" cy="2422626"/>
          </a:xfrm>
          <a:prstGeom prst="star16">
            <a:avLst>
              <a:gd name="adj" fmla="val 4262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Examples of the World</a:t>
            </a:r>
          </a:p>
        </p:txBody>
      </p:sp>
      <p:cxnSp>
        <p:nvCxnSpPr>
          <p:cNvPr id="13" name="Curved Connector 12">
            <a:extLst>
              <a:ext uri="{FF2B5EF4-FFF2-40B4-BE49-F238E27FC236}">
                <a16:creationId xmlns:a16="http://schemas.microsoft.com/office/drawing/2014/main" id="{E69CD403-55A8-C94A-8697-0FAE75F63573}"/>
              </a:ext>
            </a:extLst>
          </p:cNvPr>
          <p:cNvCxnSpPr>
            <a:cxnSpLocks/>
            <a:stCxn id="11" idx="6"/>
            <a:endCxn id="9" idx="1"/>
          </p:cNvCxnSpPr>
          <p:nvPr/>
        </p:nvCxnSpPr>
        <p:spPr>
          <a:xfrm rot="16200000" flipH="1">
            <a:off x="3933877" y="4596711"/>
            <a:ext cx="795106" cy="1706099"/>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3" name="Rounded Rectangle 22">
            <a:extLst>
              <a:ext uri="{FF2B5EF4-FFF2-40B4-BE49-F238E27FC236}">
                <a16:creationId xmlns:a16="http://schemas.microsoft.com/office/drawing/2014/main" id="{338E22A2-0415-5D6B-8569-DFEFD22C68E9}"/>
              </a:ext>
            </a:extLst>
          </p:cNvPr>
          <p:cNvSpPr/>
          <p:nvPr/>
        </p:nvSpPr>
        <p:spPr>
          <a:xfrm>
            <a:off x="6786450" y="2902849"/>
            <a:ext cx="2286000" cy="1866572"/>
          </a:xfrm>
          <a:prstGeom prst="roundRect">
            <a:avLst>
              <a:gd name="adj" fmla="val 37734"/>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New Instances</a:t>
            </a:r>
          </a:p>
        </p:txBody>
      </p:sp>
      <p:cxnSp>
        <p:nvCxnSpPr>
          <p:cNvPr id="24" name="Curved Connector 23">
            <a:extLst>
              <a:ext uri="{FF2B5EF4-FFF2-40B4-BE49-F238E27FC236}">
                <a16:creationId xmlns:a16="http://schemas.microsoft.com/office/drawing/2014/main" id="{52901E96-5CA2-E9CB-8ED3-421D5F826A3A}"/>
              </a:ext>
            </a:extLst>
          </p:cNvPr>
          <p:cNvCxnSpPr>
            <a:cxnSpLocks/>
            <a:stCxn id="9" idx="3"/>
            <a:endCxn id="23" idx="2"/>
          </p:cNvCxnSpPr>
          <p:nvPr/>
        </p:nvCxnSpPr>
        <p:spPr>
          <a:xfrm flipV="1">
            <a:off x="6414396" y="4769421"/>
            <a:ext cx="1515054" cy="1077893"/>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22" name="Google Shape;671;p110">
            <a:extLst>
              <a:ext uri="{FF2B5EF4-FFF2-40B4-BE49-F238E27FC236}">
                <a16:creationId xmlns:a16="http://schemas.microsoft.com/office/drawing/2014/main" id="{98B56E41-4E2A-A59D-723C-4D950CA88106}"/>
              </a:ext>
            </a:extLst>
          </p:cNvPr>
          <p:cNvPicPr preferRelativeResize="0"/>
          <p:nvPr/>
        </p:nvPicPr>
        <p:blipFill rotWithShape="1">
          <a:blip r:embed="rId3">
            <a:alphaModFix/>
          </a:blip>
          <a:srcRect r="39007"/>
          <a:stretch/>
        </p:blipFill>
        <p:spPr>
          <a:xfrm>
            <a:off x="1423113" y="1627316"/>
            <a:ext cx="3738480" cy="3424890"/>
          </a:xfrm>
          <a:prstGeom prst="rect">
            <a:avLst/>
          </a:prstGeom>
          <a:noFill/>
          <a:ln>
            <a:noFill/>
          </a:ln>
        </p:spPr>
      </p:pic>
      <p:pic>
        <p:nvPicPr>
          <p:cNvPr id="5" name="Google Shape;692;p113">
            <a:extLst>
              <a:ext uri="{FF2B5EF4-FFF2-40B4-BE49-F238E27FC236}">
                <a16:creationId xmlns:a16="http://schemas.microsoft.com/office/drawing/2014/main" id="{1F55BA4B-7471-EE17-DDF3-6DA58A938A63}"/>
              </a:ext>
            </a:extLst>
          </p:cNvPr>
          <p:cNvPicPr preferRelativeResize="0"/>
          <p:nvPr/>
        </p:nvPicPr>
        <p:blipFill rotWithShape="1">
          <a:blip r:embed="rId4">
            <a:alphaModFix/>
          </a:blip>
          <a:srcRect l="64079" t="16509" b="17096"/>
          <a:stretch/>
        </p:blipFill>
        <p:spPr>
          <a:xfrm>
            <a:off x="6334271" y="1865870"/>
            <a:ext cx="3190358" cy="2903551"/>
          </a:xfrm>
          <a:prstGeom prst="rect">
            <a:avLst/>
          </a:prstGeom>
          <a:noFill/>
          <a:ln>
            <a:noFill/>
          </a:ln>
        </p:spPr>
      </p:pic>
      <p:pic>
        <p:nvPicPr>
          <p:cNvPr id="7" name="Google Shape;699;p114">
            <a:extLst>
              <a:ext uri="{FF2B5EF4-FFF2-40B4-BE49-F238E27FC236}">
                <a16:creationId xmlns:a16="http://schemas.microsoft.com/office/drawing/2014/main" id="{0F1E44B5-24A1-E004-17F8-42F09D78E3DB}"/>
              </a:ext>
            </a:extLst>
          </p:cNvPr>
          <p:cNvPicPr preferRelativeResize="0"/>
          <p:nvPr/>
        </p:nvPicPr>
        <p:blipFill rotWithShape="1">
          <a:blip r:embed="rId5">
            <a:alphaModFix/>
          </a:blip>
          <a:srcRect l="63911" t="79744"/>
          <a:stretch/>
        </p:blipFill>
        <p:spPr>
          <a:xfrm>
            <a:off x="8247260" y="5144377"/>
            <a:ext cx="3513280" cy="1077893"/>
          </a:xfrm>
          <a:prstGeom prst="rect">
            <a:avLst/>
          </a:prstGeom>
          <a:noFill/>
          <a:ln>
            <a:noFill/>
          </a:ln>
        </p:spPr>
      </p:pic>
      <p:sp>
        <p:nvSpPr>
          <p:cNvPr id="6" name="Slide Number Placeholder 5">
            <a:extLst>
              <a:ext uri="{FF2B5EF4-FFF2-40B4-BE49-F238E27FC236}">
                <a16:creationId xmlns:a16="http://schemas.microsoft.com/office/drawing/2014/main" id="{37A6CEA2-8289-716F-F53A-E512DD74C404}"/>
              </a:ext>
            </a:extLst>
          </p:cNvPr>
          <p:cNvSpPr>
            <a:spLocks noGrp="1"/>
          </p:cNvSpPr>
          <p:nvPr>
            <p:ph type="sldNum" idx="12"/>
          </p:nvPr>
        </p:nvSpPr>
        <p:spPr/>
        <p:txBody>
          <a:bodyPr/>
          <a:lstStyle/>
          <a:p>
            <a:fld id="{00000000-1234-1234-1234-123412341234}" type="slidenum">
              <a:rPr lang="en" smtClean="0"/>
              <a:pPr/>
              <a:t>6</a:t>
            </a:fld>
            <a:endParaRPr lang="en" dirty="0"/>
          </a:p>
        </p:txBody>
      </p:sp>
      <p:sp>
        <p:nvSpPr>
          <p:cNvPr id="4" name="Title 3">
            <a:extLst>
              <a:ext uri="{FF2B5EF4-FFF2-40B4-BE49-F238E27FC236}">
                <a16:creationId xmlns:a16="http://schemas.microsoft.com/office/drawing/2014/main" id="{D3255C33-F181-2549-3654-F9245477A4DF}"/>
              </a:ext>
            </a:extLst>
          </p:cNvPr>
          <p:cNvSpPr>
            <a:spLocks noGrp="1"/>
          </p:cNvSpPr>
          <p:nvPr>
            <p:ph type="title"/>
          </p:nvPr>
        </p:nvSpPr>
        <p:spPr/>
        <p:txBody>
          <a:bodyPr>
            <a:normAutofit fontScale="90000"/>
          </a:bodyPr>
          <a:lstStyle/>
          <a:p>
            <a:r>
              <a:rPr lang="en-US" dirty="0"/>
              <a:t>Learning ~ Compression + Replication</a:t>
            </a:r>
          </a:p>
        </p:txBody>
      </p:sp>
    </p:spTree>
    <p:extLst>
      <p:ext uri="{BB962C8B-B14F-4D97-AF65-F5344CB8AC3E}">
        <p14:creationId xmlns:p14="http://schemas.microsoft.com/office/powerpoint/2010/main" val="328629752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10B9911-C771-55EA-E4A5-DD070693CDBF}"/>
              </a:ext>
            </a:extLst>
          </p:cNvPr>
          <p:cNvSpPr txBox="1"/>
          <p:nvPr/>
        </p:nvSpPr>
        <p:spPr>
          <a:xfrm>
            <a:off x="5184480" y="5230683"/>
            <a:ext cx="1229916" cy="1233262"/>
          </a:xfrm>
          <a:prstGeom prst="rect">
            <a:avLst/>
          </a:prstGeom>
          <a:noFill/>
        </p:spPr>
        <p:txBody>
          <a:bodyPr wrap="square">
            <a:noAutofit/>
          </a:bodyPr>
          <a:lstStyle/>
          <a:p>
            <a:pPr algn="ctr"/>
            <a:r>
              <a:rPr lang="en-US" sz="9600" dirty="0">
                <a:latin typeface="Avenir Book" panose="02000503020000020003" pitchFamily="2" charset="0"/>
              </a:rPr>
              <a:t>🤖</a:t>
            </a:r>
          </a:p>
        </p:txBody>
      </p:sp>
      <p:sp>
        <p:nvSpPr>
          <p:cNvPr id="11" name="16-Point Star 10">
            <a:extLst>
              <a:ext uri="{FF2B5EF4-FFF2-40B4-BE49-F238E27FC236}">
                <a16:creationId xmlns:a16="http://schemas.microsoft.com/office/drawing/2014/main" id="{043CB37E-DD1B-155C-EA02-032E37EA09DB}"/>
              </a:ext>
            </a:extLst>
          </p:cNvPr>
          <p:cNvSpPr/>
          <p:nvPr/>
        </p:nvSpPr>
        <p:spPr>
          <a:xfrm>
            <a:off x="2035424" y="2629582"/>
            <a:ext cx="2885914" cy="2422626"/>
          </a:xfrm>
          <a:prstGeom prst="star16">
            <a:avLst>
              <a:gd name="adj" fmla="val 4262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Examples of the World</a:t>
            </a:r>
          </a:p>
        </p:txBody>
      </p:sp>
      <p:cxnSp>
        <p:nvCxnSpPr>
          <p:cNvPr id="13" name="Curved Connector 12">
            <a:extLst>
              <a:ext uri="{FF2B5EF4-FFF2-40B4-BE49-F238E27FC236}">
                <a16:creationId xmlns:a16="http://schemas.microsoft.com/office/drawing/2014/main" id="{E69CD403-55A8-C94A-8697-0FAE75F63573}"/>
              </a:ext>
            </a:extLst>
          </p:cNvPr>
          <p:cNvCxnSpPr>
            <a:cxnSpLocks/>
            <a:stCxn id="11" idx="6"/>
            <a:endCxn id="9" idx="1"/>
          </p:cNvCxnSpPr>
          <p:nvPr/>
        </p:nvCxnSpPr>
        <p:spPr>
          <a:xfrm rot="16200000" flipH="1">
            <a:off x="3933877" y="4596711"/>
            <a:ext cx="795106" cy="1706099"/>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3" name="Rounded Rectangle 22">
            <a:extLst>
              <a:ext uri="{FF2B5EF4-FFF2-40B4-BE49-F238E27FC236}">
                <a16:creationId xmlns:a16="http://schemas.microsoft.com/office/drawing/2014/main" id="{338E22A2-0415-5D6B-8569-DFEFD22C68E9}"/>
              </a:ext>
            </a:extLst>
          </p:cNvPr>
          <p:cNvSpPr/>
          <p:nvPr/>
        </p:nvSpPr>
        <p:spPr>
          <a:xfrm>
            <a:off x="6786450" y="2902849"/>
            <a:ext cx="2286000" cy="1866572"/>
          </a:xfrm>
          <a:prstGeom prst="roundRect">
            <a:avLst>
              <a:gd name="adj" fmla="val 37734"/>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New Instances</a:t>
            </a:r>
          </a:p>
        </p:txBody>
      </p:sp>
      <p:cxnSp>
        <p:nvCxnSpPr>
          <p:cNvPr id="24" name="Curved Connector 23">
            <a:extLst>
              <a:ext uri="{FF2B5EF4-FFF2-40B4-BE49-F238E27FC236}">
                <a16:creationId xmlns:a16="http://schemas.microsoft.com/office/drawing/2014/main" id="{52901E96-5CA2-E9CB-8ED3-421D5F826A3A}"/>
              </a:ext>
            </a:extLst>
          </p:cNvPr>
          <p:cNvCxnSpPr>
            <a:cxnSpLocks/>
            <a:stCxn id="9" idx="3"/>
            <a:endCxn id="14" idx="2"/>
          </p:cNvCxnSpPr>
          <p:nvPr/>
        </p:nvCxnSpPr>
        <p:spPr>
          <a:xfrm flipV="1">
            <a:off x="6414396" y="5084179"/>
            <a:ext cx="1619276" cy="763135"/>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5" name="Google Shape;692;p113">
            <a:extLst>
              <a:ext uri="{FF2B5EF4-FFF2-40B4-BE49-F238E27FC236}">
                <a16:creationId xmlns:a16="http://schemas.microsoft.com/office/drawing/2014/main" id="{1F55BA4B-7471-EE17-DDF3-6DA58A938A63}"/>
              </a:ext>
            </a:extLst>
          </p:cNvPr>
          <p:cNvPicPr preferRelativeResize="0"/>
          <p:nvPr/>
        </p:nvPicPr>
        <p:blipFill rotWithShape="1">
          <a:blip r:embed="rId3">
            <a:alphaModFix/>
          </a:blip>
          <a:srcRect l="64079" t="16509" b="17096"/>
          <a:stretch/>
        </p:blipFill>
        <p:spPr>
          <a:xfrm>
            <a:off x="6334271" y="1865870"/>
            <a:ext cx="3190358" cy="2903551"/>
          </a:xfrm>
          <a:prstGeom prst="rect">
            <a:avLst/>
          </a:prstGeom>
          <a:noFill/>
          <a:ln>
            <a:noFill/>
          </a:ln>
        </p:spPr>
      </p:pic>
      <p:sp>
        <p:nvSpPr>
          <p:cNvPr id="8" name="Rectangle 7">
            <a:extLst>
              <a:ext uri="{FF2B5EF4-FFF2-40B4-BE49-F238E27FC236}">
                <a16:creationId xmlns:a16="http://schemas.microsoft.com/office/drawing/2014/main" id="{D5CC4AFE-0C1C-84CC-BF07-7F49E6A251E6}"/>
              </a:ext>
            </a:extLst>
          </p:cNvPr>
          <p:cNvSpPr/>
          <p:nvPr/>
        </p:nvSpPr>
        <p:spPr>
          <a:xfrm>
            <a:off x="1326777" y="1807353"/>
            <a:ext cx="3327429" cy="3625259"/>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Avenir Book" panose="02000503020000020003" pitchFamily="2" charset="0"/>
              </a:rPr>
              <a:t>== treaty of </a:t>
            </a:r>
            <a:r>
              <a:rPr lang="en-US" sz="1600" dirty="0" err="1">
                <a:solidFill>
                  <a:schemeClr val="tx1"/>
                </a:solidFill>
                <a:latin typeface="Avenir Book" panose="02000503020000020003" pitchFamily="2" charset="0"/>
              </a:rPr>
              <a:t>paris</a:t>
            </a:r>
            <a:r>
              <a:rPr lang="en-US" sz="1600" dirty="0">
                <a:solidFill>
                  <a:schemeClr val="tx1"/>
                </a:solidFill>
                <a:latin typeface="Avenir Book" panose="02000503020000020003" pitchFamily="2" charset="0"/>
              </a:rPr>
              <a:t> (1763) </a:t>
            </a:r>
            <a:br>
              <a:rPr lang="en-US" sz="1600" dirty="0">
                <a:solidFill>
                  <a:schemeClr val="tx1"/>
                </a:solidFill>
                <a:latin typeface="Avenir Book" panose="02000503020000020003" pitchFamily="2" charset="0"/>
              </a:rPr>
            </a:br>
            <a:br>
              <a:rPr lang="en-US" sz="1600" dirty="0">
                <a:solidFill>
                  <a:schemeClr val="tx1"/>
                </a:solidFill>
                <a:latin typeface="Avenir Book" panose="02000503020000020003" pitchFamily="2" charset="0"/>
              </a:rPr>
            </a:br>
            <a:r>
              <a:rPr lang="en-US" sz="1600" dirty="0">
                <a:solidFill>
                  <a:schemeClr val="tx1"/>
                </a:solidFill>
                <a:latin typeface="Avenir Book" panose="02000503020000020003" pitchFamily="2" charset="0"/>
              </a:rPr>
              <a:t>the treaty of </a:t>
            </a:r>
            <a:r>
              <a:rPr lang="en-US" sz="1600" dirty="0" err="1">
                <a:solidFill>
                  <a:schemeClr val="tx1"/>
                </a:solidFill>
                <a:latin typeface="Avenir Book" panose="02000503020000020003" pitchFamily="2" charset="0"/>
              </a:rPr>
              <a:t>paris</a:t>
            </a:r>
            <a:r>
              <a:rPr lang="en-US" sz="1600" dirty="0">
                <a:solidFill>
                  <a:schemeClr val="tx1"/>
                </a:solidFill>
                <a:latin typeface="Avenir Book" panose="02000503020000020003" pitchFamily="2" charset="0"/>
              </a:rPr>
              <a:t>, also known as the treaty of 1763, was signed on 10 </a:t>
            </a:r>
            <a:r>
              <a:rPr lang="en-US" sz="1600" dirty="0" err="1">
                <a:solidFill>
                  <a:schemeClr val="tx1"/>
                </a:solidFill>
                <a:latin typeface="Avenir Book" panose="02000503020000020003" pitchFamily="2" charset="0"/>
              </a:rPr>
              <a:t>february</a:t>
            </a:r>
            <a:r>
              <a:rPr lang="en-US" sz="1600" dirty="0">
                <a:solidFill>
                  <a:schemeClr val="tx1"/>
                </a:solidFill>
                <a:latin typeface="Avenir Book" panose="02000503020000020003" pitchFamily="2" charset="0"/>
              </a:rPr>
              <a:t> 1763 by the kingdoms of great </a:t>
            </a:r>
            <a:r>
              <a:rPr lang="en-US" sz="1600" dirty="0" err="1">
                <a:solidFill>
                  <a:schemeClr val="tx1"/>
                </a:solidFill>
                <a:latin typeface="Avenir Book" panose="02000503020000020003" pitchFamily="2" charset="0"/>
              </a:rPr>
              <a:t>britain</a:t>
            </a:r>
            <a:r>
              <a:rPr lang="en-US" sz="1600" dirty="0">
                <a:solidFill>
                  <a:schemeClr val="tx1"/>
                </a:solidFill>
                <a:latin typeface="Avenir Book" panose="02000503020000020003" pitchFamily="2" charset="0"/>
              </a:rPr>
              <a:t>, </a:t>
            </a:r>
            <a:r>
              <a:rPr lang="en-US" sz="1600" dirty="0" err="1">
                <a:solidFill>
                  <a:schemeClr val="tx1"/>
                </a:solidFill>
                <a:latin typeface="Avenir Book" panose="02000503020000020003" pitchFamily="2" charset="0"/>
              </a:rPr>
              <a:t>france</a:t>
            </a:r>
            <a:r>
              <a:rPr lang="en-US" sz="1600" dirty="0">
                <a:solidFill>
                  <a:schemeClr val="tx1"/>
                </a:solidFill>
                <a:latin typeface="Avenir Book" panose="02000503020000020003" pitchFamily="2" charset="0"/>
              </a:rPr>
              <a:t> and </a:t>
            </a:r>
            <a:r>
              <a:rPr lang="en-US" sz="1600" dirty="0" err="1">
                <a:solidFill>
                  <a:schemeClr val="tx1"/>
                </a:solidFill>
                <a:latin typeface="Avenir Book" panose="02000503020000020003" pitchFamily="2" charset="0"/>
              </a:rPr>
              <a:t>spain</a:t>
            </a:r>
            <a:r>
              <a:rPr lang="en-US" sz="1600" dirty="0">
                <a:solidFill>
                  <a:schemeClr val="tx1"/>
                </a:solidFill>
                <a:latin typeface="Avenir Book" panose="02000503020000020003" pitchFamily="2" charset="0"/>
              </a:rPr>
              <a:t>, with </a:t>
            </a:r>
            <a:r>
              <a:rPr lang="en-US" sz="1600" dirty="0" err="1">
                <a:solidFill>
                  <a:schemeClr val="tx1"/>
                </a:solidFill>
                <a:latin typeface="Avenir Book" panose="02000503020000020003" pitchFamily="2" charset="0"/>
              </a:rPr>
              <a:t>portugal</a:t>
            </a:r>
            <a:r>
              <a:rPr lang="en-US" sz="1600" dirty="0">
                <a:solidFill>
                  <a:schemeClr val="tx1"/>
                </a:solidFill>
                <a:latin typeface="Avenir Book" panose="02000503020000020003" pitchFamily="2" charset="0"/>
              </a:rPr>
              <a:t> in agreement, after great </a:t>
            </a:r>
            <a:r>
              <a:rPr lang="en-US" sz="1600" dirty="0" err="1">
                <a:solidFill>
                  <a:schemeClr val="tx1"/>
                </a:solidFill>
                <a:latin typeface="Avenir Book" panose="02000503020000020003" pitchFamily="2" charset="0"/>
              </a:rPr>
              <a:t>britain's</a:t>
            </a:r>
            <a:r>
              <a:rPr lang="en-US" sz="1600" dirty="0">
                <a:solidFill>
                  <a:schemeClr val="tx1"/>
                </a:solidFill>
                <a:latin typeface="Avenir Book" panose="02000503020000020003" pitchFamily="2" charset="0"/>
              </a:rPr>
              <a:t> victory over </a:t>
            </a:r>
            <a:r>
              <a:rPr lang="en-US" sz="1600" dirty="0" err="1">
                <a:solidFill>
                  <a:schemeClr val="tx1"/>
                </a:solidFill>
                <a:latin typeface="Avenir Book" panose="02000503020000020003" pitchFamily="2" charset="0"/>
              </a:rPr>
              <a:t>france</a:t>
            </a:r>
            <a:r>
              <a:rPr lang="en-US" sz="1600" dirty="0">
                <a:solidFill>
                  <a:schemeClr val="tx1"/>
                </a:solidFill>
                <a:latin typeface="Avenir Book" panose="02000503020000020003" pitchFamily="2" charset="0"/>
              </a:rPr>
              <a:t> and </a:t>
            </a:r>
            <a:r>
              <a:rPr lang="en-US" sz="1600" dirty="0" err="1">
                <a:solidFill>
                  <a:schemeClr val="tx1"/>
                </a:solidFill>
                <a:latin typeface="Avenir Book" panose="02000503020000020003" pitchFamily="2" charset="0"/>
              </a:rPr>
              <a:t>spain</a:t>
            </a:r>
            <a:r>
              <a:rPr lang="en-US" sz="1600" dirty="0">
                <a:solidFill>
                  <a:schemeClr val="tx1"/>
                </a:solidFill>
                <a:latin typeface="Avenir Book" panose="02000503020000020003" pitchFamily="2" charset="0"/>
              </a:rPr>
              <a:t> during the seven years' war. </a:t>
            </a:r>
            <a:br>
              <a:rPr lang="en-US" sz="1600" dirty="0">
                <a:solidFill>
                  <a:schemeClr val="tx1"/>
                </a:solidFill>
                <a:latin typeface="Avenir Book" panose="02000503020000020003" pitchFamily="2" charset="0"/>
              </a:rPr>
            </a:br>
            <a:br>
              <a:rPr lang="en-US" sz="1600" dirty="0">
                <a:solidFill>
                  <a:schemeClr val="tx1"/>
                </a:solidFill>
                <a:latin typeface="Avenir Book" panose="02000503020000020003" pitchFamily="2" charset="0"/>
              </a:rPr>
            </a:br>
            <a:r>
              <a:rPr lang="en-US" sz="1600" dirty="0">
                <a:solidFill>
                  <a:schemeClr val="tx1"/>
                </a:solidFill>
                <a:latin typeface="Avenir Book" panose="02000503020000020003" pitchFamily="2" charset="0"/>
              </a:rPr>
              <a:t>the signing of the treaty formally ended the seven years' war, known as the </a:t>
            </a:r>
            <a:r>
              <a:rPr lang="en-US" sz="1600" dirty="0" err="1">
                <a:solidFill>
                  <a:schemeClr val="tx1"/>
                </a:solidFill>
                <a:latin typeface="Avenir Book" panose="02000503020000020003" pitchFamily="2" charset="0"/>
              </a:rPr>
              <a:t>french</a:t>
            </a:r>
            <a:r>
              <a:rPr lang="en-US" sz="1600" dirty="0">
                <a:solidFill>
                  <a:schemeClr val="tx1"/>
                </a:solidFill>
                <a:latin typeface="Avenir Book" panose="02000503020000020003" pitchFamily="2" charset="0"/>
              </a:rPr>
              <a:t> and </a:t>
            </a:r>
            <a:r>
              <a:rPr lang="en-US" sz="1600" dirty="0" err="1">
                <a:solidFill>
                  <a:schemeClr val="tx1"/>
                </a:solidFill>
                <a:latin typeface="Avenir Book" panose="02000503020000020003" pitchFamily="2" charset="0"/>
              </a:rPr>
              <a:t>indian</a:t>
            </a:r>
            <a:r>
              <a:rPr lang="en-US" sz="1600" dirty="0">
                <a:solidFill>
                  <a:schemeClr val="tx1"/>
                </a:solidFill>
                <a:latin typeface="Avenir Book" panose="02000503020000020003" pitchFamily="2" charset="0"/>
              </a:rPr>
              <a:t> war in the north </a:t>
            </a:r>
            <a:r>
              <a:rPr lang="en-US" sz="1600" dirty="0" err="1">
                <a:solidFill>
                  <a:schemeClr val="tx1"/>
                </a:solidFill>
                <a:latin typeface="Avenir Book" panose="02000503020000020003" pitchFamily="2" charset="0"/>
              </a:rPr>
              <a:t>american</a:t>
            </a:r>
            <a:r>
              <a:rPr lang="en-US" sz="1600" dirty="0">
                <a:solidFill>
                  <a:schemeClr val="tx1"/>
                </a:solidFill>
                <a:latin typeface="Avenir Book" panose="02000503020000020003" pitchFamily="2" charset="0"/>
              </a:rPr>
              <a:t> theatre, ….</a:t>
            </a:r>
          </a:p>
        </p:txBody>
      </p:sp>
      <p:sp>
        <p:nvSpPr>
          <p:cNvPr id="10" name="Rectangle 9">
            <a:extLst>
              <a:ext uri="{FF2B5EF4-FFF2-40B4-BE49-F238E27FC236}">
                <a16:creationId xmlns:a16="http://schemas.microsoft.com/office/drawing/2014/main" id="{8D280403-2E12-8318-E33D-4E036207B730}"/>
              </a:ext>
            </a:extLst>
          </p:cNvPr>
          <p:cNvSpPr/>
          <p:nvPr/>
        </p:nvSpPr>
        <p:spPr>
          <a:xfrm>
            <a:off x="1875034" y="1492926"/>
            <a:ext cx="3327429" cy="3625259"/>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Avenir Book" panose="02000503020000020003" pitchFamily="2" charset="0"/>
              </a:rPr>
              <a:t>== wheelbarrow </a:t>
            </a:r>
          </a:p>
          <a:p>
            <a:endParaRPr lang="en-US" sz="1600" dirty="0">
              <a:solidFill>
                <a:schemeClr val="tx1"/>
              </a:solidFill>
              <a:latin typeface="Avenir Book" panose="02000503020000020003" pitchFamily="2" charset="0"/>
            </a:endParaRPr>
          </a:p>
          <a:p>
            <a:r>
              <a:rPr lang="en-US" sz="1600" dirty="0">
                <a:solidFill>
                  <a:schemeClr val="tx1"/>
                </a:solidFill>
                <a:latin typeface="Avenir Book" panose="02000503020000020003" pitchFamily="2" charset="0"/>
              </a:rPr>
              <a:t>A wheelbarrow is a small hand-propelled vehicle, usually with just one wheel, designed to be pushed and guided by a single person using two handles at the rear, or by a sail to push the ancient wheelbarrow by wind. The term "wheelbarrow" is made of two words: "wheel" and "barrow." "Barrow" is a derivation of the Old English "</a:t>
            </a:r>
            <a:r>
              <a:rPr lang="en-US" sz="1600" dirty="0" err="1">
                <a:solidFill>
                  <a:schemeClr val="tx1"/>
                </a:solidFill>
                <a:latin typeface="Avenir Book" panose="02000503020000020003" pitchFamily="2" charset="0"/>
              </a:rPr>
              <a:t>barew</a:t>
            </a:r>
            <a:r>
              <a:rPr lang="en-US" sz="1600" dirty="0">
                <a:solidFill>
                  <a:schemeClr val="tx1"/>
                </a:solidFill>
                <a:latin typeface="Avenir Book" panose="02000503020000020003" pitchFamily="2" charset="0"/>
              </a:rPr>
              <a:t>" which was a device used for carrying loads. The wheelbarrow is designed to ….. </a:t>
            </a:r>
          </a:p>
        </p:txBody>
      </p:sp>
      <p:sp>
        <p:nvSpPr>
          <p:cNvPr id="12" name="Rectangle 11">
            <a:extLst>
              <a:ext uri="{FF2B5EF4-FFF2-40B4-BE49-F238E27FC236}">
                <a16:creationId xmlns:a16="http://schemas.microsoft.com/office/drawing/2014/main" id="{9E320AD2-29F0-BFE1-A5F8-012DE5B66003}"/>
              </a:ext>
            </a:extLst>
          </p:cNvPr>
          <p:cNvSpPr/>
          <p:nvPr/>
        </p:nvSpPr>
        <p:spPr>
          <a:xfrm>
            <a:off x="2457797" y="1201549"/>
            <a:ext cx="3327429" cy="3625259"/>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Avenir Book" panose="02000503020000020003" pitchFamily="2" charset="0"/>
              </a:rPr>
              <a:t>== lemon </a:t>
            </a:r>
          </a:p>
          <a:p>
            <a:endParaRPr lang="en-US" sz="1600" dirty="0">
              <a:solidFill>
                <a:schemeClr val="tx1"/>
              </a:solidFill>
              <a:latin typeface="Avenir Book" panose="02000503020000020003" pitchFamily="2" charset="0"/>
            </a:endParaRPr>
          </a:p>
          <a:p>
            <a:r>
              <a:rPr lang="en-US" sz="1600" dirty="0">
                <a:solidFill>
                  <a:schemeClr val="tx1"/>
                </a:solidFill>
                <a:latin typeface="Avenir Book" panose="02000503020000020003" pitchFamily="2" charset="0"/>
              </a:rPr>
              <a:t>The lemon (Citrus limon) is a species of small evergreen trees in the flowering plant family </a:t>
            </a:r>
            <a:r>
              <a:rPr lang="en-US" sz="1600" dirty="0" err="1">
                <a:solidFill>
                  <a:schemeClr val="tx1"/>
                </a:solidFill>
                <a:latin typeface="Avenir Book" panose="02000503020000020003" pitchFamily="2" charset="0"/>
              </a:rPr>
              <a:t>Rutaceae</a:t>
            </a:r>
            <a:r>
              <a:rPr lang="en-US" sz="1600" dirty="0">
                <a:solidFill>
                  <a:schemeClr val="tx1"/>
                </a:solidFill>
                <a:latin typeface="Avenir Book" panose="02000503020000020003" pitchFamily="2" charset="0"/>
              </a:rPr>
              <a:t>, native to Asia, primarily Northeast India (Assam), Northern Myanmar or China.[2] The tree's ellipsoidal yellow fruit is used for culinary and non-culinary purposes throughout the world, primarily for its juice, which has both culinary and cleaning uses.[2] The pulp and rind are also used in cooking and baking. …. </a:t>
            </a:r>
          </a:p>
        </p:txBody>
      </p:sp>
      <p:sp>
        <p:nvSpPr>
          <p:cNvPr id="14" name="Rectangle 13">
            <a:extLst>
              <a:ext uri="{FF2B5EF4-FFF2-40B4-BE49-F238E27FC236}">
                <a16:creationId xmlns:a16="http://schemas.microsoft.com/office/drawing/2014/main" id="{E1E12BD0-9BD6-0677-F372-5B38F94FA30F}"/>
              </a:ext>
            </a:extLst>
          </p:cNvPr>
          <p:cNvSpPr/>
          <p:nvPr/>
        </p:nvSpPr>
        <p:spPr>
          <a:xfrm>
            <a:off x="6388227" y="1458921"/>
            <a:ext cx="3290889" cy="3625258"/>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Avenir Book" panose="02000503020000020003" pitchFamily="2" charset="0"/>
              </a:rPr>
              <a:t>== wings over </a:t>
            </a:r>
            <a:r>
              <a:rPr lang="en-US" sz="1600" dirty="0" err="1">
                <a:solidFill>
                  <a:schemeClr val="tx1"/>
                </a:solidFill>
                <a:latin typeface="Avenir Book" panose="02000503020000020003" pitchFamily="2" charset="0"/>
              </a:rPr>
              <a:t>kansas</a:t>
            </a:r>
            <a:r>
              <a:rPr lang="en-US" sz="1600" dirty="0">
                <a:solidFill>
                  <a:schemeClr val="tx1"/>
                </a:solidFill>
                <a:latin typeface="Avenir Book" panose="02000503020000020003" pitchFamily="2" charset="0"/>
              </a:rPr>
              <a:t> </a:t>
            </a:r>
            <a:br>
              <a:rPr lang="en-US" sz="1600" dirty="0">
                <a:solidFill>
                  <a:schemeClr val="tx1"/>
                </a:solidFill>
                <a:latin typeface="Avenir Book" panose="02000503020000020003" pitchFamily="2" charset="0"/>
              </a:rPr>
            </a:br>
            <a:br>
              <a:rPr lang="en-US" sz="1600" dirty="0">
                <a:solidFill>
                  <a:schemeClr val="tx1"/>
                </a:solidFill>
                <a:latin typeface="Avenir Book" panose="02000503020000020003" pitchFamily="2" charset="0"/>
              </a:rPr>
            </a:br>
            <a:r>
              <a:rPr lang="en-US" sz="1600" dirty="0">
                <a:solidFill>
                  <a:schemeClr val="tx1"/>
                </a:solidFill>
                <a:latin typeface="Avenir Book" panose="02000503020000020003" pitchFamily="2" charset="0"/>
              </a:rPr>
              <a:t>wings over </a:t>
            </a:r>
            <a:r>
              <a:rPr lang="en-US" sz="1600" dirty="0" err="1">
                <a:solidFill>
                  <a:schemeClr val="tx1"/>
                </a:solidFill>
                <a:latin typeface="Avenir Book" panose="02000503020000020003" pitchFamily="2" charset="0"/>
              </a:rPr>
              <a:t>kansas</a:t>
            </a:r>
            <a:r>
              <a:rPr lang="en-US" sz="1600" dirty="0">
                <a:solidFill>
                  <a:schemeClr val="tx1"/>
                </a:solidFill>
                <a:latin typeface="Avenir Book" panose="02000503020000020003" pitchFamily="2" charset="0"/>
              </a:rPr>
              <a:t> is the second studio album by </a:t>
            </a:r>
            <a:r>
              <a:rPr lang="en-US" sz="1600" dirty="0" err="1">
                <a:solidFill>
                  <a:schemeClr val="tx1"/>
                </a:solidFill>
                <a:latin typeface="Avenir Book" panose="02000503020000020003" pitchFamily="2" charset="0"/>
              </a:rPr>
              <a:t>jason</a:t>
            </a:r>
            <a:r>
              <a:rPr lang="en-US" sz="1600" dirty="0">
                <a:solidFill>
                  <a:schemeClr val="tx1"/>
                </a:solidFill>
                <a:latin typeface="Avenir Book" panose="02000503020000020003" pitchFamily="2" charset="0"/>
              </a:rPr>
              <a:t> </a:t>
            </a:r>
            <a:r>
              <a:rPr lang="en-US" sz="1600" dirty="0" err="1">
                <a:solidFill>
                  <a:schemeClr val="tx1"/>
                </a:solidFill>
                <a:latin typeface="Avenir Book" panose="02000503020000020003" pitchFamily="2" charset="0"/>
              </a:rPr>
              <a:t>ammons</a:t>
            </a:r>
            <a:r>
              <a:rPr lang="en-US" sz="1600" dirty="0">
                <a:solidFill>
                  <a:schemeClr val="tx1"/>
                </a:solidFill>
                <a:latin typeface="Avenir Book" panose="02000503020000020003" pitchFamily="2" charset="0"/>
              </a:rPr>
              <a:t>, john bolster and </a:t>
            </a:r>
            <a:r>
              <a:rPr lang="en-US" sz="1600" dirty="0" err="1">
                <a:solidFill>
                  <a:schemeClr val="tx1"/>
                </a:solidFill>
                <a:latin typeface="Avenir Book" panose="02000503020000020003" pitchFamily="2" charset="0"/>
              </a:rPr>
              <a:t>mo</a:t>
            </a:r>
            <a:r>
              <a:rPr lang="en-US" sz="1600" dirty="0">
                <a:solidFill>
                  <a:schemeClr val="tx1"/>
                </a:solidFill>
                <a:latin typeface="Avenir Book" panose="02000503020000020003" pitchFamily="2" charset="0"/>
              </a:rPr>
              <a:t> </a:t>
            </a:r>
            <a:r>
              <a:rPr lang="en-US" sz="1600" dirty="0" err="1">
                <a:solidFill>
                  <a:schemeClr val="tx1"/>
                </a:solidFill>
                <a:latin typeface="Avenir Book" panose="02000503020000020003" pitchFamily="2" charset="0"/>
              </a:rPr>
              <a:t>rosato</a:t>
            </a:r>
            <a:r>
              <a:rPr lang="en-US" sz="1600" dirty="0">
                <a:solidFill>
                  <a:schemeClr val="tx1"/>
                </a:solidFill>
                <a:latin typeface="Avenir Book" panose="02000503020000020003" pitchFamily="2" charset="0"/>
              </a:rPr>
              <a:t>. the album debuted at number one on the billboard 200, selling 35,000 copies in it first week at the time. it was the second highest selling album to debut at the billboard top 50 and the third highest selling album to debut at the top </a:t>
            </a:r>
            <a:r>
              <a:rPr lang="en-US" sz="1600" dirty="0" err="1">
                <a:solidFill>
                  <a:schemeClr val="tx1"/>
                </a:solidFill>
                <a:latin typeface="Avenir Book" panose="02000503020000020003" pitchFamily="2" charset="0"/>
              </a:rPr>
              <a:t>heatseekers</a:t>
            </a:r>
            <a:r>
              <a:rPr lang="en-US" sz="1600" dirty="0">
                <a:solidFill>
                  <a:schemeClr val="tx1"/>
                </a:solidFill>
                <a:latin typeface="Avenir Book" panose="02000503020000020003" pitchFamily="2" charset="0"/>
              </a:rPr>
              <a:t>, with 26,000 copies sold. this is the </a:t>
            </a:r>
            <a:r>
              <a:rPr lang="en-US" sz="1600" dirty="0" err="1">
                <a:solidFill>
                  <a:schemeClr val="tx1"/>
                </a:solidFill>
                <a:latin typeface="Avenir Book" panose="02000503020000020003" pitchFamily="2" charset="0"/>
              </a:rPr>
              <a:t>supremes</a:t>
            </a:r>
            <a:r>
              <a:rPr lang="en-US" sz="1600" dirty="0">
                <a:solidFill>
                  <a:schemeClr val="tx1"/>
                </a:solidFill>
                <a:latin typeface="Avenir Book" panose="02000503020000020003" pitchFamily="2" charset="0"/>
              </a:rPr>
              <a:t> album earning the nickname … </a:t>
            </a:r>
          </a:p>
        </p:txBody>
      </p:sp>
      <p:sp>
        <p:nvSpPr>
          <p:cNvPr id="3" name="Slide Number Placeholder 2">
            <a:extLst>
              <a:ext uri="{FF2B5EF4-FFF2-40B4-BE49-F238E27FC236}">
                <a16:creationId xmlns:a16="http://schemas.microsoft.com/office/drawing/2014/main" id="{089AE3C3-C04A-C528-8B4B-30BEECB901BF}"/>
              </a:ext>
            </a:extLst>
          </p:cNvPr>
          <p:cNvSpPr>
            <a:spLocks noGrp="1"/>
          </p:cNvSpPr>
          <p:nvPr>
            <p:ph type="sldNum" idx="12"/>
          </p:nvPr>
        </p:nvSpPr>
        <p:spPr/>
        <p:txBody>
          <a:bodyPr/>
          <a:lstStyle/>
          <a:p>
            <a:fld id="{00000000-1234-1234-1234-123412341234}" type="slidenum">
              <a:rPr lang="en" smtClean="0"/>
              <a:pPr/>
              <a:t>7</a:t>
            </a:fld>
            <a:endParaRPr lang="en" dirty="0"/>
          </a:p>
        </p:txBody>
      </p:sp>
      <p:sp>
        <p:nvSpPr>
          <p:cNvPr id="4" name="Title 3">
            <a:extLst>
              <a:ext uri="{FF2B5EF4-FFF2-40B4-BE49-F238E27FC236}">
                <a16:creationId xmlns:a16="http://schemas.microsoft.com/office/drawing/2014/main" id="{A6CF3C22-90AB-D376-69E9-98B6B84B364C}"/>
              </a:ext>
            </a:extLst>
          </p:cNvPr>
          <p:cNvSpPr>
            <a:spLocks noGrp="1"/>
          </p:cNvSpPr>
          <p:nvPr>
            <p:ph type="title"/>
          </p:nvPr>
        </p:nvSpPr>
        <p:spPr/>
        <p:txBody>
          <a:bodyPr>
            <a:normAutofit fontScale="90000"/>
          </a:bodyPr>
          <a:lstStyle/>
          <a:p>
            <a:r>
              <a:rPr lang="en-US" dirty="0"/>
              <a:t>Learning ~ Compression + Replication</a:t>
            </a:r>
          </a:p>
        </p:txBody>
      </p:sp>
    </p:spTree>
    <p:extLst>
      <p:ext uri="{BB962C8B-B14F-4D97-AF65-F5344CB8AC3E}">
        <p14:creationId xmlns:p14="http://schemas.microsoft.com/office/powerpoint/2010/main" val="386366803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10B9911-C771-55EA-E4A5-DD070693CDBF}"/>
              </a:ext>
            </a:extLst>
          </p:cNvPr>
          <p:cNvSpPr txBox="1"/>
          <p:nvPr/>
        </p:nvSpPr>
        <p:spPr>
          <a:xfrm>
            <a:off x="5184480" y="5545992"/>
            <a:ext cx="1229916" cy="1233262"/>
          </a:xfrm>
          <a:prstGeom prst="rect">
            <a:avLst/>
          </a:prstGeom>
          <a:noFill/>
        </p:spPr>
        <p:txBody>
          <a:bodyPr wrap="square">
            <a:noAutofit/>
          </a:bodyPr>
          <a:lstStyle/>
          <a:p>
            <a:pPr algn="ctr"/>
            <a:r>
              <a:rPr lang="en-US" sz="9600" dirty="0">
                <a:latin typeface="Avenir Book" panose="02000503020000020003" pitchFamily="2" charset="0"/>
              </a:rPr>
              <a:t>🤖</a:t>
            </a:r>
          </a:p>
        </p:txBody>
      </p:sp>
      <p:sp>
        <p:nvSpPr>
          <p:cNvPr id="11" name="16-Point Star 10">
            <a:extLst>
              <a:ext uri="{FF2B5EF4-FFF2-40B4-BE49-F238E27FC236}">
                <a16:creationId xmlns:a16="http://schemas.microsoft.com/office/drawing/2014/main" id="{043CB37E-DD1B-155C-EA02-032E37EA09DB}"/>
              </a:ext>
            </a:extLst>
          </p:cNvPr>
          <p:cNvSpPr/>
          <p:nvPr/>
        </p:nvSpPr>
        <p:spPr>
          <a:xfrm>
            <a:off x="2035424" y="2944891"/>
            <a:ext cx="2885914" cy="2422626"/>
          </a:xfrm>
          <a:prstGeom prst="star16">
            <a:avLst>
              <a:gd name="adj" fmla="val 4262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Examples of the World</a:t>
            </a:r>
          </a:p>
        </p:txBody>
      </p:sp>
      <p:cxnSp>
        <p:nvCxnSpPr>
          <p:cNvPr id="13" name="Curved Connector 12">
            <a:extLst>
              <a:ext uri="{FF2B5EF4-FFF2-40B4-BE49-F238E27FC236}">
                <a16:creationId xmlns:a16="http://schemas.microsoft.com/office/drawing/2014/main" id="{E69CD403-55A8-C94A-8697-0FAE75F63573}"/>
              </a:ext>
            </a:extLst>
          </p:cNvPr>
          <p:cNvCxnSpPr>
            <a:cxnSpLocks/>
            <a:stCxn id="11" idx="6"/>
            <a:endCxn id="9" idx="1"/>
          </p:cNvCxnSpPr>
          <p:nvPr/>
        </p:nvCxnSpPr>
        <p:spPr>
          <a:xfrm rot="16200000" flipH="1">
            <a:off x="3933877" y="4912020"/>
            <a:ext cx="795106" cy="1706099"/>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3" name="Rounded Rectangle 22">
            <a:extLst>
              <a:ext uri="{FF2B5EF4-FFF2-40B4-BE49-F238E27FC236}">
                <a16:creationId xmlns:a16="http://schemas.microsoft.com/office/drawing/2014/main" id="{338E22A2-0415-5D6B-8569-DFEFD22C68E9}"/>
              </a:ext>
            </a:extLst>
          </p:cNvPr>
          <p:cNvSpPr/>
          <p:nvPr/>
        </p:nvSpPr>
        <p:spPr>
          <a:xfrm>
            <a:off x="6786450" y="3218158"/>
            <a:ext cx="2286000" cy="1866572"/>
          </a:xfrm>
          <a:prstGeom prst="roundRect">
            <a:avLst>
              <a:gd name="adj" fmla="val 37734"/>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New Instances</a:t>
            </a:r>
          </a:p>
        </p:txBody>
      </p:sp>
      <p:cxnSp>
        <p:nvCxnSpPr>
          <p:cNvPr id="24" name="Curved Connector 23">
            <a:extLst>
              <a:ext uri="{FF2B5EF4-FFF2-40B4-BE49-F238E27FC236}">
                <a16:creationId xmlns:a16="http://schemas.microsoft.com/office/drawing/2014/main" id="{52901E96-5CA2-E9CB-8ED3-421D5F826A3A}"/>
              </a:ext>
            </a:extLst>
          </p:cNvPr>
          <p:cNvCxnSpPr>
            <a:cxnSpLocks/>
            <a:stCxn id="9" idx="3"/>
            <a:endCxn id="23" idx="2"/>
          </p:cNvCxnSpPr>
          <p:nvPr/>
        </p:nvCxnSpPr>
        <p:spPr>
          <a:xfrm flipV="1">
            <a:off x="6414396" y="5084730"/>
            <a:ext cx="1515054" cy="1077893"/>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94E9A70-D0FE-6DD5-9A83-8ACEDC76CA90}"/>
              </a:ext>
            </a:extLst>
          </p:cNvPr>
          <p:cNvSpPr txBox="1"/>
          <p:nvPr/>
        </p:nvSpPr>
        <p:spPr>
          <a:xfrm>
            <a:off x="1041379" y="1428284"/>
            <a:ext cx="10067200" cy="769441"/>
          </a:xfrm>
          <a:prstGeom prst="rect">
            <a:avLst/>
          </a:prstGeom>
          <a:noFill/>
        </p:spPr>
        <p:txBody>
          <a:bodyPr wrap="square">
            <a:spAutoFit/>
          </a:bodyPr>
          <a:lstStyle/>
          <a:p>
            <a:pPr algn="ctr">
              <a:buClrTx/>
            </a:pPr>
            <a:r>
              <a:rPr lang="en-US" sz="4400" dirty="0">
                <a:latin typeface="Avenir Book" panose="02000503020000020003" pitchFamily="2" charset="0"/>
              </a:rPr>
              <a:t>Are </a:t>
            </a:r>
            <a:r>
              <a:rPr lang="en-US" sz="4400" dirty="0">
                <a:solidFill>
                  <a:srgbClr val="C00000"/>
                </a:solidFill>
                <a:latin typeface="Avenir Book" panose="02000503020000020003" pitchFamily="2" charset="0"/>
              </a:rPr>
              <a:t>predictive models</a:t>
            </a:r>
            <a:r>
              <a:rPr lang="en-US" sz="4400" dirty="0">
                <a:latin typeface="Avenir Book" panose="02000503020000020003" pitchFamily="2" charset="0"/>
              </a:rPr>
              <a:t> of the world.</a:t>
            </a:r>
          </a:p>
        </p:txBody>
      </p:sp>
      <p:sp>
        <p:nvSpPr>
          <p:cNvPr id="3" name="Slide Number Placeholder 2">
            <a:extLst>
              <a:ext uri="{FF2B5EF4-FFF2-40B4-BE49-F238E27FC236}">
                <a16:creationId xmlns:a16="http://schemas.microsoft.com/office/drawing/2014/main" id="{4BCAE42A-1B6E-D12E-CDEA-ED55F9A9EDA2}"/>
              </a:ext>
            </a:extLst>
          </p:cNvPr>
          <p:cNvSpPr>
            <a:spLocks noGrp="1"/>
          </p:cNvSpPr>
          <p:nvPr>
            <p:ph type="sldNum" idx="12"/>
          </p:nvPr>
        </p:nvSpPr>
        <p:spPr/>
        <p:txBody>
          <a:bodyPr/>
          <a:lstStyle/>
          <a:p>
            <a:fld id="{00000000-1234-1234-1234-123412341234}" type="slidenum">
              <a:rPr lang="en" smtClean="0"/>
              <a:pPr/>
              <a:t>8</a:t>
            </a:fld>
            <a:endParaRPr lang="en" dirty="0"/>
          </a:p>
        </p:txBody>
      </p:sp>
      <p:sp>
        <p:nvSpPr>
          <p:cNvPr id="4" name="Title 3">
            <a:extLst>
              <a:ext uri="{FF2B5EF4-FFF2-40B4-BE49-F238E27FC236}">
                <a16:creationId xmlns:a16="http://schemas.microsoft.com/office/drawing/2014/main" id="{EDF73C89-35DB-AAF5-B1E2-55303FC397FF}"/>
              </a:ext>
            </a:extLst>
          </p:cNvPr>
          <p:cNvSpPr>
            <a:spLocks noGrp="1"/>
          </p:cNvSpPr>
          <p:nvPr>
            <p:ph type="title"/>
          </p:nvPr>
        </p:nvSpPr>
        <p:spPr/>
        <p:txBody>
          <a:bodyPr>
            <a:normAutofit fontScale="90000"/>
          </a:bodyPr>
          <a:lstStyle/>
          <a:p>
            <a:r>
              <a:rPr lang="en-US" dirty="0"/>
              <a:t>Learning ~ Compression + Replication</a:t>
            </a:r>
          </a:p>
        </p:txBody>
      </p:sp>
    </p:spTree>
    <p:extLst>
      <p:ext uri="{BB962C8B-B14F-4D97-AF65-F5344CB8AC3E}">
        <p14:creationId xmlns:p14="http://schemas.microsoft.com/office/powerpoint/2010/main" val="410884337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10B9911-C771-55EA-E4A5-DD070693CDBF}"/>
              </a:ext>
            </a:extLst>
          </p:cNvPr>
          <p:cNvSpPr txBox="1"/>
          <p:nvPr/>
        </p:nvSpPr>
        <p:spPr>
          <a:xfrm>
            <a:off x="5184480" y="5545992"/>
            <a:ext cx="1229916" cy="1233262"/>
          </a:xfrm>
          <a:prstGeom prst="rect">
            <a:avLst/>
          </a:prstGeom>
          <a:noFill/>
        </p:spPr>
        <p:txBody>
          <a:bodyPr wrap="square">
            <a:noAutofit/>
          </a:bodyPr>
          <a:lstStyle/>
          <a:p>
            <a:pPr algn="ctr"/>
            <a:r>
              <a:rPr lang="en-US" sz="9600" dirty="0">
                <a:latin typeface="Avenir Book" panose="02000503020000020003" pitchFamily="2" charset="0"/>
              </a:rPr>
              <a:t>🤖</a:t>
            </a:r>
          </a:p>
        </p:txBody>
      </p:sp>
      <p:sp>
        <p:nvSpPr>
          <p:cNvPr id="11" name="16-Point Star 10">
            <a:extLst>
              <a:ext uri="{FF2B5EF4-FFF2-40B4-BE49-F238E27FC236}">
                <a16:creationId xmlns:a16="http://schemas.microsoft.com/office/drawing/2014/main" id="{043CB37E-DD1B-155C-EA02-032E37EA09DB}"/>
              </a:ext>
            </a:extLst>
          </p:cNvPr>
          <p:cNvSpPr/>
          <p:nvPr/>
        </p:nvSpPr>
        <p:spPr>
          <a:xfrm>
            <a:off x="2035424" y="2944891"/>
            <a:ext cx="2885914" cy="2422626"/>
          </a:xfrm>
          <a:prstGeom prst="star16">
            <a:avLst>
              <a:gd name="adj" fmla="val 4262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Examples of the World</a:t>
            </a:r>
          </a:p>
        </p:txBody>
      </p:sp>
      <p:cxnSp>
        <p:nvCxnSpPr>
          <p:cNvPr id="13" name="Curved Connector 12">
            <a:extLst>
              <a:ext uri="{FF2B5EF4-FFF2-40B4-BE49-F238E27FC236}">
                <a16:creationId xmlns:a16="http://schemas.microsoft.com/office/drawing/2014/main" id="{E69CD403-55A8-C94A-8697-0FAE75F63573}"/>
              </a:ext>
            </a:extLst>
          </p:cNvPr>
          <p:cNvCxnSpPr>
            <a:cxnSpLocks/>
            <a:stCxn id="11" idx="6"/>
            <a:endCxn id="9" idx="1"/>
          </p:cNvCxnSpPr>
          <p:nvPr/>
        </p:nvCxnSpPr>
        <p:spPr>
          <a:xfrm rot="16200000" flipH="1">
            <a:off x="3933877" y="4912020"/>
            <a:ext cx="795106" cy="1706099"/>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3" name="Rounded Rectangle 22">
            <a:extLst>
              <a:ext uri="{FF2B5EF4-FFF2-40B4-BE49-F238E27FC236}">
                <a16:creationId xmlns:a16="http://schemas.microsoft.com/office/drawing/2014/main" id="{338E22A2-0415-5D6B-8569-DFEFD22C68E9}"/>
              </a:ext>
            </a:extLst>
          </p:cNvPr>
          <p:cNvSpPr/>
          <p:nvPr/>
        </p:nvSpPr>
        <p:spPr>
          <a:xfrm>
            <a:off x="6786450" y="3218158"/>
            <a:ext cx="2286000" cy="1866572"/>
          </a:xfrm>
          <a:prstGeom prst="roundRect">
            <a:avLst>
              <a:gd name="adj" fmla="val 37734"/>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New Instances</a:t>
            </a:r>
          </a:p>
        </p:txBody>
      </p:sp>
      <p:cxnSp>
        <p:nvCxnSpPr>
          <p:cNvPr id="24" name="Curved Connector 23">
            <a:extLst>
              <a:ext uri="{FF2B5EF4-FFF2-40B4-BE49-F238E27FC236}">
                <a16:creationId xmlns:a16="http://schemas.microsoft.com/office/drawing/2014/main" id="{52901E96-5CA2-E9CB-8ED3-421D5F826A3A}"/>
              </a:ext>
            </a:extLst>
          </p:cNvPr>
          <p:cNvCxnSpPr>
            <a:cxnSpLocks/>
            <a:stCxn id="9" idx="3"/>
            <a:endCxn id="23" idx="2"/>
          </p:cNvCxnSpPr>
          <p:nvPr/>
        </p:nvCxnSpPr>
        <p:spPr>
          <a:xfrm flipV="1">
            <a:off x="6414396" y="5084730"/>
            <a:ext cx="1515054" cy="1077893"/>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94E9A70-D0FE-6DD5-9A83-8ACEDC76CA90}"/>
              </a:ext>
            </a:extLst>
          </p:cNvPr>
          <p:cNvSpPr txBox="1"/>
          <p:nvPr/>
        </p:nvSpPr>
        <p:spPr>
          <a:xfrm>
            <a:off x="1041379" y="1175620"/>
            <a:ext cx="10067200" cy="2035814"/>
          </a:xfrm>
          <a:prstGeom prst="rect">
            <a:avLst/>
          </a:prstGeom>
          <a:noFill/>
        </p:spPr>
        <p:txBody>
          <a:bodyPr wrap="square">
            <a:spAutoFit/>
          </a:bodyPr>
          <a:lstStyle/>
          <a:p>
            <a:pPr algn="ctr">
              <a:lnSpc>
                <a:spcPct val="150000"/>
              </a:lnSpc>
              <a:buClrTx/>
            </a:pPr>
            <a:r>
              <a:rPr lang="en-US" sz="4400" dirty="0">
                <a:latin typeface="Avenir Book" panose="02000503020000020003" pitchFamily="2" charset="0"/>
              </a:rPr>
              <a:t>Are </a:t>
            </a:r>
            <a:r>
              <a:rPr lang="en-US" sz="4400" dirty="0">
                <a:solidFill>
                  <a:srgbClr val="C00000"/>
                </a:solidFill>
                <a:latin typeface="Avenir Book" panose="02000503020000020003" pitchFamily="2" charset="0"/>
              </a:rPr>
              <a:t>predictive models</a:t>
            </a:r>
            <a:r>
              <a:rPr lang="en-US" sz="4400" dirty="0">
                <a:latin typeface="Avenir Book" panose="02000503020000020003" pitchFamily="2" charset="0"/>
              </a:rPr>
              <a:t> of the world.</a:t>
            </a:r>
          </a:p>
          <a:p>
            <a:pPr algn="ctr">
              <a:lnSpc>
                <a:spcPct val="150000"/>
              </a:lnSpc>
              <a:buClrTx/>
            </a:pPr>
            <a:r>
              <a:rPr lang="en-US" sz="4400" dirty="0">
                <a:latin typeface="Avenir Book" panose="02000503020000020003" pitchFamily="2" charset="0"/>
              </a:rPr>
              <a:t>Are learned from </a:t>
            </a:r>
            <a:r>
              <a:rPr lang="en-US" sz="4400" dirty="0">
                <a:solidFill>
                  <a:srgbClr val="C00000"/>
                </a:solidFill>
                <a:latin typeface="Avenir Book" panose="02000503020000020003" pitchFamily="2" charset="0"/>
              </a:rPr>
              <a:t>unlabeled</a:t>
            </a:r>
            <a:r>
              <a:rPr lang="en-US" sz="4400" dirty="0">
                <a:solidFill>
                  <a:srgbClr val="FF0000"/>
                </a:solidFill>
                <a:latin typeface="Avenir Book" panose="02000503020000020003" pitchFamily="2" charset="0"/>
              </a:rPr>
              <a:t> </a:t>
            </a:r>
            <a:r>
              <a:rPr lang="en-US" sz="4400" dirty="0">
                <a:latin typeface="Avenir Book" panose="02000503020000020003" pitchFamily="2" charset="0"/>
              </a:rPr>
              <a:t>data.</a:t>
            </a:r>
          </a:p>
        </p:txBody>
      </p:sp>
      <p:sp>
        <p:nvSpPr>
          <p:cNvPr id="3" name="Slide Number Placeholder 2">
            <a:extLst>
              <a:ext uri="{FF2B5EF4-FFF2-40B4-BE49-F238E27FC236}">
                <a16:creationId xmlns:a16="http://schemas.microsoft.com/office/drawing/2014/main" id="{94325354-4F23-0CEA-477D-F53FA2D39A20}"/>
              </a:ext>
            </a:extLst>
          </p:cNvPr>
          <p:cNvSpPr>
            <a:spLocks noGrp="1"/>
          </p:cNvSpPr>
          <p:nvPr>
            <p:ph type="sldNum" idx="12"/>
          </p:nvPr>
        </p:nvSpPr>
        <p:spPr/>
        <p:txBody>
          <a:bodyPr/>
          <a:lstStyle/>
          <a:p>
            <a:fld id="{00000000-1234-1234-1234-123412341234}" type="slidenum">
              <a:rPr lang="en" smtClean="0"/>
              <a:pPr/>
              <a:t>9</a:t>
            </a:fld>
            <a:endParaRPr lang="en" dirty="0"/>
          </a:p>
        </p:txBody>
      </p:sp>
      <p:sp>
        <p:nvSpPr>
          <p:cNvPr id="4" name="Title 3">
            <a:extLst>
              <a:ext uri="{FF2B5EF4-FFF2-40B4-BE49-F238E27FC236}">
                <a16:creationId xmlns:a16="http://schemas.microsoft.com/office/drawing/2014/main" id="{576F2934-5799-9128-6DBF-A13EBF682580}"/>
              </a:ext>
            </a:extLst>
          </p:cNvPr>
          <p:cNvSpPr>
            <a:spLocks noGrp="1"/>
          </p:cNvSpPr>
          <p:nvPr>
            <p:ph type="title"/>
          </p:nvPr>
        </p:nvSpPr>
        <p:spPr/>
        <p:txBody>
          <a:bodyPr>
            <a:normAutofit fontScale="90000"/>
          </a:bodyPr>
          <a:lstStyle/>
          <a:p>
            <a:r>
              <a:rPr lang="en-US" dirty="0"/>
              <a:t>Learning ~ Compression + Replication</a:t>
            </a:r>
          </a:p>
        </p:txBody>
      </p:sp>
    </p:spTree>
    <p:extLst>
      <p:ext uri="{BB962C8B-B14F-4D97-AF65-F5344CB8AC3E}">
        <p14:creationId xmlns:p14="http://schemas.microsoft.com/office/powerpoint/2010/main" val="27990769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bstract People Connection Technology Concept With Dotted World Globe  Global Business Concept And Internet Technology Background Modern Company  Processes Analytical Networks Vector Illustration Stock Illustration -  Download Image Now - iStock">
            <a:extLst>
              <a:ext uri="{FF2B5EF4-FFF2-40B4-BE49-F238E27FC236}">
                <a16:creationId xmlns:a16="http://schemas.microsoft.com/office/drawing/2014/main" id="{49B4A349-9487-E29E-D63B-C82B85E922E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376" t="13544" r="8462" b="14474"/>
          <a:stretch/>
        </p:blipFill>
        <p:spPr bwMode="auto">
          <a:xfrm>
            <a:off x="-135949" y="3226483"/>
            <a:ext cx="3112831" cy="196133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10B9911-C771-55EA-E4A5-DD070693CDBF}"/>
              </a:ext>
            </a:extLst>
          </p:cNvPr>
          <p:cNvSpPr txBox="1"/>
          <p:nvPr/>
        </p:nvSpPr>
        <p:spPr>
          <a:xfrm>
            <a:off x="5184480" y="5545992"/>
            <a:ext cx="1229916" cy="1233262"/>
          </a:xfrm>
          <a:prstGeom prst="rect">
            <a:avLst/>
          </a:prstGeom>
          <a:noFill/>
        </p:spPr>
        <p:txBody>
          <a:bodyPr wrap="square">
            <a:noAutofit/>
          </a:bodyPr>
          <a:lstStyle/>
          <a:p>
            <a:pPr algn="ctr"/>
            <a:r>
              <a:rPr lang="en-US" sz="9600" dirty="0">
                <a:latin typeface="Avenir Book" panose="02000503020000020003" pitchFamily="2" charset="0"/>
              </a:rPr>
              <a:t>🤖</a:t>
            </a:r>
          </a:p>
        </p:txBody>
      </p:sp>
      <p:sp>
        <p:nvSpPr>
          <p:cNvPr id="11" name="16-Point Star 10">
            <a:extLst>
              <a:ext uri="{FF2B5EF4-FFF2-40B4-BE49-F238E27FC236}">
                <a16:creationId xmlns:a16="http://schemas.microsoft.com/office/drawing/2014/main" id="{043CB37E-DD1B-155C-EA02-032E37EA09DB}"/>
              </a:ext>
            </a:extLst>
          </p:cNvPr>
          <p:cNvSpPr/>
          <p:nvPr/>
        </p:nvSpPr>
        <p:spPr>
          <a:xfrm>
            <a:off x="2035424" y="2944891"/>
            <a:ext cx="2885914" cy="2422626"/>
          </a:xfrm>
          <a:prstGeom prst="star16">
            <a:avLst>
              <a:gd name="adj" fmla="val 4262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Examples of the World</a:t>
            </a:r>
          </a:p>
        </p:txBody>
      </p:sp>
      <p:cxnSp>
        <p:nvCxnSpPr>
          <p:cNvPr id="13" name="Curved Connector 12">
            <a:extLst>
              <a:ext uri="{FF2B5EF4-FFF2-40B4-BE49-F238E27FC236}">
                <a16:creationId xmlns:a16="http://schemas.microsoft.com/office/drawing/2014/main" id="{E69CD403-55A8-C94A-8697-0FAE75F63573}"/>
              </a:ext>
            </a:extLst>
          </p:cNvPr>
          <p:cNvCxnSpPr>
            <a:cxnSpLocks/>
            <a:stCxn id="11" idx="6"/>
            <a:endCxn id="9" idx="1"/>
          </p:cNvCxnSpPr>
          <p:nvPr/>
        </p:nvCxnSpPr>
        <p:spPr>
          <a:xfrm rot="16200000" flipH="1">
            <a:off x="3933877" y="4912020"/>
            <a:ext cx="795106" cy="1706099"/>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3" name="Rounded Rectangle 22">
            <a:extLst>
              <a:ext uri="{FF2B5EF4-FFF2-40B4-BE49-F238E27FC236}">
                <a16:creationId xmlns:a16="http://schemas.microsoft.com/office/drawing/2014/main" id="{338E22A2-0415-5D6B-8569-DFEFD22C68E9}"/>
              </a:ext>
            </a:extLst>
          </p:cNvPr>
          <p:cNvSpPr/>
          <p:nvPr/>
        </p:nvSpPr>
        <p:spPr>
          <a:xfrm>
            <a:off x="6786450" y="3218158"/>
            <a:ext cx="2286000" cy="1866572"/>
          </a:xfrm>
          <a:prstGeom prst="roundRect">
            <a:avLst>
              <a:gd name="adj" fmla="val 37734"/>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New Instances</a:t>
            </a:r>
          </a:p>
        </p:txBody>
      </p:sp>
      <p:cxnSp>
        <p:nvCxnSpPr>
          <p:cNvPr id="24" name="Curved Connector 23">
            <a:extLst>
              <a:ext uri="{FF2B5EF4-FFF2-40B4-BE49-F238E27FC236}">
                <a16:creationId xmlns:a16="http://schemas.microsoft.com/office/drawing/2014/main" id="{52901E96-5CA2-E9CB-8ED3-421D5F826A3A}"/>
              </a:ext>
            </a:extLst>
          </p:cNvPr>
          <p:cNvCxnSpPr>
            <a:cxnSpLocks/>
            <a:stCxn id="9" idx="3"/>
            <a:endCxn id="23" idx="2"/>
          </p:cNvCxnSpPr>
          <p:nvPr/>
        </p:nvCxnSpPr>
        <p:spPr>
          <a:xfrm flipV="1">
            <a:off x="6414396" y="5084730"/>
            <a:ext cx="1515054" cy="1077893"/>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94E9A70-D0FE-6DD5-9A83-8ACEDC76CA90}"/>
              </a:ext>
            </a:extLst>
          </p:cNvPr>
          <p:cNvSpPr txBox="1"/>
          <p:nvPr/>
        </p:nvSpPr>
        <p:spPr>
          <a:xfrm>
            <a:off x="1041379" y="1175621"/>
            <a:ext cx="10067200" cy="2035814"/>
          </a:xfrm>
          <a:prstGeom prst="rect">
            <a:avLst/>
          </a:prstGeom>
          <a:noFill/>
        </p:spPr>
        <p:txBody>
          <a:bodyPr wrap="square">
            <a:spAutoFit/>
          </a:bodyPr>
          <a:lstStyle/>
          <a:p>
            <a:pPr algn="ctr">
              <a:lnSpc>
                <a:spcPct val="150000"/>
              </a:lnSpc>
              <a:buClrTx/>
            </a:pPr>
            <a:r>
              <a:rPr lang="en-US" sz="4400" dirty="0">
                <a:latin typeface="Avenir Book" panose="02000503020000020003" pitchFamily="2" charset="0"/>
              </a:rPr>
              <a:t>Are </a:t>
            </a:r>
            <a:r>
              <a:rPr lang="en-US" sz="4400" dirty="0">
                <a:solidFill>
                  <a:srgbClr val="C00000"/>
                </a:solidFill>
                <a:latin typeface="Avenir Book" panose="02000503020000020003" pitchFamily="2" charset="0"/>
              </a:rPr>
              <a:t>predictive models</a:t>
            </a:r>
            <a:r>
              <a:rPr lang="en-US" sz="4400" dirty="0">
                <a:latin typeface="Avenir Book" panose="02000503020000020003" pitchFamily="2" charset="0"/>
              </a:rPr>
              <a:t> of the world.</a:t>
            </a:r>
          </a:p>
          <a:p>
            <a:pPr>
              <a:lnSpc>
                <a:spcPct val="150000"/>
              </a:lnSpc>
              <a:buClrTx/>
            </a:pPr>
            <a:r>
              <a:rPr lang="en-US" sz="4400" dirty="0">
                <a:latin typeface="Avenir Book" panose="02000503020000020003" pitchFamily="2" charset="0"/>
              </a:rPr>
              <a:t>     Are learned from </a:t>
            </a:r>
            <a:r>
              <a:rPr lang="en-US" sz="4400" dirty="0">
                <a:solidFill>
                  <a:srgbClr val="C00000"/>
                </a:solidFill>
                <a:latin typeface="Avenir Book" panose="02000503020000020003" pitchFamily="2" charset="0"/>
              </a:rPr>
              <a:t>unlabeled  </a:t>
            </a:r>
            <a:endParaRPr lang="en-US" sz="4400" dirty="0">
              <a:latin typeface="Avenir Book" panose="02000503020000020003" pitchFamily="2" charset="0"/>
            </a:endParaRPr>
          </a:p>
        </p:txBody>
      </p:sp>
      <p:sp>
        <p:nvSpPr>
          <p:cNvPr id="5" name="TextBox 4">
            <a:extLst>
              <a:ext uri="{FF2B5EF4-FFF2-40B4-BE49-F238E27FC236}">
                <a16:creationId xmlns:a16="http://schemas.microsoft.com/office/drawing/2014/main" id="{1872F603-5EB5-0B48-DD35-C9A799BDCFC3}"/>
              </a:ext>
            </a:extLst>
          </p:cNvPr>
          <p:cNvSpPr txBox="1"/>
          <p:nvPr/>
        </p:nvSpPr>
        <p:spPr>
          <a:xfrm>
            <a:off x="8831586" y="1801204"/>
            <a:ext cx="3163614" cy="1569660"/>
          </a:xfrm>
          <a:prstGeom prst="rect">
            <a:avLst/>
          </a:prstGeom>
          <a:noFill/>
        </p:spPr>
        <p:txBody>
          <a:bodyPr wrap="square">
            <a:spAutoFit/>
          </a:bodyPr>
          <a:lstStyle/>
          <a:p>
            <a:r>
              <a:rPr lang="en-US" sz="9600" b="1" dirty="0">
                <a:latin typeface="Avenir Book" panose="02000503020000020003" pitchFamily="2" charset="0"/>
              </a:rPr>
              <a:t>data</a:t>
            </a:r>
            <a:endParaRPr lang="en-US" b="1" dirty="0">
              <a:latin typeface="Avenir Book" panose="02000503020000020003" pitchFamily="2" charset="0"/>
            </a:endParaRPr>
          </a:p>
        </p:txBody>
      </p:sp>
      <p:sp>
        <p:nvSpPr>
          <p:cNvPr id="7" name="Slide Number Placeholder 6">
            <a:extLst>
              <a:ext uri="{FF2B5EF4-FFF2-40B4-BE49-F238E27FC236}">
                <a16:creationId xmlns:a16="http://schemas.microsoft.com/office/drawing/2014/main" id="{9A3811DE-0E8A-9851-5A7A-69A32D5605B5}"/>
              </a:ext>
            </a:extLst>
          </p:cNvPr>
          <p:cNvSpPr>
            <a:spLocks noGrp="1"/>
          </p:cNvSpPr>
          <p:nvPr>
            <p:ph type="sldNum" idx="12"/>
          </p:nvPr>
        </p:nvSpPr>
        <p:spPr/>
        <p:txBody>
          <a:bodyPr/>
          <a:lstStyle/>
          <a:p>
            <a:fld id="{00000000-1234-1234-1234-123412341234}" type="slidenum">
              <a:rPr lang="en" smtClean="0"/>
              <a:pPr/>
              <a:t>10</a:t>
            </a:fld>
            <a:endParaRPr lang="en" dirty="0"/>
          </a:p>
        </p:txBody>
      </p:sp>
      <p:sp>
        <p:nvSpPr>
          <p:cNvPr id="3" name="Title 2">
            <a:extLst>
              <a:ext uri="{FF2B5EF4-FFF2-40B4-BE49-F238E27FC236}">
                <a16:creationId xmlns:a16="http://schemas.microsoft.com/office/drawing/2014/main" id="{6837813E-A6CD-17F9-1D20-F713401454C8}"/>
              </a:ext>
            </a:extLst>
          </p:cNvPr>
          <p:cNvSpPr>
            <a:spLocks noGrp="1"/>
          </p:cNvSpPr>
          <p:nvPr>
            <p:ph type="title"/>
          </p:nvPr>
        </p:nvSpPr>
        <p:spPr/>
        <p:txBody>
          <a:bodyPr>
            <a:normAutofit fontScale="90000"/>
          </a:bodyPr>
          <a:lstStyle/>
          <a:p>
            <a:r>
              <a:rPr lang="en-US" dirty="0"/>
              <a:t>Learning ~ Compression + Replication</a:t>
            </a:r>
          </a:p>
        </p:txBody>
      </p:sp>
    </p:spTree>
    <p:extLst>
      <p:ext uri="{BB962C8B-B14F-4D97-AF65-F5344CB8AC3E}">
        <p14:creationId xmlns:p14="http://schemas.microsoft.com/office/powerpoint/2010/main" val="255592917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24290-664D-C8CF-02D4-D1D0E71EAD54}"/>
              </a:ext>
            </a:extLst>
          </p:cNvPr>
          <p:cNvSpPr>
            <a:spLocks noGrp="1"/>
          </p:cNvSpPr>
          <p:nvPr>
            <p:ph type="title"/>
          </p:nvPr>
        </p:nvSpPr>
        <p:spPr/>
        <p:txBody>
          <a:bodyPr>
            <a:normAutofit fontScale="90000"/>
          </a:bodyPr>
          <a:lstStyle/>
          <a:p>
            <a:r>
              <a:rPr lang="en-US" dirty="0"/>
              <a:t>AI Models ~ Sponges </a:t>
            </a:r>
          </a:p>
        </p:txBody>
      </p:sp>
      <p:sp>
        <p:nvSpPr>
          <p:cNvPr id="9" name="TextBox 8">
            <a:extLst>
              <a:ext uri="{FF2B5EF4-FFF2-40B4-BE49-F238E27FC236}">
                <a16:creationId xmlns:a16="http://schemas.microsoft.com/office/drawing/2014/main" id="{210B9911-C771-55EA-E4A5-DD070693CDBF}"/>
              </a:ext>
            </a:extLst>
          </p:cNvPr>
          <p:cNvSpPr txBox="1"/>
          <p:nvPr/>
        </p:nvSpPr>
        <p:spPr>
          <a:xfrm>
            <a:off x="5184480" y="5545992"/>
            <a:ext cx="1229916" cy="1233262"/>
          </a:xfrm>
          <a:prstGeom prst="rect">
            <a:avLst/>
          </a:prstGeom>
          <a:noFill/>
        </p:spPr>
        <p:txBody>
          <a:bodyPr wrap="square">
            <a:noAutofit/>
          </a:bodyPr>
          <a:lstStyle/>
          <a:p>
            <a:pPr algn="ctr"/>
            <a:r>
              <a:rPr lang="en-US" sz="9600" dirty="0">
                <a:latin typeface="Avenir Book" panose="02000503020000020003" pitchFamily="2" charset="0"/>
              </a:rPr>
              <a:t>🤖</a:t>
            </a:r>
          </a:p>
        </p:txBody>
      </p:sp>
      <p:sp>
        <p:nvSpPr>
          <p:cNvPr id="11" name="16-Point Star 10">
            <a:extLst>
              <a:ext uri="{FF2B5EF4-FFF2-40B4-BE49-F238E27FC236}">
                <a16:creationId xmlns:a16="http://schemas.microsoft.com/office/drawing/2014/main" id="{043CB37E-DD1B-155C-EA02-032E37EA09DB}"/>
              </a:ext>
            </a:extLst>
          </p:cNvPr>
          <p:cNvSpPr/>
          <p:nvPr/>
        </p:nvSpPr>
        <p:spPr>
          <a:xfrm>
            <a:off x="2035424" y="2944891"/>
            <a:ext cx="2885914" cy="2422626"/>
          </a:xfrm>
          <a:prstGeom prst="star16">
            <a:avLst>
              <a:gd name="adj" fmla="val 4262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Examples of the World</a:t>
            </a:r>
          </a:p>
        </p:txBody>
      </p:sp>
      <p:cxnSp>
        <p:nvCxnSpPr>
          <p:cNvPr id="13" name="Curved Connector 12">
            <a:extLst>
              <a:ext uri="{FF2B5EF4-FFF2-40B4-BE49-F238E27FC236}">
                <a16:creationId xmlns:a16="http://schemas.microsoft.com/office/drawing/2014/main" id="{E69CD403-55A8-C94A-8697-0FAE75F63573}"/>
              </a:ext>
            </a:extLst>
          </p:cNvPr>
          <p:cNvCxnSpPr>
            <a:cxnSpLocks/>
            <a:stCxn id="11" idx="6"/>
            <a:endCxn id="9" idx="1"/>
          </p:cNvCxnSpPr>
          <p:nvPr/>
        </p:nvCxnSpPr>
        <p:spPr>
          <a:xfrm rot="16200000" flipH="1">
            <a:off x="3933877" y="4912020"/>
            <a:ext cx="795106" cy="1706099"/>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3" name="Rounded Rectangle 22">
            <a:extLst>
              <a:ext uri="{FF2B5EF4-FFF2-40B4-BE49-F238E27FC236}">
                <a16:creationId xmlns:a16="http://schemas.microsoft.com/office/drawing/2014/main" id="{338E22A2-0415-5D6B-8569-DFEFD22C68E9}"/>
              </a:ext>
            </a:extLst>
          </p:cNvPr>
          <p:cNvSpPr/>
          <p:nvPr/>
        </p:nvSpPr>
        <p:spPr>
          <a:xfrm>
            <a:off x="6786450" y="3218158"/>
            <a:ext cx="2286000" cy="1866572"/>
          </a:xfrm>
          <a:prstGeom prst="roundRect">
            <a:avLst>
              <a:gd name="adj" fmla="val 37734"/>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New Instances</a:t>
            </a:r>
          </a:p>
        </p:txBody>
      </p:sp>
      <p:cxnSp>
        <p:nvCxnSpPr>
          <p:cNvPr id="24" name="Curved Connector 23">
            <a:extLst>
              <a:ext uri="{FF2B5EF4-FFF2-40B4-BE49-F238E27FC236}">
                <a16:creationId xmlns:a16="http://schemas.microsoft.com/office/drawing/2014/main" id="{52901E96-5CA2-E9CB-8ED3-421D5F826A3A}"/>
              </a:ext>
            </a:extLst>
          </p:cNvPr>
          <p:cNvCxnSpPr>
            <a:cxnSpLocks/>
            <a:stCxn id="9" idx="3"/>
            <a:endCxn id="23" idx="2"/>
          </p:cNvCxnSpPr>
          <p:nvPr/>
        </p:nvCxnSpPr>
        <p:spPr>
          <a:xfrm flipV="1">
            <a:off x="6414396" y="5084730"/>
            <a:ext cx="1515054" cy="1077893"/>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5" name="Picture 2" descr="2,200+ Dirty Sponge Illustrations, Royalty-Free Vector Graphics &amp; Clip Art  - iStock | Germs, Dirty kitchen, Paper towel">
            <a:extLst>
              <a:ext uri="{FF2B5EF4-FFF2-40B4-BE49-F238E27FC236}">
                <a16:creationId xmlns:a16="http://schemas.microsoft.com/office/drawing/2014/main" id="{AEE1FA93-7E8A-CED2-97AA-8C37D4A37FD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454" t="17712" r="11363" b="22208"/>
          <a:stretch/>
        </p:blipFill>
        <p:spPr bwMode="auto">
          <a:xfrm>
            <a:off x="4933065" y="5475487"/>
            <a:ext cx="1737116" cy="1179928"/>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21BC4986-506B-A25B-7047-0E84CDE82738}"/>
              </a:ext>
            </a:extLst>
          </p:cNvPr>
          <p:cNvSpPr>
            <a:spLocks noGrp="1"/>
          </p:cNvSpPr>
          <p:nvPr>
            <p:ph type="sldNum" idx="12"/>
          </p:nvPr>
        </p:nvSpPr>
        <p:spPr/>
        <p:txBody>
          <a:bodyPr/>
          <a:lstStyle/>
          <a:p>
            <a:fld id="{00000000-1234-1234-1234-123412341234}" type="slidenum">
              <a:rPr lang="en" smtClean="0"/>
              <a:pPr/>
              <a:t>11</a:t>
            </a:fld>
            <a:endParaRPr lang="en" dirty="0"/>
          </a:p>
        </p:txBody>
      </p:sp>
    </p:spTree>
    <p:extLst>
      <p:ext uri="{BB962C8B-B14F-4D97-AF65-F5344CB8AC3E}">
        <p14:creationId xmlns:p14="http://schemas.microsoft.com/office/powerpoint/2010/main" val="195800355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24290-664D-C8CF-02D4-D1D0E71EAD54}"/>
              </a:ext>
            </a:extLst>
          </p:cNvPr>
          <p:cNvSpPr>
            <a:spLocks noGrp="1"/>
          </p:cNvSpPr>
          <p:nvPr>
            <p:ph type="title"/>
          </p:nvPr>
        </p:nvSpPr>
        <p:spPr/>
        <p:txBody>
          <a:bodyPr>
            <a:normAutofit fontScale="90000"/>
          </a:bodyPr>
          <a:lstStyle/>
          <a:p>
            <a:r>
              <a:rPr lang="en-US" dirty="0"/>
              <a:t>AI Models ~ Sponges </a:t>
            </a:r>
          </a:p>
        </p:txBody>
      </p:sp>
      <p:sp>
        <p:nvSpPr>
          <p:cNvPr id="11" name="16-Point Star 10">
            <a:extLst>
              <a:ext uri="{FF2B5EF4-FFF2-40B4-BE49-F238E27FC236}">
                <a16:creationId xmlns:a16="http://schemas.microsoft.com/office/drawing/2014/main" id="{043CB37E-DD1B-155C-EA02-032E37EA09DB}"/>
              </a:ext>
            </a:extLst>
          </p:cNvPr>
          <p:cNvSpPr/>
          <p:nvPr/>
        </p:nvSpPr>
        <p:spPr>
          <a:xfrm>
            <a:off x="458875" y="1547017"/>
            <a:ext cx="2885914" cy="2422626"/>
          </a:xfrm>
          <a:prstGeom prst="star16">
            <a:avLst>
              <a:gd name="adj" fmla="val 4262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Examples of the World</a:t>
            </a:r>
          </a:p>
        </p:txBody>
      </p:sp>
      <p:cxnSp>
        <p:nvCxnSpPr>
          <p:cNvPr id="13" name="Curved Connector 12">
            <a:extLst>
              <a:ext uri="{FF2B5EF4-FFF2-40B4-BE49-F238E27FC236}">
                <a16:creationId xmlns:a16="http://schemas.microsoft.com/office/drawing/2014/main" id="{E69CD403-55A8-C94A-8697-0FAE75F63573}"/>
              </a:ext>
            </a:extLst>
          </p:cNvPr>
          <p:cNvCxnSpPr>
            <a:cxnSpLocks/>
            <a:stCxn id="11" idx="6"/>
          </p:cNvCxnSpPr>
          <p:nvPr/>
        </p:nvCxnSpPr>
        <p:spPr>
          <a:xfrm rot="16200000" flipH="1">
            <a:off x="2357328" y="3514146"/>
            <a:ext cx="795106" cy="1706099"/>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3" name="Rounded Rectangle 22">
            <a:extLst>
              <a:ext uri="{FF2B5EF4-FFF2-40B4-BE49-F238E27FC236}">
                <a16:creationId xmlns:a16="http://schemas.microsoft.com/office/drawing/2014/main" id="{338E22A2-0415-5D6B-8569-DFEFD22C68E9}"/>
              </a:ext>
            </a:extLst>
          </p:cNvPr>
          <p:cNvSpPr/>
          <p:nvPr/>
        </p:nvSpPr>
        <p:spPr>
          <a:xfrm>
            <a:off x="8877998" y="1830796"/>
            <a:ext cx="2286000" cy="1866572"/>
          </a:xfrm>
          <a:prstGeom prst="roundRect">
            <a:avLst>
              <a:gd name="adj" fmla="val 37734"/>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New Instances</a:t>
            </a:r>
          </a:p>
        </p:txBody>
      </p:sp>
      <p:cxnSp>
        <p:nvCxnSpPr>
          <p:cNvPr id="24" name="Curved Connector 23">
            <a:extLst>
              <a:ext uri="{FF2B5EF4-FFF2-40B4-BE49-F238E27FC236}">
                <a16:creationId xmlns:a16="http://schemas.microsoft.com/office/drawing/2014/main" id="{52901E96-5CA2-E9CB-8ED3-421D5F826A3A}"/>
              </a:ext>
            </a:extLst>
          </p:cNvPr>
          <p:cNvCxnSpPr>
            <a:cxnSpLocks/>
            <a:endCxn id="23" idx="2"/>
          </p:cNvCxnSpPr>
          <p:nvPr/>
        </p:nvCxnSpPr>
        <p:spPr>
          <a:xfrm flipV="1">
            <a:off x="8505944" y="3697368"/>
            <a:ext cx="1515054" cy="1077893"/>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3" name="Picture 2" descr="2,200+ Dirty Sponge Illustrations, Royalty-Free Vector Graphics &amp; Clip Art  - iStock | Germs, Dirty kitchen, Paper towel">
            <a:extLst>
              <a:ext uri="{FF2B5EF4-FFF2-40B4-BE49-F238E27FC236}">
                <a16:creationId xmlns:a16="http://schemas.microsoft.com/office/drawing/2014/main" id="{2FF55D1A-CE34-7C51-77D2-52E29FCC93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454" t="17712" r="11363" b="22208"/>
          <a:stretch/>
        </p:blipFill>
        <p:spPr bwMode="auto">
          <a:xfrm>
            <a:off x="3758884" y="3234727"/>
            <a:ext cx="4453438" cy="3024977"/>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BEDEB3A9-AA37-B41A-C088-D715E685CA9E}"/>
              </a:ext>
            </a:extLst>
          </p:cNvPr>
          <p:cNvSpPr>
            <a:spLocks noGrp="1"/>
          </p:cNvSpPr>
          <p:nvPr>
            <p:ph type="sldNum" idx="12"/>
          </p:nvPr>
        </p:nvSpPr>
        <p:spPr/>
        <p:txBody>
          <a:bodyPr/>
          <a:lstStyle/>
          <a:p>
            <a:fld id="{00000000-1234-1234-1234-123412341234}" type="slidenum">
              <a:rPr lang="en" smtClean="0"/>
              <a:pPr/>
              <a:t>12</a:t>
            </a:fld>
            <a:endParaRPr lang="en" dirty="0"/>
          </a:p>
        </p:txBody>
      </p:sp>
    </p:spTree>
    <p:extLst>
      <p:ext uri="{BB962C8B-B14F-4D97-AF65-F5344CB8AC3E}">
        <p14:creationId xmlns:p14="http://schemas.microsoft.com/office/powerpoint/2010/main" val="212662496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24290-664D-C8CF-02D4-D1D0E71EAD54}"/>
              </a:ext>
            </a:extLst>
          </p:cNvPr>
          <p:cNvSpPr>
            <a:spLocks noGrp="1"/>
          </p:cNvSpPr>
          <p:nvPr>
            <p:ph type="title"/>
          </p:nvPr>
        </p:nvSpPr>
        <p:spPr/>
        <p:txBody>
          <a:bodyPr>
            <a:normAutofit fontScale="90000"/>
          </a:bodyPr>
          <a:lstStyle/>
          <a:p>
            <a:r>
              <a:rPr lang="en-US" dirty="0"/>
              <a:t>AI Models ~ Sponges </a:t>
            </a:r>
          </a:p>
        </p:txBody>
      </p:sp>
      <p:sp>
        <p:nvSpPr>
          <p:cNvPr id="23" name="Rounded Rectangle 22">
            <a:extLst>
              <a:ext uri="{FF2B5EF4-FFF2-40B4-BE49-F238E27FC236}">
                <a16:creationId xmlns:a16="http://schemas.microsoft.com/office/drawing/2014/main" id="{338E22A2-0415-5D6B-8569-DFEFD22C68E9}"/>
              </a:ext>
            </a:extLst>
          </p:cNvPr>
          <p:cNvSpPr/>
          <p:nvPr/>
        </p:nvSpPr>
        <p:spPr>
          <a:xfrm>
            <a:off x="8877998" y="1830796"/>
            <a:ext cx="2286000" cy="1866572"/>
          </a:xfrm>
          <a:prstGeom prst="roundRect">
            <a:avLst>
              <a:gd name="adj" fmla="val 37734"/>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New Instances</a:t>
            </a:r>
          </a:p>
        </p:txBody>
      </p:sp>
      <p:cxnSp>
        <p:nvCxnSpPr>
          <p:cNvPr id="24" name="Curved Connector 23">
            <a:extLst>
              <a:ext uri="{FF2B5EF4-FFF2-40B4-BE49-F238E27FC236}">
                <a16:creationId xmlns:a16="http://schemas.microsoft.com/office/drawing/2014/main" id="{52901E96-5CA2-E9CB-8ED3-421D5F826A3A}"/>
              </a:ext>
            </a:extLst>
          </p:cNvPr>
          <p:cNvCxnSpPr>
            <a:cxnSpLocks/>
            <a:endCxn id="23" idx="2"/>
          </p:cNvCxnSpPr>
          <p:nvPr/>
        </p:nvCxnSpPr>
        <p:spPr>
          <a:xfrm flipV="1">
            <a:off x="8505944" y="3697368"/>
            <a:ext cx="1515054" cy="1077893"/>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3" name="Picture 2" descr="2,200+ Dirty Sponge Illustrations, Royalty-Free Vector Graphics &amp; Clip Art  - iStock | Germs, Dirty kitchen, Paper towel">
            <a:extLst>
              <a:ext uri="{FF2B5EF4-FFF2-40B4-BE49-F238E27FC236}">
                <a16:creationId xmlns:a16="http://schemas.microsoft.com/office/drawing/2014/main" id="{2FF55D1A-CE34-7C51-77D2-52E29FCC93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454" t="17712" r="11363" b="22208"/>
          <a:stretch/>
        </p:blipFill>
        <p:spPr bwMode="auto">
          <a:xfrm>
            <a:off x="3758884" y="3234727"/>
            <a:ext cx="4453438" cy="3024977"/>
          </a:xfrm>
          <a:prstGeom prst="rect">
            <a:avLst/>
          </a:prstGeom>
          <a:noFill/>
          <a:extLst>
            <a:ext uri="{909E8E84-426E-40DD-AFC4-6F175D3DCCD1}">
              <a14:hiddenFill xmlns:a14="http://schemas.microsoft.com/office/drawing/2010/main">
                <a:solidFill>
                  <a:srgbClr val="FFFFFF"/>
                </a:solidFill>
              </a14:hiddenFill>
            </a:ext>
          </a:extLst>
        </p:spPr>
      </p:pic>
      <p:sp>
        <p:nvSpPr>
          <p:cNvPr id="16" name="16-Point Star 15">
            <a:extLst>
              <a:ext uri="{FF2B5EF4-FFF2-40B4-BE49-F238E27FC236}">
                <a16:creationId xmlns:a16="http://schemas.microsoft.com/office/drawing/2014/main" id="{B1E9C65F-616F-8472-1C4A-9FE774C66FB1}"/>
              </a:ext>
            </a:extLst>
          </p:cNvPr>
          <p:cNvSpPr/>
          <p:nvPr/>
        </p:nvSpPr>
        <p:spPr>
          <a:xfrm>
            <a:off x="-809294" y="209363"/>
            <a:ext cx="4908331" cy="4278072"/>
          </a:xfrm>
          <a:prstGeom prst="star16">
            <a:avLst>
              <a:gd name="adj" fmla="val 4262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Avenir Book" panose="02000503020000020003" pitchFamily="2" charset="0"/>
              </a:rPr>
              <a:t>Examples of the World</a:t>
            </a:r>
          </a:p>
        </p:txBody>
      </p:sp>
      <p:cxnSp>
        <p:nvCxnSpPr>
          <p:cNvPr id="17" name="Curved Connector 16">
            <a:extLst>
              <a:ext uri="{FF2B5EF4-FFF2-40B4-BE49-F238E27FC236}">
                <a16:creationId xmlns:a16="http://schemas.microsoft.com/office/drawing/2014/main" id="{1E86F09A-638E-F027-85CA-0651D913D2BB}"/>
              </a:ext>
            </a:extLst>
          </p:cNvPr>
          <p:cNvCxnSpPr>
            <a:cxnSpLocks/>
            <a:stCxn id="16" idx="5"/>
          </p:cNvCxnSpPr>
          <p:nvPr/>
        </p:nvCxnSpPr>
        <p:spPr>
          <a:xfrm rot="16200000" flipH="1">
            <a:off x="2892019" y="4016625"/>
            <a:ext cx="583719" cy="1199692"/>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8" name="Slide Number Placeholder 17">
            <a:extLst>
              <a:ext uri="{FF2B5EF4-FFF2-40B4-BE49-F238E27FC236}">
                <a16:creationId xmlns:a16="http://schemas.microsoft.com/office/drawing/2014/main" id="{E8429F74-06DB-5269-21F4-DB49441E807F}"/>
              </a:ext>
            </a:extLst>
          </p:cNvPr>
          <p:cNvSpPr>
            <a:spLocks noGrp="1"/>
          </p:cNvSpPr>
          <p:nvPr>
            <p:ph type="sldNum" idx="12"/>
          </p:nvPr>
        </p:nvSpPr>
        <p:spPr/>
        <p:txBody>
          <a:bodyPr/>
          <a:lstStyle/>
          <a:p>
            <a:fld id="{00000000-1234-1234-1234-123412341234}" type="slidenum">
              <a:rPr lang="en" smtClean="0"/>
              <a:pPr/>
              <a:t>13</a:t>
            </a:fld>
            <a:endParaRPr lang="en" dirty="0"/>
          </a:p>
        </p:txBody>
      </p:sp>
    </p:spTree>
    <p:extLst>
      <p:ext uri="{BB962C8B-B14F-4D97-AF65-F5344CB8AC3E}">
        <p14:creationId xmlns:p14="http://schemas.microsoft.com/office/powerpoint/2010/main" val="103792230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16-Point Star 10">
            <a:extLst>
              <a:ext uri="{FF2B5EF4-FFF2-40B4-BE49-F238E27FC236}">
                <a16:creationId xmlns:a16="http://schemas.microsoft.com/office/drawing/2014/main" id="{043CB37E-DD1B-155C-EA02-032E37EA09DB}"/>
              </a:ext>
            </a:extLst>
          </p:cNvPr>
          <p:cNvSpPr/>
          <p:nvPr/>
        </p:nvSpPr>
        <p:spPr>
          <a:xfrm>
            <a:off x="-809294" y="209363"/>
            <a:ext cx="4908331" cy="4278072"/>
          </a:xfrm>
          <a:prstGeom prst="star16">
            <a:avLst>
              <a:gd name="adj" fmla="val 4262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Avenir Book" panose="02000503020000020003" pitchFamily="2" charset="0"/>
              </a:rPr>
              <a:t>Examples of the World</a:t>
            </a:r>
          </a:p>
        </p:txBody>
      </p:sp>
      <p:cxnSp>
        <p:nvCxnSpPr>
          <p:cNvPr id="13" name="Curved Connector 12">
            <a:extLst>
              <a:ext uri="{FF2B5EF4-FFF2-40B4-BE49-F238E27FC236}">
                <a16:creationId xmlns:a16="http://schemas.microsoft.com/office/drawing/2014/main" id="{E69CD403-55A8-C94A-8697-0FAE75F63573}"/>
              </a:ext>
            </a:extLst>
          </p:cNvPr>
          <p:cNvCxnSpPr>
            <a:cxnSpLocks/>
            <a:stCxn id="11" idx="5"/>
          </p:cNvCxnSpPr>
          <p:nvPr/>
        </p:nvCxnSpPr>
        <p:spPr>
          <a:xfrm rot="16200000" flipH="1">
            <a:off x="2892019" y="4016625"/>
            <a:ext cx="583719" cy="1199692"/>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7624290-664D-C8CF-02D4-D1D0E71EAD54}"/>
              </a:ext>
            </a:extLst>
          </p:cNvPr>
          <p:cNvSpPr>
            <a:spLocks noGrp="1"/>
          </p:cNvSpPr>
          <p:nvPr>
            <p:ph type="title"/>
          </p:nvPr>
        </p:nvSpPr>
        <p:spPr/>
        <p:txBody>
          <a:bodyPr>
            <a:normAutofit fontScale="90000"/>
          </a:bodyPr>
          <a:lstStyle/>
          <a:p>
            <a:r>
              <a:rPr lang="en-US" dirty="0"/>
              <a:t>Scaling up AI Models Makes it Better </a:t>
            </a:r>
          </a:p>
        </p:txBody>
      </p:sp>
      <p:sp>
        <p:nvSpPr>
          <p:cNvPr id="23" name="Rounded Rectangle 22">
            <a:extLst>
              <a:ext uri="{FF2B5EF4-FFF2-40B4-BE49-F238E27FC236}">
                <a16:creationId xmlns:a16="http://schemas.microsoft.com/office/drawing/2014/main" id="{338E22A2-0415-5D6B-8569-DFEFD22C68E9}"/>
              </a:ext>
            </a:extLst>
          </p:cNvPr>
          <p:cNvSpPr/>
          <p:nvPr/>
        </p:nvSpPr>
        <p:spPr>
          <a:xfrm>
            <a:off x="8877998" y="1830796"/>
            <a:ext cx="2286000" cy="1866572"/>
          </a:xfrm>
          <a:prstGeom prst="roundRect">
            <a:avLst>
              <a:gd name="adj" fmla="val 37734"/>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venir Book" panose="02000503020000020003" pitchFamily="2" charset="0"/>
              </a:rPr>
              <a:t>New Instances</a:t>
            </a:r>
          </a:p>
        </p:txBody>
      </p:sp>
      <p:cxnSp>
        <p:nvCxnSpPr>
          <p:cNvPr id="24" name="Curved Connector 23">
            <a:extLst>
              <a:ext uri="{FF2B5EF4-FFF2-40B4-BE49-F238E27FC236}">
                <a16:creationId xmlns:a16="http://schemas.microsoft.com/office/drawing/2014/main" id="{52901E96-5CA2-E9CB-8ED3-421D5F826A3A}"/>
              </a:ext>
            </a:extLst>
          </p:cNvPr>
          <p:cNvCxnSpPr>
            <a:cxnSpLocks/>
            <a:endCxn id="23" idx="2"/>
          </p:cNvCxnSpPr>
          <p:nvPr/>
        </p:nvCxnSpPr>
        <p:spPr>
          <a:xfrm flipV="1">
            <a:off x="8505944" y="3697368"/>
            <a:ext cx="1515054" cy="1077893"/>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4668AE1-1D43-EE2A-D4C3-3FEF441FD542}"/>
              </a:ext>
            </a:extLst>
          </p:cNvPr>
          <p:cNvSpPr txBox="1"/>
          <p:nvPr/>
        </p:nvSpPr>
        <p:spPr>
          <a:xfrm>
            <a:off x="5304961" y="2812369"/>
            <a:ext cx="1229916" cy="1233262"/>
          </a:xfrm>
          <a:prstGeom prst="rect">
            <a:avLst/>
          </a:prstGeom>
          <a:noFill/>
        </p:spPr>
        <p:txBody>
          <a:bodyPr wrap="square">
            <a:noAutofit/>
          </a:bodyPr>
          <a:lstStyle/>
          <a:p>
            <a:pPr algn="ctr"/>
            <a:r>
              <a:rPr lang="en-US" sz="34400" dirty="0">
                <a:latin typeface="Avenir Book" panose="02000503020000020003" pitchFamily="2" charset="0"/>
              </a:rPr>
              <a:t>🤖</a:t>
            </a:r>
          </a:p>
        </p:txBody>
      </p:sp>
      <p:sp>
        <p:nvSpPr>
          <p:cNvPr id="10" name="Slide Number Placeholder 9">
            <a:extLst>
              <a:ext uri="{FF2B5EF4-FFF2-40B4-BE49-F238E27FC236}">
                <a16:creationId xmlns:a16="http://schemas.microsoft.com/office/drawing/2014/main" id="{8ED671A7-A4AE-2E70-E34C-5F1B98037EE3}"/>
              </a:ext>
            </a:extLst>
          </p:cNvPr>
          <p:cNvSpPr>
            <a:spLocks noGrp="1"/>
          </p:cNvSpPr>
          <p:nvPr>
            <p:ph type="sldNum" idx="12"/>
          </p:nvPr>
        </p:nvSpPr>
        <p:spPr/>
        <p:txBody>
          <a:bodyPr/>
          <a:lstStyle/>
          <a:p>
            <a:fld id="{00000000-1234-1234-1234-123412341234}" type="slidenum">
              <a:rPr lang="en" smtClean="0"/>
              <a:pPr/>
              <a:t>14</a:t>
            </a:fld>
            <a:endParaRPr lang="en" dirty="0"/>
          </a:p>
        </p:txBody>
      </p:sp>
    </p:spTree>
    <p:extLst>
      <p:ext uri="{BB962C8B-B14F-4D97-AF65-F5344CB8AC3E}">
        <p14:creationId xmlns:p14="http://schemas.microsoft.com/office/powerpoint/2010/main" val="266735812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87741-A01D-E350-C3A5-638FAE25A52C}"/>
              </a:ext>
            </a:extLst>
          </p:cNvPr>
          <p:cNvSpPr/>
          <p:nvPr/>
        </p:nvSpPr>
        <p:spPr>
          <a:xfrm>
            <a:off x="0" y="0"/>
            <a:ext cx="12186309" cy="130884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4DB749-480E-89E6-0EC0-B9951B3B8835}"/>
              </a:ext>
            </a:extLst>
          </p:cNvPr>
          <p:cNvSpPr>
            <a:spLocks noGrp="1"/>
          </p:cNvSpPr>
          <p:nvPr>
            <p:ph type="title"/>
          </p:nvPr>
        </p:nvSpPr>
        <p:spPr/>
        <p:txBody>
          <a:bodyPr/>
          <a:lstStyle/>
          <a:p>
            <a:r>
              <a:rPr lang="en-US" b="1" dirty="0"/>
              <a:t>Today:</a:t>
            </a:r>
            <a:r>
              <a:rPr lang="en-US" dirty="0"/>
              <a:t> Emergent phenomena</a:t>
            </a:r>
          </a:p>
        </p:txBody>
      </p:sp>
      <p:sp>
        <p:nvSpPr>
          <p:cNvPr id="3" name="Content Placeholder 2">
            <a:extLst>
              <a:ext uri="{FF2B5EF4-FFF2-40B4-BE49-F238E27FC236}">
                <a16:creationId xmlns:a16="http://schemas.microsoft.com/office/drawing/2014/main" id="{4BD7B03C-7BBB-526D-CDAF-8D060BC46DAD}"/>
              </a:ext>
            </a:extLst>
          </p:cNvPr>
          <p:cNvSpPr>
            <a:spLocks noGrp="1"/>
          </p:cNvSpPr>
          <p:nvPr>
            <p:ph idx="1"/>
          </p:nvPr>
        </p:nvSpPr>
        <p:spPr/>
        <p:txBody>
          <a:bodyPr/>
          <a:lstStyle/>
          <a:p>
            <a:r>
              <a:rPr lang="en-US" dirty="0"/>
              <a:t>What is happening inside language models? </a:t>
            </a:r>
          </a:p>
          <a:p>
            <a:endParaRPr lang="en-US" dirty="0"/>
          </a:p>
          <a:p>
            <a:r>
              <a:rPr lang="en-US" dirty="0"/>
              <a:t>What do we mean by “emergent phenomena”? </a:t>
            </a:r>
          </a:p>
          <a:p>
            <a:pPr marL="0" indent="0">
              <a:buNone/>
            </a:pPr>
            <a:endParaRPr lang="en-US" dirty="0"/>
          </a:p>
          <a:p>
            <a:r>
              <a:rPr lang="en-US" dirty="0"/>
              <a:t>What do we understand about it? </a:t>
            </a:r>
          </a:p>
          <a:p>
            <a:pPr marL="0" indent="0">
              <a:buNone/>
            </a:pPr>
            <a:endParaRPr lang="en-US" dirty="0"/>
          </a:p>
          <a:p>
            <a:r>
              <a:rPr lang="en-US" dirty="0"/>
              <a:t>What does the future hold? </a:t>
            </a:r>
          </a:p>
          <a:p>
            <a:endParaRPr lang="en-US" dirty="0"/>
          </a:p>
        </p:txBody>
      </p:sp>
      <p:sp>
        <p:nvSpPr>
          <p:cNvPr id="4" name="Slide Number Placeholder 3">
            <a:extLst>
              <a:ext uri="{FF2B5EF4-FFF2-40B4-BE49-F238E27FC236}">
                <a16:creationId xmlns:a16="http://schemas.microsoft.com/office/drawing/2014/main" id="{E76BFE61-669A-F096-1BD5-8DD2057E3C10}"/>
              </a:ext>
            </a:extLst>
          </p:cNvPr>
          <p:cNvSpPr>
            <a:spLocks noGrp="1"/>
          </p:cNvSpPr>
          <p:nvPr>
            <p:ph type="sldNum" sz="quarter" idx="10"/>
          </p:nvPr>
        </p:nvSpPr>
        <p:spPr/>
        <p:txBody>
          <a:bodyPr/>
          <a:lstStyle/>
          <a:p>
            <a:pPr>
              <a:defRPr/>
            </a:pPr>
            <a:fld id="{0121240C-47AF-2F4D-83B3-CC3EDF50F794}" type="slidenum">
              <a:rPr lang="en-US" smtClean="0"/>
              <a:pPr>
                <a:defRPr/>
              </a:pPr>
              <a:t>15</a:t>
            </a:fld>
            <a:endParaRPr lang="en-US"/>
          </a:p>
        </p:txBody>
      </p:sp>
      <p:pic>
        <p:nvPicPr>
          <p:cNvPr id="7" name="Picture 2">
            <a:extLst>
              <a:ext uri="{FF2B5EF4-FFF2-40B4-BE49-F238E27FC236}">
                <a16:creationId xmlns:a16="http://schemas.microsoft.com/office/drawing/2014/main" id="{901A3B0C-AC10-5E08-99A1-F3A6ABA017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4737" y="1548773"/>
            <a:ext cx="1413740" cy="1463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94702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57979-6A7B-7B33-1A8F-FF4143BAE52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2217891-D067-D9E6-D984-32F2FE5186CD}"/>
              </a:ext>
            </a:extLst>
          </p:cNvPr>
          <p:cNvSpPr/>
          <p:nvPr/>
        </p:nvSpPr>
        <p:spPr>
          <a:xfrm>
            <a:off x="0" y="0"/>
            <a:ext cx="12186309" cy="130884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E8BC90-B569-D2C0-8B48-3C72AEF7BE25}"/>
              </a:ext>
            </a:extLst>
          </p:cNvPr>
          <p:cNvSpPr>
            <a:spLocks noGrp="1"/>
          </p:cNvSpPr>
          <p:nvPr>
            <p:ph type="title"/>
          </p:nvPr>
        </p:nvSpPr>
        <p:spPr/>
        <p:txBody>
          <a:bodyPr/>
          <a:lstStyle/>
          <a:p>
            <a:r>
              <a:rPr lang="en-US" b="1" dirty="0"/>
              <a:t>Today:</a:t>
            </a:r>
            <a:r>
              <a:rPr lang="en-US" dirty="0"/>
              <a:t> Emergent phenomena</a:t>
            </a:r>
          </a:p>
        </p:txBody>
      </p:sp>
      <p:sp>
        <p:nvSpPr>
          <p:cNvPr id="3" name="Content Placeholder 2">
            <a:extLst>
              <a:ext uri="{FF2B5EF4-FFF2-40B4-BE49-F238E27FC236}">
                <a16:creationId xmlns:a16="http://schemas.microsoft.com/office/drawing/2014/main" id="{CCD71982-C6C0-641A-0C4B-B78CD485C796}"/>
              </a:ext>
            </a:extLst>
          </p:cNvPr>
          <p:cNvSpPr>
            <a:spLocks noGrp="1"/>
          </p:cNvSpPr>
          <p:nvPr>
            <p:ph idx="1"/>
          </p:nvPr>
        </p:nvSpPr>
        <p:spPr/>
        <p:txBody>
          <a:bodyPr/>
          <a:lstStyle/>
          <a:p>
            <a:r>
              <a:rPr lang="en-US" dirty="0"/>
              <a:t>What is happening inside language models? </a:t>
            </a:r>
          </a:p>
          <a:p>
            <a:endParaRPr lang="en-US" dirty="0"/>
          </a:p>
          <a:p>
            <a:r>
              <a:rPr lang="en-US" dirty="0"/>
              <a:t>What do we mean by “emergent phenomena”? </a:t>
            </a:r>
          </a:p>
          <a:p>
            <a:pPr marL="0" indent="0">
              <a:buNone/>
            </a:pPr>
            <a:endParaRPr lang="en-US" dirty="0"/>
          </a:p>
          <a:p>
            <a:r>
              <a:rPr lang="en-US" dirty="0"/>
              <a:t>What do we understand about it? </a:t>
            </a:r>
          </a:p>
          <a:p>
            <a:pPr marL="0" indent="0">
              <a:buNone/>
            </a:pPr>
            <a:endParaRPr lang="en-US" dirty="0"/>
          </a:p>
          <a:p>
            <a:r>
              <a:rPr lang="en-US" dirty="0"/>
              <a:t>What does the future hold? </a:t>
            </a:r>
          </a:p>
          <a:p>
            <a:endParaRPr lang="en-US" dirty="0"/>
          </a:p>
        </p:txBody>
      </p:sp>
      <p:sp>
        <p:nvSpPr>
          <p:cNvPr id="4" name="Slide Number Placeholder 3">
            <a:extLst>
              <a:ext uri="{FF2B5EF4-FFF2-40B4-BE49-F238E27FC236}">
                <a16:creationId xmlns:a16="http://schemas.microsoft.com/office/drawing/2014/main" id="{7F677BBD-9225-1D0C-0241-F8116E3ED2B4}"/>
              </a:ext>
            </a:extLst>
          </p:cNvPr>
          <p:cNvSpPr>
            <a:spLocks noGrp="1"/>
          </p:cNvSpPr>
          <p:nvPr>
            <p:ph type="sldNum" sz="quarter" idx="10"/>
          </p:nvPr>
        </p:nvSpPr>
        <p:spPr/>
        <p:txBody>
          <a:bodyPr/>
          <a:lstStyle/>
          <a:p>
            <a:pPr>
              <a:defRPr/>
            </a:pPr>
            <a:fld id="{0121240C-47AF-2F4D-83B3-CC3EDF50F794}" type="slidenum">
              <a:rPr lang="en-US" smtClean="0"/>
              <a:pPr>
                <a:defRPr/>
              </a:pPr>
              <a:t>16</a:t>
            </a:fld>
            <a:endParaRPr lang="en-US"/>
          </a:p>
        </p:txBody>
      </p:sp>
      <p:sp>
        <p:nvSpPr>
          <p:cNvPr id="5" name="Rectangle 4">
            <a:extLst>
              <a:ext uri="{FF2B5EF4-FFF2-40B4-BE49-F238E27FC236}">
                <a16:creationId xmlns:a16="http://schemas.microsoft.com/office/drawing/2014/main" id="{E84C238C-8733-F131-1579-B0699FCEAB9F}"/>
              </a:ext>
            </a:extLst>
          </p:cNvPr>
          <p:cNvSpPr/>
          <p:nvPr/>
        </p:nvSpPr>
        <p:spPr>
          <a:xfrm>
            <a:off x="196482" y="2638249"/>
            <a:ext cx="11799035" cy="3255181"/>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2">
            <a:extLst>
              <a:ext uri="{FF2B5EF4-FFF2-40B4-BE49-F238E27FC236}">
                <a16:creationId xmlns:a16="http://schemas.microsoft.com/office/drawing/2014/main" id="{7D3A70F5-841F-5FAF-BC82-B3CFD68BB2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4737" y="1548773"/>
            <a:ext cx="1413740" cy="1463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70227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F3055B5-0634-30FE-A69A-5D22069BEBFC}"/>
              </a:ext>
            </a:extLst>
          </p:cNvPr>
          <p:cNvSpPr>
            <a:spLocks noGrp="1"/>
          </p:cNvSpPr>
          <p:nvPr>
            <p:ph type="title"/>
          </p:nvPr>
        </p:nvSpPr>
        <p:spPr/>
        <p:txBody>
          <a:bodyPr/>
          <a:lstStyle/>
          <a:p>
            <a:r>
              <a:rPr lang="en-US" dirty="0"/>
              <a:t>Recipe: (1) Pre-training</a:t>
            </a:r>
          </a:p>
        </p:txBody>
      </p:sp>
      <p:sp>
        <p:nvSpPr>
          <p:cNvPr id="6" name="Content Placeholder 5">
            <a:extLst>
              <a:ext uri="{FF2B5EF4-FFF2-40B4-BE49-F238E27FC236}">
                <a16:creationId xmlns:a16="http://schemas.microsoft.com/office/drawing/2014/main" id="{E6B266C0-1984-5B5F-0D4F-1FB7473C05D9}"/>
              </a:ext>
            </a:extLst>
          </p:cNvPr>
          <p:cNvSpPr>
            <a:spLocks noGrp="1"/>
          </p:cNvSpPr>
          <p:nvPr>
            <p:ph idx="1"/>
          </p:nvPr>
        </p:nvSpPr>
        <p:spPr/>
        <p:txBody>
          <a:bodyPr/>
          <a:lstStyle/>
          <a:p>
            <a:r>
              <a:rPr lang="en-US" b="1" dirty="0"/>
              <a:t>Pre-training</a:t>
            </a:r>
            <a:r>
              <a:rPr lang="en-US" dirty="0"/>
              <a:t> := Next-Token Prediction</a:t>
            </a:r>
          </a:p>
          <a:p>
            <a:endParaRPr lang="en-US" dirty="0"/>
          </a:p>
          <a:p>
            <a:endParaRPr lang="en-US" dirty="0"/>
          </a:p>
          <a:p>
            <a:endParaRPr lang="en-US" dirty="0"/>
          </a:p>
          <a:p>
            <a:endParaRPr lang="en-US" dirty="0"/>
          </a:p>
          <a:p>
            <a:pPr marL="0" indent="0">
              <a:buNone/>
            </a:pPr>
            <a:endParaRPr lang="en-US" dirty="0"/>
          </a:p>
          <a:p>
            <a:r>
              <a:rPr lang="en-US" dirty="0"/>
              <a:t>Modern LLMs are pre-trained on many-trillions of tokens. </a:t>
            </a:r>
          </a:p>
          <a:p>
            <a:pPr lvl="1"/>
            <a:r>
              <a:rPr lang="en-US" dirty="0"/>
              <a:t>For comparison, if you read </a:t>
            </a:r>
            <a:r>
              <a:rPr lang="en-US" b="1" dirty="0"/>
              <a:t>1 book per week</a:t>
            </a:r>
            <a:r>
              <a:rPr lang="en-US" dirty="0"/>
              <a:t>, you’d need 50,000 years to cover a comparable amount of text!!!</a:t>
            </a:r>
          </a:p>
        </p:txBody>
      </p:sp>
      <p:sp>
        <p:nvSpPr>
          <p:cNvPr id="4" name="Slide Number Placeholder 3">
            <a:extLst>
              <a:ext uri="{FF2B5EF4-FFF2-40B4-BE49-F238E27FC236}">
                <a16:creationId xmlns:a16="http://schemas.microsoft.com/office/drawing/2014/main" id="{7726A414-C84B-BF7E-CDE2-DE023D3C95C4}"/>
              </a:ext>
            </a:extLst>
          </p:cNvPr>
          <p:cNvSpPr>
            <a:spLocks noGrp="1"/>
          </p:cNvSpPr>
          <p:nvPr>
            <p:ph type="sldNum" sz="quarter" idx="10"/>
          </p:nvPr>
        </p:nvSpPr>
        <p:spPr/>
        <p:txBody>
          <a:bodyPr/>
          <a:lstStyle/>
          <a:p>
            <a:pPr>
              <a:defRPr/>
            </a:pPr>
            <a:fld id="{0121240C-47AF-2F4D-83B3-CC3EDF50F794}" type="slidenum">
              <a:rPr lang="en-US" smtClean="0"/>
              <a:pPr>
                <a:defRPr/>
              </a:pPr>
              <a:t>17</a:t>
            </a:fld>
            <a:endParaRPr lang="en-US" dirty="0"/>
          </a:p>
        </p:txBody>
      </p:sp>
      <p:sp>
        <p:nvSpPr>
          <p:cNvPr id="19" name="Rounded Rectangle 18">
            <a:extLst>
              <a:ext uri="{FF2B5EF4-FFF2-40B4-BE49-F238E27FC236}">
                <a16:creationId xmlns:a16="http://schemas.microsoft.com/office/drawing/2014/main" id="{755E678B-0196-FDD6-F997-D971D5B9AB89}"/>
              </a:ext>
            </a:extLst>
          </p:cNvPr>
          <p:cNvSpPr/>
          <p:nvPr/>
        </p:nvSpPr>
        <p:spPr>
          <a:xfrm>
            <a:off x="1580827" y="3332775"/>
            <a:ext cx="2748567" cy="65777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Book" panose="02000503020000020003" pitchFamily="2" charset="0"/>
              </a:rPr>
              <a:t>Johns Hopkins University is in _______.</a:t>
            </a:r>
          </a:p>
        </p:txBody>
      </p:sp>
      <p:sp>
        <p:nvSpPr>
          <p:cNvPr id="20" name="Rounded Rectangle 19">
            <a:extLst>
              <a:ext uri="{FF2B5EF4-FFF2-40B4-BE49-F238E27FC236}">
                <a16:creationId xmlns:a16="http://schemas.microsoft.com/office/drawing/2014/main" id="{7182FC1C-90F6-F653-5385-98E2C847A329}"/>
              </a:ext>
            </a:extLst>
          </p:cNvPr>
          <p:cNvSpPr/>
          <p:nvPr/>
        </p:nvSpPr>
        <p:spPr>
          <a:xfrm>
            <a:off x="7770573" y="3394253"/>
            <a:ext cx="1419922" cy="58477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Book" panose="02000503020000020003" pitchFamily="2" charset="0"/>
              </a:rPr>
              <a:t>Baltimore</a:t>
            </a:r>
          </a:p>
        </p:txBody>
      </p:sp>
      <p:cxnSp>
        <p:nvCxnSpPr>
          <p:cNvPr id="23" name="Straight Arrow Connector 22">
            <a:extLst>
              <a:ext uri="{FF2B5EF4-FFF2-40B4-BE49-F238E27FC236}">
                <a16:creationId xmlns:a16="http://schemas.microsoft.com/office/drawing/2014/main" id="{11A0D6B8-1A5B-A836-DF8F-B392CA89FDC3}"/>
              </a:ext>
            </a:extLst>
          </p:cNvPr>
          <p:cNvCxnSpPr>
            <a:cxnSpLocks/>
          </p:cNvCxnSpPr>
          <p:nvPr/>
        </p:nvCxnSpPr>
        <p:spPr>
          <a:xfrm>
            <a:off x="4571998" y="3670083"/>
            <a:ext cx="469985"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cxnSp>
        <p:nvCxnSpPr>
          <p:cNvPr id="24" name="Straight Arrow Connector 23">
            <a:extLst>
              <a:ext uri="{FF2B5EF4-FFF2-40B4-BE49-F238E27FC236}">
                <a16:creationId xmlns:a16="http://schemas.microsoft.com/office/drawing/2014/main" id="{59A86A2F-C420-DB73-26A9-A261FDA380B0}"/>
              </a:ext>
            </a:extLst>
          </p:cNvPr>
          <p:cNvCxnSpPr>
            <a:cxnSpLocks/>
          </p:cNvCxnSpPr>
          <p:nvPr/>
        </p:nvCxnSpPr>
        <p:spPr>
          <a:xfrm>
            <a:off x="7060466" y="3670082"/>
            <a:ext cx="459449"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27" name="Rounded Rectangle 26">
            <a:extLst>
              <a:ext uri="{FF2B5EF4-FFF2-40B4-BE49-F238E27FC236}">
                <a16:creationId xmlns:a16="http://schemas.microsoft.com/office/drawing/2014/main" id="{A1E979BA-6C6B-86CA-C614-680E32AD4353}"/>
              </a:ext>
            </a:extLst>
          </p:cNvPr>
          <p:cNvSpPr/>
          <p:nvPr/>
        </p:nvSpPr>
        <p:spPr>
          <a:xfrm>
            <a:off x="5199833" y="3055304"/>
            <a:ext cx="1677217" cy="1262671"/>
          </a:xfrm>
          <a:prstGeom prst="round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4800" b="1" dirty="0">
              <a:latin typeface="Avenir Book" panose="02000503020000020003" pitchFamily="2" charset="0"/>
            </a:endParaRPr>
          </a:p>
        </p:txBody>
      </p:sp>
      <p:sp>
        <p:nvSpPr>
          <p:cNvPr id="29" name="TextBox 28">
            <a:extLst>
              <a:ext uri="{FF2B5EF4-FFF2-40B4-BE49-F238E27FC236}">
                <a16:creationId xmlns:a16="http://schemas.microsoft.com/office/drawing/2014/main" id="{58E0D453-72EA-3B52-D646-0223A6F97304}"/>
              </a:ext>
            </a:extLst>
          </p:cNvPr>
          <p:cNvSpPr txBox="1"/>
          <p:nvPr/>
        </p:nvSpPr>
        <p:spPr>
          <a:xfrm>
            <a:off x="5070376" y="3203415"/>
            <a:ext cx="1967125" cy="1015663"/>
          </a:xfrm>
          <a:prstGeom prst="rect">
            <a:avLst/>
          </a:prstGeom>
          <a:noFill/>
        </p:spPr>
        <p:txBody>
          <a:bodyPr wrap="square">
            <a:spAutoFit/>
          </a:bodyPr>
          <a:lstStyle/>
          <a:p>
            <a:pPr algn="ctr"/>
            <a:r>
              <a:rPr lang="en-US" sz="6000" b="1" dirty="0">
                <a:latin typeface="Avenir Book" panose="02000503020000020003" pitchFamily="2" charset="0"/>
              </a:rPr>
              <a:t>LM</a:t>
            </a:r>
          </a:p>
        </p:txBody>
      </p:sp>
      <p:sp>
        <p:nvSpPr>
          <p:cNvPr id="3" name="TextBox 2">
            <a:extLst>
              <a:ext uri="{FF2B5EF4-FFF2-40B4-BE49-F238E27FC236}">
                <a16:creationId xmlns:a16="http://schemas.microsoft.com/office/drawing/2014/main" id="{EBD1BEE9-4E29-650C-1285-4AFDE9B2F979}"/>
              </a:ext>
            </a:extLst>
          </p:cNvPr>
          <p:cNvSpPr txBox="1"/>
          <p:nvPr/>
        </p:nvSpPr>
        <p:spPr>
          <a:xfrm>
            <a:off x="1815180" y="6488668"/>
            <a:ext cx="8656216" cy="369332"/>
          </a:xfrm>
          <a:prstGeom prst="rect">
            <a:avLst/>
          </a:prstGeom>
          <a:noFill/>
        </p:spPr>
        <p:txBody>
          <a:bodyPr wrap="none" rtlCol="0">
            <a:spAutoFit/>
          </a:bodyPr>
          <a:lstStyle/>
          <a:p>
            <a:r>
              <a:rPr lang="en-US" sz="1800" dirty="0">
                <a:solidFill>
                  <a:schemeClr val="bg1">
                    <a:lumMod val="50000"/>
                  </a:schemeClr>
                </a:solidFill>
                <a:latin typeface="Arial" panose="020B0604020202020204" pitchFamily="34" charset="0"/>
                <a:cs typeface="Arial" panose="020B0604020202020204" pitchFamily="34" charset="0"/>
              </a:rPr>
              <a:t>Bengio et al. ‘04, Peters et al. ‘18,  </a:t>
            </a:r>
            <a:r>
              <a:rPr lang="en-US" sz="1800" dirty="0" err="1">
                <a:solidFill>
                  <a:schemeClr val="bg1">
                    <a:lumMod val="50000"/>
                  </a:schemeClr>
                </a:solidFill>
                <a:latin typeface="Arial" panose="020B0604020202020204" pitchFamily="34" charset="0"/>
                <a:cs typeface="Arial" panose="020B0604020202020204" pitchFamily="34" charset="0"/>
              </a:rPr>
              <a:t>Raffel</a:t>
            </a:r>
            <a:r>
              <a:rPr lang="en-US" sz="1800" dirty="0">
                <a:solidFill>
                  <a:schemeClr val="bg1">
                    <a:lumMod val="50000"/>
                  </a:schemeClr>
                </a:solidFill>
                <a:latin typeface="Arial" panose="020B0604020202020204" pitchFamily="34" charset="0"/>
                <a:cs typeface="Arial" panose="020B0604020202020204" pitchFamily="34" charset="0"/>
              </a:rPr>
              <a:t> et al. ‘20, Brown et al. ’20, many others</a:t>
            </a:r>
            <a:endParaRPr lang="en-US" sz="2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5283005"/>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CFE24-DB87-D5ED-1A33-2F8D4D584986}"/>
              </a:ext>
            </a:extLst>
          </p:cNvPr>
          <p:cNvSpPr>
            <a:spLocks noGrp="1"/>
          </p:cNvSpPr>
          <p:nvPr>
            <p:ph type="title"/>
          </p:nvPr>
        </p:nvSpPr>
        <p:spPr/>
        <p:txBody>
          <a:bodyPr/>
          <a:lstStyle/>
          <a:p>
            <a:r>
              <a:rPr lang="en-US" dirty="0"/>
              <a:t>Recipe: (2) Post-training</a:t>
            </a:r>
          </a:p>
        </p:txBody>
      </p:sp>
      <p:sp>
        <p:nvSpPr>
          <p:cNvPr id="3" name="Content Placeholder 2">
            <a:extLst>
              <a:ext uri="{FF2B5EF4-FFF2-40B4-BE49-F238E27FC236}">
                <a16:creationId xmlns:a16="http://schemas.microsoft.com/office/drawing/2014/main" id="{110EEB52-E3A9-E0AD-2232-E3764FE247C5}"/>
              </a:ext>
            </a:extLst>
          </p:cNvPr>
          <p:cNvSpPr>
            <a:spLocks noGrp="1"/>
          </p:cNvSpPr>
          <p:nvPr>
            <p:ph idx="1"/>
          </p:nvPr>
        </p:nvSpPr>
        <p:spPr/>
        <p:txBody>
          <a:bodyPr/>
          <a:lstStyle/>
          <a:p>
            <a:r>
              <a:rPr lang="en-US" dirty="0"/>
              <a:t>“Aligning” LMs to respect our intents embedded in instructions.</a:t>
            </a:r>
          </a:p>
          <a:p>
            <a:endParaRPr lang="en-US" dirty="0"/>
          </a:p>
          <a:p>
            <a:endParaRPr lang="en-US" dirty="0"/>
          </a:p>
          <a:p>
            <a:r>
              <a:rPr lang="en-US" dirty="0"/>
              <a:t>We won’t talk about this </a:t>
            </a:r>
            <a:r>
              <a:rPr lang="en-US" dirty="0">
                <a:sym typeface="Wingdings" pitchFamily="2" charset="2"/>
              </a:rPr>
              <a:t> </a:t>
            </a:r>
            <a:r>
              <a:rPr lang="en-US" dirty="0"/>
              <a:t> </a:t>
            </a:r>
          </a:p>
          <a:p>
            <a:endParaRPr lang="en-US" dirty="0"/>
          </a:p>
        </p:txBody>
      </p:sp>
      <p:sp>
        <p:nvSpPr>
          <p:cNvPr id="4" name="Slide Number Placeholder 3">
            <a:extLst>
              <a:ext uri="{FF2B5EF4-FFF2-40B4-BE49-F238E27FC236}">
                <a16:creationId xmlns:a16="http://schemas.microsoft.com/office/drawing/2014/main" id="{F7FD2608-A3B9-380F-4F9B-137FA6F55D0D}"/>
              </a:ext>
            </a:extLst>
          </p:cNvPr>
          <p:cNvSpPr>
            <a:spLocks noGrp="1"/>
          </p:cNvSpPr>
          <p:nvPr>
            <p:ph type="sldNum" sz="quarter" idx="10"/>
          </p:nvPr>
        </p:nvSpPr>
        <p:spPr/>
        <p:txBody>
          <a:bodyPr/>
          <a:lstStyle/>
          <a:p>
            <a:pPr>
              <a:defRPr/>
            </a:pPr>
            <a:fld id="{0121240C-47AF-2F4D-83B3-CC3EDF50F794}" type="slidenum">
              <a:rPr lang="en-US" smtClean="0"/>
              <a:pPr>
                <a:defRPr/>
              </a:pPr>
              <a:t>18</a:t>
            </a:fld>
            <a:endParaRPr lang="en-US"/>
          </a:p>
        </p:txBody>
      </p:sp>
      <p:sp>
        <p:nvSpPr>
          <p:cNvPr id="5" name="TextBox 4">
            <a:extLst>
              <a:ext uri="{FF2B5EF4-FFF2-40B4-BE49-F238E27FC236}">
                <a16:creationId xmlns:a16="http://schemas.microsoft.com/office/drawing/2014/main" id="{10246DB5-EAA3-4571-A21E-D09DCC0E4E43}"/>
              </a:ext>
            </a:extLst>
          </p:cNvPr>
          <p:cNvSpPr txBox="1"/>
          <p:nvPr/>
        </p:nvSpPr>
        <p:spPr>
          <a:xfrm>
            <a:off x="139484" y="5938279"/>
            <a:ext cx="11510085" cy="646331"/>
          </a:xfrm>
          <a:prstGeom prst="rect">
            <a:avLst/>
          </a:prstGeom>
          <a:noFill/>
        </p:spPr>
        <p:txBody>
          <a:bodyPr wrap="square">
            <a:spAutoFit/>
          </a:bodyPr>
          <a:lstStyle/>
          <a:p>
            <a:pPr algn="ctr"/>
            <a:endParaRPr lang="en-US" b="1" dirty="0">
              <a:solidFill>
                <a:schemeClr val="tx2"/>
              </a:solidFill>
              <a:latin typeface="Avenir Book" panose="02000503020000020003" pitchFamily="2" charset="0"/>
              <a:cs typeface="Consolas" panose="020B0609020204030204" pitchFamily="49" charset="0"/>
            </a:endParaRPr>
          </a:p>
          <a:p>
            <a:pPr algn="ctr"/>
            <a:r>
              <a:rPr lang="en-US" dirty="0">
                <a:solidFill>
                  <a:schemeClr val="bg1">
                    <a:lumMod val="50000"/>
                  </a:schemeClr>
                </a:solidFill>
                <a:latin typeface="Arial" panose="020B0604020202020204" pitchFamily="34" charset="0"/>
                <a:cs typeface="Arial" panose="020B0604020202020204" pitchFamily="34" charset="0"/>
              </a:rPr>
              <a:t>Among others: Mishra et al. 2022; </a:t>
            </a:r>
            <a:r>
              <a:rPr lang="en-US" spc="-5" dirty="0">
                <a:solidFill>
                  <a:schemeClr val="bg1">
                    <a:lumMod val="50000"/>
                  </a:schemeClr>
                </a:solidFill>
                <a:latin typeface="Arial" panose="020B0604020202020204" pitchFamily="34" charset="0"/>
                <a:cs typeface="Arial" panose="020B0604020202020204" pitchFamily="34" charset="0"/>
              </a:rPr>
              <a:t>Sanh et al. 2022; Chung et al. 2022, … . </a:t>
            </a:r>
            <a:endParaRPr lang="en-US" b="1" dirty="0">
              <a:solidFill>
                <a:schemeClr val="tx2"/>
              </a:solidFill>
              <a:latin typeface="Avenir Book" panose="02000503020000020003" pitchFamily="2" charset="0"/>
              <a:cs typeface="Consolas" panose="020B0609020204030204" pitchFamily="49" charset="0"/>
            </a:endParaRPr>
          </a:p>
        </p:txBody>
      </p:sp>
    </p:spTree>
    <p:extLst>
      <p:ext uri="{BB962C8B-B14F-4D97-AF65-F5344CB8AC3E}">
        <p14:creationId xmlns:p14="http://schemas.microsoft.com/office/powerpoint/2010/main" val="965019419"/>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8099C-9A8D-841F-B7D5-C0A51DFC9F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A360A-9873-7F17-FF2B-813E6D7FBB3F}"/>
              </a:ext>
            </a:extLst>
          </p:cNvPr>
          <p:cNvSpPr>
            <a:spLocks noGrp="1"/>
          </p:cNvSpPr>
          <p:nvPr>
            <p:ph type="title"/>
          </p:nvPr>
        </p:nvSpPr>
        <p:spPr/>
        <p:txBody>
          <a:bodyPr/>
          <a:lstStyle/>
          <a:p>
            <a:r>
              <a:rPr lang="en-US" dirty="0"/>
              <a:t>Recipe: (2) Post-training</a:t>
            </a:r>
          </a:p>
        </p:txBody>
      </p:sp>
      <p:sp>
        <p:nvSpPr>
          <p:cNvPr id="3" name="Content Placeholder 2">
            <a:extLst>
              <a:ext uri="{FF2B5EF4-FFF2-40B4-BE49-F238E27FC236}">
                <a16:creationId xmlns:a16="http://schemas.microsoft.com/office/drawing/2014/main" id="{CB12DA9B-B0B7-A67D-63D5-7A7CC9C9409D}"/>
              </a:ext>
            </a:extLst>
          </p:cNvPr>
          <p:cNvSpPr>
            <a:spLocks noGrp="1"/>
          </p:cNvSpPr>
          <p:nvPr>
            <p:ph idx="1"/>
          </p:nvPr>
        </p:nvSpPr>
        <p:spPr/>
        <p:txBody>
          <a:bodyPr/>
          <a:lstStyle/>
          <a:p>
            <a:r>
              <a:rPr lang="en-US" dirty="0"/>
              <a:t>“Aligning” LMs to respect our intents embedded in instructions. </a:t>
            </a:r>
          </a:p>
          <a:p>
            <a:pPr lvl="1"/>
            <a:r>
              <a:rPr lang="en-US" dirty="0"/>
              <a:t>Supervised Fine-tuning (SFT/behavior cloning) with labeled data.</a:t>
            </a:r>
          </a:p>
          <a:p>
            <a:pPr marL="457200" lvl="1" indent="0">
              <a:buNone/>
            </a:pPr>
            <a:r>
              <a:rPr lang="en-US" dirty="0"/>
              <a:t> </a:t>
            </a:r>
          </a:p>
          <a:p>
            <a:endParaRPr lang="en-US" dirty="0"/>
          </a:p>
        </p:txBody>
      </p:sp>
      <p:sp>
        <p:nvSpPr>
          <p:cNvPr id="4" name="Slide Number Placeholder 3">
            <a:extLst>
              <a:ext uri="{FF2B5EF4-FFF2-40B4-BE49-F238E27FC236}">
                <a16:creationId xmlns:a16="http://schemas.microsoft.com/office/drawing/2014/main" id="{C78EAC88-1FCD-74CF-9065-5EFC03B999CC}"/>
              </a:ext>
            </a:extLst>
          </p:cNvPr>
          <p:cNvSpPr>
            <a:spLocks noGrp="1"/>
          </p:cNvSpPr>
          <p:nvPr>
            <p:ph type="sldNum" sz="quarter" idx="10"/>
          </p:nvPr>
        </p:nvSpPr>
        <p:spPr/>
        <p:txBody>
          <a:bodyPr/>
          <a:lstStyle/>
          <a:p>
            <a:pPr>
              <a:defRPr/>
            </a:pPr>
            <a:fld id="{0121240C-47AF-2F4D-83B3-CC3EDF50F794}" type="slidenum">
              <a:rPr lang="en-US" smtClean="0"/>
              <a:pPr>
                <a:defRPr/>
              </a:pPr>
              <a:t>19</a:t>
            </a:fld>
            <a:endParaRPr lang="en-US"/>
          </a:p>
        </p:txBody>
      </p:sp>
      <p:sp>
        <p:nvSpPr>
          <p:cNvPr id="20" name="Rounded Rectangle 19">
            <a:extLst>
              <a:ext uri="{FF2B5EF4-FFF2-40B4-BE49-F238E27FC236}">
                <a16:creationId xmlns:a16="http://schemas.microsoft.com/office/drawing/2014/main" id="{8F6F95B0-AD7B-4574-BCA6-77699F585876}"/>
              </a:ext>
            </a:extLst>
          </p:cNvPr>
          <p:cNvSpPr/>
          <p:nvPr/>
        </p:nvSpPr>
        <p:spPr>
          <a:xfrm>
            <a:off x="5193557" y="3778872"/>
            <a:ext cx="1059818" cy="891157"/>
          </a:xfrm>
          <a:prstGeom prst="round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6000" b="1" dirty="0">
              <a:latin typeface="Avenir Book" panose="02000503020000020003" pitchFamily="2" charset="0"/>
            </a:endParaRPr>
          </a:p>
        </p:txBody>
      </p:sp>
      <p:sp>
        <p:nvSpPr>
          <p:cNvPr id="21" name="TextBox 20">
            <a:extLst>
              <a:ext uri="{FF2B5EF4-FFF2-40B4-BE49-F238E27FC236}">
                <a16:creationId xmlns:a16="http://schemas.microsoft.com/office/drawing/2014/main" id="{8EB4225A-086A-4A4E-6EA7-FB3AD4412487}"/>
              </a:ext>
            </a:extLst>
          </p:cNvPr>
          <p:cNvSpPr txBox="1"/>
          <p:nvPr/>
        </p:nvSpPr>
        <p:spPr>
          <a:xfrm>
            <a:off x="4934447" y="3885254"/>
            <a:ext cx="1558776" cy="707886"/>
          </a:xfrm>
          <a:prstGeom prst="rect">
            <a:avLst/>
          </a:prstGeom>
          <a:noFill/>
        </p:spPr>
        <p:txBody>
          <a:bodyPr wrap="square">
            <a:spAutoFit/>
          </a:bodyPr>
          <a:lstStyle/>
          <a:p>
            <a:pPr algn="ctr"/>
            <a:r>
              <a:rPr lang="en-US" sz="4000" b="1" dirty="0">
                <a:latin typeface="Avenir Book" panose="02000503020000020003" pitchFamily="2" charset="0"/>
              </a:rPr>
              <a:t>LM</a:t>
            </a:r>
          </a:p>
        </p:txBody>
      </p:sp>
      <p:sp>
        <p:nvSpPr>
          <p:cNvPr id="24" name="Rounded Rectangle 23">
            <a:extLst>
              <a:ext uri="{FF2B5EF4-FFF2-40B4-BE49-F238E27FC236}">
                <a16:creationId xmlns:a16="http://schemas.microsoft.com/office/drawing/2014/main" id="{F866F19A-F6C9-F2DD-989C-FDF9A9CF16DC}"/>
              </a:ext>
            </a:extLst>
          </p:cNvPr>
          <p:cNvSpPr/>
          <p:nvPr/>
        </p:nvSpPr>
        <p:spPr>
          <a:xfrm>
            <a:off x="1490423" y="3799348"/>
            <a:ext cx="2961769" cy="85595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Book" panose="02000503020000020003" pitchFamily="2" charset="0"/>
              </a:rPr>
              <a:t>Explain ”space elevators” </a:t>
            </a:r>
            <a:br>
              <a:rPr lang="en-US" dirty="0">
                <a:solidFill>
                  <a:schemeClr val="tx1"/>
                </a:solidFill>
                <a:latin typeface="Avenir Book" panose="02000503020000020003" pitchFamily="2" charset="0"/>
              </a:rPr>
            </a:br>
            <a:r>
              <a:rPr lang="en-US" dirty="0">
                <a:solidFill>
                  <a:schemeClr val="tx1"/>
                </a:solidFill>
                <a:latin typeface="Avenir Book" panose="02000503020000020003" pitchFamily="2" charset="0"/>
              </a:rPr>
              <a:t>to a 6-year-old.</a:t>
            </a:r>
          </a:p>
        </p:txBody>
      </p:sp>
      <p:cxnSp>
        <p:nvCxnSpPr>
          <p:cNvPr id="26" name="Curved Connector 25">
            <a:extLst>
              <a:ext uri="{FF2B5EF4-FFF2-40B4-BE49-F238E27FC236}">
                <a16:creationId xmlns:a16="http://schemas.microsoft.com/office/drawing/2014/main" id="{D4881E9A-C2DA-4F3F-F4B3-86664863B4FA}"/>
              </a:ext>
            </a:extLst>
          </p:cNvPr>
          <p:cNvCxnSpPr>
            <a:cxnSpLocks/>
            <a:stCxn id="24" idx="3"/>
            <a:endCxn id="20" idx="1"/>
          </p:cNvCxnSpPr>
          <p:nvPr/>
        </p:nvCxnSpPr>
        <p:spPr>
          <a:xfrm flipV="1">
            <a:off x="4452192" y="4224451"/>
            <a:ext cx="741365" cy="2874"/>
          </a:xfrm>
          <a:prstGeom prst="curvedConnector3">
            <a:avLst/>
          </a:prstGeom>
          <a:ln w="28575">
            <a:solidFill>
              <a:srgbClr val="AEB7C3"/>
            </a:solidFill>
            <a:tailEnd type="stealth" w="lg" len="lg"/>
          </a:ln>
        </p:spPr>
        <p:style>
          <a:lnRef idx="1">
            <a:schemeClr val="accent1"/>
          </a:lnRef>
          <a:fillRef idx="0">
            <a:schemeClr val="accent1"/>
          </a:fillRef>
          <a:effectRef idx="0">
            <a:schemeClr val="accent1"/>
          </a:effectRef>
          <a:fontRef idx="minor">
            <a:schemeClr val="tx1"/>
          </a:fontRef>
        </p:style>
      </p:cxnSp>
      <p:sp>
        <p:nvSpPr>
          <p:cNvPr id="29" name="Rounded Rectangle 28">
            <a:extLst>
              <a:ext uri="{FF2B5EF4-FFF2-40B4-BE49-F238E27FC236}">
                <a16:creationId xmlns:a16="http://schemas.microsoft.com/office/drawing/2014/main" id="{59D5DA11-7FD0-55FB-AA88-D8B370AAAC9B}"/>
              </a:ext>
            </a:extLst>
          </p:cNvPr>
          <p:cNvSpPr/>
          <p:nvPr/>
        </p:nvSpPr>
        <p:spPr>
          <a:xfrm>
            <a:off x="1490423" y="3041911"/>
            <a:ext cx="2961768" cy="673349"/>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Book" panose="02000503020000020003" pitchFamily="2" charset="0"/>
              </a:rPr>
              <a:t>Summarize this article ...</a:t>
            </a:r>
          </a:p>
        </p:txBody>
      </p:sp>
      <p:sp>
        <p:nvSpPr>
          <p:cNvPr id="32" name="Rounded Rectangle 31">
            <a:extLst>
              <a:ext uri="{FF2B5EF4-FFF2-40B4-BE49-F238E27FC236}">
                <a16:creationId xmlns:a16="http://schemas.microsoft.com/office/drawing/2014/main" id="{7C2CCD5F-3742-41B6-8271-BFA49E6AD228}"/>
              </a:ext>
            </a:extLst>
          </p:cNvPr>
          <p:cNvSpPr/>
          <p:nvPr/>
        </p:nvSpPr>
        <p:spPr>
          <a:xfrm>
            <a:off x="1490423" y="4732535"/>
            <a:ext cx="2961768" cy="67335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Book" panose="02000503020000020003" pitchFamily="2" charset="0"/>
              </a:rPr>
              <a:t>Answer the question: … </a:t>
            </a:r>
          </a:p>
        </p:txBody>
      </p:sp>
      <p:cxnSp>
        <p:nvCxnSpPr>
          <p:cNvPr id="39" name="Curved Connector 38">
            <a:extLst>
              <a:ext uri="{FF2B5EF4-FFF2-40B4-BE49-F238E27FC236}">
                <a16:creationId xmlns:a16="http://schemas.microsoft.com/office/drawing/2014/main" id="{CBCB02DF-35A1-1C23-1723-A37324203BDE}"/>
              </a:ext>
            </a:extLst>
          </p:cNvPr>
          <p:cNvCxnSpPr>
            <a:cxnSpLocks/>
            <a:stCxn id="29" idx="3"/>
            <a:endCxn id="20" idx="1"/>
          </p:cNvCxnSpPr>
          <p:nvPr/>
        </p:nvCxnSpPr>
        <p:spPr>
          <a:xfrm>
            <a:off x="4452191" y="3378586"/>
            <a:ext cx="741366" cy="845865"/>
          </a:xfrm>
          <a:prstGeom prst="curvedConnector3">
            <a:avLst>
              <a:gd name="adj1" fmla="val 50000"/>
            </a:avLst>
          </a:prstGeom>
          <a:ln w="28575">
            <a:solidFill>
              <a:srgbClr val="AEB7C3"/>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2" name="Curved Connector 41">
            <a:extLst>
              <a:ext uri="{FF2B5EF4-FFF2-40B4-BE49-F238E27FC236}">
                <a16:creationId xmlns:a16="http://schemas.microsoft.com/office/drawing/2014/main" id="{ADC2AFD8-0BE7-6162-F4EB-C49CA5423226}"/>
              </a:ext>
            </a:extLst>
          </p:cNvPr>
          <p:cNvCxnSpPr>
            <a:cxnSpLocks/>
            <a:stCxn id="32" idx="3"/>
            <a:endCxn id="20" idx="1"/>
          </p:cNvCxnSpPr>
          <p:nvPr/>
        </p:nvCxnSpPr>
        <p:spPr>
          <a:xfrm flipV="1">
            <a:off x="4452191" y="4224451"/>
            <a:ext cx="741366" cy="844759"/>
          </a:xfrm>
          <a:prstGeom prst="curvedConnector3">
            <a:avLst>
              <a:gd name="adj1" fmla="val 50000"/>
            </a:avLst>
          </a:prstGeom>
          <a:ln w="28575">
            <a:solidFill>
              <a:srgbClr val="AEB7C3"/>
            </a:solidFill>
            <a:tailEnd type="stealth" w="lg" len="lg"/>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9287D433-4F78-47A0-CB61-AD4EFF873F53}"/>
              </a:ext>
            </a:extLst>
          </p:cNvPr>
          <p:cNvSpPr/>
          <p:nvPr/>
        </p:nvSpPr>
        <p:spPr>
          <a:xfrm>
            <a:off x="7413959" y="3799348"/>
            <a:ext cx="2961769" cy="85595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Book" panose="02000503020000020003" pitchFamily="2" charset="0"/>
              </a:rPr>
              <a:t>Imagine a normal elevator that you ride to space …</a:t>
            </a:r>
          </a:p>
        </p:txBody>
      </p:sp>
      <p:sp>
        <p:nvSpPr>
          <p:cNvPr id="47" name="Rounded Rectangle 46">
            <a:extLst>
              <a:ext uri="{FF2B5EF4-FFF2-40B4-BE49-F238E27FC236}">
                <a16:creationId xmlns:a16="http://schemas.microsoft.com/office/drawing/2014/main" id="{27666805-8A73-1EA9-050A-1B6FBCCC7231}"/>
              </a:ext>
            </a:extLst>
          </p:cNvPr>
          <p:cNvSpPr/>
          <p:nvPr/>
        </p:nvSpPr>
        <p:spPr>
          <a:xfrm>
            <a:off x="7413959" y="3041911"/>
            <a:ext cx="2961768" cy="673349"/>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Book" panose="02000503020000020003" pitchFamily="2" charset="0"/>
              </a:rPr>
              <a:t>Summary: …</a:t>
            </a:r>
          </a:p>
        </p:txBody>
      </p:sp>
      <p:sp>
        <p:nvSpPr>
          <p:cNvPr id="48" name="Rounded Rectangle 47">
            <a:extLst>
              <a:ext uri="{FF2B5EF4-FFF2-40B4-BE49-F238E27FC236}">
                <a16:creationId xmlns:a16="http://schemas.microsoft.com/office/drawing/2014/main" id="{05535929-7804-DF02-50B9-AB492514EA52}"/>
              </a:ext>
            </a:extLst>
          </p:cNvPr>
          <p:cNvSpPr/>
          <p:nvPr/>
        </p:nvSpPr>
        <p:spPr>
          <a:xfrm>
            <a:off x="7413959" y="4732535"/>
            <a:ext cx="2961768" cy="67335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Book" panose="02000503020000020003" pitchFamily="2" charset="0"/>
              </a:rPr>
              <a:t>Answer: 320 °F</a:t>
            </a:r>
          </a:p>
        </p:txBody>
      </p:sp>
      <p:cxnSp>
        <p:nvCxnSpPr>
          <p:cNvPr id="49" name="Curved Connector 48">
            <a:extLst>
              <a:ext uri="{FF2B5EF4-FFF2-40B4-BE49-F238E27FC236}">
                <a16:creationId xmlns:a16="http://schemas.microsoft.com/office/drawing/2014/main" id="{DFF0BC49-268F-9555-436E-59443FA2CC39}"/>
              </a:ext>
            </a:extLst>
          </p:cNvPr>
          <p:cNvCxnSpPr>
            <a:cxnSpLocks/>
            <a:stCxn id="20" idx="3"/>
            <a:endCxn id="46" idx="1"/>
          </p:cNvCxnSpPr>
          <p:nvPr/>
        </p:nvCxnSpPr>
        <p:spPr>
          <a:xfrm>
            <a:off x="6253375" y="4224451"/>
            <a:ext cx="1160584" cy="2874"/>
          </a:xfrm>
          <a:prstGeom prst="curvedConnector3">
            <a:avLst/>
          </a:prstGeom>
          <a:ln w="28575">
            <a:solidFill>
              <a:srgbClr val="AEB7C3"/>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3" name="Curved Connector 52">
            <a:extLst>
              <a:ext uri="{FF2B5EF4-FFF2-40B4-BE49-F238E27FC236}">
                <a16:creationId xmlns:a16="http://schemas.microsoft.com/office/drawing/2014/main" id="{D0C6829E-1FEA-F8A7-64AA-0F887DD0EBC8}"/>
              </a:ext>
            </a:extLst>
          </p:cNvPr>
          <p:cNvCxnSpPr>
            <a:cxnSpLocks/>
            <a:stCxn id="20" idx="3"/>
            <a:endCxn id="47" idx="1"/>
          </p:cNvCxnSpPr>
          <p:nvPr/>
        </p:nvCxnSpPr>
        <p:spPr>
          <a:xfrm flipV="1">
            <a:off x="6253375" y="3378586"/>
            <a:ext cx="1160584" cy="845865"/>
          </a:xfrm>
          <a:prstGeom prst="curvedConnector3">
            <a:avLst>
              <a:gd name="adj1" fmla="val 50000"/>
            </a:avLst>
          </a:prstGeom>
          <a:ln w="28575">
            <a:solidFill>
              <a:srgbClr val="AEB7C3"/>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6" name="Curved Connector 55">
            <a:extLst>
              <a:ext uri="{FF2B5EF4-FFF2-40B4-BE49-F238E27FC236}">
                <a16:creationId xmlns:a16="http://schemas.microsoft.com/office/drawing/2014/main" id="{C06FAA23-84EC-D6D6-3F61-D698FC702C07}"/>
              </a:ext>
            </a:extLst>
          </p:cNvPr>
          <p:cNvCxnSpPr>
            <a:cxnSpLocks/>
            <a:stCxn id="20" idx="3"/>
            <a:endCxn id="48" idx="1"/>
          </p:cNvCxnSpPr>
          <p:nvPr/>
        </p:nvCxnSpPr>
        <p:spPr>
          <a:xfrm>
            <a:off x="6253375" y="4224451"/>
            <a:ext cx="1160584" cy="844759"/>
          </a:xfrm>
          <a:prstGeom prst="curvedConnector3">
            <a:avLst>
              <a:gd name="adj1" fmla="val 50000"/>
            </a:avLst>
          </a:prstGeom>
          <a:ln w="28575">
            <a:solidFill>
              <a:srgbClr val="AEB7C3"/>
            </a:solidFill>
            <a:tailEnd type="stealth" w="lg" len="lg"/>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345B7E5-1CC3-E3ED-6F3E-65766FB1E38C}"/>
              </a:ext>
            </a:extLst>
          </p:cNvPr>
          <p:cNvSpPr txBox="1"/>
          <p:nvPr/>
        </p:nvSpPr>
        <p:spPr>
          <a:xfrm>
            <a:off x="139484" y="5650181"/>
            <a:ext cx="11510085" cy="1200329"/>
          </a:xfrm>
          <a:prstGeom prst="rect">
            <a:avLst/>
          </a:prstGeom>
          <a:noFill/>
        </p:spPr>
        <p:txBody>
          <a:bodyPr wrap="square">
            <a:spAutoFit/>
          </a:bodyPr>
          <a:lstStyle/>
          <a:p>
            <a:pPr algn="ctr"/>
            <a:r>
              <a:rPr lang="en-US" dirty="0">
                <a:solidFill>
                  <a:schemeClr val="bg1">
                    <a:lumMod val="50000"/>
                  </a:schemeClr>
                </a:solidFill>
                <a:latin typeface="Arial" panose="020B0604020202020204" pitchFamily="34" charset="0"/>
                <a:cs typeface="Arial" panose="020B0604020202020204" pitchFamily="34" charset="0"/>
              </a:rPr>
              <a:t>Cross-Task Generalization via Natural Language Crowdsourcing Instructions.</a:t>
            </a:r>
            <a:br>
              <a:rPr lang="en-US" dirty="0">
                <a:solidFill>
                  <a:schemeClr val="bg1">
                    <a:lumMod val="50000"/>
                  </a:schemeClr>
                </a:solidFill>
                <a:latin typeface="Arial" panose="020B0604020202020204" pitchFamily="34" charset="0"/>
                <a:cs typeface="Arial" panose="020B0604020202020204" pitchFamily="34" charset="0"/>
              </a:rPr>
            </a:br>
            <a:r>
              <a:rPr lang="en-US" dirty="0">
                <a:solidFill>
                  <a:schemeClr val="bg1">
                    <a:lumMod val="50000"/>
                  </a:schemeClr>
                </a:solidFill>
                <a:latin typeface="Arial" panose="020B0604020202020204" pitchFamily="34" charset="0"/>
                <a:cs typeface="Arial" panose="020B0604020202020204" pitchFamily="34" charset="0"/>
              </a:rPr>
              <a:t>Mishra, Khashabi, Baral and Hajishirzi. </a:t>
            </a:r>
            <a:r>
              <a:rPr lang="en-US" i="1" dirty="0">
                <a:solidFill>
                  <a:schemeClr val="bg1">
                    <a:lumMod val="50000"/>
                  </a:schemeClr>
                </a:solidFill>
                <a:latin typeface="Arial" panose="020B0604020202020204" pitchFamily="34" charset="0"/>
                <a:cs typeface="Arial" panose="020B0604020202020204" pitchFamily="34" charset="0"/>
              </a:rPr>
              <a:t>ACL</a:t>
            </a:r>
            <a:r>
              <a:rPr lang="en-US" dirty="0">
                <a:solidFill>
                  <a:schemeClr val="bg1">
                    <a:lumMod val="50000"/>
                  </a:schemeClr>
                </a:solidFill>
                <a:latin typeface="Arial" panose="020B0604020202020204" pitchFamily="34" charset="0"/>
                <a:cs typeface="Arial" panose="020B0604020202020204" pitchFamily="34" charset="0"/>
              </a:rPr>
              <a:t> 2021 </a:t>
            </a:r>
            <a:r>
              <a:rPr lang="en-US" b="1" dirty="0">
                <a:solidFill>
                  <a:schemeClr val="tx2"/>
                </a:solidFill>
                <a:latin typeface="Avenir Book" panose="02000503020000020003" pitchFamily="2" charset="0"/>
                <a:cs typeface="Consolas" panose="020B0609020204030204" pitchFamily="49" charset="0"/>
              </a:rPr>
              <a:t>🥇Ai2 Lasting Impact Award!🥇</a:t>
            </a:r>
          </a:p>
          <a:p>
            <a:pPr algn="ctr"/>
            <a:endParaRPr lang="en-US" b="1" dirty="0">
              <a:solidFill>
                <a:schemeClr val="tx2"/>
              </a:solidFill>
              <a:latin typeface="Avenir Book" panose="02000503020000020003" pitchFamily="2" charset="0"/>
              <a:cs typeface="Consolas" panose="020B0609020204030204" pitchFamily="49" charset="0"/>
            </a:endParaRPr>
          </a:p>
          <a:p>
            <a:pPr algn="ctr"/>
            <a:r>
              <a:rPr lang="en-US" dirty="0">
                <a:solidFill>
                  <a:schemeClr val="bg1">
                    <a:lumMod val="50000"/>
                  </a:schemeClr>
                </a:solidFill>
                <a:latin typeface="Arial" panose="020B0604020202020204" pitchFamily="34" charset="0"/>
                <a:cs typeface="Arial" panose="020B0604020202020204" pitchFamily="34" charset="0"/>
              </a:rPr>
              <a:t>Among others: </a:t>
            </a:r>
            <a:r>
              <a:rPr lang="en-US" spc="-5" dirty="0">
                <a:solidFill>
                  <a:schemeClr val="bg1">
                    <a:lumMod val="50000"/>
                  </a:schemeClr>
                </a:solidFill>
                <a:latin typeface="Arial" panose="020B0604020202020204" pitchFamily="34" charset="0"/>
                <a:cs typeface="Arial" panose="020B0604020202020204" pitchFamily="34" charset="0"/>
              </a:rPr>
              <a:t>Sanh et al. 2022; Chung et al. 2022, … . </a:t>
            </a:r>
            <a:endParaRPr lang="en-US" b="1" dirty="0">
              <a:solidFill>
                <a:schemeClr val="tx2"/>
              </a:solidFill>
              <a:latin typeface="Avenir Book" panose="02000503020000020003" pitchFamily="2" charset="0"/>
              <a:cs typeface="Consolas" panose="020B0609020204030204" pitchFamily="49" charset="0"/>
            </a:endParaRPr>
          </a:p>
        </p:txBody>
      </p:sp>
    </p:spTree>
    <p:extLst>
      <p:ext uri="{BB962C8B-B14F-4D97-AF65-F5344CB8AC3E}">
        <p14:creationId xmlns:p14="http://schemas.microsoft.com/office/powerpoint/2010/main" val="3573806436"/>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1"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par>
                                <p:cTn id="21" presetID="10" presetClass="entr" presetSubtype="0" fill="hold" grpId="1"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par>
                                <p:cTn id="24" presetID="10" presetClass="entr" presetSubtype="0" fill="hold" grpId="1"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par>
                                <p:cTn id="30" presetID="10" presetClass="entr" presetSubtype="0" fill="hold" grpId="1"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par>
                                <p:cTn id="33" presetID="10" presetClass="entr" presetSubtype="0" fill="hold" grpId="1"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nodeType="with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500"/>
                                        <p:tgtEl>
                                          <p:spTgt spid="39"/>
                                        </p:tgtEl>
                                      </p:cBhvr>
                                    </p:animEffect>
                                  </p:childTnLst>
                                </p:cTn>
                              </p:par>
                              <p:par>
                                <p:cTn id="39" presetID="10" presetClass="entr" presetSubtype="0" fill="hold" nodeType="withEffect">
                                  <p:stCondLst>
                                    <p:cond delay="0"/>
                                  </p:stCondLst>
                                  <p:childTnLst>
                                    <p:set>
                                      <p:cBhvr>
                                        <p:cTn id="40" dur="1" fill="hold">
                                          <p:stCondLst>
                                            <p:cond delay="0"/>
                                          </p:stCondLst>
                                        </p:cTn>
                                        <p:tgtEl>
                                          <p:spTgt spid="42"/>
                                        </p:tgtEl>
                                        <p:attrNameLst>
                                          <p:attrName>style.visibility</p:attrName>
                                        </p:attrNameLst>
                                      </p:cBhvr>
                                      <p:to>
                                        <p:strVal val="visible"/>
                                      </p:to>
                                    </p:set>
                                    <p:animEffect transition="in" filter="fade">
                                      <p:cBhvr>
                                        <p:cTn id="41" dur="500"/>
                                        <p:tgtEl>
                                          <p:spTgt spid="42"/>
                                        </p:tgtEl>
                                      </p:cBhvr>
                                    </p:animEffect>
                                  </p:childTnLst>
                                </p:cTn>
                              </p:par>
                              <p:par>
                                <p:cTn id="42" presetID="10" presetClass="entr" presetSubtype="0" fill="hold" grpId="1" nodeType="with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fade">
                                      <p:cBhvr>
                                        <p:cTn id="44" dur="500"/>
                                        <p:tgtEl>
                                          <p:spTgt spid="46"/>
                                        </p:tgtEl>
                                      </p:cBhvr>
                                    </p:animEffect>
                                  </p:childTnLst>
                                </p:cTn>
                              </p:par>
                              <p:par>
                                <p:cTn id="45" presetID="10" presetClass="entr" presetSubtype="0" fill="hold" grpId="1" nodeType="with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fade">
                                      <p:cBhvr>
                                        <p:cTn id="47" dur="500"/>
                                        <p:tgtEl>
                                          <p:spTgt spid="47"/>
                                        </p:tgtEl>
                                      </p:cBhvr>
                                    </p:animEffect>
                                  </p:childTnLst>
                                </p:cTn>
                              </p:par>
                              <p:par>
                                <p:cTn id="48" presetID="10" presetClass="entr" presetSubtype="0" fill="hold" grpId="1" nodeType="with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fade">
                                      <p:cBhvr>
                                        <p:cTn id="50" dur="500"/>
                                        <p:tgtEl>
                                          <p:spTgt spid="48"/>
                                        </p:tgtEl>
                                      </p:cBhvr>
                                    </p:animEffect>
                                  </p:childTnLst>
                                </p:cTn>
                              </p:par>
                              <p:par>
                                <p:cTn id="51" presetID="10" presetClass="entr" presetSubtype="0" fill="hold" nodeType="withEffect">
                                  <p:stCondLst>
                                    <p:cond delay="0"/>
                                  </p:stCondLst>
                                  <p:childTnLst>
                                    <p:set>
                                      <p:cBhvr>
                                        <p:cTn id="52" dur="1" fill="hold">
                                          <p:stCondLst>
                                            <p:cond delay="0"/>
                                          </p:stCondLst>
                                        </p:cTn>
                                        <p:tgtEl>
                                          <p:spTgt spid="49"/>
                                        </p:tgtEl>
                                        <p:attrNameLst>
                                          <p:attrName>style.visibility</p:attrName>
                                        </p:attrNameLst>
                                      </p:cBhvr>
                                      <p:to>
                                        <p:strVal val="visible"/>
                                      </p:to>
                                    </p:set>
                                    <p:animEffect transition="in" filter="fade">
                                      <p:cBhvr>
                                        <p:cTn id="53" dur="500"/>
                                        <p:tgtEl>
                                          <p:spTgt spid="49"/>
                                        </p:tgtEl>
                                      </p:cBhvr>
                                    </p:animEffect>
                                  </p:childTnLst>
                                </p:cTn>
                              </p:par>
                              <p:par>
                                <p:cTn id="54" presetID="10" presetClass="entr" presetSubtype="0" fill="hold" nodeType="withEffect">
                                  <p:stCondLst>
                                    <p:cond delay="0"/>
                                  </p:stCondLst>
                                  <p:childTnLst>
                                    <p:set>
                                      <p:cBhvr>
                                        <p:cTn id="55" dur="1" fill="hold">
                                          <p:stCondLst>
                                            <p:cond delay="0"/>
                                          </p:stCondLst>
                                        </p:cTn>
                                        <p:tgtEl>
                                          <p:spTgt spid="53"/>
                                        </p:tgtEl>
                                        <p:attrNameLst>
                                          <p:attrName>style.visibility</p:attrName>
                                        </p:attrNameLst>
                                      </p:cBhvr>
                                      <p:to>
                                        <p:strVal val="visible"/>
                                      </p:to>
                                    </p:set>
                                    <p:animEffect transition="in" filter="fade">
                                      <p:cBhvr>
                                        <p:cTn id="56" dur="500"/>
                                        <p:tgtEl>
                                          <p:spTgt spid="53"/>
                                        </p:tgtEl>
                                      </p:cBhvr>
                                    </p:animEffect>
                                  </p:childTnLst>
                                </p:cTn>
                              </p:par>
                              <p:par>
                                <p:cTn id="57" presetID="10" presetClass="entr" presetSubtype="0" fill="hold" nodeType="with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fade">
                                      <p:cBhvr>
                                        <p:cTn id="59" dur="500"/>
                                        <p:tgtEl>
                                          <p:spTgt spid="56"/>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xit" presetSubtype="0" fill="hold" grpId="0" nodeType="clickEffect">
                                  <p:stCondLst>
                                    <p:cond delay="0"/>
                                  </p:stCondLst>
                                  <p:childTnLst>
                                    <p:animEffect transition="out" filter="fade">
                                      <p:cBhvr>
                                        <p:cTn id="63" dur="500"/>
                                        <p:tgtEl>
                                          <p:spTgt spid="20"/>
                                        </p:tgtEl>
                                      </p:cBhvr>
                                    </p:animEffect>
                                    <p:set>
                                      <p:cBhvr>
                                        <p:cTn id="64" dur="1" fill="hold">
                                          <p:stCondLst>
                                            <p:cond delay="499"/>
                                          </p:stCondLst>
                                        </p:cTn>
                                        <p:tgtEl>
                                          <p:spTgt spid="20"/>
                                        </p:tgtEl>
                                        <p:attrNameLst>
                                          <p:attrName>style.visibility</p:attrName>
                                        </p:attrNameLst>
                                      </p:cBhvr>
                                      <p:to>
                                        <p:strVal val="hidden"/>
                                      </p:to>
                                    </p:set>
                                  </p:childTnLst>
                                </p:cTn>
                              </p:par>
                              <p:par>
                                <p:cTn id="65" presetID="10" presetClass="exit" presetSubtype="0" fill="hold" grpId="0" nodeType="withEffect">
                                  <p:stCondLst>
                                    <p:cond delay="0"/>
                                  </p:stCondLst>
                                  <p:childTnLst>
                                    <p:animEffect transition="out" filter="fade">
                                      <p:cBhvr>
                                        <p:cTn id="66" dur="500"/>
                                        <p:tgtEl>
                                          <p:spTgt spid="21"/>
                                        </p:tgtEl>
                                      </p:cBhvr>
                                    </p:animEffect>
                                    <p:set>
                                      <p:cBhvr>
                                        <p:cTn id="67" dur="1" fill="hold">
                                          <p:stCondLst>
                                            <p:cond delay="499"/>
                                          </p:stCondLst>
                                        </p:cTn>
                                        <p:tgtEl>
                                          <p:spTgt spid="21"/>
                                        </p:tgtEl>
                                        <p:attrNameLst>
                                          <p:attrName>style.visibility</p:attrName>
                                        </p:attrNameLst>
                                      </p:cBhvr>
                                      <p:to>
                                        <p:strVal val="hidden"/>
                                      </p:to>
                                    </p:set>
                                  </p:childTnLst>
                                </p:cTn>
                              </p:par>
                              <p:par>
                                <p:cTn id="68" presetID="10" presetClass="exit" presetSubtype="0" fill="hold" grpId="0" nodeType="withEffect">
                                  <p:stCondLst>
                                    <p:cond delay="0"/>
                                  </p:stCondLst>
                                  <p:childTnLst>
                                    <p:animEffect transition="out" filter="fade">
                                      <p:cBhvr>
                                        <p:cTn id="69" dur="500"/>
                                        <p:tgtEl>
                                          <p:spTgt spid="24"/>
                                        </p:tgtEl>
                                      </p:cBhvr>
                                    </p:animEffect>
                                    <p:set>
                                      <p:cBhvr>
                                        <p:cTn id="70" dur="1" fill="hold">
                                          <p:stCondLst>
                                            <p:cond delay="499"/>
                                          </p:stCondLst>
                                        </p:cTn>
                                        <p:tgtEl>
                                          <p:spTgt spid="24"/>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500"/>
                                        <p:tgtEl>
                                          <p:spTgt spid="26"/>
                                        </p:tgtEl>
                                      </p:cBhvr>
                                    </p:animEffect>
                                    <p:set>
                                      <p:cBhvr>
                                        <p:cTn id="73" dur="1" fill="hold">
                                          <p:stCondLst>
                                            <p:cond delay="499"/>
                                          </p:stCondLst>
                                        </p:cTn>
                                        <p:tgtEl>
                                          <p:spTgt spid="26"/>
                                        </p:tgtEl>
                                        <p:attrNameLst>
                                          <p:attrName>style.visibility</p:attrName>
                                        </p:attrNameLst>
                                      </p:cBhvr>
                                      <p:to>
                                        <p:strVal val="hidden"/>
                                      </p:to>
                                    </p:set>
                                  </p:childTnLst>
                                </p:cTn>
                              </p:par>
                              <p:par>
                                <p:cTn id="74" presetID="10" presetClass="exit" presetSubtype="0" fill="hold" grpId="0" nodeType="withEffect">
                                  <p:stCondLst>
                                    <p:cond delay="0"/>
                                  </p:stCondLst>
                                  <p:childTnLst>
                                    <p:animEffect transition="out" filter="fade">
                                      <p:cBhvr>
                                        <p:cTn id="75" dur="500"/>
                                        <p:tgtEl>
                                          <p:spTgt spid="29"/>
                                        </p:tgtEl>
                                      </p:cBhvr>
                                    </p:animEffect>
                                    <p:set>
                                      <p:cBhvr>
                                        <p:cTn id="76" dur="1" fill="hold">
                                          <p:stCondLst>
                                            <p:cond delay="499"/>
                                          </p:stCondLst>
                                        </p:cTn>
                                        <p:tgtEl>
                                          <p:spTgt spid="29"/>
                                        </p:tgtEl>
                                        <p:attrNameLst>
                                          <p:attrName>style.visibility</p:attrName>
                                        </p:attrNameLst>
                                      </p:cBhvr>
                                      <p:to>
                                        <p:strVal val="hidden"/>
                                      </p:to>
                                    </p:set>
                                  </p:childTnLst>
                                </p:cTn>
                              </p:par>
                              <p:par>
                                <p:cTn id="77" presetID="10" presetClass="exit" presetSubtype="0" fill="hold" grpId="0" nodeType="withEffect">
                                  <p:stCondLst>
                                    <p:cond delay="0"/>
                                  </p:stCondLst>
                                  <p:childTnLst>
                                    <p:animEffect transition="out" filter="fade">
                                      <p:cBhvr>
                                        <p:cTn id="78" dur="500"/>
                                        <p:tgtEl>
                                          <p:spTgt spid="32"/>
                                        </p:tgtEl>
                                      </p:cBhvr>
                                    </p:animEffect>
                                    <p:set>
                                      <p:cBhvr>
                                        <p:cTn id="79" dur="1" fill="hold">
                                          <p:stCondLst>
                                            <p:cond delay="499"/>
                                          </p:stCondLst>
                                        </p:cTn>
                                        <p:tgtEl>
                                          <p:spTgt spid="32"/>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500"/>
                                        <p:tgtEl>
                                          <p:spTgt spid="39"/>
                                        </p:tgtEl>
                                      </p:cBhvr>
                                    </p:animEffect>
                                    <p:set>
                                      <p:cBhvr>
                                        <p:cTn id="82" dur="1" fill="hold">
                                          <p:stCondLst>
                                            <p:cond delay="499"/>
                                          </p:stCondLst>
                                        </p:cTn>
                                        <p:tgtEl>
                                          <p:spTgt spid="39"/>
                                        </p:tgtEl>
                                        <p:attrNameLst>
                                          <p:attrName>style.visibility</p:attrName>
                                        </p:attrNameLst>
                                      </p:cBhvr>
                                      <p:to>
                                        <p:strVal val="hidden"/>
                                      </p:to>
                                    </p:set>
                                  </p:childTnLst>
                                </p:cTn>
                              </p:par>
                              <p:par>
                                <p:cTn id="83" presetID="10" presetClass="exit" presetSubtype="0" fill="hold" nodeType="withEffect">
                                  <p:stCondLst>
                                    <p:cond delay="0"/>
                                  </p:stCondLst>
                                  <p:childTnLst>
                                    <p:animEffect transition="out" filter="fade">
                                      <p:cBhvr>
                                        <p:cTn id="84" dur="500"/>
                                        <p:tgtEl>
                                          <p:spTgt spid="42"/>
                                        </p:tgtEl>
                                      </p:cBhvr>
                                    </p:animEffect>
                                    <p:set>
                                      <p:cBhvr>
                                        <p:cTn id="85" dur="1" fill="hold">
                                          <p:stCondLst>
                                            <p:cond delay="499"/>
                                          </p:stCondLst>
                                        </p:cTn>
                                        <p:tgtEl>
                                          <p:spTgt spid="42"/>
                                        </p:tgtEl>
                                        <p:attrNameLst>
                                          <p:attrName>style.visibility</p:attrName>
                                        </p:attrNameLst>
                                      </p:cBhvr>
                                      <p:to>
                                        <p:strVal val="hidden"/>
                                      </p:to>
                                    </p:set>
                                  </p:childTnLst>
                                </p:cTn>
                              </p:par>
                              <p:par>
                                <p:cTn id="86" presetID="10" presetClass="exit" presetSubtype="0" fill="hold" grpId="0" nodeType="withEffect">
                                  <p:stCondLst>
                                    <p:cond delay="0"/>
                                  </p:stCondLst>
                                  <p:childTnLst>
                                    <p:animEffect transition="out" filter="fade">
                                      <p:cBhvr>
                                        <p:cTn id="87" dur="500"/>
                                        <p:tgtEl>
                                          <p:spTgt spid="46"/>
                                        </p:tgtEl>
                                      </p:cBhvr>
                                    </p:animEffect>
                                    <p:set>
                                      <p:cBhvr>
                                        <p:cTn id="88" dur="1" fill="hold">
                                          <p:stCondLst>
                                            <p:cond delay="499"/>
                                          </p:stCondLst>
                                        </p:cTn>
                                        <p:tgtEl>
                                          <p:spTgt spid="46"/>
                                        </p:tgtEl>
                                        <p:attrNameLst>
                                          <p:attrName>style.visibility</p:attrName>
                                        </p:attrNameLst>
                                      </p:cBhvr>
                                      <p:to>
                                        <p:strVal val="hidden"/>
                                      </p:to>
                                    </p:set>
                                  </p:childTnLst>
                                </p:cTn>
                              </p:par>
                              <p:par>
                                <p:cTn id="89" presetID="10" presetClass="exit" presetSubtype="0" fill="hold" grpId="0" nodeType="withEffect">
                                  <p:stCondLst>
                                    <p:cond delay="0"/>
                                  </p:stCondLst>
                                  <p:childTnLst>
                                    <p:animEffect transition="out" filter="fade">
                                      <p:cBhvr>
                                        <p:cTn id="90" dur="500"/>
                                        <p:tgtEl>
                                          <p:spTgt spid="47"/>
                                        </p:tgtEl>
                                      </p:cBhvr>
                                    </p:animEffect>
                                    <p:set>
                                      <p:cBhvr>
                                        <p:cTn id="91" dur="1" fill="hold">
                                          <p:stCondLst>
                                            <p:cond delay="499"/>
                                          </p:stCondLst>
                                        </p:cTn>
                                        <p:tgtEl>
                                          <p:spTgt spid="47"/>
                                        </p:tgtEl>
                                        <p:attrNameLst>
                                          <p:attrName>style.visibility</p:attrName>
                                        </p:attrNameLst>
                                      </p:cBhvr>
                                      <p:to>
                                        <p:strVal val="hidden"/>
                                      </p:to>
                                    </p:set>
                                  </p:childTnLst>
                                </p:cTn>
                              </p:par>
                              <p:par>
                                <p:cTn id="92" presetID="10" presetClass="exit" presetSubtype="0" fill="hold" grpId="0" nodeType="withEffect">
                                  <p:stCondLst>
                                    <p:cond delay="0"/>
                                  </p:stCondLst>
                                  <p:childTnLst>
                                    <p:animEffect transition="out" filter="fade">
                                      <p:cBhvr>
                                        <p:cTn id="93" dur="500"/>
                                        <p:tgtEl>
                                          <p:spTgt spid="48"/>
                                        </p:tgtEl>
                                      </p:cBhvr>
                                    </p:animEffect>
                                    <p:set>
                                      <p:cBhvr>
                                        <p:cTn id="94" dur="1" fill="hold">
                                          <p:stCondLst>
                                            <p:cond delay="499"/>
                                          </p:stCondLst>
                                        </p:cTn>
                                        <p:tgtEl>
                                          <p:spTgt spid="48"/>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500"/>
                                        <p:tgtEl>
                                          <p:spTgt spid="49"/>
                                        </p:tgtEl>
                                      </p:cBhvr>
                                    </p:animEffect>
                                    <p:set>
                                      <p:cBhvr>
                                        <p:cTn id="97" dur="1" fill="hold">
                                          <p:stCondLst>
                                            <p:cond delay="499"/>
                                          </p:stCondLst>
                                        </p:cTn>
                                        <p:tgtEl>
                                          <p:spTgt spid="49"/>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500"/>
                                        <p:tgtEl>
                                          <p:spTgt spid="53"/>
                                        </p:tgtEl>
                                      </p:cBhvr>
                                    </p:animEffect>
                                    <p:set>
                                      <p:cBhvr>
                                        <p:cTn id="100" dur="1" fill="hold">
                                          <p:stCondLst>
                                            <p:cond delay="499"/>
                                          </p:stCondLst>
                                        </p:cTn>
                                        <p:tgtEl>
                                          <p:spTgt spid="53"/>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500"/>
                                        <p:tgtEl>
                                          <p:spTgt spid="56"/>
                                        </p:tgtEl>
                                      </p:cBhvr>
                                    </p:animEffect>
                                    <p:set>
                                      <p:cBhvr>
                                        <p:cTn id="103" dur="1" fill="hold">
                                          <p:stCondLst>
                                            <p:cond delay="499"/>
                                          </p:stCondLst>
                                        </p:cTn>
                                        <p:tgtEl>
                                          <p:spTgt spid="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1" grpId="0"/>
      <p:bldP spid="21" grpId="1"/>
      <p:bldP spid="24" grpId="0" animBg="1"/>
      <p:bldP spid="24" grpId="1" animBg="1"/>
      <p:bldP spid="29" grpId="0" animBg="1"/>
      <p:bldP spid="29" grpId="1" animBg="1"/>
      <p:bldP spid="32" grpId="0" animBg="1"/>
      <p:bldP spid="32" grpId="1" animBg="1"/>
      <p:bldP spid="46" grpId="0" animBg="1"/>
      <p:bldP spid="46" grpId="1" animBg="1"/>
      <p:bldP spid="47" grpId="0" animBg="1"/>
      <p:bldP spid="47" grpId="1" animBg="1"/>
      <p:bldP spid="48" grpId="0" animBg="1"/>
      <p:bldP spid="48" grpId="1" animBg="1"/>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F00D0-6304-581E-172A-55D9B169A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BB566-4B62-4C4C-9BC0-5ADEF0D6CAAA}"/>
              </a:ext>
            </a:extLst>
          </p:cNvPr>
          <p:cNvSpPr>
            <a:spLocks noGrp="1"/>
          </p:cNvSpPr>
          <p:nvPr>
            <p:ph type="title"/>
          </p:nvPr>
        </p:nvSpPr>
        <p:spPr/>
        <p:txBody>
          <a:bodyPr/>
          <a:lstStyle/>
          <a:p>
            <a:r>
              <a:rPr lang="en-US" dirty="0"/>
              <a:t>Recipe: (2) Post-training</a:t>
            </a:r>
          </a:p>
        </p:txBody>
      </p:sp>
      <p:sp>
        <p:nvSpPr>
          <p:cNvPr id="3" name="Content Placeholder 2">
            <a:extLst>
              <a:ext uri="{FF2B5EF4-FFF2-40B4-BE49-F238E27FC236}">
                <a16:creationId xmlns:a16="http://schemas.microsoft.com/office/drawing/2014/main" id="{8FFC4D6F-E0A7-AF77-C07F-290A05ECA768}"/>
              </a:ext>
            </a:extLst>
          </p:cNvPr>
          <p:cNvSpPr>
            <a:spLocks noGrp="1"/>
          </p:cNvSpPr>
          <p:nvPr>
            <p:ph idx="1"/>
          </p:nvPr>
        </p:nvSpPr>
        <p:spPr/>
        <p:txBody>
          <a:bodyPr/>
          <a:lstStyle/>
          <a:p>
            <a:r>
              <a:rPr lang="en-US" dirty="0"/>
              <a:t>“Aligning” LMs to respect our intents embedded in instructions. </a:t>
            </a:r>
          </a:p>
          <a:p>
            <a:pPr lvl="1"/>
            <a:r>
              <a:rPr lang="en-US" dirty="0"/>
              <a:t>Supervised Fine-tuning (SFT/behavior cloning) with labeled data.</a:t>
            </a:r>
          </a:p>
          <a:p>
            <a:pPr lvl="1"/>
            <a:r>
              <a:rPr lang="en-US" dirty="0"/>
              <a:t>Reinforcement Learning on preference data or verifiers.  </a:t>
            </a:r>
          </a:p>
          <a:p>
            <a:pPr lvl="1"/>
            <a:endParaRPr lang="en-US" dirty="0"/>
          </a:p>
          <a:p>
            <a:pPr marL="457200" lvl="1" indent="0">
              <a:buNone/>
            </a:pPr>
            <a:r>
              <a:rPr lang="en-US" dirty="0"/>
              <a:t> </a:t>
            </a:r>
          </a:p>
          <a:p>
            <a:endParaRPr lang="en-US" dirty="0"/>
          </a:p>
        </p:txBody>
      </p:sp>
      <p:sp>
        <p:nvSpPr>
          <p:cNvPr id="4" name="Slide Number Placeholder 3">
            <a:extLst>
              <a:ext uri="{FF2B5EF4-FFF2-40B4-BE49-F238E27FC236}">
                <a16:creationId xmlns:a16="http://schemas.microsoft.com/office/drawing/2014/main" id="{C094334D-D7E6-8419-6410-03D937344BAA}"/>
              </a:ext>
            </a:extLst>
          </p:cNvPr>
          <p:cNvSpPr>
            <a:spLocks noGrp="1"/>
          </p:cNvSpPr>
          <p:nvPr>
            <p:ph type="sldNum" sz="quarter" idx="10"/>
          </p:nvPr>
        </p:nvSpPr>
        <p:spPr/>
        <p:txBody>
          <a:bodyPr/>
          <a:lstStyle/>
          <a:p>
            <a:pPr>
              <a:defRPr/>
            </a:pPr>
            <a:fld id="{0121240C-47AF-2F4D-83B3-CC3EDF50F794}" type="slidenum">
              <a:rPr lang="en-US" smtClean="0"/>
              <a:pPr>
                <a:defRPr/>
              </a:pPr>
              <a:t>20</a:t>
            </a:fld>
            <a:endParaRPr lang="en-US"/>
          </a:p>
        </p:txBody>
      </p:sp>
      <p:sp>
        <p:nvSpPr>
          <p:cNvPr id="5" name="Rounded Rectangle 4">
            <a:extLst>
              <a:ext uri="{FF2B5EF4-FFF2-40B4-BE49-F238E27FC236}">
                <a16:creationId xmlns:a16="http://schemas.microsoft.com/office/drawing/2014/main" id="{D5D997A9-85F0-5E3F-F07F-F696D915AD32}"/>
              </a:ext>
            </a:extLst>
          </p:cNvPr>
          <p:cNvSpPr/>
          <p:nvPr/>
        </p:nvSpPr>
        <p:spPr>
          <a:xfrm>
            <a:off x="5181617" y="3778771"/>
            <a:ext cx="1059818" cy="891157"/>
          </a:xfrm>
          <a:prstGeom prst="round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latin typeface="Avenir Book" panose="02000503020000020003" pitchFamily="2" charset="0"/>
              </a:rPr>
              <a:t>LM</a:t>
            </a:r>
          </a:p>
        </p:txBody>
      </p:sp>
      <p:sp>
        <p:nvSpPr>
          <p:cNvPr id="6" name="Rounded Rectangle 5">
            <a:extLst>
              <a:ext uri="{FF2B5EF4-FFF2-40B4-BE49-F238E27FC236}">
                <a16:creationId xmlns:a16="http://schemas.microsoft.com/office/drawing/2014/main" id="{8431CD96-19F6-EB4F-EC7D-343AB614098E}"/>
              </a:ext>
            </a:extLst>
          </p:cNvPr>
          <p:cNvSpPr/>
          <p:nvPr/>
        </p:nvSpPr>
        <p:spPr>
          <a:xfrm>
            <a:off x="1180574" y="3804530"/>
            <a:ext cx="2950045" cy="79508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venir Book" panose="02000503020000020003" pitchFamily="2" charset="0"/>
              </a:rPr>
              <a:t>Explain ”space elevators” to a 6-year-old. </a:t>
            </a:r>
          </a:p>
        </p:txBody>
      </p:sp>
      <p:cxnSp>
        <p:nvCxnSpPr>
          <p:cNvPr id="17" name="Straight Arrow Connector 16">
            <a:extLst>
              <a:ext uri="{FF2B5EF4-FFF2-40B4-BE49-F238E27FC236}">
                <a16:creationId xmlns:a16="http://schemas.microsoft.com/office/drawing/2014/main" id="{A2818B90-F957-9195-E6C5-21A4A4A5D702}"/>
              </a:ext>
            </a:extLst>
          </p:cNvPr>
          <p:cNvCxnSpPr>
            <a:cxnSpLocks/>
          </p:cNvCxnSpPr>
          <p:nvPr/>
        </p:nvCxnSpPr>
        <p:spPr>
          <a:xfrm>
            <a:off x="4373223" y="4219330"/>
            <a:ext cx="469985"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cxnSp>
        <p:nvCxnSpPr>
          <p:cNvPr id="18" name="Straight Arrow Connector 17">
            <a:extLst>
              <a:ext uri="{FF2B5EF4-FFF2-40B4-BE49-F238E27FC236}">
                <a16:creationId xmlns:a16="http://schemas.microsoft.com/office/drawing/2014/main" id="{54448CEE-5B4F-7E6F-E110-61111054749E}"/>
              </a:ext>
            </a:extLst>
          </p:cNvPr>
          <p:cNvCxnSpPr>
            <a:cxnSpLocks/>
          </p:cNvCxnSpPr>
          <p:nvPr/>
        </p:nvCxnSpPr>
        <p:spPr>
          <a:xfrm>
            <a:off x="6560864" y="4218126"/>
            <a:ext cx="469985"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19" name="Rounded Rectangle 18">
            <a:extLst>
              <a:ext uri="{FF2B5EF4-FFF2-40B4-BE49-F238E27FC236}">
                <a16:creationId xmlns:a16="http://schemas.microsoft.com/office/drawing/2014/main" id="{A35199FA-1E7C-2579-1F7A-7835852DA531}"/>
              </a:ext>
            </a:extLst>
          </p:cNvPr>
          <p:cNvSpPr/>
          <p:nvPr/>
        </p:nvSpPr>
        <p:spPr>
          <a:xfrm>
            <a:off x="9945377" y="3776304"/>
            <a:ext cx="937970" cy="809443"/>
          </a:xfrm>
          <a:prstGeom prst="roundRect">
            <a:avLst/>
          </a:prstGeom>
          <a:solidFill>
            <a:srgbClr val="FFD9D5"/>
          </a:solidFill>
          <a:ln>
            <a:solidFill>
              <a:srgbClr val="C00000"/>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3600" b="1" dirty="0">
                <a:latin typeface="Avenir Book" panose="02000503020000020003" pitchFamily="2" charset="0"/>
              </a:rPr>
              <a:t>R</a:t>
            </a:r>
          </a:p>
        </p:txBody>
      </p:sp>
      <p:sp>
        <p:nvSpPr>
          <p:cNvPr id="20" name="Rounded Rectangle 19">
            <a:extLst>
              <a:ext uri="{FF2B5EF4-FFF2-40B4-BE49-F238E27FC236}">
                <a16:creationId xmlns:a16="http://schemas.microsoft.com/office/drawing/2014/main" id="{FB5A52C0-1E49-B07A-15F5-CB5AFE3FF70B}"/>
              </a:ext>
            </a:extLst>
          </p:cNvPr>
          <p:cNvSpPr/>
          <p:nvPr/>
        </p:nvSpPr>
        <p:spPr>
          <a:xfrm>
            <a:off x="7170333" y="3872033"/>
            <a:ext cx="1908355" cy="666427"/>
          </a:xfrm>
          <a:prstGeom prst="roundRect">
            <a:avLst>
              <a:gd name="adj" fmla="val 997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venir Book" panose="02000503020000020003" pitchFamily="2" charset="0"/>
              </a:rPr>
              <a:t>It is basically …. </a:t>
            </a:r>
          </a:p>
        </p:txBody>
      </p:sp>
      <p:cxnSp>
        <p:nvCxnSpPr>
          <p:cNvPr id="21" name="Straight Arrow Connector 20">
            <a:extLst>
              <a:ext uri="{FF2B5EF4-FFF2-40B4-BE49-F238E27FC236}">
                <a16:creationId xmlns:a16="http://schemas.microsoft.com/office/drawing/2014/main" id="{05BDB489-9678-31E2-CBD7-17A87DE77D83}"/>
              </a:ext>
            </a:extLst>
          </p:cNvPr>
          <p:cNvCxnSpPr>
            <a:cxnSpLocks/>
          </p:cNvCxnSpPr>
          <p:nvPr/>
        </p:nvCxnSpPr>
        <p:spPr>
          <a:xfrm>
            <a:off x="9224646" y="4205247"/>
            <a:ext cx="469985"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cxnSp>
        <p:nvCxnSpPr>
          <p:cNvPr id="22" name="Curved Connector 21">
            <a:extLst>
              <a:ext uri="{FF2B5EF4-FFF2-40B4-BE49-F238E27FC236}">
                <a16:creationId xmlns:a16="http://schemas.microsoft.com/office/drawing/2014/main" id="{CE023F33-6C10-EBDB-4434-CF7480C221D8}"/>
              </a:ext>
            </a:extLst>
          </p:cNvPr>
          <p:cNvCxnSpPr>
            <a:cxnSpLocks/>
            <a:stCxn id="19" idx="0"/>
            <a:endCxn id="5" idx="0"/>
          </p:cNvCxnSpPr>
          <p:nvPr/>
        </p:nvCxnSpPr>
        <p:spPr>
          <a:xfrm rot="16200000" flipH="1" flipV="1">
            <a:off x="8061710" y="1426119"/>
            <a:ext cx="2467" cy="4702836"/>
          </a:xfrm>
          <a:prstGeom prst="curvedConnector3">
            <a:avLst>
              <a:gd name="adj1" fmla="val -21273450"/>
            </a:avLst>
          </a:prstGeom>
          <a:ln w="66675">
            <a:solidFill>
              <a:srgbClr val="AFB8C3"/>
            </a:solidFill>
            <a:prstDash val="sysDot"/>
            <a:tailEnd type="triangle" w="med" len="med"/>
          </a:ln>
        </p:spPr>
        <p:style>
          <a:lnRef idx="1">
            <a:schemeClr val="accent1"/>
          </a:lnRef>
          <a:fillRef idx="0">
            <a:schemeClr val="accent1"/>
          </a:fillRef>
          <a:effectRef idx="0">
            <a:schemeClr val="accent1"/>
          </a:effectRef>
          <a:fontRef idx="minor">
            <a:schemeClr val="tx1"/>
          </a:fontRef>
        </p:style>
      </p:cxnSp>
      <p:sp>
        <p:nvSpPr>
          <p:cNvPr id="23" name="object 17">
            <a:extLst>
              <a:ext uri="{FF2B5EF4-FFF2-40B4-BE49-F238E27FC236}">
                <a16:creationId xmlns:a16="http://schemas.microsoft.com/office/drawing/2014/main" id="{396DC51F-FDE7-5A75-D46E-F63E44E7C6B8}"/>
              </a:ext>
            </a:extLst>
          </p:cNvPr>
          <p:cNvSpPr txBox="1"/>
          <p:nvPr/>
        </p:nvSpPr>
        <p:spPr>
          <a:xfrm>
            <a:off x="1266697" y="6532032"/>
            <a:ext cx="9318781" cy="289823"/>
          </a:xfrm>
          <a:prstGeom prst="rect">
            <a:avLst/>
          </a:prstGeom>
        </p:spPr>
        <p:txBody>
          <a:bodyPr vert="horz" wrap="square" lIns="0" tIns="12700" rIns="0" bIns="0" rtlCol="0">
            <a:spAutoFit/>
          </a:bodyPr>
          <a:lstStyle/>
          <a:p>
            <a:pPr marL="12700" algn="ctr">
              <a:spcBef>
                <a:spcPts val="100"/>
              </a:spcBef>
            </a:pPr>
            <a:r>
              <a:rPr lang="en-US" spc="-5" dirty="0">
                <a:solidFill>
                  <a:schemeClr val="bg1">
                    <a:lumMod val="50000"/>
                  </a:schemeClr>
                </a:solidFill>
                <a:latin typeface="Arial" panose="020B0604020202020204" pitchFamily="34" charset="0"/>
                <a:cs typeface="Arial" panose="020B0604020202020204" pitchFamily="34" charset="0"/>
              </a:rPr>
              <a:t>Christiano et al. 2017; </a:t>
            </a:r>
            <a:r>
              <a:rPr lang="en-US" spc="-5" dirty="0" err="1">
                <a:solidFill>
                  <a:schemeClr val="bg1">
                    <a:lumMod val="50000"/>
                  </a:schemeClr>
                </a:solidFill>
                <a:latin typeface="Arial" panose="020B0604020202020204" pitchFamily="34" charset="0"/>
                <a:cs typeface="Arial" panose="020B0604020202020204" pitchFamily="34" charset="0"/>
              </a:rPr>
              <a:t>Stiennon</a:t>
            </a:r>
            <a:r>
              <a:rPr lang="en-US" spc="-5" dirty="0">
                <a:solidFill>
                  <a:schemeClr val="bg1">
                    <a:lumMod val="50000"/>
                  </a:schemeClr>
                </a:solidFill>
                <a:latin typeface="Arial" panose="020B0604020202020204" pitchFamily="34" charset="0"/>
                <a:cs typeface="Arial" panose="020B0604020202020204" pitchFamily="34" charset="0"/>
              </a:rPr>
              <a:t> et al. 2020; Ouyang et al., 2022; many others</a:t>
            </a:r>
            <a:endParaRPr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634196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par>
                                <p:cTn id="26" presetID="10"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9" grpId="0" animBg="1"/>
      <p:bldP spid="2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5F2E0-F383-1104-DA0C-2344FB613703}"/>
              </a:ext>
            </a:extLst>
          </p:cNvPr>
          <p:cNvSpPr>
            <a:spLocks noGrp="1"/>
          </p:cNvSpPr>
          <p:nvPr>
            <p:ph type="title"/>
          </p:nvPr>
        </p:nvSpPr>
        <p:spPr/>
        <p:txBody>
          <a:bodyPr/>
          <a:lstStyle/>
          <a:p>
            <a:r>
              <a:rPr lang="en-US" dirty="0"/>
              <a:t>Scaling Recipe: The whole thing</a:t>
            </a:r>
          </a:p>
        </p:txBody>
      </p:sp>
      <p:sp>
        <p:nvSpPr>
          <p:cNvPr id="3" name="Content Placeholder 2">
            <a:extLst>
              <a:ext uri="{FF2B5EF4-FFF2-40B4-BE49-F238E27FC236}">
                <a16:creationId xmlns:a16="http://schemas.microsoft.com/office/drawing/2014/main" id="{382EB0C1-E8F6-AED5-2F46-B4D60E09BBA7}"/>
              </a:ext>
            </a:extLst>
          </p:cNvPr>
          <p:cNvSpPr>
            <a:spLocks noGrp="1"/>
          </p:cNvSpPr>
          <p:nvPr>
            <p:ph idx="1"/>
          </p:nvPr>
        </p:nvSpPr>
        <p:spPr/>
        <p:txBody>
          <a:bodyPr/>
          <a:lstStyle/>
          <a:p>
            <a:r>
              <a:rPr lang="en-US" dirty="0"/>
              <a:t>Almost all the reasoning models follow this recipe: </a:t>
            </a:r>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C8E63DEA-A959-C138-F3F2-E3C27AE6CD8E}"/>
              </a:ext>
            </a:extLst>
          </p:cNvPr>
          <p:cNvSpPr>
            <a:spLocks noGrp="1"/>
          </p:cNvSpPr>
          <p:nvPr>
            <p:ph type="sldNum" sz="quarter" idx="10"/>
          </p:nvPr>
        </p:nvSpPr>
        <p:spPr/>
        <p:txBody>
          <a:bodyPr/>
          <a:lstStyle/>
          <a:p>
            <a:pPr>
              <a:defRPr/>
            </a:pPr>
            <a:fld id="{0121240C-47AF-2F4D-83B3-CC3EDF50F794}" type="slidenum">
              <a:rPr lang="en-US" smtClean="0"/>
              <a:pPr>
                <a:defRPr/>
              </a:pPr>
              <a:t>21</a:t>
            </a:fld>
            <a:endParaRPr lang="en-US"/>
          </a:p>
        </p:txBody>
      </p:sp>
      <p:graphicFrame>
        <p:nvGraphicFramePr>
          <p:cNvPr id="5" name="Diagram 4">
            <a:extLst>
              <a:ext uri="{FF2B5EF4-FFF2-40B4-BE49-F238E27FC236}">
                <a16:creationId xmlns:a16="http://schemas.microsoft.com/office/drawing/2014/main" id="{FAB1E34E-4469-CEB4-3816-DE48F16B3CEF}"/>
              </a:ext>
            </a:extLst>
          </p:cNvPr>
          <p:cNvGraphicFramePr/>
          <p:nvPr/>
        </p:nvGraphicFramePr>
        <p:xfrm>
          <a:off x="1796845" y="3853938"/>
          <a:ext cx="8598309" cy="14895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83271536"/>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A4E38-7147-5CBA-F25E-5394F6B08024}"/>
              </a:ext>
            </a:extLst>
          </p:cNvPr>
          <p:cNvSpPr>
            <a:spLocks noGrp="1"/>
          </p:cNvSpPr>
          <p:nvPr>
            <p:ph type="title"/>
          </p:nvPr>
        </p:nvSpPr>
        <p:spPr/>
        <p:txBody>
          <a:bodyPr/>
          <a:lstStyle/>
          <a:p>
            <a:r>
              <a:rPr lang="en-US" dirty="0"/>
              <a:t>Demo time: a pre-trained model </a:t>
            </a:r>
          </a:p>
        </p:txBody>
      </p:sp>
      <p:sp>
        <p:nvSpPr>
          <p:cNvPr id="3" name="Content Placeholder 2">
            <a:extLst>
              <a:ext uri="{FF2B5EF4-FFF2-40B4-BE49-F238E27FC236}">
                <a16:creationId xmlns:a16="http://schemas.microsoft.com/office/drawing/2014/main" id="{4071C06D-B7A5-E4E8-BE31-EB69F50D36A8}"/>
              </a:ext>
            </a:extLst>
          </p:cNvPr>
          <p:cNvSpPr>
            <a:spLocks noGrp="1"/>
          </p:cNvSpPr>
          <p:nvPr>
            <p:ph idx="1"/>
          </p:nvPr>
        </p:nvSpPr>
        <p:spPr/>
        <p:txBody>
          <a:bodyPr/>
          <a:lstStyle/>
          <a:p>
            <a:r>
              <a:rPr lang="en-US" dirty="0">
                <a:hlinkClick r:id="rId2"/>
              </a:rPr>
              <a:t>https://gist.github.com/danyaljj/3ac2f34651d6d9dd4b422daa09dd282a</a:t>
            </a:r>
            <a:r>
              <a:rPr lang="en-US" dirty="0"/>
              <a:t> </a:t>
            </a:r>
          </a:p>
        </p:txBody>
      </p:sp>
      <p:sp>
        <p:nvSpPr>
          <p:cNvPr id="4" name="Slide Number Placeholder 3">
            <a:extLst>
              <a:ext uri="{FF2B5EF4-FFF2-40B4-BE49-F238E27FC236}">
                <a16:creationId xmlns:a16="http://schemas.microsoft.com/office/drawing/2014/main" id="{F3F75B23-AAB6-840A-8F97-0C51857F50A4}"/>
              </a:ext>
            </a:extLst>
          </p:cNvPr>
          <p:cNvSpPr>
            <a:spLocks noGrp="1"/>
          </p:cNvSpPr>
          <p:nvPr>
            <p:ph type="sldNum" sz="quarter" idx="10"/>
          </p:nvPr>
        </p:nvSpPr>
        <p:spPr/>
        <p:txBody>
          <a:bodyPr/>
          <a:lstStyle/>
          <a:p>
            <a:pPr>
              <a:defRPr/>
            </a:pPr>
            <a:fld id="{0121240C-47AF-2F4D-83B3-CC3EDF50F794}" type="slidenum">
              <a:rPr lang="en-US" smtClean="0"/>
              <a:pPr>
                <a:defRPr/>
              </a:pPr>
              <a:t>22</a:t>
            </a:fld>
            <a:endParaRPr lang="en-US"/>
          </a:p>
        </p:txBody>
      </p:sp>
      <p:graphicFrame>
        <p:nvGraphicFramePr>
          <p:cNvPr id="5" name="Diagram 4">
            <a:extLst>
              <a:ext uri="{FF2B5EF4-FFF2-40B4-BE49-F238E27FC236}">
                <a16:creationId xmlns:a16="http://schemas.microsoft.com/office/drawing/2014/main" id="{E730A923-A320-F3BF-A02A-2F5A5C5D69A4}"/>
              </a:ext>
            </a:extLst>
          </p:cNvPr>
          <p:cNvGraphicFramePr/>
          <p:nvPr/>
        </p:nvGraphicFramePr>
        <p:xfrm>
          <a:off x="1796845" y="3853938"/>
          <a:ext cx="8598309" cy="14895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63004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40B02-8483-AC4E-39FF-B41A8FA493AD}"/>
              </a:ext>
            </a:extLst>
          </p:cNvPr>
          <p:cNvSpPr>
            <a:spLocks noGrp="1"/>
          </p:cNvSpPr>
          <p:nvPr>
            <p:ph type="title"/>
          </p:nvPr>
        </p:nvSpPr>
        <p:spPr>
          <a:xfrm>
            <a:off x="200025" y="5684170"/>
            <a:ext cx="11830050" cy="1006475"/>
          </a:xfrm>
        </p:spPr>
        <p:txBody>
          <a:bodyPr/>
          <a:lstStyle/>
          <a:p>
            <a:r>
              <a:rPr lang="en-US" sz="4400" dirty="0"/>
              <a:t>Our overnight success was </a:t>
            </a:r>
            <a:br>
              <a:rPr lang="en-US" sz="4400" dirty="0"/>
            </a:br>
            <a:r>
              <a:rPr lang="en-US" sz="4400" dirty="0"/>
              <a:t>70 years in the making! </a:t>
            </a:r>
            <a:endParaRPr lang="en-US" dirty="0"/>
          </a:p>
        </p:txBody>
      </p:sp>
      <p:pic>
        <p:nvPicPr>
          <p:cNvPr id="6" name="Content Placeholder 5" descr="A picture containing pattern, symmetry, sketch, art&#10;&#10;Description automatically generated">
            <a:extLst>
              <a:ext uri="{FF2B5EF4-FFF2-40B4-BE49-F238E27FC236}">
                <a16:creationId xmlns:a16="http://schemas.microsoft.com/office/drawing/2014/main" id="{9EE22A7E-1AB2-E817-A271-D99D21EC81A8}"/>
              </a:ext>
            </a:extLst>
          </p:cNvPr>
          <p:cNvPicPr>
            <a:picLocks noGrp="1" noChangeAspect="1"/>
          </p:cNvPicPr>
          <p:nvPr>
            <p:ph idx="1"/>
          </p:nvPr>
        </p:nvPicPr>
        <p:blipFill>
          <a:blip r:embed="rId3"/>
          <a:stretch>
            <a:fillRect/>
          </a:stretch>
        </p:blipFill>
        <p:spPr>
          <a:xfrm>
            <a:off x="4786546" y="385010"/>
            <a:ext cx="2899629" cy="1265445"/>
          </a:xfrm>
        </p:spPr>
      </p:pic>
      <p:sp>
        <p:nvSpPr>
          <p:cNvPr id="4" name="Slide Number Placeholder 3">
            <a:extLst>
              <a:ext uri="{FF2B5EF4-FFF2-40B4-BE49-F238E27FC236}">
                <a16:creationId xmlns:a16="http://schemas.microsoft.com/office/drawing/2014/main" id="{FEEA8D7E-3C94-F0E7-AA73-644B7ACE4DF9}"/>
              </a:ext>
            </a:extLst>
          </p:cNvPr>
          <p:cNvSpPr>
            <a:spLocks noGrp="1"/>
          </p:cNvSpPr>
          <p:nvPr>
            <p:ph type="sldNum" sz="quarter" idx="10"/>
          </p:nvPr>
        </p:nvSpPr>
        <p:spPr/>
        <p:txBody>
          <a:bodyPr/>
          <a:lstStyle/>
          <a:p>
            <a:pPr>
              <a:defRPr/>
            </a:pPr>
            <a:fld id="{0121240C-47AF-2F4D-83B3-CC3EDF50F794}" type="slidenum">
              <a:rPr lang="en-US" smtClean="0"/>
              <a:pPr>
                <a:defRPr/>
              </a:pPr>
              <a:t>23</a:t>
            </a:fld>
            <a:endParaRPr lang="en-US" dirty="0"/>
          </a:p>
        </p:txBody>
      </p:sp>
      <p:pic>
        <p:nvPicPr>
          <p:cNvPr id="2050" name="Picture 2" descr="Abstract People Connection Technology Concept With Dotted World Globe  Global Business Concept And Internet Technology Background Modern Company  Processes Analytical Networks Vector Illustration Stock Illustration -  Download Image Now - iStock">
            <a:extLst>
              <a:ext uri="{FF2B5EF4-FFF2-40B4-BE49-F238E27FC236}">
                <a16:creationId xmlns:a16="http://schemas.microsoft.com/office/drawing/2014/main" id="{2413A905-75AA-CB91-AC5D-C9C33973CB6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376" t="13544" r="8462" b="14474"/>
          <a:stretch/>
        </p:blipFill>
        <p:spPr bwMode="auto">
          <a:xfrm>
            <a:off x="1076491" y="3698730"/>
            <a:ext cx="2118142" cy="133460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a:extLst>
              <a:ext uri="{FF2B5EF4-FFF2-40B4-BE49-F238E27FC236}">
                <a16:creationId xmlns:a16="http://schemas.microsoft.com/office/drawing/2014/main" id="{CD0725CF-E76A-EB8F-39ED-578E9540EB2C}"/>
              </a:ext>
            </a:extLst>
          </p:cNvPr>
          <p:cNvSpPr/>
          <p:nvPr/>
        </p:nvSpPr>
        <p:spPr>
          <a:xfrm>
            <a:off x="5153720" y="1492321"/>
            <a:ext cx="2175437" cy="984179"/>
          </a:xfrm>
          <a:custGeom>
            <a:avLst/>
            <a:gdLst>
              <a:gd name="connsiteX0" fmla="*/ 0 w 2175437"/>
              <a:gd name="connsiteY0" fmla="*/ 83387 h 833871"/>
              <a:gd name="connsiteX1" fmla="*/ 83387 w 2175437"/>
              <a:gd name="connsiteY1" fmla="*/ 0 h 833871"/>
              <a:gd name="connsiteX2" fmla="*/ 2092050 w 2175437"/>
              <a:gd name="connsiteY2" fmla="*/ 0 h 833871"/>
              <a:gd name="connsiteX3" fmla="*/ 2175437 w 2175437"/>
              <a:gd name="connsiteY3" fmla="*/ 83387 h 833871"/>
              <a:gd name="connsiteX4" fmla="*/ 2175437 w 2175437"/>
              <a:gd name="connsiteY4" fmla="*/ 750484 h 833871"/>
              <a:gd name="connsiteX5" fmla="*/ 2092050 w 2175437"/>
              <a:gd name="connsiteY5" fmla="*/ 833871 h 833871"/>
              <a:gd name="connsiteX6" fmla="*/ 83387 w 2175437"/>
              <a:gd name="connsiteY6" fmla="*/ 833871 h 833871"/>
              <a:gd name="connsiteX7" fmla="*/ 0 w 2175437"/>
              <a:gd name="connsiteY7" fmla="*/ 750484 h 833871"/>
              <a:gd name="connsiteX8" fmla="*/ 0 w 2175437"/>
              <a:gd name="connsiteY8" fmla="*/ 83387 h 83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5437" h="833871">
                <a:moveTo>
                  <a:pt x="0" y="83387"/>
                </a:moveTo>
                <a:cubicBezTo>
                  <a:pt x="0" y="37334"/>
                  <a:pt x="37334" y="0"/>
                  <a:pt x="83387" y="0"/>
                </a:cubicBezTo>
                <a:lnTo>
                  <a:pt x="2092050" y="0"/>
                </a:lnTo>
                <a:cubicBezTo>
                  <a:pt x="2138103" y="0"/>
                  <a:pt x="2175437" y="37334"/>
                  <a:pt x="2175437" y="83387"/>
                </a:cubicBezTo>
                <a:lnTo>
                  <a:pt x="2175437" y="750484"/>
                </a:lnTo>
                <a:cubicBezTo>
                  <a:pt x="2175437" y="796537"/>
                  <a:pt x="2138103" y="833871"/>
                  <a:pt x="2092050" y="833871"/>
                </a:cubicBezTo>
                <a:lnTo>
                  <a:pt x="83387" y="833871"/>
                </a:lnTo>
                <a:cubicBezTo>
                  <a:pt x="37334" y="833871"/>
                  <a:pt x="0" y="796537"/>
                  <a:pt x="0" y="750484"/>
                </a:cubicBezTo>
                <a:lnTo>
                  <a:pt x="0" y="83387"/>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6343" tIns="146343" rIns="146343" bIns="146343" numCol="1" spcCol="1270" anchor="ctr" anchorCtr="0">
            <a:noAutofit/>
          </a:bodyPr>
          <a:lstStyle/>
          <a:p>
            <a:pPr marL="0" lvl="0" indent="0" algn="ctr" defTabSz="1422400" rtl="0">
              <a:lnSpc>
                <a:spcPct val="90000"/>
              </a:lnSpc>
              <a:spcBef>
                <a:spcPct val="0"/>
              </a:spcBef>
              <a:spcAft>
                <a:spcPct val="35000"/>
              </a:spcAft>
              <a:buNone/>
            </a:pPr>
            <a:r>
              <a:rPr lang="en-US" sz="3200" kern="1200" dirty="0">
                <a:latin typeface="Avenir Book" panose="02000503020000020003" pitchFamily="2" charset="0"/>
              </a:rPr>
              <a:t>Neural Networks</a:t>
            </a:r>
          </a:p>
        </p:txBody>
      </p:sp>
      <p:sp>
        <p:nvSpPr>
          <p:cNvPr id="14" name="Freeform 13">
            <a:extLst>
              <a:ext uri="{FF2B5EF4-FFF2-40B4-BE49-F238E27FC236}">
                <a16:creationId xmlns:a16="http://schemas.microsoft.com/office/drawing/2014/main" id="{03E664D6-0117-7BA0-D541-3374B54CF1C1}"/>
              </a:ext>
            </a:extLst>
          </p:cNvPr>
          <p:cNvSpPr/>
          <p:nvPr/>
        </p:nvSpPr>
        <p:spPr>
          <a:xfrm rot="3016754">
            <a:off x="6389082" y="3019705"/>
            <a:ext cx="1686863" cy="291854"/>
          </a:xfrm>
          <a:custGeom>
            <a:avLst/>
            <a:gdLst>
              <a:gd name="connsiteX0" fmla="*/ 0 w 1686863"/>
              <a:gd name="connsiteY0" fmla="*/ 145927 h 291854"/>
              <a:gd name="connsiteX1" fmla="*/ 145927 w 1686863"/>
              <a:gd name="connsiteY1" fmla="*/ 0 h 291854"/>
              <a:gd name="connsiteX2" fmla="*/ 145927 w 1686863"/>
              <a:gd name="connsiteY2" fmla="*/ 58371 h 291854"/>
              <a:gd name="connsiteX3" fmla="*/ 1540936 w 1686863"/>
              <a:gd name="connsiteY3" fmla="*/ 58371 h 291854"/>
              <a:gd name="connsiteX4" fmla="*/ 1540936 w 1686863"/>
              <a:gd name="connsiteY4" fmla="*/ 0 h 291854"/>
              <a:gd name="connsiteX5" fmla="*/ 1686863 w 1686863"/>
              <a:gd name="connsiteY5" fmla="*/ 145927 h 291854"/>
              <a:gd name="connsiteX6" fmla="*/ 1540936 w 1686863"/>
              <a:gd name="connsiteY6" fmla="*/ 291854 h 291854"/>
              <a:gd name="connsiteX7" fmla="*/ 1540936 w 1686863"/>
              <a:gd name="connsiteY7" fmla="*/ 233483 h 291854"/>
              <a:gd name="connsiteX8" fmla="*/ 145927 w 1686863"/>
              <a:gd name="connsiteY8" fmla="*/ 233483 h 291854"/>
              <a:gd name="connsiteX9" fmla="*/ 145927 w 1686863"/>
              <a:gd name="connsiteY9" fmla="*/ 291854 h 291854"/>
              <a:gd name="connsiteX10" fmla="*/ 0 w 1686863"/>
              <a:gd name="connsiteY10" fmla="*/ 145927 h 291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86863" h="291854">
                <a:moveTo>
                  <a:pt x="0" y="145927"/>
                </a:moveTo>
                <a:lnTo>
                  <a:pt x="145927" y="0"/>
                </a:lnTo>
                <a:lnTo>
                  <a:pt x="145927" y="58371"/>
                </a:lnTo>
                <a:lnTo>
                  <a:pt x="1540936" y="58371"/>
                </a:lnTo>
                <a:lnTo>
                  <a:pt x="1540936" y="0"/>
                </a:lnTo>
                <a:lnTo>
                  <a:pt x="1686863" y="145927"/>
                </a:lnTo>
                <a:lnTo>
                  <a:pt x="1540936" y="291854"/>
                </a:lnTo>
                <a:lnTo>
                  <a:pt x="1540936" y="233483"/>
                </a:lnTo>
                <a:lnTo>
                  <a:pt x="145927" y="233483"/>
                </a:lnTo>
                <a:lnTo>
                  <a:pt x="145927" y="291854"/>
                </a:lnTo>
                <a:lnTo>
                  <a:pt x="0" y="145927"/>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87555" tIns="58370" rIns="87556" bIns="58371" numCol="1" spcCol="1270" anchor="ctr" anchorCtr="0">
            <a:noAutofit/>
          </a:bodyPr>
          <a:lstStyle/>
          <a:p>
            <a:pPr marL="0" lvl="0" indent="0" algn="ctr" defTabSz="533400" rtl="0">
              <a:lnSpc>
                <a:spcPct val="90000"/>
              </a:lnSpc>
              <a:spcBef>
                <a:spcPct val="0"/>
              </a:spcBef>
              <a:spcAft>
                <a:spcPct val="35000"/>
              </a:spcAft>
              <a:buNone/>
            </a:pPr>
            <a:endParaRPr lang="en-US" sz="1200" kern="1200" dirty="0">
              <a:latin typeface="Avenir Book" panose="02000503020000020003" pitchFamily="2" charset="0"/>
            </a:endParaRPr>
          </a:p>
        </p:txBody>
      </p:sp>
      <p:sp>
        <p:nvSpPr>
          <p:cNvPr id="15" name="Freeform 14">
            <a:extLst>
              <a:ext uri="{FF2B5EF4-FFF2-40B4-BE49-F238E27FC236}">
                <a16:creationId xmlns:a16="http://schemas.microsoft.com/office/drawing/2014/main" id="{4C861CF4-E052-13B4-B2FB-977E393CA84C}"/>
              </a:ext>
            </a:extLst>
          </p:cNvPr>
          <p:cNvSpPr/>
          <p:nvPr/>
        </p:nvSpPr>
        <p:spPr>
          <a:xfrm>
            <a:off x="7009898" y="3878072"/>
            <a:ext cx="2427382" cy="984179"/>
          </a:xfrm>
          <a:custGeom>
            <a:avLst/>
            <a:gdLst>
              <a:gd name="connsiteX0" fmla="*/ 0 w 2427382"/>
              <a:gd name="connsiteY0" fmla="*/ 83387 h 833871"/>
              <a:gd name="connsiteX1" fmla="*/ 83387 w 2427382"/>
              <a:gd name="connsiteY1" fmla="*/ 0 h 833871"/>
              <a:gd name="connsiteX2" fmla="*/ 2343995 w 2427382"/>
              <a:gd name="connsiteY2" fmla="*/ 0 h 833871"/>
              <a:gd name="connsiteX3" fmla="*/ 2427382 w 2427382"/>
              <a:gd name="connsiteY3" fmla="*/ 83387 h 833871"/>
              <a:gd name="connsiteX4" fmla="*/ 2427382 w 2427382"/>
              <a:gd name="connsiteY4" fmla="*/ 750484 h 833871"/>
              <a:gd name="connsiteX5" fmla="*/ 2343995 w 2427382"/>
              <a:gd name="connsiteY5" fmla="*/ 833871 h 833871"/>
              <a:gd name="connsiteX6" fmla="*/ 83387 w 2427382"/>
              <a:gd name="connsiteY6" fmla="*/ 833871 h 833871"/>
              <a:gd name="connsiteX7" fmla="*/ 0 w 2427382"/>
              <a:gd name="connsiteY7" fmla="*/ 750484 h 833871"/>
              <a:gd name="connsiteX8" fmla="*/ 0 w 2427382"/>
              <a:gd name="connsiteY8" fmla="*/ 83387 h 83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382" h="833871">
                <a:moveTo>
                  <a:pt x="0" y="83387"/>
                </a:moveTo>
                <a:cubicBezTo>
                  <a:pt x="0" y="37334"/>
                  <a:pt x="37334" y="0"/>
                  <a:pt x="83387" y="0"/>
                </a:cubicBezTo>
                <a:lnTo>
                  <a:pt x="2343995" y="0"/>
                </a:lnTo>
                <a:cubicBezTo>
                  <a:pt x="2390048" y="0"/>
                  <a:pt x="2427382" y="37334"/>
                  <a:pt x="2427382" y="83387"/>
                </a:cubicBezTo>
                <a:lnTo>
                  <a:pt x="2427382" y="750484"/>
                </a:lnTo>
                <a:cubicBezTo>
                  <a:pt x="2427382" y="796537"/>
                  <a:pt x="2390048" y="833871"/>
                  <a:pt x="2343995" y="833871"/>
                </a:cubicBezTo>
                <a:lnTo>
                  <a:pt x="83387" y="833871"/>
                </a:lnTo>
                <a:cubicBezTo>
                  <a:pt x="37334" y="833871"/>
                  <a:pt x="0" y="796537"/>
                  <a:pt x="0" y="750484"/>
                </a:cubicBezTo>
                <a:lnTo>
                  <a:pt x="0" y="83387"/>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6343" tIns="146343" rIns="146343" bIns="146343" numCol="1" spcCol="1270" anchor="ctr" anchorCtr="0">
            <a:noAutofit/>
          </a:bodyPr>
          <a:lstStyle/>
          <a:p>
            <a:pPr marL="0" lvl="0" indent="0" algn="ctr" defTabSz="1422400" rtl="0">
              <a:lnSpc>
                <a:spcPct val="90000"/>
              </a:lnSpc>
              <a:spcBef>
                <a:spcPct val="0"/>
              </a:spcBef>
              <a:spcAft>
                <a:spcPct val="35000"/>
              </a:spcAft>
              <a:buNone/>
            </a:pPr>
            <a:r>
              <a:rPr lang="en-US" sz="3200" kern="1200" dirty="0">
                <a:latin typeface="Avenir Book" panose="02000503020000020003" pitchFamily="2" charset="0"/>
              </a:rPr>
              <a:t>Fast Computers </a:t>
            </a:r>
          </a:p>
        </p:txBody>
      </p:sp>
      <p:sp>
        <p:nvSpPr>
          <p:cNvPr id="16" name="Freeform 15">
            <a:extLst>
              <a:ext uri="{FF2B5EF4-FFF2-40B4-BE49-F238E27FC236}">
                <a16:creationId xmlns:a16="http://schemas.microsoft.com/office/drawing/2014/main" id="{61D51B65-4043-9E42-81BC-D171671471DF}"/>
              </a:ext>
            </a:extLst>
          </p:cNvPr>
          <p:cNvSpPr/>
          <p:nvPr/>
        </p:nvSpPr>
        <p:spPr>
          <a:xfrm rot="7">
            <a:off x="5645475" y="4212576"/>
            <a:ext cx="1366493" cy="291855"/>
          </a:xfrm>
          <a:custGeom>
            <a:avLst/>
            <a:gdLst>
              <a:gd name="connsiteX0" fmla="*/ 0 w 1366493"/>
              <a:gd name="connsiteY0" fmla="*/ 145927 h 291854"/>
              <a:gd name="connsiteX1" fmla="*/ 145927 w 1366493"/>
              <a:gd name="connsiteY1" fmla="*/ 0 h 291854"/>
              <a:gd name="connsiteX2" fmla="*/ 145927 w 1366493"/>
              <a:gd name="connsiteY2" fmla="*/ 58371 h 291854"/>
              <a:gd name="connsiteX3" fmla="*/ 1220566 w 1366493"/>
              <a:gd name="connsiteY3" fmla="*/ 58371 h 291854"/>
              <a:gd name="connsiteX4" fmla="*/ 1220566 w 1366493"/>
              <a:gd name="connsiteY4" fmla="*/ 0 h 291854"/>
              <a:gd name="connsiteX5" fmla="*/ 1366493 w 1366493"/>
              <a:gd name="connsiteY5" fmla="*/ 145927 h 291854"/>
              <a:gd name="connsiteX6" fmla="*/ 1220566 w 1366493"/>
              <a:gd name="connsiteY6" fmla="*/ 291854 h 291854"/>
              <a:gd name="connsiteX7" fmla="*/ 1220566 w 1366493"/>
              <a:gd name="connsiteY7" fmla="*/ 233483 h 291854"/>
              <a:gd name="connsiteX8" fmla="*/ 145927 w 1366493"/>
              <a:gd name="connsiteY8" fmla="*/ 233483 h 291854"/>
              <a:gd name="connsiteX9" fmla="*/ 145927 w 1366493"/>
              <a:gd name="connsiteY9" fmla="*/ 291854 h 291854"/>
              <a:gd name="connsiteX10" fmla="*/ 0 w 1366493"/>
              <a:gd name="connsiteY10" fmla="*/ 145927 h 291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6493" h="291854">
                <a:moveTo>
                  <a:pt x="1366493" y="145927"/>
                </a:moveTo>
                <a:lnTo>
                  <a:pt x="1220566" y="291853"/>
                </a:lnTo>
                <a:lnTo>
                  <a:pt x="1220566" y="233482"/>
                </a:lnTo>
                <a:lnTo>
                  <a:pt x="145927" y="233482"/>
                </a:lnTo>
                <a:lnTo>
                  <a:pt x="145927" y="291853"/>
                </a:lnTo>
                <a:lnTo>
                  <a:pt x="0" y="145927"/>
                </a:lnTo>
                <a:lnTo>
                  <a:pt x="145927" y="1"/>
                </a:lnTo>
                <a:lnTo>
                  <a:pt x="145927" y="58372"/>
                </a:lnTo>
                <a:lnTo>
                  <a:pt x="1220566" y="58372"/>
                </a:lnTo>
                <a:lnTo>
                  <a:pt x="1220566" y="1"/>
                </a:lnTo>
                <a:lnTo>
                  <a:pt x="1366493" y="145927"/>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87556" tIns="58371" rIns="87555" bIns="58371" numCol="1" spcCol="1270" anchor="ctr" anchorCtr="0">
            <a:noAutofit/>
          </a:bodyPr>
          <a:lstStyle/>
          <a:p>
            <a:pPr marL="0" lvl="0" indent="0" algn="ctr" defTabSz="533400" rtl="0">
              <a:lnSpc>
                <a:spcPct val="90000"/>
              </a:lnSpc>
              <a:spcBef>
                <a:spcPct val="0"/>
              </a:spcBef>
              <a:spcAft>
                <a:spcPct val="35000"/>
              </a:spcAft>
              <a:buNone/>
            </a:pPr>
            <a:endParaRPr lang="en-US" sz="1200" kern="1200" dirty="0">
              <a:latin typeface="Avenir Book" panose="02000503020000020003" pitchFamily="2" charset="0"/>
            </a:endParaRPr>
          </a:p>
        </p:txBody>
      </p:sp>
      <p:sp>
        <p:nvSpPr>
          <p:cNvPr id="17" name="Freeform 16">
            <a:extLst>
              <a:ext uri="{FF2B5EF4-FFF2-40B4-BE49-F238E27FC236}">
                <a16:creationId xmlns:a16="http://schemas.microsoft.com/office/drawing/2014/main" id="{BED4CE2C-2176-B4AD-51C8-8524071A51C5}"/>
              </a:ext>
            </a:extLst>
          </p:cNvPr>
          <p:cNvSpPr/>
          <p:nvPr/>
        </p:nvSpPr>
        <p:spPr>
          <a:xfrm>
            <a:off x="3087578" y="3878065"/>
            <a:ext cx="2559968" cy="984179"/>
          </a:xfrm>
          <a:custGeom>
            <a:avLst/>
            <a:gdLst>
              <a:gd name="connsiteX0" fmla="*/ 0 w 2559968"/>
              <a:gd name="connsiteY0" fmla="*/ 83387 h 833871"/>
              <a:gd name="connsiteX1" fmla="*/ 83387 w 2559968"/>
              <a:gd name="connsiteY1" fmla="*/ 0 h 833871"/>
              <a:gd name="connsiteX2" fmla="*/ 2476581 w 2559968"/>
              <a:gd name="connsiteY2" fmla="*/ 0 h 833871"/>
              <a:gd name="connsiteX3" fmla="*/ 2559968 w 2559968"/>
              <a:gd name="connsiteY3" fmla="*/ 83387 h 833871"/>
              <a:gd name="connsiteX4" fmla="*/ 2559968 w 2559968"/>
              <a:gd name="connsiteY4" fmla="*/ 750484 h 833871"/>
              <a:gd name="connsiteX5" fmla="*/ 2476581 w 2559968"/>
              <a:gd name="connsiteY5" fmla="*/ 833871 h 833871"/>
              <a:gd name="connsiteX6" fmla="*/ 83387 w 2559968"/>
              <a:gd name="connsiteY6" fmla="*/ 833871 h 833871"/>
              <a:gd name="connsiteX7" fmla="*/ 0 w 2559968"/>
              <a:gd name="connsiteY7" fmla="*/ 750484 h 833871"/>
              <a:gd name="connsiteX8" fmla="*/ 0 w 2559968"/>
              <a:gd name="connsiteY8" fmla="*/ 83387 h 83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59968" h="833871">
                <a:moveTo>
                  <a:pt x="0" y="83387"/>
                </a:moveTo>
                <a:cubicBezTo>
                  <a:pt x="0" y="37334"/>
                  <a:pt x="37334" y="0"/>
                  <a:pt x="83387" y="0"/>
                </a:cubicBezTo>
                <a:lnTo>
                  <a:pt x="2476581" y="0"/>
                </a:lnTo>
                <a:cubicBezTo>
                  <a:pt x="2522634" y="0"/>
                  <a:pt x="2559968" y="37334"/>
                  <a:pt x="2559968" y="83387"/>
                </a:cubicBezTo>
                <a:lnTo>
                  <a:pt x="2559968" y="750484"/>
                </a:lnTo>
                <a:cubicBezTo>
                  <a:pt x="2559968" y="796537"/>
                  <a:pt x="2522634" y="833871"/>
                  <a:pt x="2476581" y="833871"/>
                </a:cubicBezTo>
                <a:lnTo>
                  <a:pt x="83387" y="833871"/>
                </a:lnTo>
                <a:cubicBezTo>
                  <a:pt x="37334" y="833871"/>
                  <a:pt x="0" y="796537"/>
                  <a:pt x="0" y="750484"/>
                </a:cubicBezTo>
                <a:lnTo>
                  <a:pt x="0" y="83387"/>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6343" tIns="146343" rIns="146343" bIns="146343" numCol="1" spcCol="1270" anchor="ctr" anchorCtr="0">
            <a:noAutofit/>
          </a:bodyPr>
          <a:lstStyle/>
          <a:p>
            <a:pPr marL="0" lvl="0" indent="0" algn="ctr" defTabSz="1422400" rtl="0">
              <a:lnSpc>
                <a:spcPct val="90000"/>
              </a:lnSpc>
              <a:spcBef>
                <a:spcPct val="0"/>
              </a:spcBef>
              <a:spcAft>
                <a:spcPct val="35000"/>
              </a:spcAft>
              <a:buNone/>
            </a:pPr>
            <a:r>
              <a:rPr lang="en-US" sz="3200" kern="1200" dirty="0">
                <a:latin typeface="Avenir Book" panose="02000503020000020003" pitchFamily="2" charset="0"/>
              </a:rPr>
              <a:t>Massive Data </a:t>
            </a:r>
          </a:p>
        </p:txBody>
      </p:sp>
      <p:sp>
        <p:nvSpPr>
          <p:cNvPr id="18" name="Freeform 17">
            <a:extLst>
              <a:ext uri="{FF2B5EF4-FFF2-40B4-BE49-F238E27FC236}">
                <a16:creationId xmlns:a16="http://schemas.microsoft.com/office/drawing/2014/main" id="{0CF2CF6A-5931-B0AA-8741-4DF04ABAD690}"/>
              </a:ext>
            </a:extLst>
          </p:cNvPr>
          <p:cNvSpPr/>
          <p:nvPr/>
        </p:nvSpPr>
        <p:spPr>
          <a:xfrm rot="18488867">
            <a:off x="4460049" y="3019701"/>
            <a:ext cx="1688901" cy="291854"/>
          </a:xfrm>
          <a:custGeom>
            <a:avLst/>
            <a:gdLst>
              <a:gd name="connsiteX0" fmla="*/ 0 w 1688901"/>
              <a:gd name="connsiteY0" fmla="*/ 145927 h 291854"/>
              <a:gd name="connsiteX1" fmla="*/ 145927 w 1688901"/>
              <a:gd name="connsiteY1" fmla="*/ 0 h 291854"/>
              <a:gd name="connsiteX2" fmla="*/ 145927 w 1688901"/>
              <a:gd name="connsiteY2" fmla="*/ 58371 h 291854"/>
              <a:gd name="connsiteX3" fmla="*/ 1542974 w 1688901"/>
              <a:gd name="connsiteY3" fmla="*/ 58371 h 291854"/>
              <a:gd name="connsiteX4" fmla="*/ 1542974 w 1688901"/>
              <a:gd name="connsiteY4" fmla="*/ 0 h 291854"/>
              <a:gd name="connsiteX5" fmla="*/ 1688901 w 1688901"/>
              <a:gd name="connsiteY5" fmla="*/ 145927 h 291854"/>
              <a:gd name="connsiteX6" fmla="*/ 1542974 w 1688901"/>
              <a:gd name="connsiteY6" fmla="*/ 291854 h 291854"/>
              <a:gd name="connsiteX7" fmla="*/ 1542974 w 1688901"/>
              <a:gd name="connsiteY7" fmla="*/ 233483 h 291854"/>
              <a:gd name="connsiteX8" fmla="*/ 145927 w 1688901"/>
              <a:gd name="connsiteY8" fmla="*/ 233483 h 291854"/>
              <a:gd name="connsiteX9" fmla="*/ 145927 w 1688901"/>
              <a:gd name="connsiteY9" fmla="*/ 291854 h 291854"/>
              <a:gd name="connsiteX10" fmla="*/ 0 w 1688901"/>
              <a:gd name="connsiteY10" fmla="*/ 145927 h 291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88901" h="291854">
                <a:moveTo>
                  <a:pt x="0" y="145927"/>
                </a:moveTo>
                <a:lnTo>
                  <a:pt x="145927" y="0"/>
                </a:lnTo>
                <a:lnTo>
                  <a:pt x="145927" y="58371"/>
                </a:lnTo>
                <a:lnTo>
                  <a:pt x="1542974" y="58371"/>
                </a:lnTo>
                <a:lnTo>
                  <a:pt x="1542974" y="0"/>
                </a:lnTo>
                <a:lnTo>
                  <a:pt x="1688901" y="145927"/>
                </a:lnTo>
                <a:lnTo>
                  <a:pt x="1542974" y="291854"/>
                </a:lnTo>
                <a:lnTo>
                  <a:pt x="1542974" y="233483"/>
                </a:lnTo>
                <a:lnTo>
                  <a:pt x="145927" y="233483"/>
                </a:lnTo>
                <a:lnTo>
                  <a:pt x="145927" y="291854"/>
                </a:lnTo>
                <a:lnTo>
                  <a:pt x="0" y="145927"/>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87555" tIns="58371" rIns="87556" bIns="58370" numCol="1" spcCol="1270" anchor="ctr" anchorCtr="0">
            <a:noAutofit/>
          </a:bodyPr>
          <a:lstStyle/>
          <a:p>
            <a:pPr marL="0" lvl="0" indent="0" algn="ctr" defTabSz="533400" rtl="0">
              <a:lnSpc>
                <a:spcPct val="90000"/>
              </a:lnSpc>
              <a:spcBef>
                <a:spcPct val="0"/>
              </a:spcBef>
              <a:spcAft>
                <a:spcPct val="35000"/>
              </a:spcAft>
              <a:buNone/>
            </a:pPr>
            <a:endParaRPr lang="en-US" sz="1200" kern="1200" dirty="0">
              <a:latin typeface="Avenir Book" panose="02000503020000020003" pitchFamily="2" charset="0"/>
            </a:endParaRPr>
          </a:p>
        </p:txBody>
      </p:sp>
      <p:pic>
        <p:nvPicPr>
          <p:cNvPr id="2052" name="Picture 4" descr="GPU Dedicated Servers with RTX 3090, A100 80GB, RTX A6000 | SeiMaxim">
            <a:extLst>
              <a:ext uri="{FF2B5EF4-FFF2-40B4-BE49-F238E27FC236}">
                <a16:creationId xmlns:a16="http://schemas.microsoft.com/office/drawing/2014/main" id="{5023918D-522E-3552-42DE-F175056B80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58874" y="3807015"/>
            <a:ext cx="1184443" cy="118444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82B6744-6A27-06E0-87EF-A6FAC980FE82}"/>
              </a:ext>
            </a:extLst>
          </p:cNvPr>
          <p:cNvSpPr txBox="1"/>
          <p:nvPr/>
        </p:nvSpPr>
        <p:spPr>
          <a:xfrm>
            <a:off x="5530180" y="-17311"/>
            <a:ext cx="1628609" cy="369332"/>
          </a:xfrm>
          <a:prstGeom prst="rect">
            <a:avLst/>
          </a:prstGeom>
          <a:noFill/>
        </p:spPr>
        <p:txBody>
          <a:bodyPr wrap="square">
            <a:spAutoFit/>
          </a:bodyPr>
          <a:lstStyle/>
          <a:p>
            <a:r>
              <a:rPr lang="en-US" dirty="0">
                <a:latin typeface="Avenir Book" panose="02000503020000020003" pitchFamily="2" charset="0"/>
              </a:rPr>
              <a:t>Since 1950’s </a:t>
            </a:r>
          </a:p>
        </p:txBody>
      </p:sp>
      <p:sp>
        <p:nvSpPr>
          <p:cNvPr id="10" name="TextBox 9">
            <a:extLst>
              <a:ext uri="{FF2B5EF4-FFF2-40B4-BE49-F238E27FC236}">
                <a16:creationId xmlns:a16="http://schemas.microsoft.com/office/drawing/2014/main" id="{E7BF4F84-F697-3C31-3162-B6B27C886429}"/>
              </a:ext>
            </a:extLst>
          </p:cNvPr>
          <p:cNvSpPr txBox="1"/>
          <p:nvPr/>
        </p:nvSpPr>
        <p:spPr>
          <a:xfrm>
            <a:off x="1332160" y="3318016"/>
            <a:ext cx="1573128" cy="369332"/>
          </a:xfrm>
          <a:prstGeom prst="rect">
            <a:avLst/>
          </a:prstGeom>
          <a:noFill/>
        </p:spPr>
        <p:txBody>
          <a:bodyPr wrap="square">
            <a:spAutoFit/>
          </a:bodyPr>
          <a:lstStyle/>
          <a:p>
            <a:r>
              <a:rPr lang="en-US" dirty="0">
                <a:latin typeface="Avenir Book" panose="02000503020000020003" pitchFamily="2" charset="0"/>
              </a:rPr>
              <a:t>Since 1980’s </a:t>
            </a:r>
          </a:p>
        </p:txBody>
      </p:sp>
      <p:sp>
        <p:nvSpPr>
          <p:cNvPr id="11" name="TextBox 10">
            <a:extLst>
              <a:ext uri="{FF2B5EF4-FFF2-40B4-BE49-F238E27FC236}">
                <a16:creationId xmlns:a16="http://schemas.microsoft.com/office/drawing/2014/main" id="{4CF2FC4A-7EAC-B5AB-5C16-8106B027F5B0}"/>
              </a:ext>
            </a:extLst>
          </p:cNvPr>
          <p:cNvSpPr txBox="1"/>
          <p:nvPr/>
        </p:nvSpPr>
        <p:spPr>
          <a:xfrm>
            <a:off x="9548728" y="3118768"/>
            <a:ext cx="1756607" cy="646331"/>
          </a:xfrm>
          <a:prstGeom prst="rect">
            <a:avLst/>
          </a:prstGeom>
          <a:noFill/>
        </p:spPr>
        <p:txBody>
          <a:bodyPr wrap="square">
            <a:spAutoFit/>
          </a:bodyPr>
          <a:lstStyle/>
          <a:p>
            <a:pPr algn="ctr"/>
            <a:r>
              <a:rPr lang="en-US" dirty="0">
                <a:latin typeface="Avenir Book" panose="02000503020000020003" pitchFamily="2" charset="0"/>
              </a:rPr>
              <a:t>Since 1940’s </a:t>
            </a:r>
            <a:br>
              <a:rPr lang="en-US" dirty="0">
                <a:latin typeface="Avenir Book" panose="02000503020000020003" pitchFamily="2" charset="0"/>
              </a:rPr>
            </a:br>
            <a:r>
              <a:rPr lang="en-US" dirty="0">
                <a:latin typeface="Avenir Book" panose="02000503020000020003" pitchFamily="2" charset="0"/>
              </a:rPr>
              <a:t>(GPUs 1990’s) </a:t>
            </a:r>
          </a:p>
        </p:txBody>
      </p:sp>
    </p:spTree>
    <p:extLst>
      <p:ext uri="{BB962C8B-B14F-4D97-AF65-F5344CB8AC3E}">
        <p14:creationId xmlns:p14="http://schemas.microsoft.com/office/powerpoint/2010/main" val="129632874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nodeType="withEffect">
                                  <p:stCondLst>
                                    <p:cond delay="0"/>
                                  </p:stCondLst>
                                  <p:childTnLst>
                                    <p:set>
                                      <p:cBhvr>
                                        <p:cTn id="23" dur="1" fill="hold">
                                          <p:stCondLst>
                                            <p:cond delay="0"/>
                                          </p:stCondLst>
                                        </p:cTn>
                                        <p:tgtEl>
                                          <p:spTgt spid="2050"/>
                                        </p:tgtEl>
                                        <p:attrNameLst>
                                          <p:attrName>style.visibility</p:attrName>
                                        </p:attrNameLst>
                                      </p:cBhvr>
                                      <p:to>
                                        <p:strVal val="visible"/>
                                      </p:to>
                                    </p:set>
                                    <p:animEffect transition="in" filter="fade">
                                      <p:cBhvr>
                                        <p:cTn id="24" dur="500"/>
                                        <p:tgtEl>
                                          <p:spTgt spid="205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nodeType="withEffect">
                                  <p:stCondLst>
                                    <p:cond delay="0"/>
                                  </p:stCondLst>
                                  <p:childTnLst>
                                    <p:set>
                                      <p:cBhvr>
                                        <p:cTn id="40" dur="1" fill="hold">
                                          <p:stCondLst>
                                            <p:cond delay="0"/>
                                          </p:stCondLst>
                                        </p:cTn>
                                        <p:tgtEl>
                                          <p:spTgt spid="2052"/>
                                        </p:tgtEl>
                                        <p:attrNameLst>
                                          <p:attrName>style.visibility</p:attrName>
                                        </p:attrNameLst>
                                      </p:cBhvr>
                                      <p:to>
                                        <p:strVal val="visible"/>
                                      </p:to>
                                    </p:set>
                                    <p:animEffect transition="in" filter="fade">
                                      <p:cBhvr>
                                        <p:cTn id="41" dur="500"/>
                                        <p:tgtEl>
                                          <p:spTgt spid="205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9" grpId="0"/>
      <p:bldP spid="10"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FB2BA-409E-D2E3-CFFC-E07550E17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9B5C8-9ED6-E51A-0693-4B0FA6A0B57B}"/>
              </a:ext>
            </a:extLst>
          </p:cNvPr>
          <p:cNvSpPr>
            <a:spLocks noGrp="1"/>
          </p:cNvSpPr>
          <p:nvPr>
            <p:ph type="title"/>
          </p:nvPr>
        </p:nvSpPr>
        <p:spPr/>
        <p:txBody>
          <a:bodyPr/>
          <a:lstStyle/>
          <a:p>
            <a:r>
              <a:rPr lang="en-US" b="1" dirty="0"/>
              <a:t>Today:</a:t>
            </a:r>
            <a:r>
              <a:rPr lang="en-US" dirty="0"/>
              <a:t> Emergent phenomena</a:t>
            </a:r>
          </a:p>
        </p:txBody>
      </p:sp>
      <p:sp>
        <p:nvSpPr>
          <p:cNvPr id="3" name="Content Placeholder 2">
            <a:extLst>
              <a:ext uri="{FF2B5EF4-FFF2-40B4-BE49-F238E27FC236}">
                <a16:creationId xmlns:a16="http://schemas.microsoft.com/office/drawing/2014/main" id="{E98B17E8-718A-ABB3-0655-55DE67F581DC}"/>
              </a:ext>
            </a:extLst>
          </p:cNvPr>
          <p:cNvSpPr>
            <a:spLocks noGrp="1"/>
          </p:cNvSpPr>
          <p:nvPr>
            <p:ph idx="1"/>
          </p:nvPr>
        </p:nvSpPr>
        <p:spPr/>
        <p:txBody>
          <a:bodyPr/>
          <a:lstStyle/>
          <a:p>
            <a:r>
              <a:rPr lang="en-US" dirty="0"/>
              <a:t>What is happening inside language models? </a:t>
            </a:r>
          </a:p>
          <a:p>
            <a:endParaRPr lang="en-US" dirty="0"/>
          </a:p>
          <a:p>
            <a:r>
              <a:rPr lang="en-US" dirty="0"/>
              <a:t>What do we mean by “emergent phenomena”? </a:t>
            </a:r>
          </a:p>
          <a:p>
            <a:pPr marL="0" indent="0">
              <a:buNone/>
            </a:pPr>
            <a:endParaRPr lang="en-US" dirty="0"/>
          </a:p>
          <a:p>
            <a:r>
              <a:rPr lang="en-US" dirty="0"/>
              <a:t>What do we understand about it? </a:t>
            </a:r>
          </a:p>
          <a:p>
            <a:pPr marL="0" indent="0">
              <a:buNone/>
            </a:pPr>
            <a:endParaRPr lang="en-US" dirty="0"/>
          </a:p>
          <a:p>
            <a:r>
              <a:rPr lang="en-US" dirty="0"/>
              <a:t>What does the future hold? </a:t>
            </a:r>
          </a:p>
          <a:p>
            <a:endParaRPr lang="en-US" dirty="0"/>
          </a:p>
        </p:txBody>
      </p:sp>
      <p:sp>
        <p:nvSpPr>
          <p:cNvPr id="4" name="Slide Number Placeholder 3">
            <a:extLst>
              <a:ext uri="{FF2B5EF4-FFF2-40B4-BE49-F238E27FC236}">
                <a16:creationId xmlns:a16="http://schemas.microsoft.com/office/drawing/2014/main" id="{53158139-139C-6408-9978-8DCD282DF70E}"/>
              </a:ext>
            </a:extLst>
          </p:cNvPr>
          <p:cNvSpPr>
            <a:spLocks noGrp="1"/>
          </p:cNvSpPr>
          <p:nvPr>
            <p:ph type="sldNum" sz="quarter" idx="10"/>
          </p:nvPr>
        </p:nvSpPr>
        <p:spPr/>
        <p:txBody>
          <a:bodyPr/>
          <a:lstStyle/>
          <a:p>
            <a:pPr>
              <a:defRPr/>
            </a:pPr>
            <a:fld id="{0121240C-47AF-2F4D-83B3-CC3EDF50F794}" type="slidenum">
              <a:rPr lang="en-US" smtClean="0"/>
              <a:pPr>
                <a:defRPr/>
              </a:pPr>
              <a:t>24</a:t>
            </a:fld>
            <a:endParaRPr lang="en-US"/>
          </a:p>
        </p:txBody>
      </p:sp>
      <p:sp>
        <p:nvSpPr>
          <p:cNvPr id="5" name="Rectangle 4">
            <a:extLst>
              <a:ext uri="{FF2B5EF4-FFF2-40B4-BE49-F238E27FC236}">
                <a16:creationId xmlns:a16="http://schemas.microsoft.com/office/drawing/2014/main" id="{AB9543DD-28C5-C7C7-EA65-3D2176D7DA01}"/>
              </a:ext>
            </a:extLst>
          </p:cNvPr>
          <p:cNvSpPr/>
          <p:nvPr/>
        </p:nvSpPr>
        <p:spPr>
          <a:xfrm>
            <a:off x="196482" y="2638249"/>
            <a:ext cx="11799035" cy="3255181"/>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DE1C76D8-A1CF-A2D0-D4A1-4B1D29DD224B}"/>
              </a:ext>
            </a:extLst>
          </p:cNvPr>
          <p:cNvSpPr/>
          <p:nvPr/>
        </p:nvSpPr>
        <p:spPr>
          <a:xfrm>
            <a:off x="0" y="0"/>
            <a:ext cx="12186309" cy="130884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AB648563-95C7-B9BD-E994-64F15D186780}"/>
              </a:ext>
            </a:extLst>
          </p:cNvPr>
          <p:cNvSpPr txBox="1">
            <a:spLocks/>
          </p:cNvSpPr>
          <p:nvPr/>
        </p:nvSpPr>
        <p:spPr bwMode="auto">
          <a:xfrm>
            <a:off x="200025" y="125504"/>
            <a:ext cx="118300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1" fontAlgn="base" hangingPunct="1">
              <a:lnSpc>
                <a:spcPct val="100000"/>
              </a:lnSpc>
              <a:spcBef>
                <a:spcPct val="0"/>
              </a:spcBef>
              <a:spcAft>
                <a:spcPct val="0"/>
              </a:spcAft>
              <a:defRPr sz="4400" b="0" kern="1200">
                <a:solidFill>
                  <a:schemeClr val="tx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Corbel" panose="020B0503020204020204" pitchFamily="34" charset="0"/>
              </a:defRPr>
            </a:lvl2pPr>
            <a:lvl3pPr algn="l" rtl="0" eaLnBrk="1" fontAlgn="base" hangingPunct="1">
              <a:lnSpc>
                <a:spcPct val="90000"/>
              </a:lnSpc>
              <a:spcBef>
                <a:spcPct val="0"/>
              </a:spcBef>
              <a:spcAft>
                <a:spcPct val="0"/>
              </a:spcAft>
              <a:defRPr sz="4400">
                <a:solidFill>
                  <a:schemeClr val="tx1"/>
                </a:solidFill>
                <a:latin typeface="Corbel" panose="020B0503020204020204" pitchFamily="34" charset="0"/>
              </a:defRPr>
            </a:lvl3pPr>
            <a:lvl4pPr algn="l" rtl="0" eaLnBrk="1" fontAlgn="base" hangingPunct="1">
              <a:lnSpc>
                <a:spcPct val="90000"/>
              </a:lnSpc>
              <a:spcBef>
                <a:spcPct val="0"/>
              </a:spcBef>
              <a:spcAft>
                <a:spcPct val="0"/>
              </a:spcAft>
              <a:defRPr sz="4400">
                <a:solidFill>
                  <a:schemeClr val="tx1"/>
                </a:solidFill>
                <a:latin typeface="Corbel" panose="020B0503020204020204" pitchFamily="34" charset="0"/>
              </a:defRPr>
            </a:lvl4pPr>
            <a:lvl5pPr algn="l" rtl="0" eaLnBrk="1" fontAlgn="base" hangingPunct="1">
              <a:lnSpc>
                <a:spcPct val="90000"/>
              </a:lnSpc>
              <a:spcBef>
                <a:spcPct val="0"/>
              </a:spcBef>
              <a:spcAft>
                <a:spcPct val="0"/>
              </a:spcAft>
              <a:defRPr sz="4400">
                <a:solidFill>
                  <a:schemeClr val="tx1"/>
                </a:solidFill>
                <a:latin typeface="Corbel" panose="020B0503020204020204" pitchFamily="34" charset="0"/>
              </a:defRPr>
            </a:lvl5pPr>
            <a:lvl6pPr marL="457200" algn="l" rtl="0" eaLnBrk="1" fontAlgn="base" hangingPunct="1">
              <a:lnSpc>
                <a:spcPct val="90000"/>
              </a:lnSpc>
              <a:spcBef>
                <a:spcPct val="0"/>
              </a:spcBef>
              <a:spcAft>
                <a:spcPct val="0"/>
              </a:spcAft>
              <a:defRPr sz="4400">
                <a:solidFill>
                  <a:schemeClr val="tx1"/>
                </a:solidFill>
                <a:latin typeface="Corbel" panose="020B0503020204020204" pitchFamily="34" charset="0"/>
              </a:defRPr>
            </a:lvl6pPr>
            <a:lvl7pPr marL="914400" algn="l" rtl="0" eaLnBrk="1" fontAlgn="base" hangingPunct="1">
              <a:lnSpc>
                <a:spcPct val="90000"/>
              </a:lnSpc>
              <a:spcBef>
                <a:spcPct val="0"/>
              </a:spcBef>
              <a:spcAft>
                <a:spcPct val="0"/>
              </a:spcAft>
              <a:defRPr sz="4400">
                <a:solidFill>
                  <a:schemeClr val="tx1"/>
                </a:solidFill>
                <a:latin typeface="Corbel" panose="020B0503020204020204" pitchFamily="34" charset="0"/>
              </a:defRPr>
            </a:lvl7pPr>
            <a:lvl8pPr marL="1371600" algn="l" rtl="0" eaLnBrk="1" fontAlgn="base" hangingPunct="1">
              <a:lnSpc>
                <a:spcPct val="90000"/>
              </a:lnSpc>
              <a:spcBef>
                <a:spcPct val="0"/>
              </a:spcBef>
              <a:spcAft>
                <a:spcPct val="0"/>
              </a:spcAft>
              <a:defRPr sz="4400">
                <a:solidFill>
                  <a:schemeClr val="tx1"/>
                </a:solidFill>
                <a:latin typeface="Corbel" panose="020B0503020204020204" pitchFamily="34" charset="0"/>
              </a:defRPr>
            </a:lvl8pPr>
            <a:lvl9pPr marL="1828800" algn="l" rtl="0" eaLnBrk="1" fontAlgn="base" hangingPunct="1">
              <a:lnSpc>
                <a:spcPct val="90000"/>
              </a:lnSpc>
              <a:spcBef>
                <a:spcPct val="0"/>
              </a:spcBef>
              <a:spcAft>
                <a:spcPct val="0"/>
              </a:spcAft>
              <a:defRPr sz="4400">
                <a:solidFill>
                  <a:schemeClr val="tx1"/>
                </a:solidFill>
                <a:latin typeface="Corbel" panose="020B0503020204020204" pitchFamily="34" charset="0"/>
              </a:defRPr>
            </a:lvl9pPr>
          </a:lstStyle>
          <a:p>
            <a:r>
              <a:rPr lang="en-US" b="1"/>
              <a:t>Today:</a:t>
            </a:r>
            <a:r>
              <a:rPr lang="en-US"/>
              <a:t> Emergent phenomena</a:t>
            </a:r>
            <a:endParaRPr lang="en-US" dirty="0"/>
          </a:p>
        </p:txBody>
      </p:sp>
      <p:pic>
        <p:nvPicPr>
          <p:cNvPr id="8" name="Picture 2">
            <a:extLst>
              <a:ext uri="{FF2B5EF4-FFF2-40B4-BE49-F238E27FC236}">
                <a16:creationId xmlns:a16="http://schemas.microsoft.com/office/drawing/2014/main" id="{232F6F05-AB86-9D94-F93A-02E26F7F2B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4737" y="1548773"/>
            <a:ext cx="1413740" cy="1463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3024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4737B-09BF-AB9D-AD1D-6C1D418C2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B62E1D-1CC0-8C2E-3644-A4A732900391}"/>
              </a:ext>
            </a:extLst>
          </p:cNvPr>
          <p:cNvSpPr>
            <a:spLocks noGrp="1"/>
          </p:cNvSpPr>
          <p:nvPr>
            <p:ph type="title"/>
          </p:nvPr>
        </p:nvSpPr>
        <p:spPr/>
        <p:txBody>
          <a:bodyPr/>
          <a:lstStyle/>
          <a:p>
            <a:r>
              <a:rPr lang="en-US" b="1" dirty="0"/>
              <a:t>Today:</a:t>
            </a:r>
            <a:r>
              <a:rPr lang="en-US" dirty="0"/>
              <a:t> Emergent phenomena</a:t>
            </a:r>
          </a:p>
        </p:txBody>
      </p:sp>
      <p:sp>
        <p:nvSpPr>
          <p:cNvPr id="3" name="Content Placeholder 2">
            <a:extLst>
              <a:ext uri="{FF2B5EF4-FFF2-40B4-BE49-F238E27FC236}">
                <a16:creationId xmlns:a16="http://schemas.microsoft.com/office/drawing/2014/main" id="{A2D89FBE-39F3-7217-6B97-E3E11F36BCA1}"/>
              </a:ext>
            </a:extLst>
          </p:cNvPr>
          <p:cNvSpPr>
            <a:spLocks noGrp="1"/>
          </p:cNvSpPr>
          <p:nvPr>
            <p:ph idx="1"/>
          </p:nvPr>
        </p:nvSpPr>
        <p:spPr/>
        <p:txBody>
          <a:bodyPr/>
          <a:lstStyle/>
          <a:p>
            <a:r>
              <a:rPr lang="en-US" dirty="0"/>
              <a:t>What is happening inside language models? </a:t>
            </a:r>
          </a:p>
          <a:p>
            <a:endParaRPr lang="en-US" dirty="0"/>
          </a:p>
          <a:p>
            <a:r>
              <a:rPr lang="en-US" dirty="0"/>
              <a:t>What do we mean by “emergent phenomena”? </a:t>
            </a:r>
          </a:p>
          <a:p>
            <a:pPr marL="0" indent="0">
              <a:buNone/>
            </a:pPr>
            <a:endParaRPr lang="en-US" dirty="0"/>
          </a:p>
          <a:p>
            <a:r>
              <a:rPr lang="en-US" dirty="0"/>
              <a:t>What do we understand about it? </a:t>
            </a:r>
          </a:p>
          <a:p>
            <a:pPr marL="0" indent="0">
              <a:buNone/>
            </a:pPr>
            <a:endParaRPr lang="en-US" dirty="0"/>
          </a:p>
          <a:p>
            <a:r>
              <a:rPr lang="en-US" dirty="0"/>
              <a:t>What does the future hold? </a:t>
            </a:r>
          </a:p>
          <a:p>
            <a:endParaRPr lang="en-US" dirty="0"/>
          </a:p>
        </p:txBody>
      </p:sp>
      <p:sp>
        <p:nvSpPr>
          <p:cNvPr id="4" name="Slide Number Placeholder 3">
            <a:extLst>
              <a:ext uri="{FF2B5EF4-FFF2-40B4-BE49-F238E27FC236}">
                <a16:creationId xmlns:a16="http://schemas.microsoft.com/office/drawing/2014/main" id="{398ABD29-7008-D5A6-DBB1-69984D60A2CE}"/>
              </a:ext>
            </a:extLst>
          </p:cNvPr>
          <p:cNvSpPr>
            <a:spLocks noGrp="1"/>
          </p:cNvSpPr>
          <p:nvPr>
            <p:ph type="sldNum" sz="quarter" idx="10"/>
          </p:nvPr>
        </p:nvSpPr>
        <p:spPr/>
        <p:txBody>
          <a:bodyPr/>
          <a:lstStyle/>
          <a:p>
            <a:pPr>
              <a:defRPr/>
            </a:pPr>
            <a:fld id="{0121240C-47AF-2F4D-83B3-CC3EDF50F794}" type="slidenum">
              <a:rPr lang="en-US" smtClean="0"/>
              <a:pPr>
                <a:defRPr/>
              </a:pPr>
              <a:t>25</a:t>
            </a:fld>
            <a:endParaRPr lang="en-US"/>
          </a:p>
        </p:txBody>
      </p:sp>
      <p:sp>
        <p:nvSpPr>
          <p:cNvPr id="5" name="Rectangle 4">
            <a:extLst>
              <a:ext uri="{FF2B5EF4-FFF2-40B4-BE49-F238E27FC236}">
                <a16:creationId xmlns:a16="http://schemas.microsoft.com/office/drawing/2014/main" id="{7C0D1177-BBCB-2C4C-F9F2-80C933498882}"/>
              </a:ext>
            </a:extLst>
          </p:cNvPr>
          <p:cNvSpPr/>
          <p:nvPr/>
        </p:nvSpPr>
        <p:spPr>
          <a:xfrm>
            <a:off x="196482" y="3783106"/>
            <a:ext cx="11799035" cy="2110324"/>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D5AC5300-7CB1-6A09-1F24-FB0130322FEF}"/>
              </a:ext>
            </a:extLst>
          </p:cNvPr>
          <p:cNvSpPr/>
          <p:nvPr/>
        </p:nvSpPr>
        <p:spPr>
          <a:xfrm>
            <a:off x="0" y="0"/>
            <a:ext cx="12186309" cy="130884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F14467E0-944C-D523-CD22-A064DC55E8AA}"/>
              </a:ext>
            </a:extLst>
          </p:cNvPr>
          <p:cNvSpPr txBox="1">
            <a:spLocks/>
          </p:cNvSpPr>
          <p:nvPr/>
        </p:nvSpPr>
        <p:spPr bwMode="auto">
          <a:xfrm>
            <a:off x="200025" y="125504"/>
            <a:ext cx="118300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1" fontAlgn="base" hangingPunct="1">
              <a:lnSpc>
                <a:spcPct val="100000"/>
              </a:lnSpc>
              <a:spcBef>
                <a:spcPct val="0"/>
              </a:spcBef>
              <a:spcAft>
                <a:spcPct val="0"/>
              </a:spcAft>
              <a:defRPr sz="4400" b="0" kern="1200">
                <a:solidFill>
                  <a:schemeClr val="tx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Corbel" panose="020B0503020204020204" pitchFamily="34" charset="0"/>
              </a:defRPr>
            </a:lvl2pPr>
            <a:lvl3pPr algn="l" rtl="0" eaLnBrk="1" fontAlgn="base" hangingPunct="1">
              <a:lnSpc>
                <a:spcPct val="90000"/>
              </a:lnSpc>
              <a:spcBef>
                <a:spcPct val="0"/>
              </a:spcBef>
              <a:spcAft>
                <a:spcPct val="0"/>
              </a:spcAft>
              <a:defRPr sz="4400">
                <a:solidFill>
                  <a:schemeClr val="tx1"/>
                </a:solidFill>
                <a:latin typeface="Corbel" panose="020B0503020204020204" pitchFamily="34" charset="0"/>
              </a:defRPr>
            </a:lvl3pPr>
            <a:lvl4pPr algn="l" rtl="0" eaLnBrk="1" fontAlgn="base" hangingPunct="1">
              <a:lnSpc>
                <a:spcPct val="90000"/>
              </a:lnSpc>
              <a:spcBef>
                <a:spcPct val="0"/>
              </a:spcBef>
              <a:spcAft>
                <a:spcPct val="0"/>
              </a:spcAft>
              <a:defRPr sz="4400">
                <a:solidFill>
                  <a:schemeClr val="tx1"/>
                </a:solidFill>
                <a:latin typeface="Corbel" panose="020B0503020204020204" pitchFamily="34" charset="0"/>
              </a:defRPr>
            </a:lvl4pPr>
            <a:lvl5pPr algn="l" rtl="0" eaLnBrk="1" fontAlgn="base" hangingPunct="1">
              <a:lnSpc>
                <a:spcPct val="90000"/>
              </a:lnSpc>
              <a:spcBef>
                <a:spcPct val="0"/>
              </a:spcBef>
              <a:spcAft>
                <a:spcPct val="0"/>
              </a:spcAft>
              <a:defRPr sz="4400">
                <a:solidFill>
                  <a:schemeClr val="tx1"/>
                </a:solidFill>
                <a:latin typeface="Corbel" panose="020B0503020204020204" pitchFamily="34" charset="0"/>
              </a:defRPr>
            </a:lvl5pPr>
            <a:lvl6pPr marL="457200" algn="l" rtl="0" eaLnBrk="1" fontAlgn="base" hangingPunct="1">
              <a:lnSpc>
                <a:spcPct val="90000"/>
              </a:lnSpc>
              <a:spcBef>
                <a:spcPct val="0"/>
              </a:spcBef>
              <a:spcAft>
                <a:spcPct val="0"/>
              </a:spcAft>
              <a:defRPr sz="4400">
                <a:solidFill>
                  <a:schemeClr val="tx1"/>
                </a:solidFill>
                <a:latin typeface="Corbel" panose="020B0503020204020204" pitchFamily="34" charset="0"/>
              </a:defRPr>
            </a:lvl6pPr>
            <a:lvl7pPr marL="914400" algn="l" rtl="0" eaLnBrk="1" fontAlgn="base" hangingPunct="1">
              <a:lnSpc>
                <a:spcPct val="90000"/>
              </a:lnSpc>
              <a:spcBef>
                <a:spcPct val="0"/>
              </a:spcBef>
              <a:spcAft>
                <a:spcPct val="0"/>
              </a:spcAft>
              <a:defRPr sz="4400">
                <a:solidFill>
                  <a:schemeClr val="tx1"/>
                </a:solidFill>
                <a:latin typeface="Corbel" panose="020B0503020204020204" pitchFamily="34" charset="0"/>
              </a:defRPr>
            </a:lvl7pPr>
            <a:lvl8pPr marL="1371600" algn="l" rtl="0" eaLnBrk="1" fontAlgn="base" hangingPunct="1">
              <a:lnSpc>
                <a:spcPct val="90000"/>
              </a:lnSpc>
              <a:spcBef>
                <a:spcPct val="0"/>
              </a:spcBef>
              <a:spcAft>
                <a:spcPct val="0"/>
              </a:spcAft>
              <a:defRPr sz="4400">
                <a:solidFill>
                  <a:schemeClr val="tx1"/>
                </a:solidFill>
                <a:latin typeface="Corbel" panose="020B0503020204020204" pitchFamily="34" charset="0"/>
              </a:defRPr>
            </a:lvl8pPr>
            <a:lvl9pPr marL="1828800" algn="l" rtl="0" eaLnBrk="1" fontAlgn="base" hangingPunct="1">
              <a:lnSpc>
                <a:spcPct val="90000"/>
              </a:lnSpc>
              <a:spcBef>
                <a:spcPct val="0"/>
              </a:spcBef>
              <a:spcAft>
                <a:spcPct val="0"/>
              </a:spcAft>
              <a:defRPr sz="4400">
                <a:solidFill>
                  <a:schemeClr val="tx1"/>
                </a:solidFill>
                <a:latin typeface="Corbel" panose="020B0503020204020204" pitchFamily="34" charset="0"/>
              </a:defRPr>
            </a:lvl9pPr>
          </a:lstStyle>
          <a:p>
            <a:r>
              <a:rPr lang="en-US" b="1"/>
              <a:t>Today:</a:t>
            </a:r>
            <a:r>
              <a:rPr lang="en-US"/>
              <a:t> Emergent phenomena</a:t>
            </a:r>
            <a:endParaRPr lang="en-US" dirty="0"/>
          </a:p>
        </p:txBody>
      </p:sp>
      <p:pic>
        <p:nvPicPr>
          <p:cNvPr id="8" name="Picture 2">
            <a:extLst>
              <a:ext uri="{FF2B5EF4-FFF2-40B4-BE49-F238E27FC236}">
                <a16:creationId xmlns:a16="http://schemas.microsoft.com/office/drawing/2014/main" id="{7220F54E-6AA1-4BDE-0A9E-B2220FB883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4737" y="1548773"/>
            <a:ext cx="1413740" cy="1463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80271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0025" y="281638"/>
            <a:ext cx="11830050" cy="694207"/>
          </a:xfrm>
          <a:prstGeom prst="rect">
            <a:avLst/>
          </a:prstGeom>
        </p:spPr>
        <p:txBody>
          <a:bodyPr vert="horz" wrap="square" lIns="0" tIns="16933" rIns="0" bIns="0" numCol="1" rtlCol="0" anchor="ctr" anchorCtr="0" compatLnSpc="1">
            <a:prstTxWarp prst="textNoShape">
              <a:avLst/>
            </a:prstTxWarp>
            <a:spAutoFit/>
          </a:bodyPr>
          <a:lstStyle/>
          <a:p>
            <a:pPr marL="16933" algn="l">
              <a:spcBef>
                <a:spcPts val="133"/>
              </a:spcBef>
            </a:pPr>
            <a:r>
              <a:rPr lang="en-US" spc="-33" dirty="0"/>
              <a:t>   What is “</a:t>
            </a:r>
            <a:r>
              <a:rPr spc="-33" dirty="0"/>
              <a:t>Scaling</a:t>
            </a:r>
            <a:r>
              <a:rPr lang="en-US" spc="-33" dirty="0"/>
              <a:t>” pre-training LLMs? </a:t>
            </a:r>
            <a:endParaRPr spc="-33" dirty="0"/>
          </a:p>
        </p:txBody>
      </p:sp>
      <p:sp>
        <p:nvSpPr>
          <p:cNvPr id="7" name="Content Placeholder 6">
            <a:extLst>
              <a:ext uri="{FF2B5EF4-FFF2-40B4-BE49-F238E27FC236}">
                <a16:creationId xmlns:a16="http://schemas.microsoft.com/office/drawing/2014/main" id="{090096AD-61D0-E983-D6D7-DC628BD5FF10}"/>
              </a:ext>
            </a:extLst>
          </p:cNvPr>
          <p:cNvSpPr>
            <a:spLocks noGrp="1"/>
          </p:cNvSpPr>
          <p:nvPr>
            <p:ph idx="1"/>
          </p:nvPr>
        </p:nvSpPr>
        <p:spPr/>
        <p:txBody>
          <a:bodyPr>
            <a:normAutofit fontScale="77500" lnSpcReduction="20000"/>
          </a:bodyPr>
          <a:lstStyle/>
          <a:p>
            <a:r>
              <a:rPr lang="en-US" dirty="0"/>
              <a:t>“Scaling” models is not one thing. There are various axes. </a:t>
            </a:r>
          </a:p>
          <a:p>
            <a:endParaRPr lang="en-US" b="1" dirty="0"/>
          </a:p>
          <a:p>
            <a:r>
              <a:rPr lang="en-US" b="1" dirty="0"/>
              <a:t>Larger model size </a:t>
            </a:r>
            <a:endParaRPr lang="en-US" dirty="0"/>
          </a:p>
          <a:p>
            <a:pPr lvl="1"/>
            <a:r>
              <a:rPr lang="en-US" dirty="0"/>
              <a:t>But model params may be under-utilized. </a:t>
            </a:r>
          </a:p>
          <a:p>
            <a:r>
              <a:rPr lang="en-US" b="1" dirty="0"/>
              <a:t>More data</a:t>
            </a:r>
            <a:endParaRPr lang="en-US" dirty="0"/>
          </a:p>
          <a:p>
            <a:pPr lvl="1"/>
            <a:r>
              <a:rPr lang="en-US" dirty="0"/>
              <a:t>But more data might not necessarily contain more information (e.g., duplications) </a:t>
            </a:r>
          </a:p>
          <a:p>
            <a:r>
              <a:rPr lang="en-US" b="1" dirty="0"/>
              <a:t>More</a:t>
            </a:r>
            <a:r>
              <a:rPr lang="en-US" dirty="0"/>
              <a:t> </a:t>
            </a:r>
            <a:r>
              <a:rPr lang="en-US" b="1" dirty="0"/>
              <a:t>compute</a:t>
            </a:r>
            <a:endParaRPr lang="en-US" dirty="0"/>
          </a:p>
          <a:p>
            <a:pPr lvl="1"/>
            <a:r>
              <a:rPr lang="en-US" dirty="0"/>
              <a:t>But unnecessary computation may be wasted. </a:t>
            </a:r>
          </a:p>
          <a:p>
            <a:pPr marL="152396" indent="0">
              <a:buNone/>
            </a:pPr>
            <a:endParaRPr lang="en-US" dirty="0"/>
          </a:p>
          <a:p>
            <a:r>
              <a:rPr lang="en-US" dirty="0"/>
              <a:t>Scale means all the above: </a:t>
            </a:r>
            <a:r>
              <a:rPr lang="en-US" i="1" dirty="0"/>
              <a:t>effective compression of information</a:t>
            </a:r>
          </a:p>
          <a:p>
            <a:pPr lvl="1"/>
            <a:r>
              <a:rPr lang="en-US" dirty="0"/>
              <a:t>Requires model capacity </a:t>
            </a:r>
          </a:p>
          <a:p>
            <a:pPr lvl="1"/>
            <a:r>
              <a:rPr lang="en-US" dirty="0"/>
              <a:t>Requires large, rich data </a:t>
            </a:r>
          </a:p>
          <a:p>
            <a:pPr lvl="1"/>
            <a:r>
              <a:rPr lang="en-US" dirty="0"/>
              <a:t>Requires compute </a:t>
            </a:r>
          </a:p>
        </p:txBody>
      </p:sp>
      <p:grpSp>
        <p:nvGrpSpPr>
          <p:cNvPr id="11" name="Group 10">
            <a:extLst>
              <a:ext uri="{FF2B5EF4-FFF2-40B4-BE49-F238E27FC236}">
                <a16:creationId xmlns:a16="http://schemas.microsoft.com/office/drawing/2014/main" id="{295F52C2-38E1-5DDE-D228-18A6DD2B2A33}"/>
              </a:ext>
            </a:extLst>
          </p:cNvPr>
          <p:cNvGrpSpPr/>
          <p:nvPr/>
        </p:nvGrpSpPr>
        <p:grpSpPr>
          <a:xfrm>
            <a:off x="9110575" y="949559"/>
            <a:ext cx="2415666" cy="2896160"/>
            <a:chOff x="6361353" y="-81941"/>
            <a:chExt cx="2243271" cy="3851418"/>
          </a:xfrm>
        </p:grpSpPr>
        <p:cxnSp>
          <p:nvCxnSpPr>
            <p:cNvPr id="3" name="Straight Arrow Connector 2">
              <a:extLst>
                <a:ext uri="{FF2B5EF4-FFF2-40B4-BE49-F238E27FC236}">
                  <a16:creationId xmlns:a16="http://schemas.microsoft.com/office/drawing/2014/main" id="{1A38CED4-619B-EDB3-A9B0-571458A39BC4}"/>
                </a:ext>
              </a:extLst>
            </p:cNvPr>
            <p:cNvCxnSpPr>
              <a:cxnSpLocks/>
            </p:cNvCxnSpPr>
            <p:nvPr/>
          </p:nvCxnSpPr>
          <p:spPr>
            <a:xfrm flipV="1">
              <a:off x="6836229" y="347457"/>
              <a:ext cx="0" cy="1676400"/>
            </a:xfrm>
            <a:prstGeom prst="straightConnector1">
              <a:avLst/>
            </a:prstGeom>
            <a:ln w="28575">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05C4A272-763D-D19E-1129-E7B477BAC0AC}"/>
                </a:ext>
              </a:extLst>
            </p:cNvPr>
            <p:cNvCxnSpPr>
              <a:cxnSpLocks/>
            </p:cNvCxnSpPr>
            <p:nvPr/>
          </p:nvCxnSpPr>
          <p:spPr>
            <a:xfrm flipV="1">
              <a:off x="6836229" y="1490457"/>
              <a:ext cx="1600200" cy="533400"/>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74FC1CF6-0C59-A0F2-5608-0EBE404EEE5D}"/>
                </a:ext>
              </a:extLst>
            </p:cNvPr>
            <p:cNvCxnSpPr>
              <a:cxnSpLocks/>
            </p:cNvCxnSpPr>
            <p:nvPr/>
          </p:nvCxnSpPr>
          <p:spPr>
            <a:xfrm>
              <a:off x="6836229" y="2023857"/>
              <a:ext cx="685800" cy="1295400"/>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95DF24D-3324-6868-20A2-2FA9022C1E31}"/>
                </a:ext>
              </a:extLst>
            </p:cNvPr>
            <p:cNvSpPr txBox="1"/>
            <p:nvPr/>
          </p:nvSpPr>
          <p:spPr>
            <a:xfrm>
              <a:off x="7141029" y="3319256"/>
              <a:ext cx="1463595" cy="450221"/>
            </a:xfrm>
            <a:prstGeom prst="rect">
              <a:avLst/>
            </a:prstGeom>
            <a:noFill/>
          </p:spPr>
          <p:txBody>
            <a:bodyPr wrap="none" rtlCol="0">
              <a:spAutoFit/>
            </a:bodyPr>
            <a:lstStyle/>
            <a:p>
              <a:r>
                <a:rPr lang="en-US" sz="1600" dirty="0">
                  <a:solidFill>
                    <a:schemeClr val="accent2">
                      <a:lumMod val="75000"/>
                    </a:schemeClr>
                  </a:solidFill>
                </a:rPr>
                <a:t># model params</a:t>
              </a:r>
            </a:p>
          </p:txBody>
        </p:sp>
        <p:sp>
          <p:nvSpPr>
            <p:cNvPr id="9" name="TextBox 8">
              <a:extLst>
                <a:ext uri="{FF2B5EF4-FFF2-40B4-BE49-F238E27FC236}">
                  <a16:creationId xmlns:a16="http://schemas.microsoft.com/office/drawing/2014/main" id="{9316F74F-80EF-D0F3-CD12-E13FE82E40B5}"/>
                </a:ext>
              </a:extLst>
            </p:cNvPr>
            <p:cNvSpPr txBox="1"/>
            <p:nvPr/>
          </p:nvSpPr>
          <p:spPr>
            <a:xfrm>
              <a:off x="7845289" y="989507"/>
              <a:ext cx="691010" cy="450221"/>
            </a:xfrm>
            <a:prstGeom prst="rect">
              <a:avLst/>
            </a:prstGeom>
            <a:noFill/>
          </p:spPr>
          <p:txBody>
            <a:bodyPr wrap="none" rtlCol="0">
              <a:spAutoFit/>
            </a:bodyPr>
            <a:lstStyle/>
            <a:p>
              <a:r>
                <a:rPr lang="en-US" sz="1600" dirty="0">
                  <a:solidFill>
                    <a:srgbClr val="7030A0"/>
                  </a:solidFill>
                </a:rPr>
                <a:t># data</a:t>
              </a:r>
            </a:p>
          </p:txBody>
        </p:sp>
        <p:sp>
          <p:nvSpPr>
            <p:cNvPr id="10" name="TextBox 9">
              <a:extLst>
                <a:ext uri="{FF2B5EF4-FFF2-40B4-BE49-F238E27FC236}">
                  <a16:creationId xmlns:a16="http://schemas.microsoft.com/office/drawing/2014/main" id="{82EB496A-C5DB-511A-F9CF-4A14AD86EF5B}"/>
                </a:ext>
              </a:extLst>
            </p:cNvPr>
            <p:cNvSpPr txBox="1"/>
            <p:nvPr/>
          </p:nvSpPr>
          <p:spPr>
            <a:xfrm>
              <a:off x="6361353" y="-81941"/>
              <a:ext cx="902392" cy="450221"/>
            </a:xfrm>
            <a:prstGeom prst="rect">
              <a:avLst/>
            </a:prstGeom>
            <a:noFill/>
          </p:spPr>
          <p:txBody>
            <a:bodyPr wrap="none" rtlCol="0">
              <a:spAutoFit/>
            </a:bodyPr>
            <a:lstStyle/>
            <a:p>
              <a:r>
                <a:rPr lang="en-US" sz="1600" dirty="0">
                  <a:solidFill>
                    <a:schemeClr val="bg2">
                      <a:lumMod val="75000"/>
                    </a:schemeClr>
                  </a:solidFill>
                </a:rPr>
                <a:t>Compute</a:t>
              </a:r>
            </a:p>
          </p:txBody>
        </p:sp>
      </p:grpSp>
    </p:spTree>
    <p:extLst>
      <p:ext uri="{BB962C8B-B14F-4D97-AF65-F5344CB8AC3E}">
        <p14:creationId xmlns:p14="http://schemas.microsoft.com/office/powerpoint/2010/main" val="2704721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fade">
                                      <p:cBhvr>
                                        <p:cTn id="10" dur="500"/>
                                        <p:tgtEl>
                                          <p:spTgt spid="7">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animEffect transition="in" filter="fade">
                                      <p:cBhvr>
                                        <p:cTn id="15" dur="500"/>
                                        <p:tgtEl>
                                          <p:spTgt spid="7">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xEl>
                                              <p:pRg st="5" end="5"/>
                                            </p:txEl>
                                          </p:spTgt>
                                        </p:tgtEl>
                                        <p:attrNameLst>
                                          <p:attrName>style.visibility</p:attrName>
                                        </p:attrNameLst>
                                      </p:cBhvr>
                                      <p:to>
                                        <p:strVal val="visible"/>
                                      </p:to>
                                    </p:set>
                                    <p:animEffect transition="in" filter="fade">
                                      <p:cBhvr>
                                        <p:cTn id="18" dur="500"/>
                                        <p:tgtEl>
                                          <p:spTgt spid="7">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animEffect transition="in" filter="fade">
                                      <p:cBhvr>
                                        <p:cTn id="21" dur="500"/>
                                        <p:tgtEl>
                                          <p:spTgt spid="7">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7">
                                            <p:txEl>
                                              <p:pRg st="7" end="7"/>
                                            </p:txEl>
                                          </p:spTgt>
                                        </p:tgtEl>
                                        <p:attrNameLst>
                                          <p:attrName>style.visibility</p:attrName>
                                        </p:attrNameLst>
                                      </p:cBhvr>
                                      <p:to>
                                        <p:strVal val="visible"/>
                                      </p:to>
                                    </p:set>
                                    <p:animEffect transition="in" filter="fade">
                                      <p:cBhvr>
                                        <p:cTn id="24" dur="500"/>
                                        <p:tgtEl>
                                          <p:spTgt spid="7">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
                                            <p:txEl>
                                              <p:pRg st="9" end="9"/>
                                            </p:txEl>
                                          </p:spTgt>
                                        </p:tgtEl>
                                        <p:attrNameLst>
                                          <p:attrName>style.visibility</p:attrName>
                                        </p:attrNameLst>
                                      </p:cBhvr>
                                      <p:to>
                                        <p:strVal val="visible"/>
                                      </p:to>
                                    </p:set>
                                    <p:animEffect transition="in" filter="fade">
                                      <p:cBhvr>
                                        <p:cTn id="29" dur="500"/>
                                        <p:tgtEl>
                                          <p:spTgt spid="7">
                                            <p:txEl>
                                              <p:pRg st="9" end="9"/>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7">
                                            <p:txEl>
                                              <p:pRg st="10" end="10"/>
                                            </p:txEl>
                                          </p:spTgt>
                                        </p:tgtEl>
                                        <p:attrNameLst>
                                          <p:attrName>style.visibility</p:attrName>
                                        </p:attrNameLst>
                                      </p:cBhvr>
                                      <p:to>
                                        <p:strVal val="visible"/>
                                      </p:to>
                                    </p:set>
                                    <p:animEffect transition="in" filter="fade">
                                      <p:cBhvr>
                                        <p:cTn id="32" dur="500"/>
                                        <p:tgtEl>
                                          <p:spTgt spid="7">
                                            <p:txEl>
                                              <p:pRg st="10" end="10"/>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7">
                                            <p:txEl>
                                              <p:pRg st="11" end="11"/>
                                            </p:txEl>
                                          </p:spTgt>
                                        </p:tgtEl>
                                        <p:attrNameLst>
                                          <p:attrName>style.visibility</p:attrName>
                                        </p:attrNameLst>
                                      </p:cBhvr>
                                      <p:to>
                                        <p:strVal val="visible"/>
                                      </p:to>
                                    </p:set>
                                    <p:animEffect transition="in" filter="fade">
                                      <p:cBhvr>
                                        <p:cTn id="35" dur="500"/>
                                        <p:tgtEl>
                                          <p:spTgt spid="7">
                                            <p:txEl>
                                              <p:pRg st="11" end="11"/>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7">
                                            <p:txEl>
                                              <p:pRg st="12" end="12"/>
                                            </p:txEl>
                                          </p:spTgt>
                                        </p:tgtEl>
                                        <p:attrNameLst>
                                          <p:attrName>style.visibility</p:attrName>
                                        </p:attrNameLst>
                                      </p:cBhvr>
                                      <p:to>
                                        <p:strVal val="visible"/>
                                      </p:to>
                                    </p:set>
                                    <p:animEffect transition="in" filter="fade">
                                      <p:cBhvr>
                                        <p:cTn id="38" dur="500"/>
                                        <p:tgtEl>
                                          <p:spTgt spid="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39B55-04ED-BB1F-E90A-9695BB81DC60}"/>
              </a:ext>
            </a:extLst>
          </p:cNvPr>
          <p:cNvSpPr>
            <a:spLocks noGrp="1"/>
          </p:cNvSpPr>
          <p:nvPr>
            <p:ph type="title"/>
          </p:nvPr>
        </p:nvSpPr>
        <p:spPr/>
        <p:txBody>
          <a:bodyPr/>
          <a:lstStyle/>
          <a:p>
            <a:r>
              <a:rPr lang="en-US" dirty="0"/>
              <a:t>Pre-training: Effect of scale </a:t>
            </a:r>
          </a:p>
        </p:txBody>
      </p:sp>
      <p:sp>
        <p:nvSpPr>
          <p:cNvPr id="3" name="Content Placeholder 2">
            <a:extLst>
              <a:ext uri="{FF2B5EF4-FFF2-40B4-BE49-F238E27FC236}">
                <a16:creationId xmlns:a16="http://schemas.microsoft.com/office/drawing/2014/main" id="{83594D18-FE44-C846-88B0-0A8889D4FD70}"/>
              </a:ext>
            </a:extLst>
          </p:cNvPr>
          <p:cNvSpPr>
            <a:spLocks noGrp="1"/>
          </p:cNvSpPr>
          <p:nvPr>
            <p:ph idx="1"/>
          </p:nvPr>
        </p:nvSpPr>
        <p:spPr/>
        <p:txBody>
          <a:bodyPr/>
          <a:lstStyle/>
          <a:p>
            <a:endParaRPr lang="en-US" dirty="0"/>
          </a:p>
        </p:txBody>
      </p:sp>
      <p:pic>
        <p:nvPicPr>
          <p:cNvPr id="5" name="Picture 2" descr="Scaling Laws for Neural Language Models | Elias Z. Wang | AI Researcher &amp;  PhD Candidate at Stanford">
            <a:extLst>
              <a:ext uri="{FF2B5EF4-FFF2-40B4-BE49-F238E27FC236}">
                <a16:creationId xmlns:a16="http://schemas.microsoft.com/office/drawing/2014/main" id="{59AA1C5A-73A0-DD24-0AD9-1FE666D97A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8" t="639" r="33086" b="13233"/>
          <a:stretch/>
        </p:blipFill>
        <p:spPr bwMode="auto">
          <a:xfrm>
            <a:off x="1732415" y="1976462"/>
            <a:ext cx="8382226" cy="337087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B04B3D6-4492-0861-B0F4-1C7C998010AC}"/>
              </a:ext>
            </a:extLst>
          </p:cNvPr>
          <p:cNvSpPr txBox="1"/>
          <p:nvPr/>
        </p:nvSpPr>
        <p:spPr>
          <a:xfrm>
            <a:off x="10209511" y="2707955"/>
            <a:ext cx="183072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95959"/>
                </a:solidFill>
                <a:latin typeface="Avenir Book" panose="02000503020000020003" pitchFamily="2" charset="0"/>
                <a:cs typeface="Arial"/>
              </a:rPr>
              <a:t>Kaplan et al. 2020; among others</a:t>
            </a:r>
            <a:endParaRPr lang="en-US" sz="1400">
              <a:latin typeface="Avenir Book" panose="02000503020000020003" pitchFamily="2" charset="0"/>
            </a:endParaRPr>
          </a:p>
        </p:txBody>
      </p:sp>
      <p:sp>
        <p:nvSpPr>
          <p:cNvPr id="11" name="Rounded Rectangle 10">
            <a:extLst>
              <a:ext uri="{FF2B5EF4-FFF2-40B4-BE49-F238E27FC236}">
                <a16:creationId xmlns:a16="http://schemas.microsoft.com/office/drawing/2014/main" id="{A60CAF64-9C12-2201-0484-A1F407514B87}"/>
              </a:ext>
            </a:extLst>
          </p:cNvPr>
          <p:cNvSpPr/>
          <p:nvPr/>
        </p:nvSpPr>
        <p:spPr>
          <a:xfrm>
            <a:off x="1423134" y="5575300"/>
            <a:ext cx="9263803" cy="911250"/>
          </a:xfrm>
          <a:prstGeom prst="roundRect">
            <a:avLst/>
          </a:prstGeom>
          <a:solidFill>
            <a:srgbClr val="E8F5D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Arial" panose="020B0604020202020204" pitchFamily="34" charset="0"/>
                <a:cs typeface="Arial" panose="020B0604020202020204" pitchFamily="34" charset="0"/>
              </a:rPr>
              <a:t>More data and compute ⇒ better results. </a:t>
            </a:r>
          </a:p>
        </p:txBody>
      </p:sp>
      <p:sp>
        <p:nvSpPr>
          <p:cNvPr id="7" name="Slide Number Placeholder 6">
            <a:extLst>
              <a:ext uri="{FF2B5EF4-FFF2-40B4-BE49-F238E27FC236}">
                <a16:creationId xmlns:a16="http://schemas.microsoft.com/office/drawing/2014/main" id="{DDED44E2-85C7-A112-F341-F71169D8ACDD}"/>
              </a:ext>
            </a:extLst>
          </p:cNvPr>
          <p:cNvSpPr>
            <a:spLocks noGrp="1"/>
          </p:cNvSpPr>
          <p:nvPr>
            <p:ph type="sldNum" sz="quarter" idx="10"/>
          </p:nvPr>
        </p:nvSpPr>
        <p:spPr/>
        <p:txBody>
          <a:bodyPr/>
          <a:lstStyle/>
          <a:p>
            <a:pPr>
              <a:defRPr/>
            </a:pPr>
            <a:fld id="{0121240C-47AF-2F4D-83B3-CC3EDF50F794}" type="slidenum">
              <a:rPr lang="en-US" smtClean="0"/>
              <a:pPr>
                <a:defRPr/>
              </a:pPr>
              <a:t>27</a:t>
            </a:fld>
            <a:endParaRPr lang="en-US"/>
          </a:p>
        </p:txBody>
      </p:sp>
    </p:spTree>
    <p:extLst>
      <p:ext uri="{BB962C8B-B14F-4D97-AF65-F5344CB8AC3E}">
        <p14:creationId xmlns:p14="http://schemas.microsoft.com/office/powerpoint/2010/main" val="4041467041"/>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A30C68-8844-3096-C412-CA74B6CD1009}"/>
              </a:ext>
            </a:extLst>
          </p:cNvPr>
          <p:cNvSpPr>
            <a:spLocks noGrp="1"/>
          </p:cNvSpPr>
          <p:nvPr>
            <p:ph idx="1"/>
          </p:nvPr>
        </p:nvSpPr>
        <p:spPr>
          <a:xfrm>
            <a:off x="200025" y="1526507"/>
            <a:ext cx="11830050" cy="4662488"/>
          </a:xfrm>
        </p:spPr>
        <p:txBody>
          <a:bodyPr/>
          <a:lstStyle/>
          <a:p>
            <a:r>
              <a:rPr lang="en-US" dirty="0"/>
              <a:t>Anderson ’72  argued that complex systems can behave in ways that can't be understood by </a:t>
            </a:r>
            <a:r>
              <a:rPr lang="en-US" i="1" dirty="0"/>
              <a:t>the laws that govern their microscopic parts</a:t>
            </a:r>
            <a:r>
              <a:rPr lang="en-US" dirty="0"/>
              <a:t>.</a:t>
            </a:r>
          </a:p>
          <a:p>
            <a:r>
              <a:rPr lang="en-US" dirty="0"/>
              <a:t>He argued that new properties appear at each level of complexity. </a:t>
            </a:r>
          </a:p>
        </p:txBody>
      </p:sp>
      <p:sp>
        <p:nvSpPr>
          <p:cNvPr id="2" name="Title 1">
            <a:extLst>
              <a:ext uri="{FF2B5EF4-FFF2-40B4-BE49-F238E27FC236}">
                <a16:creationId xmlns:a16="http://schemas.microsoft.com/office/drawing/2014/main" id="{E954F19A-1E30-9D99-27F4-5357857CB24F}"/>
              </a:ext>
            </a:extLst>
          </p:cNvPr>
          <p:cNvSpPr>
            <a:spLocks noGrp="1"/>
          </p:cNvSpPr>
          <p:nvPr>
            <p:ph type="title"/>
          </p:nvPr>
        </p:nvSpPr>
        <p:spPr/>
        <p:txBody>
          <a:bodyPr/>
          <a:lstStyle/>
          <a:p>
            <a:r>
              <a:rPr lang="en-US" sz="4000" dirty="0"/>
              <a:t>More of the same produces </a:t>
            </a:r>
            <a:br>
              <a:rPr lang="en-US" sz="4000" dirty="0"/>
            </a:br>
            <a:r>
              <a:rPr lang="en-US" sz="4000" dirty="0"/>
              <a:t>something qualitative different </a:t>
            </a:r>
          </a:p>
        </p:txBody>
      </p:sp>
      <p:pic>
        <p:nvPicPr>
          <p:cNvPr id="1030" name="Picture 6" descr="Philip W. Anderson, Nobel Laureate in Physics, Is Dead at 96 - The New York  Times">
            <a:extLst>
              <a:ext uri="{FF2B5EF4-FFF2-40B4-BE49-F238E27FC236}">
                <a16:creationId xmlns:a16="http://schemas.microsoft.com/office/drawing/2014/main" id="{F703CD29-8A97-B5F7-DF16-6F2FFF42A0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4534" y="3678611"/>
            <a:ext cx="2596069" cy="259767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0B9AD81E-9543-FB47-7D6C-006FD6C43731}"/>
              </a:ext>
            </a:extLst>
          </p:cNvPr>
          <p:cNvPicPr>
            <a:picLocks noChangeAspect="1"/>
          </p:cNvPicPr>
          <p:nvPr/>
        </p:nvPicPr>
        <p:blipFill>
          <a:blip r:embed="rId3"/>
          <a:stretch>
            <a:fillRect/>
          </a:stretch>
        </p:blipFill>
        <p:spPr>
          <a:xfrm>
            <a:off x="2330824" y="3342342"/>
            <a:ext cx="5181607" cy="327021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6552786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C3FDA6-5426-473E-4E1A-BB862A5401F7}"/>
              </a:ext>
            </a:extLst>
          </p:cNvPr>
          <p:cNvSpPr>
            <a:spLocks noGrp="1"/>
          </p:cNvSpPr>
          <p:nvPr>
            <p:ph idx="1"/>
          </p:nvPr>
        </p:nvSpPr>
        <p:spPr/>
        <p:txBody>
          <a:bodyPr/>
          <a:lstStyle/>
          <a:p>
            <a:r>
              <a:rPr lang="en-US" dirty="0"/>
              <a:t>No single molecule is wet. </a:t>
            </a:r>
          </a:p>
          <a:p>
            <a:r>
              <a:rPr lang="en-US" dirty="0"/>
              <a:t>When you put billions of them together, they’re wet. </a:t>
            </a:r>
          </a:p>
          <a:p>
            <a:r>
              <a:rPr lang="en-US" dirty="0"/>
              <a:t>Although chemistry is subject to the laws of physics, we can’t (easily) infer chemistry from our knowledge of physics. </a:t>
            </a:r>
          </a:p>
          <a:p>
            <a:endParaRPr lang="en-US" dirty="0"/>
          </a:p>
        </p:txBody>
      </p:sp>
      <p:sp>
        <p:nvSpPr>
          <p:cNvPr id="3" name="Slide Number Placeholder 2">
            <a:extLst>
              <a:ext uri="{FF2B5EF4-FFF2-40B4-BE49-F238E27FC236}">
                <a16:creationId xmlns:a16="http://schemas.microsoft.com/office/drawing/2014/main" id="{1E608729-8AC3-DEE1-2DF7-553DD4FEB03D}"/>
              </a:ext>
            </a:extLst>
          </p:cNvPr>
          <p:cNvSpPr>
            <a:spLocks noGrp="1"/>
          </p:cNvSpPr>
          <p:nvPr>
            <p:ph type="sldNum" sz="quarter" idx="10"/>
          </p:nvPr>
        </p:nvSpPr>
        <p:spPr/>
        <p:txBody>
          <a:bodyPr/>
          <a:lstStyle/>
          <a:p>
            <a:pPr>
              <a:defRPr/>
            </a:pPr>
            <a:fld id="{0121240C-47AF-2F4D-83B3-CC3EDF50F794}" type="slidenum">
              <a:rPr lang="en-US" smtClean="0"/>
              <a:pPr>
                <a:defRPr/>
              </a:pPr>
              <a:t>29</a:t>
            </a:fld>
            <a:endParaRPr lang="en-US"/>
          </a:p>
        </p:txBody>
      </p:sp>
      <p:sp>
        <p:nvSpPr>
          <p:cNvPr id="4" name="Title 3">
            <a:extLst>
              <a:ext uri="{FF2B5EF4-FFF2-40B4-BE49-F238E27FC236}">
                <a16:creationId xmlns:a16="http://schemas.microsoft.com/office/drawing/2014/main" id="{8BCCEFEB-32CA-7C1A-008D-168C70D28832}"/>
              </a:ext>
            </a:extLst>
          </p:cNvPr>
          <p:cNvSpPr>
            <a:spLocks noGrp="1"/>
          </p:cNvSpPr>
          <p:nvPr>
            <p:ph type="title"/>
          </p:nvPr>
        </p:nvSpPr>
        <p:spPr/>
        <p:txBody>
          <a:bodyPr/>
          <a:lstStyle/>
          <a:p>
            <a:r>
              <a:rPr lang="en-US" dirty="0"/>
              <a:t>“More is Different”: Examples </a:t>
            </a:r>
          </a:p>
        </p:txBody>
      </p:sp>
      <p:pic>
        <p:nvPicPr>
          <p:cNvPr id="9" name="Picture 8" descr="H2O - Molecule of the Month November - MIRO Analytical">
            <a:extLst>
              <a:ext uri="{FF2B5EF4-FFF2-40B4-BE49-F238E27FC236}">
                <a16:creationId xmlns:a16="http://schemas.microsoft.com/office/drawing/2014/main" id="{669E44F8-850A-6A99-6FAD-AE92B26AF07B}"/>
              </a:ext>
            </a:extLst>
          </p:cNvPr>
          <p:cNvPicPr>
            <a:picLocks noChangeAspect="1"/>
          </p:cNvPicPr>
          <p:nvPr/>
        </p:nvPicPr>
        <p:blipFill>
          <a:blip r:embed="rId2"/>
          <a:stretch>
            <a:fillRect/>
          </a:stretch>
        </p:blipFill>
        <p:spPr>
          <a:xfrm>
            <a:off x="2668855" y="4048219"/>
            <a:ext cx="3427145" cy="2056287"/>
          </a:xfrm>
          <a:prstGeom prst="rect">
            <a:avLst/>
          </a:prstGeom>
        </p:spPr>
      </p:pic>
      <p:pic>
        <p:nvPicPr>
          <p:cNvPr id="11" name="Picture 10" descr="Water drops">
            <a:extLst>
              <a:ext uri="{FF2B5EF4-FFF2-40B4-BE49-F238E27FC236}">
                <a16:creationId xmlns:a16="http://schemas.microsoft.com/office/drawing/2014/main" id="{727742AF-EAC7-27A6-D22B-90B9F82D0207}"/>
              </a:ext>
            </a:extLst>
          </p:cNvPr>
          <p:cNvPicPr>
            <a:picLocks noChangeAspect="1"/>
          </p:cNvPicPr>
          <p:nvPr/>
        </p:nvPicPr>
        <p:blipFill>
          <a:blip r:embed="rId3"/>
          <a:srcRect b="59119"/>
          <a:stretch>
            <a:fillRect/>
          </a:stretch>
        </p:blipFill>
        <p:spPr>
          <a:xfrm>
            <a:off x="7011327" y="4048219"/>
            <a:ext cx="3427145" cy="2106717"/>
          </a:xfrm>
          <a:prstGeom prst="rect">
            <a:avLst/>
          </a:prstGeom>
        </p:spPr>
      </p:pic>
    </p:spTree>
    <p:extLst>
      <p:ext uri="{BB962C8B-B14F-4D97-AF65-F5344CB8AC3E}">
        <p14:creationId xmlns:p14="http://schemas.microsoft.com/office/powerpoint/2010/main" val="2204101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heel(1)">
                                      <p:cBhvr>
                                        <p:cTn id="7" dur="20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fade">
                                      <p:cBhvr>
                                        <p:cTn id="15" dur="500"/>
                                        <p:tgtEl>
                                          <p:spTgt spid="2">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animEffect transition="in" filter="fade">
                                      <p:cBhvr>
                                        <p:cTn id="18" dur="500"/>
                                        <p:tgtEl>
                                          <p:spTgt spid="2">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D9662-A1E7-224E-0D06-1C2ADABE656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C45816-5F54-44E4-7F16-DA1FF7C6D1D4}"/>
              </a:ext>
            </a:extLst>
          </p:cNvPr>
          <p:cNvSpPr>
            <a:spLocks noGrp="1"/>
          </p:cNvSpPr>
          <p:nvPr>
            <p:ph idx="1"/>
          </p:nvPr>
        </p:nvSpPr>
        <p:spPr/>
        <p:txBody>
          <a:bodyPr/>
          <a:lstStyle/>
          <a:p>
            <a:r>
              <a:rPr lang="en-US" dirty="0"/>
              <a:t>No ants have grand plans. (to our knowledge)</a:t>
            </a:r>
          </a:p>
          <a:p>
            <a:r>
              <a:rPr lang="en-US" dirty="0"/>
              <a:t>Their colony builds cathedrals. </a:t>
            </a:r>
          </a:p>
        </p:txBody>
      </p:sp>
      <p:sp>
        <p:nvSpPr>
          <p:cNvPr id="3" name="Slide Number Placeholder 2">
            <a:extLst>
              <a:ext uri="{FF2B5EF4-FFF2-40B4-BE49-F238E27FC236}">
                <a16:creationId xmlns:a16="http://schemas.microsoft.com/office/drawing/2014/main" id="{7BEB8879-F610-D47D-0333-AC0FD423F328}"/>
              </a:ext>
            </a:extLst>
          </p:cNvPr>
          <p:cNvSpPr>
            <a:spLocks noGrp="1"/>
          </p:cNvSpPr>
          <p:nvPr>
            <p:ph type="sldNum" sz="quarter" idx="10"/>
          </p:nvPr>
        </p:nvSpPr>
        <p:spPr/>
        <p:txBody>
          <a:bodyPr/>
          <a:lstStyle/>
          <a:p>
            <a:pPr>
              <a:defRPr/>
            </a:pPr>
            <a:fld id="{0121240C-47AF-2F4D-83B3-CC3EDF50F794}" type="slidenum">
              <a:rPr lang="en-US" smtClean="0"/>
              <a:pPr>
                <a:defRPr/>
              </a:pPr>
              <a:t>30</a:t>
            </a:fld>
            <a:endParaRPr lang="en-US"/>
          </a:p>
        </p:txBody>
      </p:sp>
      <p:sp>
        <p:nvSpPr>
          <p:cNvPr id="4" name="Title 3">
            <a:extLst>
              <a:ext uri="{FF2B5EF4-FFF2-40B4-BE49-F238E27FC236}">
                <a16:creationId xmlns:a16="http://schemas.microsoft.com/office/drawing/2014/main" id="{D36A6DAA-5495-6EC6-2AAF-CC0457565383}"/>
              </a:ext>
            </a:extLst>
          </p:cNvPr>
          <p:cNvSpPr>
            <a:spLocks noGrp="1"/>
          </p:cNvSpPr>
          <p:nvPr>
            <p:ph type="title"/>
          </p:nvPr>
        </p:nvSpPr>
        <p:spPr/>
        <p:txBody>
          <a:bodyPr/>
          <a:lstStyle/>
          <a:p>
            <a:r>
              <a:rPr lang="en-US" dirty="0"/>
              <a:t>“More is Different”: Examples </a:t>
            </a:r>
          </a:p>
        </p:txBody>
      </p:sp>
      <p:pic>
        <p:nvPicPr>
          <p:cNvPr id="5" name="Picture 4" descr="This huge termite nest looks like a cathedral : r/interestingasfuck">
            <a:extLst>
              <a:ext uri="{FF2B5EF4-FFF2-40B4-BE49-F238E27FC236}">
                <a16:creationId xmlns:a16="http://schemas.microsoft.com/office/drawing/2014/main" id="{31D3F580-2EF6-99D5-FC72-A12D788926C4}"/>
              </a:ext>
            </a:extLst>
          </p:cNvPr>
          <p:cNvPicPr>
            <a:picLocks noChangeAspect="1"/>
          </p:cNvPicPr>
          <p:nvPr/>
        </p:nvPicPr>
        <p:blipFill>
          <a:blip r:embed="rId2"/>
          <a:stretch>
            <a:fillRect/>
          </a:stretch>
        </p:blipFill>
        <p:spPr>
          <a:xfrm>
            <a:off x="7219825" y="2375795"/>
            <a:ext cx="3010150" cy="4007203"/>
          </a:xfrm>
          <a:prstGeom prst="rect">
            <a:avLst/>
          </a:prstGeom>
        </p:spPr>
      </p:pic>
      <p:pic>
        <p:nvPicPr>
          <p:cNvPr id="6" name="Picture 5">
            <a:extLst>
              <a:ext uri="{FF2B5EF4-FFF2-40B4-BE49-F238E27FC236}">
                <a16:creationId xmlns:a16="http://schemas.microsoft.com/office/drawing/2014/main" id="{2A3551CC-1143-F289-A7E7-185F49EB064D}"/>
              </a:ext>
            </a:extLst>
          </p:cNvPr>
          <p:cNvPicPr>
            <a:picLocks noChangeAspect="1"/>
          </p:cNvPicPr>
          <p:nvPr/>
        </p:nvPicPr>
        <p:blipFill>
          <a:blip r:embed="rId3"/>
          <a:srcRect r="44168"/>
          <a:stretch>
            <a:fillRect/>
          </a:stretch>
        </p:blipFill>
        <p:spPr>
          <a:xfrm>
            <a:off x="2958354" y="3429000"/>
            <a:ext cx="2267572" cy="2548736"/>
          </a:xfrm>
          <a:prstGeom prst="rect">
            <a:avLst/>
          </a:prstGeom>
        </p:spPr>
      </p:pic>
    </p:spTree>
    <p:extLst>
      <p:ext uri="{BB962C8B-B14F-4D97-AF65-F5344CB8AC3E}">
        <p14:creationId xmlns:p14="http://schemas.microsoft.com/office/powerpoint/2010/main" val="706841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fade">
                                      <p:cBhvr>
                                        <p:cTn id="15" dur="500"/>
                                        <p:tgtEl>
                                          <p:spTgt spid="2">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CE4D0B-D37E-B71C-2434-BCE2D48EB45D}"/>
              </a:ext>
            </a:extLst>
          </p:cNvPr>
          <p:cNvSpPr>
            <a:spLocks noGrp="1"/>
          </p:cNvSpPr>
          <p:nvPr>
            <p:ph idx="1"/>
          </p:nvPr>
        </p:nvSpPr>
        <p:spPr>
          <a:xfrm>
            <a:off x="609600" y="1288939"/>
            <a:ext cx="11520768" cy="4662488"/>
          </a:xfrm>
        </p:spPr>
        <p:txBody>
          <a:bodyPr/>
          <a:lstStyle/>
          <a:p>
            <a:r>
              <a:rPr lang="en-US" b="1" dirty="0"/>
              <a:t>Unpredictability: </a:t>
            </a:r>
          </a:p>
          <a:p>
            <a:pPr lvl="1"/>
            <a:r>
              <a:rPr lang="en-US" dirty="0"/>
              <a:t>Testing a smaller model doesn’t tell you what the larger model can do. </a:t>
            </a:r>
          </a:p>
          <a:p>
            <a:endParaRPr lang="en-US" dirty="0"/>
          </a:p>
          <a:p>
            <a:r>
              <a:rPr lang="en-US" b="1" dirty="0"/>
              <a:t>Safety implications: </a:t>
            </a:r>
          </a:p>
          <a:p>
            <a:pPr lvl="1"/>
            <a:r>
              <a:rPr lang="en-US" dirty="0"/>
              <a:t>Standard pre-deployment testing assumes you know what to test for. </a:t>
            </a:r>
          </a:p>
          <a:p>
            <a:pPr lvl="1"/>
            <a:r>
              <a:rPr lang="en-US" dirty="0"/>
              <a:t>Emergent abilities violate that assumption. </a:t>
            </a:r>
          </a:p>
          <a:p>
            <a:pPr marL="457200" lvl="1" indent="0">
              <a:buNone/>
            </a:pPr>
            <a:endParaRPr lang="en-US" dirty="0"/>
          </a:p>
          <a:p>
            <a:r>
              <a:rPr lang="en-US" dirty="0"/>
              <a:t>You can’t test what you don’t know. </a:t>
            </a:r>
          </a:p>
        </p:txBody>
      </p:sp>
      <p:sp>
        <p:nvSpPr>
          <p:cNvPr id="3" name="Slide Number Placeholder 2">
            <a:extLst>
              <a:ext uri="{FF2B5EF4-FFF2-40B4-BE49-F238E27FC236}">
                <a16:creationId xmlns:a16="http://schemas.microsoft.com/office/drawing/2014/main" id="{9072A99E-0345-9752-E7EF-624D120703DE}"/>
              </a:ext>
            </a:extLst>
          </p:cNvPr>
          <p:cNvSpPr>
            <a:spLocks noGrp="1"/>
          </p:cNvSpPr>
          <p:nvPr>
            <p:ph type="sldNum" sz="quarter" idx="10"/>
          </p:nvPr>
        </p:nvSpPr>
        <p:spPr/>
        <p:txBody>
          <a:bodyPr/>
          <a:lstStyle/>
          <a:p>
            <a:pPr>
              <a:defRPr/>
            </a:pPr>
            <a:fld id="{0121240C-47AF-2F4D-83B3-CC3EDF50F794}" type="slidenum">
              <a:rPr lang="en-US" smtClean="0"/>
              <a:pPr>
                <a:defRPr/>
              </a:pPr>
              <a:t>31</a:t>
            </a:fld>
            <a:endParaRPr lang="en-US"/>
          </a:p>
        </p:txBody>
      </p:sp>
      <p:sp>
        <p:nvSpPr>
          <p:cNvPr id="4" name="Title 3">
            <a:extLst>
              <a:ext uri="{FF2B5EF4-FFF2-40B4-BE49-F238E27FC236}">
                <a16:creationId xmlns:a16="http://schemas.microsoft.com/office/drawing/2014/main" id="{CBA2D43C-4282-2DF5-F716-2B276176F336}"/>
              </a:ext>
            </a:extLst>
          </p:cNvPr>
          <p:cNvSpPr>
            <a:spLocks noGrp="1"/>
          </p:cNvSpPr>
          <p:nvPr>
            <p:ph type="title"/>
          </p:nvPr>
        </p:nvSpPr>
        <p:spPr/>
        <p:txBody>
          <a:bodyPr/>
          <a:lstStyle/>
          <a:p>
            <a:r>
              <a:rPr lang="en-US" dirty="0"/>
              <a:t>Why does this matter? </a:t>
            </a:r>
          </a:p>
        </p:txBody>
      </p:sp>
    </p:spTree>
    <p:extLst>
      <p:ext uri="{BB962C8B-B14F-4D97-AF65-F5344CB8AC3E}">
        <p14:creationId xmlns:p14="http://schemas.microsoft.com/office/powerpoint/2010/main" val="364056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500"/>
                                        <p:tgtEl>
                                          <p:spTgt spid="2">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500"/>
                                        <p:tgtEl>
                                          <p:spTgt spid="2">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fade">
                                      <p:cBhvr>
                                        <p:cTn id="21" dur="500"/>
                                        <p:tgtEl>
                                          <p:spTgt spid="2">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
                                            <p:txEl>
                                              <p:pRg st="7" end="7"/>
                                            </p:txEl>
                                          </p:spTgt>
                                        </p:tgtEl>
                                        <p:attrNameLst>
                                          <p:attrName>style.visibility</p:attrName>
                                        </p:attrNameLst>
                                      </p:cBhvr>
                                      <p:to>
                                        <p:strVal val="visible"/>
                                      </p:to>
                                    </p:set>
                                    <p:animEffect transition="in" filter="fade">
                                      <p:cBhvr>
                                        <p:cTn id="26"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0793B-8DD7-1E50-5CEC-BA4F8815E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44AA9-E943-13A8-F97E-8E66E665955B}"/>
              </a:ext>
            </a:extLst>
          </p:cNvPr>
          <p:cNvSpPr>
            <a:spLocks noGrp="1"/>
          </p:cNvSpPr>
          <p:nvPr>
            <p:ph type="title"/>
          </p:nvPr>
        </p:nvSpPr>
        <p:spPr/>
        <p:txBody>
          <a:bodyPr/>
          <a:lstStyle/>
          <a:p>
            <a:r>
              <a:rPr lang="en-US" b="1" dirty="0"/>
              <a:t>Today:</a:t>
            </a:r>
            <a:r>
              <a:rPr lang="en-US" dirty="0"/>
              <a:t> Emergent phenomena</a:t>
            </a:r>
          </a:p>
        </p:txBody>
      </p:sp>
      <p:sp>
        <p:nvSpPr>
          <p:cNvPr id="3" name="Content Placeholder 2">
            <a:extLst>
              <a:ext uri="{FF2B5EF4-FFF2-40B4-BE49-F238E27FC236}">
                <a16:creationId xmlns:a16="http://schemas.microsoft.com/office/drawing/2014/main" id="{59E58A45-0BA7-8DA6-2469-9AD3D2FBE609}"/>
              </a:ext>
            </a:extLst>
          </p:cNvPr>
          <p:cNvSpPr>
            <a:spLocks noGrp="1"/>
          </p:cNvSpPr>
          <p:nvPr>
            <p:ph idx="1"/>
          </p:nvPr>
        </p:nvSpPr>
        <p:spPr/>
        <p:txBody>
          <a:bodyPr/>
          <a:lstStyle/>
          <a:p>
            <a:r>
              <a:rPr lang="en-US" dirty="0"/>
              <a:t>What is happening inside language models? </a:t>
            </a:r>
          </a:p>
          <a:p>
            <a:endParaRPr lang="en-US" dirty="0"/>
          </a:p>
          <a:p>
            <a:r>
              <a:rPr lang="en-US" dirty="0"/>
              <a:t>What do we mean by “emergent phenomena”? </a:t>
            </a:r>
          </a:p>
          <a:p>
            <a:pPr marL="0" indent="0">
              <a:buNone/>
            </a:pPr>
            <a:endParaRPr lang="en-US" dirty="0"/>
          </a:p>
          <a:p>
            <a:r>
              <a:rPr lang="en-US" dirty="0"/>
              <a:t>What do we understand about it? </a:t>
            </a:r>
          </a:p>
          <a:p>
            <a:pPr marL="0" indent="0">
              <a:buNone/>
            </a:pPr>
            <a:endParaRPr lang="en-US" dirty="0"/>
          </a:p>
          <a:p>
            <a:r>
              <a:rPr lang="en-US" dirty="0"/>
              <a:t>What does the future hold? </a:t>
            </a:r>
          </a:p>
          <a:p>
            <a:endParaRPr lang="en-US" dirty="0"/>
          </a:p>
        </p:txBody>
      </p:sp>
      <p:sp>
        <p:nvSpPr>
          <p:cNvPr id="4" name="Slide Number Placeholder 3">
            <a:extLst>
              <a:ext uri="{FF2B5EF4-FFF2-40B4-BE49-F238E27FC236}">
                <a16:creationId xmlns:a16="http://schemas.microsoft.com/office/drawing/2014/main" id="{C6DF1C6E-A9FC-2C6A-0F74-0984D03E192A}"/>
              </a:ext>
            </a:extLst>
          </p:cNvPr>
          <p:cNvSpPr>
            <a:spLocks noGrp="1"/>
          </p:cNvSpPr>
          <p:nvPr>
            <p:ph type="sldNum" sz="quarter" idx="10"/>
          </p:nvPr>
        </p:nvSpPr>
        <p:spPr/>
        <p:txBody>
          <a:bodyPr/>
          <a:lstStyle/>
          <a:p>
            <a:pPr>
              <a:defRPr/>
            </a:pPr>
            <a:fld id="{0121240C-47AF-2F4D-83B3-CC3EDF50F794}" type="slidenum">
              <a:rPr lang="en-US" smtClean="0"/>
              <a:pPr>
                <a:defRPr/>
              </a:pPr>
              <a:t>32</a:t>
            </a:fld>
            <a:endParaRPr lang="en-US"/>
          </a:p>
        </p:txBody>
      </p:sp>
      <p:sp>
        <p:nvSpPr>
          <p:cNvPr id="5" name="Rectangle 4">
            <a:extLst>
              <a:ext uri="{FF2B5EF4-FFF2-40B4-BE49-F238E27FC236}">
                <a16:creationId xmlns:a16="http://schemas.microsoft.com/office/drawing/2014/main" id="{40B59FC0-69C8-6DF2-6A39-54901B504132}"/>
              </a:ext>
            </a:extLst>
          </p:cNvPr>
          <p:cNvSpPr/>
          <p:nvPr/>
        </p:nvSpPr>
        <p:spPr>
          <a:xfrm>
            <a:off x="196482" y="3783106"/>
            <a:ext cx="11799035" cy="2110324"/>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24EC57A-6894-5C4B-E525-A26ED7FF07FE}"/>
              </a:ext>
            </a:extLst>
          </p:cNvPr>
          <p:cNvSpPr/>
          <p:nvPr/>
        </p:nvSpPr>
        <p:spPr>
          <a:xfrm>
            <a:off x="0" y="0"/>
            <a:ext cx="12186309" cy="130884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FA388209-E799-B49C-7196-2666B233D625}"/>
              </a:ext>
            </a:extLst>
          </p:cNvPr>
          <p:cNvSpPr txBox="1">
            <a:spLocks/>
          </p:cNvSpPr>
          <p:nvPr/>
        </p:nvSpPr>
        <p:spPr bwMode="auto">
          <a:xfrm>
            <a:off x="200025" y="125504"/>
            <a:ext cx="118300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1" fontAlgn="base" hangingPunct="1">
              <a:lnSpc>
                <a:spcPct val="100000"/>
              </a:lnSpc>
              <a:spcBef>
                <a:spcPct val="0"/>
              </a:spcBef>
              <a:spcAft>
                <a:spcPct val="0"/>
              </a:spcAft>
              <a:defRPr sz="4400" b="0" kern="1200">
                <a:solidFill>
                  <a:schemeClr val="tx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Corbel" panose="020B0503020204020204" pitchFamily="34" charset="0"/>
              </a:defRPr>
            </a:lvl2pPr>
            <a:lvl3pPr algn="l" rtl="0" eaLnBrk="1" fontAlgn="base" hangingPunct="1">
              <a:lnSpc>
                <a:spcPct val="90000"/>
              </a:lnSpc>
              <a:spcBef>
                <a:spcPct val="0"/>
              </a:spcBef>
              <a:spcAft>
                <a:spcPct val="0"/>
              </a:spcAft>
              <a:defRPr sz="4400">
                <a:solidFill>
                  <a:schemeClr val="tx1"/>
                </a:solidFill>
                <a:latin typeface="Corbel" panose="020B0503020204020204" pitchFamily="34" charset="0"/>
              </a:defRPr>
            </a:lvl3pPr>
            <a:lvl4pPr algn="l" rtl="0" eaLnBrk="1" fontAlgn="base" hangingPunct="1">
              <a:lnSpc>
                <a:spcPct val="90000"/>
              </a:lnSpc>
              <a:spcBef>
                <a:spcPct val="0"/>
              </a:spcBef>
              <a:spcAft>
                <a:spcPct val="0"/>
              </a:spcAft>
              <a:defRPr sz="4400">
                <a:solidFill>
                  <a:schemeClr val="tx1"/>
                </a:solidFill>
                <a:latin typeface="Corbel" panose="020B0503020204020204" pitchFamily="34" charset="0"/>
              </a:defRPr>
            </a:lvl4pPr>
            <a:lvl5pPr algn="l" rtl="0" eaLnBrk="1" fontAlgn="base" hangingPunct="1">
              <a:lnSpc>
                <a:spcPct val="90000"/>
              </a:lnSpc>
              <a:spcBef>
                <a:spcPct val="0"/>
              </a:spcBef>
              <a:spcAft>
                <a:spcPct val="0"/>
              </a:spcAft>
              <a:defRPr sz="4400">
                <a:solidFill>
                  <a:schemeClr val="tx1"/>
                </a:solidFill>
                <a:latin typeface="Corbel" panose="020B0503020204020204" pitchFamily="34" charset="0"/>
              </a:defRPr>
            </a:lvl5pPr>
            <a:lvl6pPr marL="457200" algn="l" rtl="0" eaLnBrk="1" fontAlgn="base" hangingPunct="1">
              <a:lnSpc>
                <a:spcPct val="90000"/>
              </a:lnSpc>
              <a:spcBef>
                <a:spcPct val="0"/>
              </a:spcBef>
              <a:spcAft>
                <a:spcPct val="0"/>
              </a:spcAft>
              <a:defRPr sz="4400">
                <a:solidFill>
                  <a:schemeClr val="tx1"/>
                </a:solidFill>
                <a:latin typeface="Corbel" panose="020B0503020204020204" pitchFamily="34" charset="0"/>
              </a:defRPr>
            </a:lvl6pPr>
            <a:lvl7pPr marL="914400" algn="l" rtl="0" eaLnBrk="1" fontAlgn="base" hangingPunct="1">
              <a:lnSpc>
                <a:spcPct val="90000"/>
              </a:lnSpc>
              <a:spcBef>
                <a:spcPct val="0"/>
              </a:spcBef>
              <a:spcAft>
                <a:spcPct val="0"/>
              </a:spcAft>
              <a:defRPr sz="4400">
                <a:solidFill>
                  <a:schemeClr val="tx1"/>
                </a:solidFill>
                <a:latin typeface="Corbel" panose="020B0503020204020204" pitchFamily="34" charset="0"/>
              </a:defRPr>
            </a:lvl7pPr>
            <a:lvl8pPr marL="1371600" algn="l" rtl="0" eaLnBrk="1" fontAlgn="base" hangingPunct="1">
              <a:lnSpc>
                <a:spcPct val="90000"/>
              </a:lnSpc>
              <a:spcBef>
                <a:spcPct val="0"/>
              </a:spcBef>
              <a:spcAft>
                <a:spcPct val="0"/>
              </a:spcAft>
              <a:defRPr sz="4400">
                <a:solidFill>
                  <a:schemeClr val="tx1"/>
                </a:solidFill>
                <a:latin typeface="Corbel" panose="020B0503020204020204" pitchFamily="34" charset="0"/>
              </a:defRPr>
            </a:lvl8pPr>
            <a:lvl9pPr marL="1828800" algn="l" rtl="0" eaLnBrk="1" fontAlgn="base" hangingPunct="1">
              <a:lnSpc>
                <a:spcPct val="90000"/>
              </a:lnSpc>
              <a:spcBef>
                <a:spcPct val="0"/>
              </a:spcBef>
              <a:spcAft>
                <a:spcPct val="0"/>
              </a:spcAft>
              <a:defRPr sz="4400">
                <a:solidFill>
                  <a:schemeClr val="tx1"/>
                </a:solidFill>
                <a:latin typeface="Corbel" panose="020B0503020204020204" pitchFamily="34" charset="0"/>
              </a:defRPr>
            </a:lvl9pPr>
          </a:lstStyle>
          <a:p>
            <a:r>
              <a:rPr lang="en-US" b="1"/>
              <a:t>Today:</a:t>
            </a:r>
            <a:r>
              <a:rPr lang="en-US"/>
              <a:t> Emergent phenomena</a:t>
            </a:r>
            <a:endParaRPr lang="en-US" dirty="0"/>
          </a:p>
        </p:txBody>
      </p:sp>
      <p:pic>
        <p:nvPicPr>
          <p:cNvPr id="8" name="Picture 2">
            <a:extLst>
              <a:ext uri="{FF2B5EF4-FFF2-40B4-BE49-F238E27FC236}">
                <a16:creationId xmlns:a16="http://schemas.microsoft.com/office/drawing/2014/main" id="{BB37185C-DB42-AB56-FF8B-A71EE105E3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4737" y="1548773"/>
            <a:ext cx="1413740" cy="1463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4710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D0A1B-6317-0C63-5A6E-FE496F9A81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449CC8-5803-1E1C-0102-BCE1F97D9BDA}"/>
              </a:ext>
            </a:extLst>
          </p:cNvPr>
          <p:cNvSpPr>
            <a:spLocks noGrp="1"/>
          </p:cNvSpPr>
          <p:nvPr>
            <p:ph type="title"/>
          </p:nvPr>
        </p:nvSpPr>
        <p:spPr/>
        <p:txBody>
          <a:bodyPr/>
          <a:lstStyle/>
          <a:p>
            <a:r>
              <a:rPr lang="en-US" b="1" dirty="0"/>
              <a:t>Today:</a:t>
            </a:r>
            <a:r>
              <a:rPr lang="en-US" dirty="0"/>
              <a:t> Emergent phenomena</a:t>
            </a:r>
          </a:p>
        </p:txBody>
      </p:sp>
      <p:sp>
        <p:nvSpPr>
          <p:cNvPr id="3" name="Content Placeholder 2">
            <a:extLst>
              <a:ext uri="{FF2B5EF4-FFF2-40B4-BE49-F238E27FC236}">
                <a16:creationId xmlns:a16="http://schemas.microsoft.com/office/drawing/2014/main" id="{33D6D3E0-49C3-5AA6-DD1A-D1FAC5501296}"/>
              </a:ext>
            </a:extLst>
          </p:cNvPr>
          <p:cNvSpPr>
            <a:spLocks noGrp="1"/>
          </p:cNvSpPr>
          <p:nvPr>
            <p:ph idx="1"/>
          </p:nvPr>
        </p:nvSpPr>
        <p:spPr/>
        <p:txBody>
          <a:bodyPr/>
          <a:lstStyle/>
          <a:p>
            <a:r>
              <a:rPr lang="en-US" dirty="0"/>
              <a:t>What is happening inside language models? </a:t>
            </a:r>
          </a:p>
          <a:p>
            <a:endParaRPr lang="en-US" dirty="0"/>
          </a:p>
          <a:p>
            <a:r>
              <a:rPr lang="en-US" dirty="0"/>
              <a:t>What do we mean by “emergent phenomena”? </a:t>
            </a:r>
          </a:p>
          <a:p>
            <a:pPr marL="0" indent="0">
              <a:buNone/>
            </a:pPr>
            <a:endParaRPr lang="en-US" dirty="0"/>
          </a:p>
          <a:p>
            <a:r>
              <a:rPr lang="en-US" dirty="0"/>
              <a:t>What do we understand about it? </a:t>
            </a:r>
          </a:p>
          <a:p>
            <a:pPr marL="0" indent="0">
              <a:buNone/>
            </a:pPr>
            <a:endParaRPr lang="en-US" dirty="0"/>
          </a:p>
          <a:p>
            <a:r>
              <a:rPr lang="en-US" dirty="0"/>
              <a:t>What does the future hold? </a:t>
            </a:r>
          </a:p>
          <a:p>
            <a:endParaRPr lang="en-US" dirty="0"/>
          </a:p>
        </p:txBody>
      </p:sp>
      <p:sp>
        <p:nvSpPr>
          <p:cNvPr id="4" name="Slide Number Placeholder 3">
            <a:extLst>
              <a:ext uri="{FF2B5EF4-FFF2-40B4-BE49-F238E27FC236}">
                <a16:creationId xmlns:a16="http://schemas.microsoft.com/office/drawing/2014/main" id="{F42329F6-7F36-71AA-FBCE-8A85FD2F4958}"/>
              </a:ext>
            </a:extLst>
          </p:cNvPr>
          <p:cNvSpPr>
            <a:spLocks noGrp="1"/>
          </p:cNvSpPr>
          <p:nvPr>
            <p:ph type="sldNum" sz="quarter" idx="10"/>
          </p:nvPr>
        </p:nvSpPr>
        <p:spPr/>
        <p:txBody>
          <a:bodyPr/>
          <a:lstStyle/>
          <a:p>
            <a:pPr>
              <a:defRPr/>
            </a:pPr>
            <a:fld id="{0121240C-47AF-2F4D-83B3-CC3EDF50F794}" type="slidenum">
              <a:rPr lang="en-US" smtClean="0"/>
              <a:pPr>
                <a:defRPr/>
              </a:pPr>
              <a:t>33</a:t>
            </a:fld>
            <a:endParaRPr lang="en-US"/>
          </a:p>
        </p:txBody>
      </p:sp>
      <p:sp>
        <p:nvSpPr>
          <p:cNvPr id="5" name="Rectangle 4">
            <a:extLst>
              <a:ext uri="{FF2B5EF4-FFF2-40B4-BE49-F238E27FC236}">
                <a16:creationId xmlns:a16="http://schemas.microsoft.com/office/drawing/2014/main" id="{ACFF5C95-2ECA-11EA-CFF1-665A1746D10C}"/>
              </a:ext>
            </a:extLst>
          </p:cNvPr>
          <p:cNvSpPr/>
          <p:nvPr/>
        </p:nvSpPr>
        <p:spPr>
          <a:xfrm>
            <a:off x="196482" y="4554070"/>
            <a:ext cx="11799035" cy="1339359"/>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D90F0EB2-2BC1-00A7-8EFE-91827A6F9869}"/>
              </a:ext>
            </a:extLst>
          </p:cNvPr>
          <p:cNvSpPr/>
          <p:nvPr/>
        </p:nvSpPr>
        <p:spPr>
          <a:xfrm>
            <a:off x="0" y="0"/>
            <a:ext cx="12186309" cy="130884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79437D09-8D41-112F-4CEA-314518802727}"/>
              </a:ext>
            </a:extLst>
          </p:cNvPr>
          <p:cNvSpPr txBox="1">
            <a:spLocks/>
          </p:cNvSpPr>
          <p:nvPr/>
        </p:nvSpPr>
        <p:spPr bwMode="auto">
          <a:xfrm>
            <a:off x="200025" y="125504"/>
            <a:ext cx="118300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1" fontAlgn="base" hangingPunct="1">
              <a:lnSpc>
                <a:spcPct val="100000"/>
              </a:lnSpc>
              <a:spcBef>
                <a:spcPct val="0"/>
              </a:spcBef>
              <a:spcAft>
                <a:spcPct val="0"/>
              </a:spcAft>
              <a:defRPr sz="4400" b="0" kern="1200">
                <a:solidFill>
                  <a:schemeClr val="tx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Corbel" panose="020B0503020204020204" pitchFamily="34" charset="0"/>
              </a:defRPr>
            </a:lvl2pPr>
            <a:lvl3pPr algn="l" rtl="0" eaLnBrk="1" fontAlgn="base" hangingPunct="1">
              <a:lnSpc>
                <a:spcPct val="90000"/>
              </a:lnSpc>
              <a:spcBef>
                <a:spcPct val="0"/>
              </a:spcBef>
              <a:spcAft>
                <a:spcPct val="0"/>
              </a:spcAft>
              <a:defRPr sz="4400">
                <a:solidFill>
                  <a:schemeClr val="tx1"/>
                </a:solidFill>
                <a:latin typeface="Corbel" panose="020B0503020204020204" pitchFamily="34" charset="0"/>
              </a:defRPr>
            </a:lvl3pPr>
            <a:lvl4pPr algn="l" rtl="0" eaLnBrk="1" fontAlgn="base" hangingPunct="1">
              <a:lnSpc>
                <a:spcPct val="90000"/>
              </a:lnSpc>
              <a:spcBef>
                <a:spcPct val="0"/>
              </a:spcBef>
              <a:spcAft>
                <a:spcPct val="0"/>
              </a:spcAft>
              <a:defRPr sz="4400">
                <a:solidFill>
                  <a:schemeClr val="tx1"/>
                </a:solidFill>
                <a:latin typeface="Corbel" panose="020B0503020204020204" pitchFamily="34" charset="0"/>
              </a:defRPr>
            </a:lvl4pPr>
            <a:lvl5pPr algn="l" rtl="0" eaLnBrk="1" fontAlgn="base" hangingPunct="1">
              <a:lnSpc>
                <a:spcPct val="90000"/>
              </a:lnSpc>
              <a:spcBef>
                <a:spcPct val="0"/>
              </a:spcBef>
              <a:spcAft>
                <a:spcPct val="0"/>
              </a:spcAft>
              <a:defRPr sz="4400">
                <a:solidFill>
                  <a:schemeClr val="tx1"/>
                </a:solidFill>
                <a:latin typeface="Corbel" panose="020B0503020204020204" pitchFamily="34" charset="0"/>
              </a:defRPr>
            </a:lvl5pPr>
            <a:lvl6pPr marL="457200" algn="l" rtl="0" eaLnBrk="1" fontAlgn="base" hangingPunct="1">
              <a:lnSpc>
                <a:spcPct val="90000"/>
              </a:lnSpc>
              <a:spcBef>
                <a:spcPct val="0"/>
              </a:spcBef>
              <a:spcAft>
                <a:spcPct val="0"/>
              </a:spcAft>
              <a:defRPr sz="4400">
                <a:solidFill>
                  <a:schemeClr val="tx1"/>
                </a:solidFill>
                <a:latin typeface="Corbel" panose="020B0503020204020204" pitchFamily="34" charset="0"/>
              </a:defRPr>
            </a:lvl6pPr>
            <a:lvl7pPr marL="914400" algn="l" rtl="0" eaLnBrk="1" fontAlgn="base" hangingPunct="1">
              <a:lnSpc>
                <a:spcPct val="90000"/>
              </a:lnSpc>
              <a:spcBef>
                <a:spcPct val="0"/>
              </a:spcBef>
              <a:spcAft>
                <a:spcPct val="0"/>
              </a:spcAft>
              <a:defRPr sz="4400">
                <a:solidFill>
                  <a:schemeClr val="tx1"/>
                </a:solidFill>
                <a:latin typeface="Corbel" panose="020B0503020204020204" pitchFamily="34" charset="0"/>
              </a:defRPr>
            </a:lvl7pPr>
            <a:lvl8pPr marL="1371600" algn="l" rtl="0" eaLnBrk="1" fontAlgn="base" hangingPunct="1">
              <a:lnSpc>
                <a:spcPct val="90000"/>
              </a:lnSpc>
              <a:spcBef>
                <a:spcPct val="0"/>
              </a:spcBef>
              <a:spcAft>
                <a:spcPct val="0"/>
              </a:spcAft>
              <a:defRPr sz="4400">
                <a:solidFill>
                  <a:schemeClr val="tx1"/>
                </a:solidFill>
                <a:latin typeface="Corbel" panose="020B0503020204020204" pitchFamily="34" charset="0"/>
              </a:defRPr>
            </a:lvl8pPr>
            <a:lvl9pPr marL="1828800" algn="l" rtl="0" eaLnBrk="1" fontAlgn="base" hangingPunct="1">
              <a:lnSpc>
                <a:spcPct val="90000"/>
              </a:lnSpc>
              <a:spcBef>
                <a:spcPct val="0"/>
              </a:spcBef>
              <a:spcAft>
                <a:spcPct val="0"/>
              </a:spcAft>
              <a:defRPr sz="4400">
                <a:solidFill>
                  <a:schemeClr val="tx1"/>
                </a:solidFill>
                <a:latin typeface="Corbel" panose="020B0503020204020204" pitchFamily="34" charset="0"/>
              </a:defRPr>
            </a:lvl9pPr>
          </a:lstStyle>
          <a:p>
            <a:r>
              <a:rPr lang="en-US" b="1"/>
              <a:t>Today:</a:t>
            </a:r>
            <a:r>
              <a:rPr lang="en-US"/>
              <a:t> Emergent phenomena</a:t>
            </a:r>
            <a:endParaRPr lang="en-US" dirty="0"/>
          </a:p>
        </p:txBody>
      </p:sp>
      <p:pic>
        <p:nvPicPr>
          <p:cNvPr id="8" name="Picture 2">
            <a:extLst>
              <a:ext uri="{FF2B5EF4-FFF2-40B4-BE49-F238E27FC236}">
                <a16:creationId xmlns:a16="http://schemas.microsoft.com/office/drawing/2014/main" id="{FD546A97-3B11-E7DA-AF1D-A1E3F046C2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4737" y="1548773"/>
            <a:ext cx="1413740" cy="1463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71737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F122C-DBDB-0569-D4F9-43B652C0E30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0B9AFF-29E2-18F0-9B13-386BB24A4079}"/>
              </a:ext>
            </a:extLst>
          </p:cNvPr>
          <p:cNvSpPr>
            <a:spLocks noGrp="1"/>
          </p:cNvSpPr>
          <p:nvPr>
            <p:ph type="sldNum" sz="quarter" idx="10"/>
          </p:nvPr>
        </p:nvSpPr>
        <p:spPr/>
        <p:txBody>
          <a:bodyPr/>
          <a:lstStyle/>
          <a:p>
            <a:pPr>
              <a:defRPr/>
            </a:pPr>
            <a:fld id="{0121240C-47AF-2F4D-83B3-CC3EDF50F794}" type="slidenum">
              <a:rPr lang="en-US" smtClean="0"/>
              <a:pPr>
                <a:defRPr/>
              </a:pPr>
              <a:t>34</a:t>
            </a:fld>
            <a:endParaRPr lang="en-US" dirty="0"/>
          </a:p>
        </p:txBody>
      </p:sp>
      <p:sp>
        <p:nvSpPr>
          <p:cNvPr id="5" name="Rounded Rectangle 4">
            <a:extLst>
              <a:ext uri="{FF2B5EF4-FFF2-40B4-BE49-F238E27FC236}">
                <a16:creationId xmlns:a16="http://schemas.microsoft.com/office/drawing/2014/main" id="{BCFCA3DD-3924-6A73-EA36-7911188E98E0}"/>
              </a:ext>
            </a:extLst>
          </p:cNvPr>
          <p:cNvSpPr/>
          <p:nvPr/>
        </p:nvSpPr>
        <p:spPr>
          <a:xfrm>
            <a:off x="2013283" y="2210157"/>
            <a:ext cx="7451559" cy="243768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400" dirty="0">
              <a:solidFill>
                <a:schemeClr val="tx1"/>
              </a:solidFill>
              <a:latin typeface="Avenir Book" panose="02000503020000020003" pitchFamily="2" charset="0"/>
            </a:endParaRPr>
          </a:p>
        </p:txBody>
      </p:sp>
      <p:sp>
        <p:nvSpPr>
          <p:cNvPr id="11" name="Title 1">
            <a:extLst>
              <a:ext uri="{FF2B5EF4-FFF2-40B4-BE49-F238E27FC236}">
                <a16:creationId xmlns:a16="http://schemas.microsoft.com/office/drawing/2014/main" id="{F648B382-3A45-AE59-3E25-D2F881F8CC7F}"/>
              </a:ext>
            </a:extLst>
          </p:cNvPr>
          <p:cNvSpPr>
            <a:spLocks noGrp="1"/>
          </p:cNvSpPr>
          <p:nvPr>
            <p:ph type="title"/>
          </p:nvPr>
        </p:nvSpPr>
        <p:spPr>
          <a:xfrm>
            <a:off x="200025" y="221756"/>
            <a:ext cx="11830050" cy="1006475"/>
          </a:xfrm>
        </p:spPr>
        <p:txBody>
          <a:bodyPr/>
          <a:lstStyle/>
          <a:p>
            <a:r>
              <a:rPr lang="en-US" dirty="0"/>
              <a:t>A working example</a:t>
            </a:r>
          </a:p>
        </p:txBody>
      </p:sp>
    </p:spTree>
    <p:extLst>
      <p:ext uri="{BB962C8B-B14F-4D97-AF65-F5344CB8AC3E}">
        <p14:creationId xmlns:p14="http://schemas.microsoft.com/office/powerpoint/2010/main" val="2822016799"/>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E3EDC-BAB8-E2C7-470D-ADCB10B689A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EE8E10F-28AE-F0C2-024D-920C6FD5F4CB}"/>
              </a:ext>
            </a:extLst>
          </p:cNvPr>
          <p:cNvSpPr>
            <a:spLocks noGrp="1"/>
          </p:cNvSpPr>
          <p:nvPr>
            <p:ph type="sldNum" sz="quarter" idx="10"/>
          </p:nvPr>
        </p:nvSpPr>
        <p:spPr/>
        <p:txBody>
          <a:bodyPr/>
          <a:lstStyle/>
          <a:p>
            <a:pPr>
              <a:defRPr/>
            </a:pPr>
            <a:fld id="{0121240C-47AF-2F4D-83B3-CC3EDF50F794}" type="slidenum">
              <a:rPr lang="en-US" smtClean="0"/>
              <a:pPr>
                <a:defRPr/>
              </a:pPr>
              <a:t>35</a:t>
            </a:fld>
            <a:endParaRPr lang="en-US" dirty="0"/>
          </a:p>
        </p:txBody>
      </p:sp>
      <p:sp>
        <p:nvSpPr>
          <p:cNvPr id="5" name="Rounded Rectangle 4">
            <a:extLst>
              <a:ext uri="{FF2B5EF4-FFF2-40B4-BE49-F238E27FC236}">
                <a16:creationId xmlns:a16="http://schemas.microsoft.com/office/drawing/2014/main" id="{1F245E44-6434-4C46-D9BE-634FA0417884}"/>
              </a:ext>
            </a:extLst>
          </p:cNvPr>
          <p:cNvSpPr/>
          <p:nvPr/>
        </p:nvSpPr>
        <p:spPr>
          <a:xfrm>
            <a:off x="2013283" y="2210157"/>
            <a:ext cx="7451559" cy="243768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400" dirty="0">
                <a:solidFill>
                  <a:schemeClr val="tx1"/>
                </a:solidFill>
                <a:latin typeface="Avenir Book" panose="02000503020000020003" pitchFamily="2" charset="0"/>
              </a:rPr>
              <a:t>Input: NYU</a:t>
            </a:r>
          </a:p>
        </p:txBody>
      </p:sp>
      <p:sp>
        <p:nvSpPr>
          <p:cNvPr id="11" name="Title 1">
            <a:extLst>
              <a:ext uri="{FF2B5EF4-FFF2-40B4-BE49-F238E27FC236}">
                <a16:creationId xmlns:a16="http://schemas.microsoft.com/office/drawing/2014/main" id="{1AC3C746-F592-F50A-029E-AACDE8EA78AF}"/>
              </a:ext>
            </a:extLst>
          </p:cNvPr>
          <p:cNvSpPr>
            <a:spLocks noGrp="1"/>
          </p:cNvSpPr>
          <p:nvPr>
            <p:ph type="title"/>
          </p:nvPr>
        </p:nvSpPr>
        <p:spPr>
          <a:xfrm>
            <a:off x="200025" y="221756"/>
            <a:ext cx="11830050" cy="1006475"/>
          </a:xfrm>
        </p:spPr>
        <p:txBody>
          <a:bodyPr/>
          <a:lstStyle/>
          <a:p>
            <a:r>
              <a:rPr lang="en-US" dirty="0"/>
              <a:t>A working example</a:t>
            </a:r>
          </a:p>
        </p:txBody>
      </p:sp>
    </p:spTree>
    <p:extLst>
      <p:ext uri="{BB962C8B-B14F-4D97-AF65-F5344CB8AC3E}">
        <p14:creationId xmlns:p14="http://schemas.microsoft.com/office/powerpoint/2010/main" val="1358824989"/>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7E01-B55A-87A1-7B62-469687B5DA8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F7CDC1-0B15-59E2-3952-870EDF17CD10}"/>
              </a:ext>
            </a:extLst>
          </p:cNvPr>
          <p:cNvSpPr>
            <a:spLocks noGrp="1"/>
          </p:cNvSpPr>
          <p:nvPr>
            <p:ph type="sldNum" sz="quarter" idx="10"/>
          </p:nvPr>
        </p:nvSpPr>
        <p:spPr/>
        <p:txBody>
          <a:bodyPr/>
          <a:lstStyle/>
          <a:p>
            <a:pPr>
              <a:defRPr/>
            </a:pPr>
            <a:fld id="{0121240C-47AF-2F4D-83B3-CC3EDF50F794}" type="slidenum">
              <a:rPr lang="en-US" smtClean="0"/>
              <a:pPr>
                <a:defRPr/>
              </a:pPr>
              <a:t>36</a:t>
            </a:fld>
            <a:endParaRPr lang="en-US" dirty="0"/>
          </a:p>
        </p:txBody>
      </p:sp>
      <p:sp>
        <p:nvSpPr>
          <p:cNvPr id="5" name="Rounded Rectangle 4">
            <a:extLst>
              <a:ext uri="{FF2B5EF4-FFF2-40B4-BE49-F238E27FC236}">
                <a16:creationId xmlns:a16="http://schemas.microsoft.com/office/drawing/2014/main" id="{364E5CEC-E78B-FBE9-38B9-B75FDD33C6A7}"/>
              </a:ext>
            </a:extLst>
          </p:cNvPr>
          <p:cNvSpPr/>
          <p:nvPr/>
        </p:nvSpPr>
        <p:spPr>
          <a:xfrm>
            <a:off x="2013283" y="2210157"/>
            <a:ext cx="7451559" cy="243768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400" dirty="0">
                <a:solidFill>
                  <a:schemeClr val="tx1"/>
                </a:solidFill>
                <a:latin typeface="Avenir Book" panose="02000503020000020003" pitchFamily="2" charset="0"/>
              </a:rPr>
              <a:t>Input: NYU   Output: NYC</a:t>
            </a:r>
          </a:p>
        </p:txBody>
      </p:sp>
      <p:sp>
        <p:nvSpPr>
          <p:cNvPr id="11" name="Title 1">
            <a:extLst>
              <a:ext uri="{FF2B5EF4-FFF2-40B4-BE49-F238E27FC236}">
                <a16:creationId xmlns:a16="http://schemas.microsoft.com/office/drawing/2014/main" id="{18402F3E-C042-5FB8-F371-9A3DA826675D}"/>
              </a:ext>
            </a:extLst>
          </p:cNvPr>
          <p:cNvSpPr>
            <a:spLocks noGrp="1"/>
          </p:cNvSpPr>
          <p:nvPr>
            <p:ph type="title"/>
          </p:nvPr>
        </p:nvSpPr>
        <p:spPr>
          <a:xfrm>
            <a:off x="200025" y="221756"/>
            <a:ext cx="11830050" cy="1006475"/>
          </a:xfrm>
        </p:spPr>
        <p:txBody>
          <a:bodyPr/>
          <a:lstStyle/>
          <a:p>
            <a:r>
              <a:rPr lang="en-US" dirty="0"/>
              <a:t>A working example</a:t>
            </a:r>
          </a:p>
        </p:txBody>
      </p:sp>
    </p:spTree>
    <p:extLst>
      <p:ext uri="{BB962C8B-B14F-4D97-AF65-F5344CB8AC3E}">
        <p14:creationId xmlns:p14="http://schemas.microsoft.com/office/powerpoint/2010/main" val="1675380107"/>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E992E-E2EA-1484-A101-BAA68413457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9A8C80-A56F-3FFB-A6FF-319F44D27870}"/>
              </a:ext>
            </a:extLst>
          </p:cNvPr>
          <p:cNvSpPr>
            <a:spLocks noGrp="1"/>
          </p:cNvSpPr>
          <p:nvPr>
            <p:ph type="sldNum" sz="quarter" idx="10"/>
          </p:nvPr>
        </p:nvSpPr>
        <p:spPr/>
        <p:txBody>
          <a:bodyPr/>
          <a:lstStyle/>
          <a:p>
            <a:pPr>
              <a:defRPr/>
            </a:pPr>
            <a:fld id="{0121240C-47AF-2F4D-83B3-CC3EDF50F794}" type="slidenum">
              <a:rPr lang="en-US" smtClean="0"/>
              <a:pPr>
                <a:defRPr/>
              </a:pPr>
              <a:t>37</a:t>
            </a:fld>
            <a:endParaRPr lang="en-US" dirty="0"/>
          </a:p>
        </p:txBody>
      </p:sp>
      <p:sp>
        <p:nvSpPr>
          <p:cNvPr id="5" name="Rounded Rectangle 4">
            <a:extLst>
              <a:ext uri="{FF2B5EF4-FFF2-40B4-BE49-F238E27FC236}">
                <a16:creationId xmlns:a16="http://schemas.microsoft.com/office/drawing/2014/main" id="{A19B6DD6-F041-4267-CB71-8782FB3E19C2}"/>
              </a:ext>
            </a:extLst>
          </p:cNvPr>
          <p:cNvSpPr/>
          <p:nvPr/>
        </p:nvSpPr>
        <p:spPr>
          <a:xfrm>
            <a:off x="2013283" y="2210157"/>
            <a:ext cx="7451559" cy="243768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400" dirty="0">
                <a:solidFill>
                  <a:schemeClr val="tx1"/>
                </a:solidFill>
                <a:latin typeface="Avenir Book" panose="02000503020000020003" pitchFamily="2" charset="0"/>
              </a:rPr>
              <a:t>Input: NYU   Output: NYC</a:t>
            </a:r>
          </a:p>
          <a:p>
            <a:r>
              <a:rPr lang="en-US" sz="4400" dirty="0">
                <a:solidFill>
                  <a:schemeClr val="tx1"/>
                </a:solidFill>
                <a:latin typeface="Avenir Book" panose="02000503020000020003" pitchFamily="2" charset="0"/>
              </a:rPr>
              <a:t>Input: UMD</a:t>
            </a:r>
          </a:p>
        </p:txBody>
      </p:sp>
      <p:sp>
        <p:nvSpPr>
          <p:cNvPr id="11" name="Title 1">
            <a:extLst>
              <a:ext uri="{FF2B5EF4-FFF2-40B4-BE49-F238E27FC236}">
                <a16:creationId xmlns:a16="http://schemas.microsoft.com/office/drawing/2014/main" id="{6C30417A-0627-7A7F-A637-EF8118C0F772}"/>
              </a:ext>
            </a:extLst>
          </p:cNvPr>
          <p:cNvSpPr>
            <a:spLocks noGrp="1"/>
          </p:cNvSpPr>
          <p:nvPr>
            <p:ph type="title"/>
          </p:nvPr>
        </p:nvSpPr>
        <p:spPr>
          <a:xfrm>
            <a:off x="200025" y="221756"/>
            <a:ext cx="11830050" cy="1006475"/>
          </a:xfrm>
        </p:spPr>
        <p:txBody>
          <a:bodyPr/>
          <a:lstStyle/>
          <a:p>
            <a:r>
              <a:rPr lang="en-US" dirty="0"/>
              <a:t>A working example</a:t>
            </a:r>
          </a:p>
        </p:txBody>
      </p:sp>
    </p:spTree>
    <p:extLst>
      <p:ext uri="{BB962C8B-B14F-4D97-AF65-F5344CB8AC3E}">
        <p14:creationId xmlns:p14="http://schemas.microsoft.com/office/powerpoint/2010/main" val="3642620432"/>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F33B3-11FA-F549-E17D-45766346D43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FF9F52F-F2A5-918C-0A45-6296A3D2B438}"/>
              </a:ext>
            </a:extLst>
          </p:cNvPr>
          <p:cNvSpPr>
            <a:spLocks noGrp="1"/>
          </p:cNvSpPr>
          <p:nvPr>
            <p:ph type="sldNum" sz="quarter" idx="10"/>
          </p:nvPr>
        </p:nvSpPr>
        <p:spPr/>
        <p:txBody>
          <a:bodyPr/>
          <a:lstStyle/>
          <a:p>
            <a:pPr>
              <a:defRPr/>
            </a:pPr>
            <a:fld id="{0121240C-47AF-2F4D-83B3-CC3EDF50F794}" type="slidenum">
              <a:rPr lang="en-US" smtClean="0"/>
              <a:pPr>
                <a:defRPr/>
              </a:pPr>
              <a:t>38</a:t>
            </a:fld>
            <a:endParaRPr lang="en-US" dirty="0"/>
          </a:p>
        </p:txBody>
      </p:sp>
      <p:sp>
        <p:nvSpPr>
          <p:cNvPr id="5" name="Rounded Rectangle 4">
            <a:extLst>
              <a:ext uri="{FF2B5EF4-FFF2-40B4-BE49-F238E27FC236}">
                <a16:creationId xmlns:a16="http://schemas.microsoft.com/office/drawing/2014/main" id="{9E4CA4A1-5705-B178-16F3-E68CEA3D19EF}"/>
              </a:ext>
            </a:extLst>
          </p:cNvPr>
          <p:cNvSpPr/>
          <p:nvPr/>
        </p:nvSpPr>
        <p:spPr>
          <a:xfrm>
            <a:off x="2013283" y="2210157"/>
            <a:ext cx="7451559" cy="243768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400" dirty="0">
                <a:solidFill>
                  <a:schemeClr val="tx1"/>
                </a:solidFill>
                <a:latin typeface="Avenir Book" panose="02000503020000020003" pitchFamily="2" charset="0"/>
              </a:rPr>
              <a:t>Input: NYU   Output: NYC</a:t>
            </a:r>
          </a:p>
          <a:p>
            <a:r>
              <a:rPr lang="en-US" sz="4400" dirty="0">
                <a:solidFill>
                  <a:schemeClr val="tx1"/>
                </a:solidFill>
                <a:latin typeface="Avenir Book" panose="02000503020000020003" pitchFamily="2" charset="0"/>
              </a:rPr>
              <a:t>Input: UMD  Output: DC </a:t>
            </a:r>
          </a:p>
        </p:txBody>
      </p:sp>
      <p:sp>
        <p:nvSpPr>
          <p:cNvPr id="11" name="Title 1">
            <a:extLst>
              <a:ext uri="{FF2B5EF4-FFF2-40B4-BE49-F238E27FC236}">
                <a16:creationId xmlns:a16="http://schemas.microsoft.com/office/drawing/2014/main" id="{63CDC6B1-68D7-ED2D-B3D1-88E6DF37B677}"/>
              </a:ext>
            </a:extLst>
          </p:cNvPr>
          <p:cNvSpPr>
            <a:spLocks noGrp="1"/>
          </p:cNvSpPr>
          <p:nvPr>
            <p:ph type="title"/>
          </p:nvPr>
        </p:nvSpPr>
        <p:spPr>
          <a:xfrm>
            <a:off x="200025" y="221756"/>
            <a:ext cx="11830050" cy="1006475"/>
          </a:xfrm>
        </p:spPr>
        <p:txBody>
          <a:bodyPr/>
          <a:lstStyle/>
          <a:p>
            <a:r>
              <a:rPr lang="en-US" dirty="0"/>
              <a:t>A working example</a:t>
            </a:r>
          </a:p>
        </p:txBody>
      </p:sp>
    </p:spTree>
    <p:extLst>
      <p:ext uri="{BB962C8B-B14F-4D97-AF65-F5344CB8AC3E}">
        <p14:creationId xmlns:p14="http://schemas.microsoft.com/office/powerpoint/2010/main" val="4118632951"/>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ED4C9-5194-EBAE-E64D-CFF09B0508F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F42666-BE97-B538-BF2F-FC0D069F084A}"/>
              </a:ext>
            </a:extLst>
          </p:cNvPr>
          <p:cNvSpPr>
            <a:spLocks noGrp="1"/>
          </p:cNvSpPr>
          <p:nvPr>
            <p:ph type="sldNum" sz="quarter" idx="10"/>
          </p:nvPr>
        </p:nvSpPr>
        <p:spPr/>
        <p:txBody>
          <a:bodyPr/>
          <a:lstStyle/>
          <a:p>
            <a:pPr>
              <a:defRPr/>
            </a:pPr>
            <a:fld id="{0121240C-47AF-2F4D-83B3-CC3EDF50F794}" type="slidenum">
              <a:rPr lang="en-US" smtClean="0"/>
              <a:pPr>
                <a:defRPr/>
              </a:pPr>
              <a:t>39</a:t>
            </a:fld>
            <a:endParaRPr lang="en-US" dirty="0"/>
          </a:p>
        </p:txBody>
      </p:sp>
      <p:sp>
        <p:nvSpPr>
          <p:cNvPr id="5" name="Rounded Rectangle 4">
            <a:extLst>
              <a:ext uri="{FF2B5EF4-FFF2-40B4-BE49-F238E27FC236}">
                <a16:creationId xmlns:a16="http://schemas.microsoft.com/office/drawing/2014/main" id="{F1F88B27-B502-F96D-6E24-972832758282}"/>
              </a:ext>
            </a:extLst>
          </p:cNvPr>
          <p:cNvSpPr/>
          <p:nvPr/>
        </p:nvSpPr>
        <p:spPr>
          <a:xfrm>
            <a:off x="2013283" y="2210157"/>
            <a:ext cx="7451559" cy="243768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400" dirty="0">
                <a:solidFill>
                  <a:schemeClr val="tx1"/>
                </a:solidFill>
                <a:latin typeface="Avenir Book" panose="02000503020000020003" pitchFamily="2" charset="0"/>
              </a:rPr>
              <a:t>Input: NYU   Output: NYC</a:t>
            </a:r>
          </a:p>
          <a:p>
            <a:r>
              <a:rPr lang="en-US" sz="4400" dirty="0">
                <a:solidFill>
                  <a:schemeClr val="tx1"/>
                </a:solidFill>
                <a:latin typeface="Avenir Book" panose="02000503020000020003" pitchFamily="2" charset="0"/>
              </a:rPr>
              <a:t>Input: UMD  Output: DC </a:t>
            </a:r>
          </a:p>
          <a:p>
            <a:r>
              <a:rPr lang="en-US" sz="4400" dirty="0">
                <a:solidFill>
                  <a:schemeClr val="tx1"/>
                </a:solidFill>
                <a:latin typeface="Avenir Book" panose="02000503020000020003" pitchFamily="2" charset="0"/>
              </a:rPr>
              <a:t>Input: JHU</a:t>
            </a:r>
          </a:p>
        </p:txBody>
      </p:sp>
      <p:sp>
        <p:nvSpPr>
          <p:cNvPr id="11" name="Title 1">
            <a:extLst>
              <a:ext uri="{FF2B5EF4-FFF2-40B4-BE49-F238E27FC236}">
                <a16:creationId xmlns:a16="http://schemas.microsoft.com/office/drawing/2014/main" id="{56E3C2DD-2877-04B0-BE66-E145C8C4DC21}"/>
              </a:ext>
            </a:extLst>
          </p:cNvPr>
          <p:cNvSpPr>
            <a:spLocks noGrp="1"/>
          </p:cNvSpPr>
          <p:nvPr>
            <p:ph type="title"/>
          </p:nvPr>
        </p:nvSpPr>
        <p:spPr>
          <a:xfrm>
            <a:off x="200025" y="221756"/>
            <a:ext cx="11830050" cy="1006475"/>
          </a:xfrm>
        </p:spPr>
        <p:txBody>
          <a:bodyPr/>
          <a:lstStyle/>
          <a:p>
            <a:r>
              <a:rPr lang="en-US" dirty="0"/>
              <a:t>A working example</a:t>
            </a:r>
          </a:p>
        </p:txBody>
      </p:sp>
    </p:spTree>
    <p:extLst>
      <p:ext uri="{BB962C8B-B14F-4D97-AF65-F5344CB8AC3E}">
        <p14:creationId xmlns:p14="http://schemas.microsoft.com/office/powerpoint/2010/main" val="2245359004"/>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1C2A3-E963-AB0B-8A84-4A571BDD595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AAD135-02D0-DF52-1F50-4E44545882D4}"/>
              </a:ext>
            </a:extLst>
          </p:cNvPr>
          <p:cNvSpPr>
            <a:spLocks noGrp="1"/>
          </p:cNvSpPr>
          <p:nvPr>
            <p:ph type="sldNum" sz="quarter" idx="10"/>
          </p:nvPr>
        </p:nvSpPr>
        <p:spPr/>
        <p:txBody>
          <a:bodyPr/>
          <a:lstStyle/>
          <a:p>
            <a:pPr>
              <a:defRPr/>
            </a:pPr>
            <a:fld id="{0121240C-47AF-2F4D-83B3-CC3EDF50F794}" type="slidenum">
              <a:rPr lang="en-US" smtClean="0"/>
              <a:pPr>
                <a:defRPr/>
              </a:pPr>
              <a:t>40</a:t>
            </a:fld>
            <a:endParaRPr lang="en-US" dirty="0"/>
          </a:p>
        </p:txBody>
      </p:sp>
      <p:sp>
        <p:nvSpPr>
          <p:cNvPr id="5" name="Rounded Rectangle 4">
            <a:extLst>
              <a:ext uri="{FF2B5EF4-FFF2-40B4-BE49-F238E27FC236}">
                <a16:creationId xmlns:a16="http://schemas.microsoft.com/office/drawing/2014/main" id="{87B948C8-B0D9-BCBD-330F-B648B8A56EA6}"/>
              </a:ext>
            </a:extLst>
          </p:cNvPr>
          <p:cNvSpPr/>
          <p:nvPr/>
        </p:nvSpPr>
        <p:spPr>
          <a:xfrm>
            <a:off x="2013283" y="2210157"/>
            <a:ext cx="7451559" cy="243768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400" dirty="0">
                <a:solidFill>
                  <a:schemeClr val="tx1"/>
                </a:solidFill>
                <a:latin typeface="Avenir Book" panose="02000503020000020003" pitchFamily="2" charset="0"/>
              </a:rPr>
              <a:t>Input: NYU   Output: NYC</a:t>
            </a:r>
          </a:p>
          <a:p>
            <a:r>
              <a:rPr lang="en-US" sz="4400" dirty="0">
                <a:solidFill>
                  <a:schemeClr val="tx1"/>
                </a:solidFill>
                <a:latin typeface="Avenir Book" panose="02000503020000020003" pitchFamily="2" charset="0"/>
              </a:rPr>
              <a:t>Input: UMD  Output: DC </a:t>
            </a:r>
          </a:p>
          <a:p>
            <a:r>
              <a:rPr lang="en-US" sz="4400" dirty="0">
                <a:solidFill>
                  <a:schemeClr val="tx1"/>
                </a:solidFill>
                <a:latin typeface="Avenir Book" panose="02000503020000020003" pitchFamily="2" charset="0"/>
              </a:rPr>
              <a:t>Input: JHU   Output: </a:t>
            </a:r>
          </a:p>
        </p:txBody>
      </p:sp>
      <p:sp>
        <p:nvSpPr>
          <p:cNvPr id="11" name="Title 1">
            <a:extLst>
              <a:ext uri="{FF2B5EF4-FFF2-40B4-BE49-F238E27FC236}">
                <a16:creationId xmlns:a16="http://schemas.microsoft.com/office/drawing/2014/main" id="{BFFDDA25-63FB-F769-E26B-289A3B336C2C}"/>
              </a:ext>
            </a:extLst>
          </p:cNvPr>
          <p:cNvSpPr>
            <a:spLocks noGrp="1"/>
          </p:cNvSpPr>
          <p:nvPr>
            <p:ph type="title"/>
          </p:nvPr>
        </p:nvSpPr>
        <p:spPr>
          <a:xfrm>
            <a:off x="200025" y="221756"/>
            <a:ext cx="11830050" cy="1006475"/>
          </a:xfrm>
        </p:spPr>
        <p:txBody>
          <a:bodyPr/>
          <a:lstStyle/>
          <a:p>
            <a:r>
              <a:rPr lang="en-US" dirty="0"/>
              <a:t>A working example</a:t>
            </a:r>
          </a:p>
        </p:txBody>
      </p:sp>
    </p:spTree>
    <p:extLst>
      <p:ext uri="{BB962C8B-B14F-4D97-AF65-F5344CB8AC3E}">
        <p14:creationId xmlns:p14="http://schemas.microsoft.com/office/powerpoint/2010/main" val="1348103277"/>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417CB0-5683-0331-9D41-34D75AABFB55}"/>
              </a:ext>
            </a:extLst>
          </p:cNvPr>
          <p:cNvSpPr>
            <a:spLocks noGrp="1"/>
          </p:cNvSpPr>
          <p:nvPr>
            <p:ph idx="1"/>
          </p:nvPr>
        </p:nvSpPr>
        <p:spPr>
          <a:xfrm>
            <a:off x="838200" y="1709345"/>
            <a:ext cx="10515600" cy="4662488"/>
          </a:xfrm>
        </p:spPr>
        <p:txBody>
          <a:bodyPr/>
          <a:lstStyle/>
          <a:p>
            <a:r>
              <a:rPr lang="en-US" b="1" dirty="0">
                <a:solidFill>
                  <a:srgbClr val="C00000"/>
                </a:solidFill>
              </a:rPr>
              <a:t>ICL</a:t>
            </a:r>
            <a:r>
              <a:rPr lang="en-US" dirty="0"/>
              <a:t> := learning to imitate the </a:t>
            </a:r>
            <a:r>
              <a:rPr lang="en-US" i="1" dirty="0"/>
              <a:t>implicit</a:t>
            </a:r>
            <a:r>
              <a:rPr lang="en-US" dirty="0"/>
              <a:t> pattern described by few examples provided in the context. </a:t>
            </a:r>
          </a:p>
          <a:p>
            <a:endParaRPr lang="en-US" dirty="0"/>
          </a:p>
          <a:p>
            <a:endParaRPr lang="en-US" dirty="0"/>
          </a:p>
          <a:p>
            <a:endParaRPr lang="en-US" dirty="0"/>
          </a:p>
          <a:p>
            <a:endParaRPr lang="en-US" dirty="0"/>
          </a:p>
          <a:p>
            <a:r>
              <a:rPr lang="en-US" dirty="0"/>
              <a:t>This is very interesting since we didn’t explicitly train our models to show this ability!! (it emerged from large-scale pre-training). </a:t>
            </a:r>
          </a:p>
          <a:p>
            <a:r>
              <a:rPr lang="en-US" dirty="0"/>
              <a:t>The models </a:t>
            </a:r>
            <a:r>
              <a:rPr lang="en-US" i="1" dirty="0"/>
              <a:t>infer </a:t>
            </a:r>
            <a:r>
              <a:rPr lang="en-US" dirty="0"/>
              <a:t>the patterns from their input. </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DBE4D12-81C7-AA81-927B-0567298EAD0E}"/>
              </a:ext>
            </a:extLst>
          </p:cNvPr>
          <p:cNvSpPr>
            <a:spLocks noGrp="1"/>
          </p:cNvSpPr>
          <p:nvPr>
            <p:ph type="sldNum" sz="quarter" idx="10"/>
          </p:nvPr>
        </p:nvSpPr>
        <p:spPr/>
        <p:txBody>
          <a:bodyPr/>
          <a:lstStyle/>
          <a:p>
            <a:pPr>
              <a:defRPr/>
            </a:pPr>
            <a:fld id="{0121240C-47AF-2F4D-83B3-CC3EDF50F794}" type="slidenum">
              <a:rPr lang="en-US" smtClean="0"/>
              <a:pPr>
                <a:defRPr/>
              </a:pPr>
              <a:t>41</a:t>
            </a:fld>
            <a:endParaRPr lang="en-US" dirty="0"/>
          </a:p>
        </p:txBody>
      </p:sp>
      <p:sp>
        <p:nvSpPr>
          <p:cNvPr id="5" name="Rounded Rectangle 4">
            <a:extLst>
              <a:ext uri="{FF2B5EF4-FFF2-40B4-BE49-F238E27FC236}">
                <a16:creationId xmlns:a16="http://schemas.microsoft.com/office/drawing/2014/main" id="{90CCFD71-7104-9B4B-1BE5-B05643C8A023}"/>
              </a:ext>
            </a:extLst>
          </p:cNvPr>
          <p:cNvSpPr/>
          <p:nvPr/>
        </p:nvSpPr>
        <p:spPr>
          <a:xfrm>
            <a:off x="523288" y="3194540"/>
            <a:ext cx="3934907" cy="133808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300" dirty="0">
                <a:solidFill>
                  <a:schemeClr val="tx1"/>
                </a:solidFill>
                <a:latin typeface="Avenir Book" panose="02000503020000020003" pitchFamily="2" charset="0"/>
              </a:rPr>
              <a:t>Input: NYU   Output: NYC</a:t>
            </a:r>
          </a:p>
          <a:p>
            <a:r>
              <a:rPr lang="en-US" sz="2300" dirty="0">
                <a:solidFill>
                  <a:schemeClr val="tx1"/>
                </a:solidFill>
                <a:latin typeface="Avenir Book" panose="02000503020000020003" pitchFamily="2" charset="0"/>
              </a:rPr>
              <a:t>Input: UMD  Output: DC </a:t>
            </a:r>
          </a:p>
          <a:p>
            <a:r>
              <a:rPr lang="en-US" sz="2300" dirty="0">
                <a:solidFill>
                  <a:schemeClr val="tx1"/>
                </a:solidFill>
                <a:latin typeface="Avenir Book" panose="02000503020000020003" pitchFamily="2" charset="0"/>
              </a:rPr>
              <a:t>Input: JHU   Output: </a:t>
            </a:r>
          </a:p>
        </p:txBody>
      </p:sp>
      <p:cxnSp>
        <p:nvCxnSpPr>
          <p:cNvPr id="7" name="Straight Arrow Connector 6">
            <a:extLst>
              <a:ext uri="{FF2B5EF4-FFF2-40B4-BE49-F238E27FC236}">
                <a16:creationId xmlns:a16="http://schemas.microsoft.com/office/drawing/2014/main" id="{130F970A-D2FD-0C76-D900-236C52B63D9D}"/>
              </a:ext>
            </a:extLst>
          </p:cNvPr>
          <p:cNvCxnSpPr>
            <a:cxnSpLocks/>
          </p:cNvCxnSpPr>
          <p:nvPr/>
        </p:nvCxnSpPr>
        <p:spPr>
          <a:xfrm>
            <a:off x="4536829" y="3851771"/>
            <a:ext cx="469985"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cxnSp>
        <p:nvCxnSpPr>
          <p:cNvPr id="8" name="Straight Arrow Connector 7">
            <a:extLst>
              <a:ext uri="{FF2B5EF4-FFF2-40B4-BE49-F238E27FC236}">
                <a16:creationId xmlns:a16="http://schemas.microsoft.com/office/drawing/2014/main" id="{328C4227-A644-4642-B602-8C83C2210610}"/>
              </a:ext>
            </a:extLst>
          </p:cNvPr>
          <p:cNvCxnSpPr>
            <a:cxnSpLocks/>
          </p:cNvCxnSpPr>
          <p:nvPr/>
        </p:nvCxnSpPr>
        <p:spPr>
          <a:xfrm>
            <a:off x="7025297" y="3851770"/>
            <a:ext cx="459449"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9" name="Rounded Rectangle 8">
            <a:extLst>
              <a:ext uri="{FF2B5EF4-FFF2-40B4-BE49-F238E27FC236}">
                <a16:creationId xmlns:a16="http://schemas.microsoft.com/office/drawing/2014/main" id="{C1512871-40D6-CF99-A866-DC117AC456F8}"/>
              </a:ext>
            </a:extLst>
          </p:cNvPr>
          <p:cNvSpPr/>
          <p:nvPr/>
        </p:nvSpPr>
        <p:spPr>
          <a:xfrm>
            <a:off x="5164664" y="3236992"/>
            <a:ext cx="1677217" cy="1262671"/>
          </a:xfrm>
          <a:prstGeom prst="round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4800" b="1" dirty="0">
              <a:latin typeface="Avenir Book" panose="02000503020000020003" pitchFamily="2" charset="0"/>
            </a:endParaRPr>
          </a:p>
        </p:txBody>
      </p:sp>
      <p:sp>
        <p:nvSpPr>
          <p:cNvPr id="10" name="TextBox 9">
            <a:extLst>
              <a:ext uri="{FF2B5EF4-FFF2-40B4-BE49-F238E27FC236}">
                <a16:creationId xmlns:a16="http://schemas.microsoft.com/office/drawing/2014/main" id="{0B2E4D02-8619-F25E-F379-2C1E1F01BB7A}"/>
              </a:ext>
            </a:extLst>
          </p:cNvPr>
          <p:cNvSpPr txBox="1"/>
          <p:nvPr/>
        </p:nvSpPr>
        <p:spPr>
          <a:xfrm>
            <a:off x="5035207" y="3385103"/>
            <a:ext cx="1967125" cy="1015663"/>
          </a:xfrm>
          <a:prstGeom prst="rect">
            <a:avLst/>
          </a:prstGeom>
          <a:noFill/>
        </p:spPr>
        <p:txBody>
          <a:bodyPr wrap="square">
            <a:spAutoFit/>
          </a:bodyPr>
          <a:lstStyle/>
          <a:p>
            <a:pPr algn="ctr"/>
            <a:r>
              <a:rPr lang="en-US" sz="6000" b="1" dirty="0">
                <a:latin typeface="Avenir Book" panose="02000503020000020003" pitchFamily="2" charset="0"/>
              </a:rPr>
              <a:t>LM</a:t>
            </a:r>
          </a:p>
        </p:txBody>
      </p:sp>
      <p:sp>
        <p:nvSpPr>
          <p:cNvPr id="12" name="Rounded Rectangle 11">
            <a:extLst>
              <a:ext uri="{FF2B5EF4-FFF2-40B4-BE49-F238E27FC236}">
                <a16:creationId xmlns:a16="http://schemas.microsoft.com/office/drawing/2014/main" id="{04CAF47A-1454-8CCA-62C8-56B10EB4B617}"/>
              </a:ext>
            </a:extLst>
          </p:cNvPr>
          <p:cNvSpPr/>
          <p:nvPr/>
        </p:nvSpPr>
        <p:spPr>
          <a:xfrm>
            <a:off x="7652864" y="3575941"/>
            <a:ext cx="1592897" cy="58477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Avenir Book" panose="02000503020000020003" pitchFamily="2" charset="0"/>
              </a:rPr>
              <a:t>Baltimore</a:t>
            </a:r>
          </a:p>
        </p:txBody>
      </p:sp>
      <p:sp>
        <p:nvSpPr>
          <p:cNvPr id="13" name="TextBox 12">
            <a:extLst>
              <a:ext uri="{FF2B5EF4-FFF2-40B4-BE49-F238E27FC236}">
                <a16:creationId xmlns:a16="http://schemas.microsoft.com/office/drawing/2014/main" id="{F165AA39-B6EE-2C9F-4D4C-14ACA262265E}"/>
              </a:ext>
            </a:extLst>
          </p:cNvPr>
          <p:cNvSpPr txBox="1"/>
          <p:nvPr/>
        </p:nvSpPr>
        <p:spPr>
          <a:xfrm>
            <a:off x="4044514" y="6433369"/>
            <a:ext cx="4211409" cy="369332"/>
          </a:xfrm>
          <a:prstGeom prst="rect">
            <a:avLst/>
          </a:prstGeom>
          <a:noFill/>
        </p:spPr>
        <p:txBody>
          <a:bodyPr wrap="none" rtlCol="0">
            <a:spAutoFit/>
          </a:bodyPr>
          <a:lstStyle/>
          <a:p>
            <a:pPr algn="ctr"/>
            <a:r>
              <a:rPr lang="en-US" sz="1800" dirty="0">
                <a:solidFill>
                  <a:schemeClr val="bg1">
                    <a:lumMod val="50000"/>
                  </a:schemeClr>
                </a:solidFill>
                <a:latin typeface="Arial" panose="020B0604020202020204" pitchFamily="34" charset="0"/>
                <a:cs typeface="Arial" panose="020B0604020202020204" pitchFamily="34" charset="0"/>
              </a:rPr>
              <a:t>Originally coined by Brown et al., 2020</a:t>
            </a:r>
            <a:endParaRPr lang="en-US" sz="2000" dirty="0">
              <a:solidFill>
                <a:schemeClr val="bg1">
                  <a:lumMod val="50000"/>
                </a:schemeClr>
              </a:solidFill>
              <a:latin typeface="Arial" panose="020B0604020202020204" pitchFamily="34" charset="0"/>
              <a:cs typeface="Arial" panose="020B0604020202020204" pitchFamily="34" charset="0"/>
            </a:endParaRPr>
          </a:p>
        </p:txBody>
      </p:sp>
      <p:sp>
        <p:nvSpPr>
          <p:cNvPr id="11" name="Title 1">
            <a:extLst>
              <a:ext uri="{FF2B5EF4-FFF2-40B4-BE49-F238E27FC236}">
                <a16:creationId xmlns:a16="http://schemas.microsoft.com/office/drawing/2014/main" id="{0D8714D2-BA35-5E2A-1783-1471B8F31A56}"/>
              </a:ext>
            </a:extLst>
          </p:cNvPr>
          <p:cNvSpPr>
            <a:spLocks noGrp="1"/>
          </p:cNvSpPr>
          <p:nvPr>
            <p:ph type="title"/>
          </p:nvPr>
        </p:nvSpPr>
        <p:spPr>
          <a:xfrm>
            <a:off x="200025" y="221756"/>
            <a:ext cx="11830050" cy="1006475"/>
          </a:xfrm>
        </p:spPr>
        <p:txBody>
          <a:bodyPr/>
          <a:lstStyle/>
          <a:p>
            <a:r>
              <a:rPr lang="en-US" dirty="0"/>
              <a:t>In-Context Learning</a:t>
            </a:r>
          </a:p>
        </p:txBody>
      </p:sp>
    </p:spTree>
    <p:extLst>
      <p:ext uri="{BB962C8B-B14F-4D97-AF65-F5344CB8AC3E}">
        <p14:creationId xmlns:p14="http://schemas.microsoft.com/office/powerpoint/2010/main" val="3524248022"/>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141E4-09B3-C15E-BDB0-1C8CB973B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74BE7E-3AC7-38CF-3185-5BF2414628E8}"/>
              </a:ext>
            </a:extLst>
          </p:cNvPr>
          <p:cNvSpPr>
            <a:spLocks noGrp="1"/>
          </p:cNvSpPr>
          <p:nvPr>
            <p:ph type="title"/>
          </p:nvPr>
        </p:nvSpPr>
        <p:spPr/>
        <p:txBody>
          <a:bodyPr/>
          <a:lstStyle/>
          <a:p>
            <a:r>
              <a:rPr lang="en-US" dirty="0"/>
              <a:t>Demo time: ICL</a:t>
            </a:r>
          </a:p>
        </p:txBody>
      </p:sp>
      <p:sp>
        <p:nvSpPr>
          <p:cNvPr id="3" name="Content Placeholder 2">
            <a:extLst>
              <a:ext uri="{FF2B5EF4-FFF2-40B4-BE49-F238E27FC236}">
                <a16:creationId xmlns:a16="http://schemas.microsoft.com/office/drawing/2014/main" id="{F5737535-0D16-480C-EF59-9B1F9098FE52}"/>
              </a:ext>
            </a:extLst>
          </p:cNvPr>
          <p:cNvSpPr>
            <a:spLocks noGrp="1"/>
          </p:cNvSpPr>
          <p:nvPr>
            <p:ph idx="1"/>
          </p:nvPr>
        </p:nvSpPr>
        <p:spPr/>
        <p:txBody>
          <a:bodyPr/>
          <a:lstStyle/>
          <a:p>
            <a:r>
              <a:rPr lang="en-US" dirty="0">
                <a:hlinkClick r:id="rId2"/>
              </a:rPr>
              <a:t>https://gist.github.com/danyaljj/3ac2f34651d6d9dd4b422daa09dd282a</a:t>
            </a:r>
            <a:r>
              <a:rPr lang="en-US" dirty="0"/>
              <a:t> </a:t>
            </a:r>
          </a:p>
        </p:txBody>
      </p:sp>
      <p:sp>
        <p:nvSpPr>
          <p:cNvPr id="4" name="Slide Number Placeholder 3">
            <a:extLst>
              <a:ext uri="{FF2B5EF4-FFF2-40B4-BE49-F238E27FC236}">
                <a16:creationId xmlns:a16="http://schemas.microsoft.com/office/drawing/2014/main" id="{0D9B199F-2357-50E6-494F-3188D842A0DA}"/>
              </a:ext>
            </a:extLst>
          </p:cNvPr>
          <p:cNvSpPr>
            <a:spLocks noGrp="1"/>
          </p:cNvSpPr>
          <p:nvPr>
            <p:ph type="sldNum" sz="quarter" idx="10"/>
          </p:nvPr>
        </p:nvSpPr>
        <p:spPr/>
        <p:txBody>
          <a:bodyPr/>
          <a:lstStyle/>
          <a:p>
            <a:pPr>
              <a:defRPr/>
            </a:pPr>
            <a:fld id="{0121240C-47AF-2F4D-83B3-CC3EDF50F794}" type="slidenum">
              <a:rPr lang="en-US" smtClean="0"/>
              <a:pPr>
                <a:defRPr/>
              </a:pPr>
              <a:t>42</a:t>
            </a:fld>
            <a:endParaRPr lang="en-US"/>
          </a:p>
        </p:txBody>
      </p:sp>
    </p:spTree>
    <p:extLst>
      <p:ext uri="{BB962C8B-B14F-4D97-AF65-F5344CB8AC3E}">
        <p14:creationId xmlns:p14="http://schemas.microsoft.com/office/powerpoint/2010/main" val="30248347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F99B1-0386-B763-F15D-323F6D065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D9D1C-E3D7-DF4B-1D6B-9FECF4C3BB56}"/>
              </a:ext>
            </a:extLst>
          </p:cNvPr>
          <p:cNvSpPr>
            <a:spLocks noGrp="1"/>
          </p:cNvSpPr>
          <p:nvPr>
            <p:ph type="title"/>
          </p:nvPr>
        </p:nvSpPr>
        <p:spPr>
          <a:xfrm>
            <a:off x="0" y="297352"/>
            <a:ext cx="12192000" cy="1006475"/>
          </a:xfrm>
        </p:spPr>
        <p:txBody>
          <a:bodyPr/>
          <a:lstStyle/>
          <a:p>
            <a:r>
              <a:rPr lang="en-US" dirty="0"/>
              <a:t>Wait — this shouldn't work</a:t>
            </a:r>
          </a:p>
        </p:txBody>
      </p:sp>
      <p:sp>
        <p:nvSpPr>
          <p:cNvPr id="4" name="Slide Number Placeholder 3">
            <a:extLst>
              <a:ext uri="{FF2B5EF4-FFF2-40B4-BE49-F238E27FC236}">
                <a16:creationId xmlns:a16="http://schemas.microsoft.com/office/drawing/2014/main" id="{68F60613-8040-DAB6-351A-76BE84D100ED}"/>
              </a:ext>
            </a:extLst>
          </p:cNvPr>
          <p:cNvSpPr>
            <a:spLocks noGrp="1"/>
          </p:cNvSpPr>
          <p:nvPr>
            <p:ph type="sldNum" sz="quarter" idx="10"/>
          </p:nvPr>
        </p:nvSpPr>
        <p:spPr/>
        <p:txBody>
          <a:bodyPr/>
          <a:lstStyle/>
          <a:p>
            <a:pPr>
              <a:defRPr/>
            </a:pPr>
            <a:fld id="{0121240C-47AF-2F4D-83B3-CC3EDF50F794}" type="slidenum">
              <a:rPr lang="en-US" smtClean="0"/>
              <a:pPr>
                <a:defRPr/>
              </a:pPr>
              <a:t>43</a:t>
            </a:fld>
            <a:endParaRPr lang="en-US"/>
          </a:p>
        </p:txBody>
      </p:sp>
      <p:sp>
        <p:nvSpPr>
          <p:cNvPr id="7" name="Content Placeholder 6">
            <a:extLst>
              <a:ext uri="{FF2B5EF4-FFF2-40B4-BE49-F238E27FC236}">
                <a16:creationId xmlns:a16="http://schemas.microsoft.com/office/drawing/2014/main" id="{8B60CA18-E7C7-2004-29D1-9C6943A0E2A1}"/>
              </a:ext>
            </a:extLst>
          </p:cNvPr>
          <p:cNvSpPr>
            <a:spLocks noGrp="1"/>
          </p:cNvSpPr>
          <p:nvPr>
            <p:ph idx="1"/>
          </p:nvPr>
        </p:nvSpPr>
        <p:spPr>
          <a:xfrm>
            <a:off x="838200" y="1783415"/>
            <a:ext cx="10515600" cy="4662488"/>
          </a:xfrm>
        </p:spPr>
        <p:txBody>
          <a:bodyPr/>
          <a:lstStyle/>
          <a:p>
            <a:r>
              <a:rPr lang="en-US" dirty="0"/>
              <a:t>We only trained the model to predict the next token </a:t>
            </a:r>
          </a:p>
          <a:p>
            <a:r>
              <a:rPr lang="en-US" dirty="0"/>
              <a:t>We never showed it "here are examples, learn the pattern" </a:t>
            </a:r>
          </a:p>
          <a:p>
            <a:r>
              <a:rPr lang="en-US" dirty="0"/>
              <a:t>Yet at scale, it just… does </a:t>
            </a:r>
          </a:p>
          <a:p>
            <a:r>
              <a:rPr lang="en-US" dirty="0"/>
              <a:t>No gradient updates. No fine-tuning. Just prompting.</a:t>
            </a:r>
          </a:p>
        </p:txBody>
      </p:sp>
    </p:spTree>
    <p:extLst>
      <p:ext uri="{BB962C8B-B14F-4D97-AF65-F5344CB8AC3E}">
        <p14:creationId xmlns:p14="http://schemas.microsoft.com/office/powerpoint/2010/main" val="3567623796"/>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0F0FD-0755-5090-4374-CD512A65184F}"/>
              </a:ext>
            </a:extLst>
          </p:cNvPr>
          <p:cNvSpPr>
            <a:spLocks noGrp="1"/>
          </p:cNvSpPr>
          <p:nvPr>
            <p:ph type="title"/>
          </p:nvPr>
        </p:nvSpPr>
        <p:spPr>
          <a:xfrm>
            <a:off x="0" y="297352"/>
            <a:ext cx="12192000" cy="1006475"/>
          </a:xfrm>
        </p:spPr>
        <p:txBody>
          <a:bodyPr/>
          <a:lstStyle/>
          <a:p>
            <a:r>
              <a:rPr lang="en-US" sz="3200" dirty="0"/>
              <a:t>The big </a:t>
            </a:r>
            <a:r>
              <a:rPr lang="en-US" sz="3200" dirty="0">
                <a:solidFill>
                  <a:srgbClr val="00B050"/>
                </a:solidFill>
              </a:rPr>
              <a:t>open</a:t>
            </a:r>
            <a:r>
              <a:rPr lang="en-US" sz="3200" dirty="0"/>
              <a:t> question: </a:t>
            </a:r>
            <a:br>
              <a:rPr lang="en-US" sz="3200" dirty="0"/>
            </a:br>
            <a:r>
              <a:rPr lang="en-US" dirty="0"/>
              <a:t>Why (and When) does ICL emerge?</a:t>
            </a:r>
          </a:p>
        </p:txBody>
      </p:sp>
      <p:sp>
        <p:nvSpPr>
          <p:cNvPr id="3" name="Content Placeholder 2">
            <a:extLst>
              <a:ext uri="{FF2B5EF4-FFF2-40B4-BE49-F238E27FC236}">
                <a16:creationId xmlns:a16="http://schemas.microsoft.com/office/drawing/2014/main" id="{FADA9991-F87D-C124-4E48-DFED3C513F4C}"/>
              </a:ext>
            </a:extLst>
          </p:cNvPr>
          <p:cNvSpPr>
            <a:spLocks noGrp="1"/>
          </p:cNvSpPr>
          <p:nvPr>
            <p:ph idx="1"/>
          </p:nvPr>
        </p:nvSpPr>
        <p:spPr>
          <a:xfrm>
            <a:off x="838200" y="1514475"/>
            <a:ext cx="10817884" cy="4662488"/>
          </a:xfrm>
        </p:spPr>
        <p:txBody>
          <a:bodyPr/>
          <a:lstStyle/>
          <a:p>
            <a:r>
              <a:rPr lang="en-US" dirty="0"/>
              <a:t>For years, the organic emergence ICL (from 'next-token' training) is deeply tied to </a:t>
            </a:r>
            <a:r>
              <a:rPr lang="en-US" b="1" dirty="0">
                <a:solidFill>
                  <a:srgbClr val="C00000"/>
                </a:solidFill>
              </a:rPr>
              <a:t>human language</a:t>
            </a:r>
            <a:r>
              <a:rPr lang="en-US" dirty="0"/>
              <a:t>. </a:t>
            </a:r>
          </a:p>
          <a:p>
            <a:r>
              <a:rPr lang="en-US" dirty="0"/>
              <a:t>Perhaps human language has specific properties that yields ICL. </a:t>
            </a:r>
          </a:p>
          <a:p>
            <a:pPr lvl="1"/>
            <a:r>
              <a:rPr lang="en-US" dirty="0"/>
              <a:t>Compositionality, abstraction, parallel patterns, etc. </a:t>
            </a:r>
          </a:p>
        </p:txBody>
      </p:sp>
      <p:sp>
        <p:nvSpPr>
          <p:cNvPr id="4" name="Slide Number Placeholder 3">
            <a:extLst>
              <a:ext uri="{FF2B5EF4-FFF2-40B4-BE49-F238E27FC236}">
                <a16:creationId xmlns:a16="http://schemas.microsoft.com/office/drawing/2014/main" id="{FF7B3219-8B43-D971-F346-47A669945543}"/>
              </a:ext>
            </a:extLst>
          </p:cNvPr>
          <p:cNvSpPr>
            <a:spLocks noGrp="1"/>
          </p:cNvSpPr>
          <p:nvPr>
            <p:ph type="sldNum" sz="quarter" idx="10"/>
          </p:nvPr>
        </p:nvSpPr>
        <p:spPr/>
        <p:txBody>
          <a:bodyPr/>
          <a:lstStyle/>
          <a:p>
            <a:pPr>
              <a:defRPr/>
            </a:pPr>
            <a:fld id="{0121240C-47AF-2F4D-83B3-CC3EDF50F794}" type="slidenum">
              <a:rPr lang="en-US" smtClean="0"/>
              <a:pPr>
                <a:defRPr/>
              </a:pPr>
              <a:t>44</a:t>
            </a:fld>
            <a:endParaRPr lang="en-US"/>
          </a:p>
        </p:txBody>
      </p:sp>
      <p:pic>
        <p:nvPicPr>
          <p:cNvPr id="5" name="Picture 4">
            <a:extLst>
              <a:ext uri="{FF2B5EF4-FFF2-40B4-BE49-F238E27FC236}">
                <a16:creationId xmlns:a16="http://schemas.microsoft.com/office/drawing/2014/main" id="{64C10E67-2664-F116-FC6D-581486394C66}"/>
              </a:ext>
            </a:extLst>
          </p:cNvPr>
          <p:cNvPicPr>
            <a:picLocks noChangeAspect="1"/>
          </p:cNvPicPr>
          <p:nvPr/>
        </p:nvPicPr>
        <p:blipFill>
          <a:blip r:embed="rId3"/>
          <a:srcRect t="7969" b="13832"/>
          <a:stretch>
            <a:fillRect/>
          </a:stretch>
        </p:blipFill>
        <p:spPr>
          <a:xfrm>
            <a:off x="5570470" y="3594045"/>
            <a:ext cx="6285411" cy="1642684"/>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7CADE278-6E1D-5E07-1345-322F2B13E215}"/>
              </a:ext>
            </a:extLst>
          </p:cNvPr>
          <p:cNvPicPr>
            <a:picLocks noChangeAspect="1"/>
          </p:cNvPicPr>
          <p:nvPr/>
        </p:nvPicPr>
        <p:blipFill>
          <a:blip r:embed="rId4"/>
          <a:srcRect t="3781" b="7912"/>
          <a:stretch>
            <a:fillRect/>
          </a:stretch>
        </p:blipFill>
        <p:spPr>
          <a:xfrm>
            <a:off x="510091" y="4935561"/>
            <a:ext cx="6911788" cy="177876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805130068"/>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240D8-DFFC-29E8-A259-A285430B4A3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5CBA85-39F4-2187-C1A1-B6ECE46B14E8}"/>
              </a:ext>
            </a:extLst>
          </p:cNvPr>
          <p:cNvSpPr>
            <a:spLocks noGrp="1"/>
          </p:cNvSpPr>
          <p:nvPr>
            <p:ph idx="1"/>
          </p:nvPr>
        </p:nvSpPr>
        <p:spPr>
          <a:xfrm>
            <a:off x="838200" y="1514475"/>
            <a:ext cx="10817884" cy="4662488"/>
          </a:xfrm>
        </p:spPr>
        <p:txBody>
          <a:bodyPr/>
          <a:lstStyle/>
          <a:p>
            <a:r>
              <a:rPr lang="en-US" dirty="0"/>
              <a:t>For years, the organic emergence ICL (from 'next-token' training) is deeply tied to </a:t>
            </a:r>
            <a:r>
              <a:rPr lang="en-US" b="1" dirty="0">
                <a:solidFill>
                  <a:srgbClr val="C00000"/>
                </a:solidFill>
              </a:rPr>
              <a:t>human language</a:t>
            </a:r>
            <a:r>
              <a:rPr lang="en-US" dirty="0"/>
              <a:t>.</a:t>
            </a:r>
          </a:p>
          <a:p>
            <a:endParaRPr lang="en-US" dirty="0"/>
          </a:p>
          <a:p>
            <a:r>
              <a:rPr lang="en-US" dirty="0"/>
              <a:t>But … is it really about human language specifically?</a:t>
            </a:r>
          </a:p>
        </p:txBody>
      </p:sp>
      <p:sp>
        <p:nvSpPr>
          <p:cNvPr id="4" name="Slide Number Placeholder 3">
            <a:extLst>
              <a:ext uri="{FF2B5EF4-FFF2-40B4-BE49-F238E27FC236}">
                <a16:creationId xmlns:a16="http://schemas.microsoft.com/office/drawing/2014/main" id="{8E6ECDAA-C000-01F6-B654-22324FDF3AAD}"/>
              </a:ext>
            </a:extLst>
          </p:cNvPr>
          <p:cNvSpPr>
            <a:spLocks noGrp="1"/>
          </p:cNvSpPr>
          <p:nvPr>
            <p:ph type="sldNum" sz="quarter" idx="10"/>
          </p:nvPr>
        </p:nvSpPr>
        <p:spPr/>
        <p:txBody>
          <a:bodyPr/>
          <a:lstStyle/>
          <a:p>
            <a:pPr>
              <a:defRPr/>
            </a:pPr>
            <a:fld id="{0121240C-47AF-2F4D-83B3-CC3EDF50F794}" type="slidenum">
              <a:rPr lang="en-US" smtClean="0"/>
              <a:pPr>
                <a:defRPr/>
              </a:pPr>
              <a:t>45</a:t>
            </a:fld>
            <a:endParaRPr lang="en-US"/>
          </a:p>
        </p:txBody>
      </p:sp>
      <p:sp>
        <p:nvSpPr>
          <p:cNvPr id="5" name="Rounded Rectangle 4">
            <a:extLst>
              <a:ext uri="{FF2B5EF4-FFF2-40B4-BE49-F238E27FC236}">
                <a16:creationId xmlns:a16="http://schemas.microsoft.com/office/drawing/2014/main" id="{E0F465F2-921A-901D-6C67-6FF0F4AD0990}"/>
              </a:ext>
            </a:extLst>
          </p:cNvPr>
          <p:cNvSpPr/>
          <p:nvPr/>
        </p:nvSpPr>
        <p:spPr>
          <a:xfrm>
            <a:off x="1992927" y="4267201"/>
            <a:ext cx="8286145" cy="1532841"/>
          </a:xfrm>
          <a:prstGeom prst="roundRect">
            <a:avLst/>
          </a:prstGeom>
          <a:solidFill>
            <a:srgbClr val="FCFCD1"/>
          </a:solidFill>
          <a:ln>
            <a:solidFill>
              <a:srgbClr val="FFE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latin typeface="Arial" panose="020B0604020202020204" pitchFamily="34" charset="0"/>
                <a:cs typeface="Arial" panose="020B0604020202020204" pitchFamily="34" charset="0"/>
              </a:rPr>
              <a:t>Research question: </a:t>
            </a:r>
            <a:r>
              <a:rPr lang="en-US" sz="3600" dirty="0">
                <a:solidFill>
                  <a:schemeClr val="tx1"/>
                </a:solidFill>
                <a:latin typeface="Arial" panose="020B0604020202020204" pitchFamily="34" charset="0"/>
                <a:cs typeface="Arial" panose="020B0604020202020204" pitchFamily="34" charset="0"/>
              </a:rPr>
              <a:t>Is ICL a [human] language-specific phenomenon? </a:t>
            </a:r>
          </a:p>
        </p:txBody>
      </p:sp>
      <p:sp>
        <p:nvSpPr>
          <p:cNvPr id="6" name="Title 1">
            <a:extLst>
              <a:ext uri="{FF2B5EF4-FFF2-40B4-BE49-F238E27FC236}">
                <a16:creationId xmlns:a16="http://schemas.microsoft.com/office/drawing/2014/main" id="{4D9ABD05-1F7A-0FFD-1AC4-B7DD1120977F}"/>
              </a:ext>
            </a:extLst>
          </p:cNvPr>
          <p:cNvSpPr>
            <a:spLocks noGrp="1"/>
          </p:cNvSpPr>
          <p:nvPr>
            <p:ph type="title"/>
          </p:nvPr>
        </p:nvSpPr>
        <p:spPr>
          <a:xfrm>
            <a:off x="0" y="297352"/>
            <a:ext cx="12192000" cy="1006475"/>
          </a:xfrm>
        </p:spPr>
        <p:txBody>
          <a:bodyPr/>
          <a:lstStyle/>
          <a:p>
            <a:r>
              <a:rPr lang="en-US" sz="3200" dirty="0"/>
              <a:t>The big </a:t>
            </a:r>
            <a:r>
              <a:rPr lang="en-US" sz="3200" dirty="0">
                <a:solidFill>
                  <a:srgbClr val="00B050"/>
                </a:solidFill>
              </a:rPr>
              <a:t>open</a:t>
            </a:r>
            <a:r>
              <a:rPr lang="en-US" sz="3200" dirty="0"/>
              <a:t> question: </a:t>
            </a:r>
            <a:br>
              <a:rPr lang="en-US" sz="3200" dirty="0"/>
            </a:br>
            <a:r>
              <a:rPr lang="en-US" dirty="0"/>
              <a:t>Why (and When) does ICL emerge?</a:t>
            </a:r>
          </a:p>
        </p:txBody>
      </p:sp>
    </p:spTree>
    <p:extLst>
      <p:ext uri="{BB962C8B-B14F-4D97-AF65-F5344CB8AC3E}">
        <p14:creationId xmlns:p14="http://schemas.microsoft.com/office/powerpoint/2010/main" val="89369002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2088A-ADA2-0BD7-8800-227919274D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2806B8-5D0F-0704-7196-1634A9EC112F}"/>
              </a:ext>
            </a:extLst>
          </p:cNvPr>
          <p:cNvSpPr>
            <a:spLocks noGrp="1"/>
          </p:cNvSpPr>
          <p:nvPr>
            <p:ph idx="1"/>
          </p:nvPr>
        </p:nvSpPr>
        <p:spPr>
          <a:xfrm>
            <a:off x="653143" y="4489504"/>
            <a:ext cx="11299371" cy="2585536"/>
          </a:xfrm>
        </p:spPr>
        <p:txBody>
          <a:bodyPr/>
          <a:lstStyle/>
          <a:p>
            <a:r>
              <a:rPr lang="en-US" b="1" dirty="0">
                <a:solidFill>
                  <a:srgbClr val="C00000"/>
                </a:solidFill>
              </a:rPr>
              <a:t>Similar:</a:t>
            </a:r>
            <a:r>
              <a:rPr lang="en-US" b="1" dirty="0"/>
              <a:t> </a:t>
            </a:r>
            <a:r>
              <a:rPr lang="en-US" dirty="0"/>
              <a:t>Both are symbolic, short- and long-range dependencies.</a:t>
            </a:r>
          </a:p>
          <a:p>
            <a:r>
              <a:rPr lang="en-US" b="1" dirty="0">
                <a:solidFill>
                  <a:srgbClr val="07833C"/>
                </a:solidFill>
              </a:rPr>
              <a:t>Different:</a:t>
            </a:r>
            <a:r>
              <a:rPr lang="en-US" dirty="0"/>
              <a:t> Vocabularies, interpretability, evolutionary path. </a:t>
            </a:r>
          </a:p>
          <a:p>
            <a:endParaRPr lang="en-US" dirty="0"/>
          </a:p>
        </p:txBody>
      </p:sp>
      <p:sp>
        <p:nvSpPr>
          <p:cNvPr id="4" name="Slide Number Placeholder 3">
            <a:extLst>
              <a:ext uri="{FF2B5EF4-FFF2-40B4-BE49-F238E27FC236}">
                <a16:creationId xmlns:a16="http://schemas.microsoft.com/office/drawing/2014/main" id="{679A6A21-9190-9AD0-938C-89BBDAF67B93}"/>
              </a:ext>
            </a:extLst>
          </p:cNvPr>
          <p:cNvSpPr>
            <a:spLocks noGrp="1"/>
          </p:cNvSpPr>
          <p:nvPr>
            <p:ph type="sldNum" sz="quarter" idx="10"/>
          </p:nvPr>
        </p:nvSpPr>
        <p:spPr/>
        <p:txBody>
          <a:bodyPr/>
          <a:lstStyle/>
          <a:p>
            <a:pPr>
              <a:defRPr/>
            </a:pPr>
            <a:fld id="{0121240C-47AF-2F4D-83B3-CC3EDF50F794}" type="slidenum">
              <a:rPr lang="en-US" smtClean="0"/>
              <a:pPr>
                <a:defRPr/>
              </a:pPr>
              <a:t>46</a:t>
            </a:fld>
            <a:endParaRPr lang="en-US"/>
          </a:p>
        </p:txBody>
      </p:sp>
      <p:sp>
        <p:nvSpPr>
          <p:cNvPr id="6" name="Title 1">
            <a:extLst>
              <a:ext uri="{FF2B5EF4-FFF2-40B4-BE49-F238E27FC236}">
                <a16:creationId xmlns:a16="http://schemas.microsoft.com/office/drawing/2014/main" id="{F763345B-3B51-737C-39DF-ABC53D8EAC2D}"/>
              </a:ext>
            </a:extLst>
          </p:cNvPr>
          <p:cNvSpPr>
            <a:spLocks noGrp="1"/>
          </p:cNvSpPr>
          <p:nvPr>
            <p:ph type="title"/>
          </p:nvPr>
        </p:nvSpPr>
        <p:spPr>
          <a:xfrm>
            <a:off x="0" y="297352"/>
            <a:ext cx="12192000" cy="1006475"/>
          </a:xfrm>
        </p:spPr>
        <p:txBody>
          <a:bodyPr/>
          <a:lstStyle/>
          <a:p>
            <a:r>
              <a:rPr lang="en-US" dirty="0"/>
              <a:t>Human vs. Genetic Language </a:t>
            </a:r>
          </a:p>
        </p:txBody>
      </p:sp>
      <p:sp>
        <p:nvSpPr>
          <p:cNvPr id="2" name="Rounded Rectangle 1">
            <a:extLst>
              <a:ext uri="{FF2B5EF4-FFF2-40B4-BE49-F238E27FC236}">
                <a16:creationId xmlns:a16="http://schemas.microsoft.com/office/drawing/2014/main" id="{3FD5648E-CFED-CD9A-2876-8E3A1F4E6D5D}"/>
              </a:ext>
            </a:extLst>
          </p:cNvPr>
          <p:cNvSpPr/>
          <p:nvPr/>
        </p:nvSpPr>
        <p:spPr>
          <a:xfrm>
            <a:off x="427454" y="1767464"/>
            <a:ext cx="11228629" cy="49498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rIns="9144" rtlCol="0" anchor="ctr"/>
          <a:lstStyle/>
          <a:p>
            <a:pPr algn="ctr"/>
            <a:r>
              <a:rPr lang="en-US" sz="2800" dirty="0">
                <a:solidFill>
                  <a:schemeClr val="tx1"/>
                </a:solidFill>
                <a:latin typeface="Consolas" panose="020B0609020204030204" pitchFamily="49" charset="0"/>
                <a:cs typeface="Consolas" panose="020B0609020204030204" pitchFamily="49" charset="0"/>
              </a:rPr>
              <a:t>The computer science department at JHU is known for ...</a:t>
            </a:r>
          </a:p>
        </p:txBody>
      </p:sp>
      <p:sp>
        <p:nvSpPr>
          <p:cNvPr id="7" name="TextBox 6">
            <a:extLst>
              <a:ext uri="{FF2B5EF4-FFF2-40B4-BE49-F238E27FC236}">
                <a16:creationId xmlns:a16="http://schemas.microsoft.com/office/drawing/2014/main" id="{7693C144-D0D6-5569-B83B-499B272454FB}"/>
              </a:ext>
            </a:extLst>
          </p:cNvPr>
          <p:cNvSpPr txBox="1"/>
          <p:nvPr/>
        </p:nvSpPr>
        <p:spPr>
          <a:xfrm>
            <a:off x="580024" y="1334860"/>
            <a:ext cx="3000596" cy="400110"/>
          </a:xfrm>
          <a:prstGeom prst="rect">
            <a:avLst/>
          </a:prstGeom>
          <a:noFill/>
        </p:spPr>
        <p:txBody>
          <a:bodyPr wrap="square">
            <a:spAutoFit/>
          </a:bodyPr>
          <a:lstStyle/>
          <a:p>
            <a:r>
              <a:rPr lang="en-US" sz="2000" dirty="0">
                <a:solidFill>
                  <a:schemeClr val="tx1"/>
                </a:solidFill>
                <a:latin typeface="Avenir Book" panose="02000503020000020003" pitchFamily="2" charset="0"/>
                <a:cs typeface="Consolas" panose="020B0609020204030204" pitchFamily="49" charset="0"/>
              </a:rPr>
              <a:t>Human language </a:t>
            </a:r>
          </a:p>
        </p:txBody>
      </p:sp>
      <p:sp>
        <p:nvSpPr>
          <p:cNvPr id="8" name="Rounded Rectangle 7">
            <a:extLst>
              <a:ext uri="{FF2B5EF4-FFF2-40B4-BE49-F238E27FC236}">
                <a16:creationId xmlns:a16="http://schemas.microsoft.com/office/drawing/2014/main" id="{5B8D87A7-AD02-FA92-9119-28DB48D97426}"/>
              </a:ext>
            </a:extLst>
          </p:cNvPr>
          <p:cNvSpPr/>
          <p:nvPr/>
        </p:nvSpPr>
        <p:spPr>
          <a:xfrm>
            <a:off x="375710" y="3341310"/>
            <a:ext cx="11326701" cy="56036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rIns="9144" rtlCol="0" anchor="ctr"/>
          <a:lstStyle/>
          <a:p>
            <a:pPr algn="ctr"/>
            <a:r>
              <a:rPr lang="en-US" sz="2800" dirty="0">
                <a:solidFill>
                  <a:schemeClr val="tx1"/>
                </a:solidFill>
                <a:latin typeface="Consolas" panose="020B0609020204030204" pitchFamily="49" charset="0"/>
                <a:cs typeface="Consolas" panose="020B0609020204030204" pitchFamily="49" charset="0"/>
              </a:rPr>
              <a:t>ATTACCCCGATTGCTATGCCTGAGAAGCTATTATGCCTGAGAAGCTAT ...</a:t>
            </a:r>
          </a:p>
        </p:txBody>
      </p:sp>
      <p:sp>
        <p:nvSpPr>
          <p:cNvPr id="9" name="TextBox 8">
            <a:extLst>
              <a:ext uri="{FF2B5EF4-FFF2-40B4-BE49-F238E27FC236}">
                <a16:creationId xmlns:a16="http://schemas.microsoft.com/office/drawing/2014/main" id="{CAD28B60-4BD8-25DE-2A02-5F415E40E411}"/>
              </a:ext>
            </a:extLst>
          </p:cNvPr>
          <p:cNvSpPr txBox="1"/>
          <p:nvPr/>
        </p:nvSpPr>
        <p:spPr>
          <a:xfrm>
            <a:off x="468594" y="2892379"/>
            <a:ext cx="3000596" cy="400110"/>
          </a:xfrm>
          <a:prstGeom prst="rect">
            <a:avLst/>
          </a:prstGeom>
          <a:noFill/>
        </p:spPr>
        <p:txBody>
          <a:bodyPr wrap="square">
            <a:spAutoFit/>
          </a:bodyPr>
          <a:lstStyle/>
          <a:p>
            <a:r>
              <a:rPr lang="en-US" sz="2000" dirty="0">
                <a:solidFill>
                  <a:schemeClr val="tx1"/>
                </a:solidFill>
                <a:latin typeface="Avenir Book" panose="02000503020000020003" pitchFamily="2" charset="0"/>
                <a:cs typeface="Consolas" panose="020B0609020204030204" pitchFamily="49" charset="0"/>
              </a:rPr>
              <a:t>Genomic language </a:t>
            </a:r>
          </a:p>
        </p:txBody>
      </p:sp>
      <p:pic>
        <p:nvPicPr>
          <p:cNvPr id="10" name="Picture 9">
            <a:extLst>
              <a:ext uri="{FF2B5EF4-FFF2-40B4-BE49-F238E27FC236}">
                <a16:creationId xmlns:a16="http://schemas.microsoft.com/office/drawing/2014/main" id="{229031FF-F975-2BCC-A7DD-431D799F2AD6}"/>
              </a:ext>
            </a:extLst>
          </p:cNvPr>
          <p:cNvPicPr>
            <a:picLocks noChangeAspect="1"/>
          </p:cNvPicPr>
          <p:nvPr/>
        </p:nvPicPr>
        <p:blipFill>
          <a:blip r:embed="rId3"/>
          <a:srcRect/>
          <a:stretch/>
        </p:blipFill>
        <p:spPr>
          <a:xfrm>
            <a:off x="10940113" y="5256578"/>
            <a:ext cx="1260008" cy="1598104"/>
          </a:xfrm>
          <a:prstGeom prst="rect">
            <a:avLst/>
          </a:prstGeom>
          <a:ln>
            <a:noFill/>
          </a:ln>
          <a:effectLst/>
        </p:spPr>
      </p:pic>
      <p:sp>
        <p:nvSpPr>
          <p:cNvPr id="11" name="TextBox 10">
            <a:extLst>
              <a:ext uri="{FF2B5EF4-FFF2-40B4-BE49-F238E27FC236}">
                <a16:creationId xmlns:a16="http://schemas.microsoft.com/office/drawing/2014/main" id="{87C2A33E-50FD-7347-8AC5-DF78FF6795B6}"/>
              </a:ext>
            </a:extLst>
          </p:cNvPr>
          <p:cNvSpPr txBox="1"/>
          <p:nvPr/>
        </p:nvSpPr>
        <p:spPr>
          <a:xfrm>
            <a:off x="310888" y="6373270"/>
            <a:ext cx="11884077" cy="523220"/>
          </a:xfrm>
          <a:prstGeom prst="rect">
            <a:avLst/>
          </a:prstGeom>
          <a:noFill/>
        </p:spPr>
        <p:txBody>
          <a:bodyPr wrap="square">
            <a:spAutoFit/>
          </a:bodyPr>
          <a:lstStyle/>
          <a:p>
            <a:pPr algn="ctr"/>
            <a:r>
              <a:rPr lang="en-US" sz="1400" dirty="0">
                <a:solidFill>
                  <a:schemeClr val="bg1">
                    <a:lumMod val="50000"/>
                  </a:schemeClr>
                </a:solidFill>
                <a:latin typeface="Arial" panose="020B0604020202020204" pitchFamily="34" charset="0"/>
                <a:cs typeface="Arial" panose="020B0604020202020204" pitchFamily="34" charset="0"/>
              </a:rPr>
              <a:t>Genomic Next-Token Predictors are In-Context Learners. </a:t>
            </a:r>
          </a:p>
          <a:p>
            <a:pPr algn="ctr"/>
            <a:r>
              <a:rPr lang="en-US" sz="1400" b="1" dirty="0">
                <a:solidFill>
                  <a:schemeClr val="bg1">
                    <a:lumMod val="50000"/>
                  </a:schemeClr>
                </a:solidFill>
                <a:latin typeface="Arial" panose="020B0604020202020204" pitchFamily="34" charset="0"/>
                <a:cs typeface="Arial" panose="020B0604020202020204" pitchFamily="34" charset="0"/>
              </a:rPr>
              <a:t>Beslow</a:t>
            </a:r>
            <a:r>
              <a:rPr lang="en-US" sz="1400" dirty="0">
                <a:solidFill>
                  <a:schemeClr val="bg1">
                    <a:lumMod val="50000"/>
                  </a:schemeClr>
                </a:solidFill>
                <a:latin typeface="Arial" panose="020B0604020202020204" pitchFamily="34" charset="0"/>
                <a:cs typeface="Arial" panose="020B0604020202020204" pitchFamily="34" charset="0"/>
              </a:rPr>
              <a:t>, Mishra, </a:t>
            </a:r>
            <a:r>
              <a:rPr lang="en-US" sz="1400" dirty="0" err="1">
                <a:solidFill>
                  <a:schemeClr val="bg1">
                    <a:lumMod val="50000"/>
                  </a:schemeClr>
                </a:solidFill>
                <a:latin typeface="Arial" panose="020B0604020202020204" pitchFamily="34" charset="0"/>
                <a:cs typeface="Arial" panose="020B0604020202020204" pitchFamily="34" charset="0"/>
              </a:rPr>
              <a:t>Revsine</a:t>
            </a:r>
            <a:r>
              <a:rPr lang="en-US" sz="1400" dirty="0">
                <a:solidFill>
                  <a:schemeClr val="bg1">
                    <a:lumMod val="50000"/>
                  </a:schemeClr>
                </a:solidFill>
                <a:latin typeface="Arial" panose="020B0604020202020204" pitchFamily="34" charset="0"/>
                <a:cs typeface="Arial" panose="020B0604020202020204" pitchFamily="34" charset="0"/>
              </a:rPr>
              <a:t>, Schatz, Liu, Khashabi. TMLR. 2026. </a:t>
            </a:r>
          </a:p>
        </p:txBody>
      </p:sp>
    </p:spTree>
    <p:extLst>
      <p:ext uri="{BB962C8B-B14F-4D97-AF65-F5344CB8AC3E}">
        <p14:creationId xmlns:p14="http://schemas.microsoft.com/office/powerpoint/2010/main" val="32997959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Tm="0">
        <p159:morph option="byObject"/>
      </p:transition>
    </mc:Choice>
    <mc:Fallback xmlns="">
      <p:transition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fade">
                                      <p:cBhvr>
                                        <p:cTn id="23" dur="500"/>
                                        <p:tgtEl>
                                          <p:spTgt spid="3">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0" end="0"/>
                                            </p:txEl>
                                          </p:spTgt>
                                        </p:tgtEl>
                                        <p:attrNameLst>
                                          <p:attrName>style.visibility</p:attrName>
                                        </p:attrNameLst>
                                      </p:cBhvr>
                                      <p:to>
                                        <p:strVal val="visible"/>
                                      </p:to>
                                    </p:set>
                                    <p:animEffect transition="in" filter="fade">
                                      <p:cBhvr>
                                        <p:cTn id="28"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P spid="8" grpId="0" animBg="1"/>
      <p:bldP spid="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68C67-B67D-ED94-BD85-8FB566BFA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781BD-365E-BBEB-F7F5-45274DD6DD71}"/>
              </a:ext>
            </a:extLst>
          </p:cNvPr>
          <p:cNvSpPr>
            <a:spLocks noGrp="1"/>
          </p:cNvSpPr>
          <p:nvPr>
            <p:ph type="title"/>
          </p:nvPr>
        </p:nvSpPr>
        <p:spPr/>
        <p:txBody>
          <a:bodyPr/>
          <a:lstStyle/>
          <a:p>
            <a:r>
              <a:rPr lang="en-US" dirty="0"/>
              <a:t>ICL on Human vs. Genetic Language </a:t>
            </a:r>
          </a:p>
        </p:txBody>
      </p:sp>
      <p:sp>
        <p:nvSpPr>
          <p:cNvPr id="4" name="Slide Number Placeholder 3">
            <a:extLst>
              <a:ext uri="{FF2B5EF4-FFF2-40B4-BE49-F238E27FC236}">
                <a16:creationId xmlns:a16="http://schemas.microsoft.com/office/drawing/2014/main" id="{B1536517-A728-65EA-0603-BEDB3CF87959}"/>
              </a:ext>
            </a:extLst>
          </p:cNvPr>
          <p:cNvSpPr>
            <a:spLocks noGrp="1"/>
          </p:cNvSpPr>
          <p:nvPr>
            <p:ph type="sldNum" sz="quarter" idx="10"/>
          </p:nvPr>
        </p:nvSpPr>
        <p:spPr/>
        <p:txBody>
          <a:bodyPr/>
          <a:lstStyle/>
          <a:p>
            <a:pPr>
              <a:defRPr/>
            </a:pPr>
            <a:fld id="{0121240C-47AF-2F4D-83B3-CC3EDF50F794}" type="slidenum">
              <a:rPr lang="en-US" smtClean="0"/>
              <a:pPr>
                <a:defRPr/>
              </a:pPr>
              <a:t>47</a:t>
            </a:fld>
            <a:endParaRPr lang="en-US"/>
          </a:p>
        </p:txBody>
      </p:sp>
      <p:sp>
        <p:nvSpPr>
          <p:cNvPr id="5" name="Rounded Rectangle 4">
            <a:extLst>
              <a:ext uri="{FF2B5EF4-FFF2-40B4-BE49-F238E27FC236}">
                <a16:creationId xmlns:a16="http://schemas.microsoft.com/office/drawing/2014/main" id="{FA4B244B-57A7-3B40-3C60-35883C6CF19A}"/>
              </a:ext>
            </a:extLst>
          </p:cNvPr>
          <p:cNvSpPr/>
          <p:nvPr/>
        </p:nvSpPr>
        <p:spPr>
          <a:xfrm>
            <a:off x="2321572" y="2168993"/>
            <a:ext cx="2369531" cy="38867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rIns="9144" rtlCol="0" anchor="ctr"/>
          <a:lstStyle/>
          <a:p>
            <a:pPr algn="ctr"/>
            <a:r>
              <a:rPr lang="en-US" dirty="0">
                <a:solidFill>
                  <a:schemeClr val="tx1"/>
                </a:solidFill>
                <a:latin typeface="Consolas" panose="020B0609020204030204" pitchFamily="49" charset="0"/>
                <a:cs typeface="Consolas" panose="020B0609020204030204" pitchFamily="49" charset="0"/>
              </a:rPr>
              <a:t>The computer ___</a:t>
            </a:r>
          </a:p>
        </p:txBody>
      </p:sp>
      <p:cxnSp>
        <p:nvCxnSpPr>
          <p:cNvPr id="7" name="Straight Arrow Connector 6">
            <a:extLst>
              <a:ext uri="{FF2B5EF4-FFF2-40B4-BE49-F238E27FC236}">
                <a16:creationId xmlns:a16="http://schemas.microsoft.com/office/drawing/2014/main" id="{BCC89383-3827-BB21-3A4B-8C938377798B}"/>
              </a:ext>
            </a:extLst>
          </p:cNvPr>
          <p:cNvCxnSpPr>
            <a:cxnSpLocks/>
          </p:cNvCxnSpPr>
          <p:nvPr/>
        </p:nvCxnSpPr>
        <p:spPr>
          <a:xfrm>
            <a:off x="4923858" y="2358867"/>
            <a:ext cx="469985"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cxnSp>
        <p:nvCxnSpPr>
          <p:cNvPr id="8" name="Straight Arrow Connector 7">
            <a:extLst>
              <a:ext uri="{FF2B5EF4-FFF2-40B4-BE49-F238E27FC236}">
                <a16:creationId xmlns:a16="http://schemas.microsoft.com/office/drawing/2014/main" id="{489B1B49-E078-CD6B-F574-5ABDBFBB348D}"/>
              </a:ext>
            </a:extLst>
          </p:cNvPr>
          <p:cNvCxnSpPr>
            <a:cxnSpLocks/>
          </p:cNvCxnSpPr>
          <p:nvPr/>
        </p:nvCxnSpPr>
        <p:spPr>
          <a:xfrm>
            <a:off x="7336032" y="2358866"/>
            <a:ext cx="459449"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9" name="Rounded Rectangle 8">
            <a:extLst>
              <a:ext uri="{FF2B5EF4-FFF2-40B4-BE49-F238E27FC236}">
                <a16:creationId xmlns:a16="http://schemas.microsoft.com/office/drawing/2014/main" id="{4B8F3CB2-A441-CD4C-C98C-DCB1DDF72950}"/>
              </a:ext>
            </a:extLst>
          </p:cNvPr>
          <p:cNvSpPr/>
          <p:nvPr/>
        </p:nvSpPr>
        <p:spPr>
          <a:xfrm>
            <a:off x="5475399" y="1784734"/>
            <a:ext cx="1677217" cy="1185490"/>
          </a:xfrm>
          <a:prstGeom prst="round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en-US" sz="6000" b="1" dirty="0">
                <a:latin typeface="Avenir Book" panose="02000503020000020003" pitchFamily="2" charset="0"/>
              </a:rPr>
              <a:t>LM</a:t>
            </a:r>
          </a:p>
        </p:txBody>
      </p:sp>
      <p:sp>
        <p:nvSpPr>
          <p:cNvPr id="15" name="TextBox 14">
            <a:extLst>
              <a:ext uri="{FF2B5EF4-FFF2-40B4-BE49-F238E27FC236}">
                <a16:creationId xmlns:a16="http://schemas.microsoft.com/office/drawing/2014/main" id="{9E45D228-FDD4-92BB-DD56-0F1265A57E7A}"/>
              </a:ext>
            </a:extLst>
          </p:cNvPr>
          <p:cNvSpPr txBox="1"/>
          <p:nvPr/>
        </p:nvSpPr>
        <p:spPr>
          <a:xfrm>
            <a:off x="2621101" y="1671074"/>
            <a:ext cx="2279405" cy="369332"/>
          </a:xfrm>
          <a:prstGeom prst="rect">
            <a:avLst/>
          </a:prstGeom>
          <a:noFill/>
        </p:spPr>
        <p:txBody>
          <a:bodyPr wrap="square">
            <a:spAutoFit/>
          </a:bodyPr>
          <a:lstStyle/>
          <a:p>
            <a:r>
              <a:rPr lang="en-US" dirty="0">
                <a:solidFill>
                  <a:schemeClr val="tx1"/>
                </a:solidFill>
                <a:latin typeface="Avenir Book" panose="02000503020000020003" pitchFamily="2" charset="0"/>
                <a:cs typeface="Consolas" panose="020B0609020204030204" pitchFamily="49" charset="0"/>
              </a:rPr>
              <a:t>Human language </a:t>
            </a:r>
          </a:p>
        </p:txBody>
      </p:sp>
      <p:sp>
        <p:nvSpPr>
          <p:cNvPr id="18" name="Rounded Rectangle 17">
            <a:extLst>
              <a:ext uri="{FF2B5EF4-FFF2-40B4-BE49-F238E27FC236}">
                <a16:creationId xmlns:a16="http://schemas.microsoft.com/office/drawing/2014/main" id="{DD78C5D9-CFF5-BC73-CCB1-258E4E22C3EC}"/>
              </a:ext>
            </a:extLst>
          </p:cNvPr>
          <p:cNvSpPr/>
          <p:nvPr/>
        </p:nvSpPr>
        <p:spPr>
          <a:xfrm>
            <a:off x="2360474" y="5067664"/>
            <a:ext cx="2369531" cy="38867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rIns="9144" rtlCol="0" anchor="ctr"/>
          <a:lstStyle/>
          <a:p>
            <a:pPr algn="ctr"/>
            <a:r>
              <a:rPr lang="en-US" dirty="0">
                <a:solidFill>
                  <a:schemeClr val="tx1"/>
                </a:solidFill>
                <a:latin typeface="Consolas" panose="020B0609020204030204" pitchFamily="49" charset="0"/>
                <a:cs typeface="Consolas" panose="020B0609020204030204" pitchFamily="49" charset="0"/>
              </a:rPr>
              <a:t>ATTACCCCG ___</a:t>
            </a:r>
          </a:p>
        </p:txBody>
      </p:sp>
      <p:cxnSp>
        <p:nvCxnSpPr>
          <p:cNvPr id="20" name="Straight Arrow Connector 19">
            <a:extLst>
              <a:ext uri="{FF2B5EF4-FFF2-40B4-BE49-F238E27FC236}">
                <a16:creationId xmlns:a16="http://schemas.microsoft.com/office/drawing/2014/main" id="{3FDC70F6-A2ED-3993-0633-04915E48F3F9}"/>
              </a:ext>
            </a:extLst>
          </p:cNvPr>
          <p:cNvCxnSpPr>
            <a:cxnSpLocks/>
          </p:cNvCxnSpPr>
          <p:nvPr/>
        </p:nvCxnSpPr>
        <p:spPr>
          <a:xfrm>
            <a:off x="4962760" y="5269413"/>
            <a:ext cx="469985"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cxnSp>
        <p:nvCxnSpPr>
          <p:cNvPr id="21" name="Straight Arrow Connector 20">
            <a:extLst>
              <a:ext uri="{FF2B5EF4-FFF2-40B4-BE49-F238E27FC236}">
                <a16:creationId xmlns:a16="http://schemas.microsoft.com/office/drawing/2014/main" id="{38FD18F3-3D84-24EE-5E18-B073BFD2C66E}"/>
              </a:ext>
            </a:extLst>
          </p:cNvPr>
          <p:cNvCxnSpPr>
            <a:cxnSpLocks/>
          </p:cNvCxnSpPr>
          <p:nvPr/>
        </p:nvCxnSpPr>
        <p:spPr>
          <a:xfrm>
            <a:off x="7374934" y="5269412"/>
            <a:ext cx="459449"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22" name="Rounded Rectangle 21">
            <a:extLst>
              <a:ext uri="{FF2B5EF4-FFF2-40B4-BE49-F238E27FC236}">
                <a16:creationId xmlns:a16="http://schemas.microsoft.com/office/drawing/2014/main" id="{3120BECA-99B8-4B62-D999-1D4ABDFADCA2}"/>
              </a:ext>
            </a:extLst>
          </p:cNvPr>
          <p:cNvSpPr/>
          <p:nvPr/>
        </p:nvSpPr>
        <p:spPr>
          <a:xfrm>
            <a:off x="5514301" y="4719030"/>
            <a:ext cx="1677217" cy="1185490"/>
          </a:xfrm>
          <a:prstGeom prst="round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en-US" sz="6000" b="1" dirty="0">
                <a:latin typeface="Avenir Book" panose="02000503020000020003" pitchFamily="2" charset="0"/>
              </a:rPr>
              <a:t>GM</a:t>
            </a:r>
          </a:p>
        </p:txBody>
      </p:sp>
      <p:sp>
        <p:nvSpPr>
          <p:cNvPr id="24" name="TextBox 23">
            <a:extLst>
              <a:ext uri="{FF2B5EF4-FFF2-40B4-BE49-F238E27FC236}">
                <a16:creationId xmlns:a16="http://schemas.microsoft.com/office/drawing/2014/main" id="{AEBF19C9-BDE7-7AAA-7E3A-8E0B8623604C}"/>
              </a:ext>
            </a:extLst>
          </p:cNvPr>
          <p:cNvSpPr txBox="1"/>
          <p:nvPr/>
        </p:nvSpPr>
        <p:spPr>
          <a:xfrm>
            <a:off x="2502344" y="4569745"/>
            <a:ext cx="2279405" cy="369332"/>
          </a:xfrm>
          <a:prstGeom prst="rect">
            <a:avLst/>
          </a:prstGeom>
          <a:noFill/>
        </p:spPr>
        <p:txBody>
          <a:bodyPr wrap="square">
            <a:spAutoFit/>
          </a:bodyPr>
          <a:lstStyle/>
          <a:p>
            <a:r>
              <a:rPr lang="en-US" dirty="0">
                <a:solidFill>
                  <a:schemeClr val="tx1"/>
                </a:solidFill>
                <a:latin typeface="Avenir Book" panose="02000503020000020003" pitchFamily="2" charset="0"/>
                <a:cs typeface="Consolas" panose="020B0609020204030204" pitchFamily="49" charset="0"/>
              </a:rPr>
              <a:t>Genomic language </a:t>
            </a:r>
          </a:p>
        </p:txBody>
      </p:sp>
      <p:graphicFrame>
        <p:nvGraphicFramePr>
          <p:cNvPr id="28" name="Chart 27">
            <a:extLst>
              <a:ext uri="{FF2B5EF4-FFF2-40B4-BE49-F238E27FC236}">
                <a16:creationId xmlns:a16="http://schemas.microsoft.com/office/drawing/2014/main" id="{05C572A5-FA41-6FC1-87FF-AC6AC4C2DD8F}"/>
              </a:ext>
            </a:extLst>
          </p:cNvPr>
          <p:cNvGraphicFramePr/>
          <p:nvPr/>
        </p:nvGraphicFramePr>
        <p:xfrm>
          <a:off x="8129206" y="1329458"/>
          <a:ext cx="2155128" cy="188991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0" name="Chart 29">
            <a:extLst>
              <a:ext uri="{FF2B5EF4-FFF2-40B4-BE49-F238E27FC236}">
                <a16:creationId xmlns:a16="http://schemas.microsoft.com/office/drawing/2014/main" id="{22640081-A0C8-FFA7-E207-03F0EA0F33CA}"/>
              </a:ext>
            </a:extLst>
          </p:cNvPr>
          <p:cNvGraphicFramePr/>
          <p:nvPr/>
        </p:nvGraphicFramePr>
        <p:xfrm>
          <a:off x="8732454" y="4265002"/>
          <a:ext cx="1519648" cy="1795329"/>
        </p:xfrm>
        <a:graphic>
          <a:graphicData uri="http://schemas.openxmlformats.org/drawingml/2006/chart">
            <c:chart xmlns:c="http://schemas.openxmlformats.org/drawingml/2006/chart" xmlns:r="http://schemas.openxmlformats.org/officeDocument/2006/relationships" r:id="rId4"/>
          </a:graphicData>
        </a:graphic>
      </p:graphicFrame>
      <p:sp>
        <p:nvSpPr>
          <p:cNvPr id="31" name="TextBox 30">
            <a:extLst>
              <a:ext uri="{FF2B5EF4-FFF2-40B4-BE49-F238E27FC236}">
                <a16:creationId xmlns:a16="http://schemas.microsoft.com/office/drawing/2014/main" id="{80B6CDE6-164B-61C7-72AA-D347ADBFD9DB}"/>
              </a:ext>
            </a:extLst>
          </p:cNvPr>
          <p:cNvSpPr txBox="1"/>
          <p:nvPr/>
        </p:nvSpPr>
        <p:spPr>
          <a:xfrm>
            <a:off x="5262600" y="5902334"/>
            <a:ext cx="2279405" cy="523220"/>
          </a:xfrm>
          <a:prstGeom prst="rect">
            <a:avLst/>
          </a:prstGeom>
          <a:noFill/>
        </p:spPr>
        <p:txBody>
          <a:bodyPr wrap="square">
            <a:spAutoFit/>
          </a:bodyPr>
          <a:lstStyle/>
          <a:p>
            <a:pPr algn="ctr"/>
            <a:r>
              <a:rPr lang="en-US" sz="2800" b="1" dirty="0">
                <a:solidFill>
                  <a:schemeClr val="tx1"/>
                </a:solidFill>
                <a:latin typeface="Avenir Book" panose="02000503020000020003" pitchFamily="2" charset="0"/>
                <a:cs typeface="Consolas" panose="020B0609020204030204" pitchFamily="49" charset="0"/>
              </a:rPr>
              <a:t>Evo2 </a:t>
            </a:r>
          </a:p>
        </p:txBody>
      </p:sp>
      <p:sp>
        <p:nvSpPr>
          <p:cNvPr id="32" name="TextBox 31">
            <a:extLst>
              <a:ext uri="{FF2B5EF4-FFF2-40B4-BE49-F238E27FC236}">
                <a16:creationId xmlns:a16="http://schemas.microsoft.com/office/drawing/2014/main" id="{3A41C9A8-7B64-1B17-B157-295A5C211B73}"/>
              </a:ext>
            </a:extLst>
          </p:cNvPr>
          <p:cNvSpPr txBox="1"/>
          <p:nvPr/>
        </p:nvSpPr>
        <p:spPr>
          <a:xfrm>
            <a:off x="5213586" y="1296617"/>
            <a:ext cx="2279405" cy="523220"/>
          </a:xfrm>
          <a:prstGeom prst="rect">
            <a:avLst/>
          </a:prstGeom>
          <a:noFill/>
        </p:spPr>
        <p:txBody>
          <a:bodyPr wrap="square">
            <a:spAutoFit/>
          </a:bodyPr>
          <a:lstStyle/>
          <a:p>
            <a:pPr algn="ctr"/>
            <a:r>
              <a:rPr lang="en-US" sz="2800" b="1" dirty="0">
                <a:solidFill>
                  <a:schemeClr val="tx1"/>
                </a:solidFill>
                <a:latin typeface="Avenir Book" panose="02000503020000020003" pitchFamily="2" charset="0"/>
                <a:cs typeface="Consolas" panose="020B0609020204030204" pitchFamily="49" charset="0"/>
              </a:rPr>
              <a:t>Qwen3</a:t>
            </a:r>
          </a:p>
        </p:txBody>
      </p:sp>
      <p:sp>
        <p:nvSpPr>
          <p:cNvPr id="35" name="Up-Down Arrow 34">
            <a:extLst>
              <a:ext uri="{FF2B5EF4-FFF2-40B4-BE49-F238E27FC236}">
                <a16:creationId xmlns:a16="http://schemas.microsoft.com/office/drawing/2014/main" id="{4457C874-D177-BDFF-4888-41CD380DBDDC}"/>
              </a:ext>
            </a:extLst>
          </p:cNvPr>
          <p:cNvSpPr/>
          <p:nvPr/>
        </p:nvSpPr>
        <p:spPr>
          <a:xfrm>
            <a:off x="6049735" y="3031515"/>
            <a:ext cx="498763" cy="1627127"/>
          </a:xfrm>
          <a:prstGeom prst="upDownArrow">
            <a:avLst/>
          </a:prstGeom>
          <a:solidFill>
            <a:srgbClr val="1A459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a:extLst>
              <a:ext uri="{FF2B5EF4-FFF2-40B4-BE49-F238E27FC236}">
                <a16:creationId xmlns:a16="http://schemas.microsoft.com/office/drawing/2014/main" id="{6056E426-8CB1-E3D5-FE4C-874624CF55AB}"/>
              </a:ext>
            </a:extLst>
          </p:cNvPr>
          <p:cNvSpPr/>
          <p:nvPr/>
        </p:nvSpPr>
        <p:spPr>
          <a:xfrm>
            <a:off x="1338517" y="3544206"/>
            <a:ext cx="9884979" cy="575656"/>
          </a:xfrm>
          <a:prstGeom prst="roundRect">
            <a:avLst/>
          </a:prstGeom>
          <a:solidFill>
            <a:srgbClr val="1A45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panose="020B0604020202020204" pitchFamily="34" charset="0"/>
                <a:cs typeface="Arial" panose="020B0604020202020204" pitchFamily="34" charset="0"/>
              </a:rPr>
              <a:t>These models are trained on similar scale (compute x data)!</a:t>
            </a:r>
          </a:p>
        </p:txBody>
      </p:sp>
      <p:sp>
        <p:nvSpPr>
          <p:cNvPr id="3" name="Rectangle: Rounded Corners 2">
            <a:extLst>
              <a:ext uri="{FF2B5EF4-FFF2-40B4-BE49-F238E27FC236}">
                <a16:creationId xmlns:a16="http://schemas.microsoft.com/office/drawing/2014/main" id="{E1881E19-6631-B543-BD36-9E159BF12253}"/>
              </a:ext>
            </a:extLst>
          </p:cNvPr>
          <p:cNvSpPr/>
          <p:nvPr/>
        </p:nvSpPr>
        <p:spPr>
          <a:xfrm>
            <a:off x="1445614" y="155899"/>
            <a:ext cx="9338872" cy="1023801"/>
          </a:xfrm>
          <a:prstGeom prst="roundRect">
            <a:avLst/>
          </a:prstGeom>
          <a:solidFill>
            <a:srgbClr val="EAEEFE"/>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Hypothesis: </a:t>
            </a:r>
            <a:r>
              <a:rPr lang="en-US" sz="2800" dirty="0">
                <a:solidFill>
                  <a:schemeClr val="tx1"/>
                </a:solidFill>
                <a:latin typeface="Arial" panose="020B0604020202020204" pitchFamily="34" charset="0"/>
                <a:cs typeface="Arial" panose="020B0604020202020204" pitchFamily="34" charset="0"/>
              </a:rPr>
              <a:t>If ICL appears in both settings, </a:t>
            </a:r>
            <a:br>
              <a:rPr lang="en-US" sz="2800" dirty="0">
                <a:solidFill>
                  <a:schemeClr val="tx1"/>
                </a:solidFill>
                <a:latin typeface="Arial" panose="020B0604020202020204" pitchFamily="34" charset="0"/>
                <a:cs typeface="Arial" panose="020B0604020202020204" pitchFamily="34" charset="0"/>
              </a:rPr>
            </a:br>
            <a:r>
              <a:rPr lang="en-US" sz="2800" dirty="0">
                <a:solidFill>
                  <a:schemeClr val="tx1"/>
                </a:solidFill>
                <a:latin typeface="Arial" panose="020B0604020202020204" pitchFamily="34" charset="0"/>
                <a:cs typeface="Arial" panose="020B0604020202020204" pitchFamily="34" charset="0"/>
              </a:rPr>
              <a:t>it must reflect a </a:t>
            </a:r>
            <a:r>
              <a:rPr lang="en-US" sz="2800" i="1" dirty="0">
                <a:solidFill>
                  <a:srgbClr val="C00000"/>
                </a:solidFill>
                <a:latin typeface="Arial" panose="020B0604020202020204" pitchFamily="34" charset="0"/>
                <a:cs typeface="Arial" panose="020B0604020202020204" pitchFamily="34" charset="0"/>
              </a:rPr>
              <a:t>more general computational mechanism</a:t>
            </a:r>
            <a:r>
              <a:rPr lang="en-US" sz="2800" dirty="0">
                <a:solidFill>
                  <a:schemeClr val="tx1"/>
                </a:solidFill>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D95197CA-A9CE-101C-F28E-4EFF15551F6C}"/>
              </a:ext>
            </a:extLst>
          </p:cNvPr>
          <p:cNvSpPr txBox="1"/>
          <p:nvPr/>
        </p:nvSpPr>
        <p:spPr>
          <a:xfrm>
            <a:off x="310888" y="6373270"/>
            <a:ext cx="11884077" cy="523220"/>
          </a:xfrm>
          <a:prstGeom prst="rect">
            <a:avLst/>
          </a:prstGeom>
          <a:noFill/>
        </p:spPr>
        <p:txBody>
          <a:bodyPr wrap="square">
            <a:spAutoFit/>
          </a:bodyPr>
          <a:lstStyle/>
          <a:p>
            <a:pPr algn="ctr"/>
            <a:r>
              <a:rPr lang="en-US" sz="1400" dirty="0">
                <a:solidFill>
                  <a:schemeClr val="bg1">
                    <a:lumMod val="50000"/>
                  </a:schemeClr>
                </a:solidFill>
                <a:latin typeface="Arial" panose="020B0604020202020204" pitchFamily="34" charset="0"/>
                <a:cs typeface="Arial" panose="020B0604020202020204" pitchFamily="34" charset="0"/>
              </a:rPr>
              <a:t>Genomic Next-Token Predictors are In-Context Learners. </a:t>
            </a:r>
          </a:p>
          <a:p>
            <a:pPr algn="ctr"/>
            <a:r>
              <a:rPr lang="en-US" sz="1400" dirty="0">
                <a:solidFill>
                  <a:schemeClr val="bg1">
                    <a:lumMod val="50000"/>
                  </a:schemeClr>
                </a:solidFill>
                <a:latin typeface="Arial" panose="020B0604020202020204" pitchFamily="34" charset="0"/>
                <a:cs typeface="Arial" panose="020B0604020202020204" pitchFamily="34" charset="0"/>
              </a:rPr>
              <a:t>Beslow, Mishra, </a:t>
            </a:r>
            <a:r>
              <a:rPr lang="en-US" sz="1400" dirty="0" err="1">
                <a:solidFill>
                  <a:schemeClr val="bg1">
                    <a:lumMod val="50000"/>
                  </a:schemeClr>
                </a:solidFill>
                <a:latin typeface="Arial" panose="020B0604020202020204" pitchFamily="34" charset="0"/>
                <a:cs typeface="Arial" panose="020B0604020202020204" pitchFamily="34" charset="0"/>
              </a:rPr>
              <a:t>Revsine</a:t>
            </a:r>
            <a:r>
              <a:rPr lang="en-US" sz="1400" dirty="0">
                <a:solidFill>
                  <a:schemeClr val="bg1">
                    <a:lumMod val="50000"/>
                  </a:schemeClr>
                </a:solidFill>
                <a:latin typeface="Arial" panose="020B0604020202020204" pitchFamily="34" charset="0"/>
                <a:cs typeface="Arial" panose="020B0604020202020204" pitchFamily="34" charset="0"/>
              </a:rPr>
              <a:t>, Schatz, Liu, Khashabi. TMLR. 2026. </a:t>
            </a:r>
          </a:p>
        </p:txBody>
      </p:sp>
    </p:spTree>
    <p:extLst>
      <p:ext uri="{BB962C8B-B14F-4D97-AF65-F5344CB8AC3E}">
        <p14:creationId xmlns:p14="http://schemas.microsoft.com/office/powerpoint/2010/main" val="1977469772"/>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fade">
                                      <p:cBhvr>
                                        <p:cTn id="24" dur="500"/>
                                        <p:tgtEl>
                                          <p:spTgt spid="3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8" grpId="0">
        <p:bldAsOne/>
      </p:bldGraphic>
      <p:bldGraphic spid="30" grpId="0">
        <p:bldAsOne/>
      </p:bldGraphic>
      <p:bldP spid="35" grpId="0" animBg="1"/>
      <p:bldP spid="36" grpId="0" animBg="1"/>
      <p:bldP spid="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DC880-522F-77AA-7CD8-D648104D56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19B4A5-A55F-A092-AD34-34972AF3E24B}"/>
              </a:ext>
            </a:extLst>
          </p:cNvPr>
          <p:cNvSpPr txBox="1"/>
          <p:nvPr/>
        </p:nvSpPr>
        <p:spPr>
          <a:xfrm>
            <a:off x="310888" y="6373270"/>
            <a:ext cx="11884077" cy="523220"/>
          </a:xfrm>
          <a:prstGeom prst="rect">
            <a:avLst/>
          </a:prstGeom>
          <a:noFill/>
        </p:spPr>
        <p:txBody>
          <a:bodyPr wrap="square">
            <a:spAutoFit/>
          </a:bodyPr>
          <a:lstStyle/>
          <a:p>
            <a:pPr algn="ctr"/>
            <a:r>
              <a:rPr lang="en-US" sz="1400" dirty="0">
                <a:solidFill>
                  <a:schemeClr val="bg1">
                    <a:lumMod val="50000"/>
                  </a:schemeClr>
                </a:solidFill>
                <a:latin typeface="Arial" panose="020B0604020202020204" pitchFamily="34" charset="0"/>
                <a:cs typeface="Arial" panose="020B0604020202020204" pitchFamily="34" charset="0"/>
              </a:rPr>
              <a:t>Genomic Next-Token Predictors are In-Context Learners. </a:t>
            </a:r>
          </a:p>
          <a:p>
            <a:pPr algn="ctr"/>
            <a:r>
              <a:rPr lang="en-US" sz="1400" dirty="0">
                <a:solidFill>
                  <a:schemeClr val="bg1">
                    <a:lumMod val="50000"/>
                  </a:schemeClr>
                </a:solidFill>
                <a:latin typeface="Arial" panose="020B0604020202020204" pitchFamily="34" charset="0"/>
                <a:cs typeface="Arial" panose="020B0604020202020204" pitchFamily="34" charset="0"/>
              </a:rPr>
              <a:t>Beslow, Mishra, </a:t>
            </a:r>
            <a:r>
              <a:rPr lang="en-US" sz="1400" dirty="0" err="1">
                <a:solidFill>
                  <a:schemeClr val="bg1">
                    <a:lumMod val="50000"/>
                  </a:schemeClr>
                </a:solidFill>
                <a:latin typeface="Arial" panose="020B0604020202020204" pitchFamily="34" charset="0"/>
                <a:cs typeface="Arial" panose="020B0604020202020204" pitchFamily="34" charset="0"/>
              </a:rPr>
              <a:t>Revsine</a:t>
            </a:r>
            <a:r>
              <a:rPr lang="en-US" sz="1400" dirty="0">
                <a:solidFill>
                  <a:schemeClr val="bg1">
                    <a:lumMod val="50000"/>
                  </a:schemeClr>
                </a:solidFill>
                <a:latin typeface="Arial" panose="020B0604020202020204" pitchFamily="34" charset="0"/>
                <a:cs typeface="Arial" panose="020B0604020202020204" pitchFamily="34" charset="0"/>
              </a:rPr>
              <a:t>, Schatz, Liu, Khashabi. TMLR. 2026. </a:t>
            </a:r>
          </a:p>
        </p:txBody>
      </p:sp>
      <p:sp>
        <p:nvSpPr>
          <p:cNvPr id="20" name="Rounded Rectangle 19">
            <a:extLst>
              <a:ext uri="{FF2B5EF4-FFF2-40B4-BE49-F238E27FC236}">
                <a16:creationId xmlns:a16="http://schemas.microsoft.com/office/drawing/2014/main" id="{C5237EA3-E4B3-3DC2-F56A-67C237A94A68}"/>
              </a:ext>
            </a:extLst>
          </p:cNvPr>
          <p:cNvSpPr/>
          <p:nvPr/>
        </p:nvSpPr>
        <p:spPr>
          <a:xfrm>
            <a:off x="83126" y="2686979"/>
            <a:ext cx="6270004" cy="2280749"/>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rIns="9144" rtlCol="0" anchor="ctr"/>
          <a:lstStyle/>
          <a:p>
            <a:r>
              <a:rPr lang="en-US" sz="3200" dirty="0">
                <a:solidFill>
                  <a:srgbClr val="000000"/>
                </a:solidFill>
                <a:latin typeface="Courier New" panose="02070309020205020404" pitchFamily="49" charset="0"/>
              </a:rPr>
              <a:t> input1 -&gt; Output1 SEP</a:t>
            </a:r>
            <a:endParaRPr lang="en-US" sz="3200" dirty="0"/>
          </a:p>
          <a:p>
            <a:r>
              <a:rPr lang="en-US" sz="3200" dirty="0">
                <a:solidFill>
                  <a:srgbClr val="000000"/>
                </a:solidFill>
                <a:latin typeface="Courier New" panose="02070309020205020404" pitchFamily="49" charset="0"/>
              </a:rPr>
              <a:t> input2 -&gt; Output2 SEP</a:t>
            </a:r>
            <a:endParaRPr lang="en-US" sz="3200" dirty="0"/>
          </a:p>
          <a:p>
            <a:r>
              <a:rPr lang="en-US" sz="3200" dirty="0">
                <a:solidFill>
                  <a:srgbClr val="000000"/>
                </a:solidFill>
                <a:latin typeface="Courier New" panose="02070309020205020404" pitchFamily="49" charset="0"/>
              </a:rPr>
              <a:t> input3 -&gt; Output3 SEP</a:t>
            </a:r>
            <a:endParaRPr lang="en-US" sz="3200" dirty="0"/>
          </a:p>
          <a:p>
            <a:r>
              <a:rPr lang="en-US" sz="3200" dirty="0">
                <a:solidFill>
                  <a:srgbClr val="000000"/>
                </a:solidFill>
                <a:latin typeface="Courier New" panose="02070309020205020404" pitchFamily="49" charset="0"/>
              </a:rPr>
              <a:t> Input4 -&gt; ?</a:t>
            </a:r>
            <a:endParaRPr lang="en-US" sz="3200" dirty="0"/>
          </a:p>
        </p:txBody>
      </p:sp>
      <p:sp>
        <p:nvSpPr>
          <p:cNvPr id="2" name="Title 1">
            <a:extLst>
              <a:ext uri="{FF2B5EF4-FFF2-40B4-BE49-F238E27FC236}">
                <a16:creationId xmlns:a16="http://schemas.microsoft.com/office/drawing/2014/main" id="{52B3E6B5-BBFC-30CB-1350-0B15C5AD7BF9}"/>
              </a:ext>
            </a:extLst>
          </p:cNvPr>
          <p:cNvSpPr>
            <a:spLocks noGrp="1"/>
          </p:cNvSpPr>
          <p:nvPr>
            <p:ph type="title"/>
          </p:nvPr>
        </p:nvSpPr>
        <p:spPr/>
        <p:txBody>
          <a:bodyPr/>
          <a:lstStyle/>
          <a:p>
            <a:r>
              <a:rPr lang="en-US" dirty="0"/>
              <a:t>What task should we use for evaluation?</a:t>
            </a:r>
          </a:p>
        </p:txBody>
      </p:sp>
      <p:sp>
        <p:nvSpPr>
          <p:cNvPr id="4" name="Slide Number Placeholder 3">
            <a:extLst>
              <a:ext uri="{FF2B5EF4-FFF2-40B4-BE49-F238E27FC236}">
                <a16:creationId xmlns:a16="http://schemas.microsoft.com/office/drawing/2014/main" id="{F9B85C2A-FB1E-B419-8C77-4F6D0863BE4F}"/>
              </a:ext>
            </a:extLst>
          </p:cNvPr>
          <p:cNvSpPr>
            <a:spLocks noGrp="1"/>
          </p:cNvSpPr>
          <p:nvPr>
            <p:ph type="sldNum" sz="quarter" idx="10"/>
          </p:nvPr>
        </p:nvSpPr>
        <p:spPr/>
        <p:txBody>
          <a:bodyPr/>
          <a:lstStyle/>
          <a:p>
            <a:pPr>
              <a:defRPr/>
            </a:pPr>
            <a:fld id="{0121240C-47AF-2F4D-83B3-CC3EDF50F794}" type="slidenum">
              <a:rPr lang="en-US" smtClean="0"/>
              <a:pPr>
                <a:defRPr/>
              </a:pPr>
              <a:t>48</a:t>
            </a:fld>
            <a:endParaRPr lang="en-US"/>
          </a:p>
        </p:txBody>
      </p:sp>
      <p:cxnSp>
        <p:nvCxnSpPr>
          <p:cNvPr id="6" name="Straight Arrow Connector 5">
            <a:extLst>
              <a:ext uri="{FF2B5EF4-FFF2-40B4-BE49-F238E27FC236}">
                <a16:creationId xmlns:a16="http://schemas.microsoft.com/office/drawing/2014/main" id="{3513A982-D63F-DCE1-8920-9085E39F0A33}"/>
              </a:ext>
            </a:extLst>
          </p:cNvPr>
          <p:cNvCxnSpPr>
            <a:cxnSpLocks/>
          </p:cNvCxnSpPr>
          <p:nvPr/>
        </p:nvCxnSpPr>
        <p:spPr>
          <a:xfrm flipV="1">
            <a:off x="7598566" y="2371886"/>
            <a:ext cx="431083" cy="21456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8" name="Rounded Rectangle 7">
            <a:extLst>
              <a:ext uri="{FF2B5EF4-FFF2-40B4-BE49-F238E27FC236}">
                <a16:creationId xmlns:a16="http://schemas.microsoft.com/office/drawing/2014/main" id="{1E5D194F-65F1-58EB-61D0-B1EABBE43905}"/>
              </a:ext>
            </a:extLst>
          </p:cNvPr>
          <p:cNvSpPr/>
          <p:nvPr/>
        </p:nvSpPr>
        <p:spPr>
          <a:xfrm>
            <a:off x="8111205" y="1797753"/>
            <a:ext cx="1677217" cy="1185490"/>
          </a:xfrm>
          <a:prstGeom prst="round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en-US" sz="6000" b="1" dirty="0">
                <a:latin typeface="Avenir Book" panose="02000503020000020003" pitchFamily="2" charset="0"/>
              </a:rPr>
              <a:t>LM</a:t>
            </a:r>
          </a:p>
        </p:txBody>
      </p:sp>
      <p:cxnSp>
        <p:nvCxnSpPr>
          <p:cNvPr id="10" name="Straight Arrow Connector 9">
            <a:extLst>
              <a:ext uri="{FF2B5EF4-FFF2-40B4-BE49-F238E27FC236}">
                <a16:creationId xmlns:a16="http://schemas.microsoft.com/office/drawing/2014/main" id="{37DC686D-AC50-CF46-5525-C8816678E85A}"/>
              </a:ext>
            </a:extLst>
          </p:cNvPr>
          <p:cNvCxnSpPr>
            <a:cxnSpLocks/>
          </p:cNvCxnSpPr>
          <p:nvPr/>
        </p:nvCxnSpPr>
        <p:spPr>
          <a:xfrm>
            <a:off x="7598566" y="5065272"/>
            <a:ext cx="469985" cy="21716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cxnSp>
        <p:nvCxnSpPr>
          <p:cNvPr id="11" name="Straight Arrow Connector 10">
            <a:extLst>
              <a:ext uri="{FF2B5EF4-FFF2-40B4-BE49-F238E27FC236}">
                <a16:creationId xmlns:a16="http://schemas.microsoft.com/office/drawing/2014/main" id="{720AC350-E645-2903-47DA-A881B1234850}"/>
              </a:ext>
            </a:extLst>
          </p:cNvPr>
          <p:cNvCxnSpPr>
            <a:cxnSpLocks/>
          </p:cNvCxnSpPr>
          <p:nvPr/>
        </p:nvCxnSpPr>
        <p:spPr>
          <a:xfrm>
            <a:off x="10010740" y="5282431"/>
            <a:ext cx="459449"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12" name="Rounded Rectangle 11">
            <a:extLst>
              <a:ext uri="{FF2B5EF4-FFF2-40B4-BE49-F238E27FC236}">
                <a16:creationId xmlns:a16="http://schemas.microsoft.com/office/drawing/2014/main" id="{7ED4E5D8-97A1-C45E-A53B-AA282E88C5B2}"/>
              </a:ext>
            </a:extLst>
          </p:cNvPr>
          <p:cNvSpPr/>
          <p:nvPr/>
        </p:nvSpPr>
        <p:spPr>
          <a:xfrm>
            <a:off x="8150107" y="4732049"/>
            <a:ext cx="1677217" cy="1185490"/>
          </a:xfrm>
          <a:prstGeom prst="round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en-US" sz="6000" b="1" dirty="0">
                <a:latin typeface="Avenir Book" panose="02000503020000020003" pitchFamily="2" charset="0"/>
              </a:rPr>
              <a:t>GM</a:t>
            </a:r>
          </a:p>
        </p:txBody>
      </p:sp>
      <p:sp>
        <p:nvSpPr>
          <p:cNvPr id="13" name="TextBox 12">
            <a:extLst>
              <a:ext uri="{FF2B5EF4-FFF2-40B4-BE49-F238E27FC236}">
                <a16:creationId xmlns:a16="http://schemas.microsoft.com/office/drawing/2014/main" id="{DB9CBA97-3ACD-4BA9-B511-E86BE1F043B8}"/>
              </a:ext>
            </a:extLst>
          </p:cNvPr>
          <p:cNvSpPr txBox="1"/>
          <p:nvPr/>
        </p:nvSpPr>
        <p:spPr>
          <a:xfrm>
            <a:off x="7898406" y="5915353"/>
            <a:ext cx="2279405" cy="523220"/>
          </a:xfrm>
          <a:prstGeom prst="rect">
            <a:avLst/>
          </a:prstGeom>
          <a:noFill/>
        </p:spPr>
        <p:txBody>
          <a:bodyPr wrap="square">
            <a:spAutoFit/>
          </a:bodyPr>
          <a:lstStyle/>
          <a:p>
            <a:pPr algn="ctr"/>
            <a:r>
              <a:rPr lang="en-US" sz="2800" b="1" dirty="0">
                <a:solidFill>
                  <a:schemeClr val="tx1"/>
                </a:solidFill>
                <a:latin typeface="Avenir Book" panose="02000503020000020003" pitchFamily="2" charset="0"/>
                <a:cs typeface="Consolas" panose="020B0609020204030204" pitchFamily="49" charset="0"/>
              </a:rPr>
              <a:t>Evo2 </a:t>
            </a:r>
          </a:p>
        </p:txBody>
      </p:sp>
      <p:sp>
        <p:nvSpPr>
          <p:cNvPr id="14" name="TextBox 13">
            <a:extLst>
              <a:ext uri="{FF2B5EF4-FFF2-40B4-BE49-F238E27FC236}">
                <a16:creationId xmlns:a16="http://schemas.microsoft.com/office/drawing/2014/main" id="{C8FBC897-6D2D-96E6-C9EA-BD2C832C6ECF}"/>
              </a:ext>
            </a:extLst>
          </p:cNvPr>
          <p:cNvSpPr txBox="1"/>
          <p:nvPr/>
        </p:nvSpPr>
        <p:spPr>
          <a:xfrm>
            <a:off x="7849392" y="1309636"/>
            <a:ext cx="2279405" cy="523220"/>
          </a:xfrm>
          <a:prstGeom prst="rect">
            <a:avLst/>
          </a:prstGeom>
          <a:noFill/>
        </p:spPr>
        <p:txBody>
          <a:bodyPr wrap="square">
            <a:spAutoFit/>
          </a:bodyPr>
          <a:lstStyle/>
          <a:p>
            <a:pPr algn="ctr"/>
            <a:r>
              <a:rPr lang="en-US" sz="2800" b="1" dirty="0">
                <a:solidFill>
                  <a:schemeClr val="tx1"/>
                </a:solidFill>
                <a:latin typeface="Avenir Book" panose="02000503020000020003" pitchFamily="2" charset="0"/>
                <a:cs typeface="Consolas" panose="020B0609020204030204" pitchFamily="49" charset="0"/>
              </a:rPr>
              <a:t>Qwen3</a:t>
            </a:r>
          </a:p>
        </p:txBody>
      </p:sp>
      <p:sp>
        <p:nvSpPr>
          <p:cNvPr id="9" name="TextBox 8">
            <a:extLst>
              <a:ext uri="{FF2B5EF4-FFF2-40B4-BE49-F238E27FC236}">
                <a16:creationId xmlns:a16="http://schemas.microsoft.com/office/drawing/2014/main" id="{E1658C8E-9873-D3B0-7D98-16ED133A252C}"/>
              </a:ext>
            </a:extLst>
          </p:cNvPr>
          <p:cNvSpPr txBox="1"/>
          <p:nvPr/>
        </p:nvSpPr>
        <p:spPr>
          <a:xfrm>
            <a:off x="5598438" y="3019151"/>
            <a:ext cx="2114550" cy="1569660"/>
          </a:xfrm>
          <a:prstGeom prst="rect">
            <a:avLst/>
          </a:prstGeom>
          <a:noFill/>
        </p:spPr>
        <p:txBody>
          <a:bodyPr wrap="square">
            <a:spAutoFit/>
          </a:bodyPr>
          <a:lstStyle/>
          <a:p>
            <a:r>
              <a:rPr lang="en-US" sz="9600" b="1" dirty="0">
                <a:solidFill>
                  <a:srgbClr val="929494"/>
                </a:solidFill>
                <a:latin typeface="Arial" panose="020B0604020202020204" pitchFamily="34" charset="0"/>
                <a:cs typeface="Arial" panose="020B0604020202020204" pitchFamily="34" charset="0"/>
              </a:rPr>
              <a:t>?</a:t>
            </a:r>
            <a:endParaRPr lang="en-US" sz="6600" b="1" dirty="0">
              <a:solidFill>
                <a:srgbClr val="929494"/>
              </a:solidFill>
              <a:latin typeface="Arial" panose="020B0604020202020204" pitchFamily="34" charset="0"/>
              <a:cs typeface="Arial" panose="020B0604020202020204" pitchFamily="34" charset="0"/>
            </a:endParaRPr>
          </a:p>
        </p:txBody>
      </p:sp>
      <p:cxnSp>
        <p:nvCxnSpPr>
          <p:cNvPr id="5" name="Straight Arrow Connector 4">
            <a:extLst>
              <a:ext uri="{FF2B5EF4-FFF2-40B4-BE49-F238E27FC236}">
                <a16:creationId xmlns:a16="http://schemas.microsoft.com/office/drawing/2014/main" id="{51530E49-9FD2-57A8-F730-1AED7B9E7CF9}"/>
              </a:ext>
            </a:extLst>
          </p:cNvPr>
          <p:cNvCxnSpPr>
            <a:cxnSpLocks/>
          </p:cNvCxnSpPr>
          <p:nvPr/>
        </p:nvCxnSpPr>
        <p:spPr>
          <a:xfrm>
            <a:off x="9973214" y="2372118"/>
            <a:ext cx="459449"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36865116"/>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06CE99-7A0C-5337-A06E-C924BCCF116B}"/>
              </a:ext>
            </a:extLst>
          </p:cNvPr>
          <p:cNvSpPr txBox="1"/>
          <p:nvPr/>
        </p:nvSpPr>
        <p:spPr>
          <a:xfrm>
            <a:off x="310888" y="6373270"/>
            <a:ext cx="11884077" cy="523220"/>
          </a:xfrm>
          <a:prstGeom prst="rect">
            <a:avLst/>
          </a:prstGeom>
          <a:noFill/>
        </p:spPr>
        <p:txBody>
          <a:bodyPr wrap="square">
            <a:spAutoFit/>
          </a:bodyPr>
          <a:lstStyle/>
          <a:p>
            <a:pPr algn="ctr"/>
            <a:r>
              <a:rPr lang="en-US" sz="1400" dirty="0">
                <a:solidFill>
                  <a:schemeClr val="bg1">
                    <a:lumMod val="50000"/>
                  </a:schemeClr>
                </a:solidFill>
                <a:latin typeface="Arial" panose="020B0604020202020204" pitchFamily="34" charset="0"/>
                <a:cs typeface="Arial" panose="020B0604020202020204" pitchFamily="34" charset="0"/>
              </a:rPr>
              <a:t>Genomic Next-Token Predictors are In-Context Learners. </a:t>
            </a:r>
          </a:p>
          <a:p>
            <a:pPr algn="ctr"/>
            <a:r>
              <a:rPr lang="en-US" sz="1400" dirty="0">
                <a:solidFill>
                  <a:schemeClr val="bg1">
                    <a:lumMod val="50000"/>
                  </a:schemeClr>
                </a:solidFill>
                <a:latin typeface="Arial" panose="020B0604020202020204" pitchFamily="34" charset="0"/>
                <a:cs typeface="Arial" panose="020B0604020202020204" pitchFamily="34" charset="0"/>
              </a:rPr>
              <a:t>Beslow, Mishra, </a:t>
            </a:r>
            <a:r>
              <a:rPr lang="en-US" sz="1400" dirty="0" err="1">
                <a:solidFill>
                  <a:schemeClr val="bg1">
                    <a:lumMod val="50000"/>
                  </a:schemeClr>
                </a:solidFill>
                <a:latin typeface="Arial" panose="020B0604020202020204" pitchFamily="34" charset="0"/>
                <a:cs typeface="Arial" panose="020B0604020202020204" pitchFamily="34" charset="0"/>
              </a:rPr>
              <a:t>Revsine</a:t>
            </a:r>
            <a:r>
              <a:rPr lang="en-US" sz="1400" dirty="0">
                <a:solidFill>
                  <a:schemeClr val="bg1">
                    <a:lumMod val="50000"/>
                  </a:schemeClr>
                </a:solidFill>
                <a:latin typeface="Arial" panose="020B0604020202020204" pitchFamily="34" charset="0"/>
                <a:cs typeface="Arial" panose="020B0604020202020204" pitchFamily="34" charset="0"/>
              </a:rPr>
              <a:t>, Schatz, Liu, Khashabi. TMLR. 2026. </a:t>
            </a:r>
          </a:p>
        </p:txBody>
      </p:sp>
      <p:sp>
        <p:nvSpPr>
          <p:cNvPr id="20" name="Rounded Rectangle 19">
            <a:extLst>
              <a:ext uri="{FF2B5EF4-FFF2-40B4-BE49-F238E27FC236}">
                <a16:creationId xmlns:a16="http://schemas.microsoft.com/office/drawing/2014/main" id="{5008047D-445B-7042-114D-5439C18FCDC1}"/>
              </a:ext>
            </a:extLst>
          </p:cNvPr>
          <p:cNvSpPr/>
          <p:nvPr/>
        </p:nvSpPr>
        <p:spPr>
          <a:xfrm>
            <a:off x="83126" y="2686979"/>
            <a:ext cx="6270004" cy="2280749"/>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rIns="9144" rtlCol="0" anchor="ctr"/>
          <a:lstStyle/>
          <a:p>
            <a:r>
              <a:rPr lang="en-US" sz="3200" dirty="0">
                <a:solidFill>
                  <a:srgbClr val="000000"/>
                </a:solidFill>
                <a:latin typeface="Courier New" panose="02070309020205020404" pitchFamily="49" charset="0"/>
              </a:rPr>
              <a:t>10100000 -&gt; 00000101 SEP</a:t>
            </a:r>
            <a:endParaRPr lang="en-US" sz="3200" dirty="0"/>
          </a:p>
          <a:p>
            <a:r>
              <a:rPr lang="en-US" sz="3200" dirty="0">
                <a:solidFill>
                  <a:srgbClr val="000000"/>
                </a:solidFill>
                <a:latin typeface="Courier New" panose="02070309020205020404" pitchFamily="49" charset="0"/>
              </a:rPr>
              <a:t>11100011 -&gt; 11000111 SEP</a:t>
            </a:r>
            <a:endParaRPr lang="en-US" sz="3200" dirty="0"/>
          </a:p>
          <a:p>
            <a:r>
              <a:rPr lang="en-US" sz="3200" dirty="0">
                <a:solidFill>
                  <a:srgbClr val="000000"/>
                </a:solidFill>
                <a:latin typeface="Courier New" panose="02070309020205020404" pitchFamily="49" charset="0"/>
              </a:rPr>
              <a:t>11001110 -&gt; 01110011 SEP</a:t>
            </a:r>
            <a:endParaRPr lang="en-US" sz="3200" dirty="0"/>
          </a:p>
          <a:p>
            <a:r>
              <a:rPr lang="en-US" sz="3200" dirty="0">
                <a:solidFill>
                  <a:srgbClr val="000000"/>
                </a:solidFill>
                <a:latin typeface="Courier New" panose="02070309020205020404" pitchFamily="49" charset="0"/>
              </a:rPr>
              <a:t>11000000 -&gt; ?</a:t>
            </a:r>
            <a:endParaRPr lang="en-US" sz="3200" dirty="0"/>
          </a:p>
        </p:txBody>
      </p:sp>
      <p:sp>
        <p:nvSpPr>
          <p:cNvPr id="2" name="Title 1">
            <a:extLst>
              <a:ext uri="{FF2B5EF4-FFF2-40B4-BE49-F238E27FC236}">
                <a16:creationId xmlns:a16="http://schemas.microsoft.com/office/drawing/2014/main" id="{4913A202-20C5-EA1F-72E9-73756F4AB078}"/>
              </a:ext>
            </a:extLst>
          </p:cNvPr>
          <p:cNvSpPr>
            <a:spLocks noGrp="1"/>
          </p:cNvSpPr>
          <p:nvPr>
            <p:ph type="title"/>
          </p:nvPr>
        </p:nvSpPr>
        <p:spPr/>
        <p:txBody>
          <a:bodyPr/>
          <a:lstStyle/>
          <a:p>
            <a:r>
              <a:rPr lang="en-US" dirty="0"/>
              <a:t>What task should we use for evaluation?</a:t>
            </a:r>
          </a:p>
        </p:txBody>
      </p:sp>
      <p:sp>
        <p:nvSpPr>
          <p:cNvPr id="4" name="Slide Number Placeholder 3">
            <a:extLst>
              <a:ext uri="{FF2B5EF4-FFF2-40B4-BE49-F238E27FC236}">
                <a16:creationId xmlns:a16="http://schemas.microsoft.com/office/drawing/2014/main" id="{01507C04-2376-1FF9-C476-0235FD69E595}"/>
              </a:ext>
            </a:extLst>
          </p:cNvPr>
          <p:cNvSpPr>
            <a:spLocks noGrp="1"/>
          </p:cNvSpPr>
          <p:nvPr>
            <p:ph type="sldNum" sz="quarter" idx="10"/>
          </p:nvPr>
        </p:nvSpPr>
        <p:spPr/>
        <p:txBody>
          <a:bodyPr/>
          <a:lstStyle/>
          <a:p>
            <a:pPr>
              <a:defRPr/>
            </a:pPr>
            <a:fld id="{0121240C-47AF-2F4D-83B3-CC3EDF50F794}" type="slidenum">
              <a:rPr lang="en-US" smtClean="0"/>
              <a:pPr>
                <a:defRPr/>
              </a:pPr>
              <a:t>49</a:t>
            </a:fld>
            <a:endParaRPr lang="en-US"/>
          </a:p>
        </p:txBody>
      </p:sp>
      <p:cxnSp>
        <p:nvCxnSpPr>
          <p:cNvPr id="6" name="Straight Arrow Connector 5">
            <a:extLst>
              <a:ext uri="{FF2B5EF4-FFF2-40B4-BE49-F238E27FC236}">
                <a16:creationId xmlns:a16="http://schemas.microsoft.com/office/drawing/2014/main" id="{4C0F0834-4731-06E9-C325-F701CE4A99B2}"/>
              </a:ext>
            </a:extLst>
          </p:cNvPr>
          <p:cNvCxnSpPr>
            <a:cxnSpLocks/>
          </p:cNvCxnSpPr>
          <p:nvPr/>
        </p:nvCxnSpPr>
        <p:spPr>
          <a:xfrm flipV="1">
            <a:off x="7598566" y="2371886"/>
            <a:ext cx="431083" cy="21456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cxnSp>
        <p:nvCxnSpPr>
          <p:cNvPr id="7" name="Straight Arrow Connector 6">
            <a:extLst>
              <a:ext uri="{FF2B5EF4-FFF2-40B4-BE49-F238E27FC236}">
                <a16:creationId xmlns:a16="http://schemas.microsoft.com/office/drawing/2014/main" id="{31AFCEEE-BE49-BE25-8723-8FD53D878765}"/>
              </a:ext>
            </a:extLst>
          </p:cNvPr>
          <p:cNvCxnSpPr>
            <a:cxnSpLocks/>
          </p:cNvCxnSpPr>
          <p:nvPr/>
        </p:nvCxnSpPr>
        <p:spPr>
          <a:xfrm>
            <a:off x="9971838" y="2371885"/>
            <a:ext cx="459449"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8" name="Rounded Rectangle 7">
            <a:extLst>
              <a:ext uri="{FF2B5EF4-FFF2-40B4-BE49-F238E27FC236}">
                <a16:creationId xmlns:a16="http://schemas.microsoft.com/office/drawing/2014/main" id="{291FE90B-32A9-30EE-BEF8-583F83654210}"/>
              </a:ext>
            </a:extLst>
          </p:cNvPr>
          <p:cNvSpPr/>
          <p:nvPr/>
        </p:nvSpPr>
        <p:spPr>
          <a:xfrm>
            <a:off x="8111205" y="1797753"/>
            <a:ext cx="1677217" cy="1185490"/>
          </a:xfrm>
          <a:prstGeom prst="round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en-US" sz="6000" b="1" dirty="0">
                <a:latin typeface="Avenir Book" panose="02000503020000020003" pitchFamily="2" charset="0"/>
              </a:rPr>
              <a:t>LM</a:t>
            </a:r>
          </a:p>
        </p:txBody>
      </p:sp>
      <p:cxnSp>
        <p:nvCxnSpPr>
          <p:cNvPr id="10" name="Straight Arrow Connector 9">
            <a:extLst>
              <a:ext uri="{FF2B5EF4-FFF2-40B4-BE49-F238E27FC236}">
                <a16:creationId xmlns:a16="http://schemas.microsoft.com/office/drawing/2014/main" id="{B5C0BDFC-FCAE-2CDF-C913-DB654313F6EB}"/>
              </a:ext>
            </a:extLst>
          </p:cNvPr>
          <p:cNvCxnSpPr>
            <a:cxnSpLocks/>
          </p:cNvCxnSpPr>
          <p:nvPr/>
        </p:nvCxnSpPr>
        <p:spPr>
          <a:xfrm>
            <a:off x="7598566" y="5065272"/>
            <a:ext cx="469985" cy="21716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cxnSp>
        <p:nvCxnSpPr>
          <p:cNvPr id="11" name="Straight Arrow Connector 10">
            <a:extLst>
              <a:ext uri="{FF2B5EF4-FFF2-40B4-BE49-F238E27FC236}">
                <a16:creationId xmlns:a16="http://schemas.microsoft.com/office/drawing/2014/main" id="{FAB56EF1-B226-3306-92F5-95786C05A9AC}"/>
              </a:ext>
            </a:extLst>
          </p:cNvPr>
          <p:cNvCxnSpPr>
            <a:cxnSpLocks/>
          </p:cNvCxnSpPr>
          <p:nvPr/>
        </p:nvCxnSpPr>
        <p:spPr>
          <a:xfrm>
            <a:off x="10010740" y="5282431"/>
            <a:ext cx="459449"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12" name="Rounded Rectangle 11">
            <a:extLst>
              <a:ext uri="{FF2B5EF4-FFF2-40B4-BE49-F238E27FC236}">
                <a16:creationId xmlns:a16="http://schemas.microsoft.com/office/drawing/2014/main" id="{470D8985-FBF6-9976-CA8E-2E6F3A0F209F}"/>
              </a:ext>
            </a:extLst>
          </p:cNvPr>
          <p:cNvSpPr/>
          <p:nvPr/>
        </p:nvSpPr>
        <p:spPr>
          <a:xfrm>
            <a:off x="8150107" y="4732049"/>
            <a:ext cx="1677217" cy="1185490"/>
          </a:xfrm>
          <a:prstGeom prst="round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en-US" sz="6000" b="1" dirty="0">
                <a:latin typeface="Avenir Book" panose="02000503020000020003" pitchFamily="2" charset="0"/>
              </a:rPr>
              <a:t>GM</a:t>
            </a:r>
          </a:p>
        </p:txBody>
      </p:sp>
      <p:sp>
        <p:nvSpPr>
          <p:cNvPr id="13" name="TextBox 12">
            <a:extLst>
              <a:ext uri="{FF2B5EF4-FFF2-40B4-BE49-F238E27FC236}">
                <a16:creationId xmlns:a16="http://schemas.microsoft.com/office/drawing/2014/main" id="{81A14677-5977-BDB6-8EE9-6B931E6291A8}"/>
              </a:ext>
            </a:extLst>
          </p:cNvPr>
          <p:cNvSpPr txBox="1"/>
          <p:nvPr/>
        </p:nvSpPr>
        <p:spPr>
          <a:xfrm>
            <a:off x="7898406" y="5915353"/>
            <a:ext cx="2279405" cy="523220"/>
          </a:xfrm>
          <a:prstGeom prst="rect">
            <a:avLst/>
          </a:prstGeom>
          <a:noFill/>
        </p:spPr>
        <p:txBody>
          <a:bodyPr wrap="square">
            <a:spAutoFit/>
          </a:bodyPr>
          <a:lstStyle/>
          <a:p>
            <a:pPr algn="ctr"/>
            <a:r>
              <a:rPr lang="en-US" sz="2800" b="1" dirty="0">
                <a:solidFill>
                  <a:schemeClr val="tx1"/>
                </a:solidFill>
                <a:latin typeface="Avenir Book" panose="02000503020000020003" pitchFamily="2" charset="0"/>
                <a:cs typeface="Consolas" panose="020B0609020204030204" pitchFamily="49" charset="0"/>
              </a:rPr>
              <a:t>Evo2 </a:t>
            </a:r>
          </a:p>
        </p:txBody>
      </p:sp>
      <p:sp>
        <p:nvSpPr>
          <p:cNvPr id="14" name="TextBox 13">
            <a:extLst>
              <a:ext uri="{FF2B5EF4-FFF2-40B4-BE49-F238E27FC236}">
                <a16:creationId xmlns:a16="http://schemas.microsoft.com/office/drawing/2014/main" id="{BCAF778F-2D9E-6C76-3C4C-9BC6BE57BAFD}"/>
              </a:ext>
            </a:extLst>
          </p:cNvPr>
          <p:cNvSpPr txBox="1"/>
          <p:nvPr/>
        </p:nvSpPr>
        <p:spPr>
          <a:xfrm>
            <a:off x="7849392" y="1309636"/>
            <a:ext cx="2279405" cy="523220"/>
          </a:xfrm>
          <a:prstGeom prst="rect">
            <a:avLst/>
          </a:prstGeom>
          <a:noFill/>
        </p:spPr>
        <p:txBody>
          <a:bodyPr wrap="square">
            <a:spAutoFit/>
          </a:bodyPr>
          <a:lstStyle/>
          <a:p>
            <a:pPr algn="ctr"/>
            <a:r>
              <a:rPr lang="en-US" sz="2800" b="1" dirty="0">
                <a:solidFill>
                  <a:schemeClr val="tx1"/>
                </a:solidFill>
                <a:latin typeface="Avenir Book" panose="02000503020000020003" pitchFamily="2" charset="0"/>
                <a:cs typeface="Consolas" panose="020B0609020204030204" pitchFamily="49" charset="0"/>
              </a:rPr>
              <a:t>Qwen3</a:t>
            </a:r>
          </a:p>
        </p:txBody>
      </p:sp>
      <p:sp>
        <p:nvSpPr>
          <p:cNvPr id="19" name="TextBox 18">
            <a:extLst>
              <a:ext uri="{FF2B5EF4-FFF2-40B4-BE49-F238E27FC236}">
                <a16:creationId xmlns:a16="http://schemas.microsoft.com/office/drawing/2014/main" id="{9BEE2D8E-DF90-FCEA-9617-0A64999D5255}"/>
              </a:ext>
            </a:extLst>
          </p:cNvPr>
          <p:cNvSpPr txBox="1"/>
          <p:nvPr/>
        </p:nvSpPr>
        <p:spPr>
          <a:xfrm>
            <a:off x="803961" y="1866387"/>
            <a:ext cx="5157849" cy="830997"/>
          </a:xfrm>
          <a:prstGeom prst="rect">
            <a:avLst/>
          </a:prstGeom>
          <a:noFill/>
        </p:spPr>
        <p:txBody>
          <a:bodyPr wrap="square">
            <a:spAutoFit/>
          </a:bodyPr>
          <a:lstStyle/>
          <a:p>
            <a:pPr algn="ctr"/>
            <a:r>
              <a:rPr lang="en-US" sz="2400" b="1" dirty="0">
                <a:latin typeface="Avenir Book" panose="02000503020000020003" pitchFamily="2" charset="0"/>
                <a:cs typeface="Consolas" panose="020B0609020204030204" pitchFamily="49" charset="0"/>
              </a:rPr>
              <a:t>We defined 100 reasoning tasks </a:t>
            </a:r>
            <a:br>
              <a:rPr lang="en-US" sz="2400" b="1" dirty="0">
                <a:latin typeface="Avenir Book" panose="02000503020000020003" pitchFamily="2" charset="0"/>
                <a:cs typeface="Consolas" panose="020B0609020204030204" pitchFamily="49" charset="0"/>
              </a:rPr>
            </a:br>
            <a:r>
              <a:rPr lang="en-US" sz="2400" b="1" dirty="0">
                <a:latin typeface="Avenir Book" panose="02000503020000020003" pitchFamily="2" charset="0"/>
                <a:cs typeface="Consolas" panose="020B0609020204030204" pitchFamily="49" charset="0"/>
              </a:rPr>
              <a:t>based on bitstrings </a:t>
            </a:r>
            <a:endParaRPr lang="en-US" sz="2400" b="1" dirty="0"/>
          </a:p>
        </p:txBody>
      </p:sp>
      <p:sp>
        <p:nvSpPr>
          <p:cNvPr id="23" name="TextBox 22">
            <a:extLst>
              <a:ext uri="{FF2B5EF4-FFF2-40B4-BE49-F238E27FC236}">
                <a16:creationId xmlns:a16="http://schemas.microsoft.com/office/drawing/2014/main" id="{AF1DC92F-CAE2-E1D2-D679-F406AD4F0F57}"/>
              </a:ext>
            </a:extLst>
          </p:cNvPr>
          <p:cNvSpPr txBox="1"/>
          <p:nvPr/>
        </p:nvSpPr>
        <p:spPr>
          <a:xfrm>
            <a:off x="326672" y="5065272"/>
            <a:ext cx="5577740" cy="400110"/>
          </a:xfrm>
          <a:prstGeom prst="rect">
            <a:avLst/>
          </a:prstGeom>
          <a:noFill/>
        </p:spPr>
        <p:txBody>
          <a:bodyPr wrap="square">
            <a:spAutoFit/>
          </a:bodyPr>
          <a:lstStyle/>
          <a:p>
            <a:pPr algn="ctr"/>
            <a:r>
              <a:rPr lang="en-US" sz="2000" dirty="0"/>
              <a:t>Various functions: Bitwise NOT, Reverse, etc. </a:t>
            </a:r>
          </a:p>
        </p:txBody>
      </p:sp>
      <p:sp>
        <p:nvSpPr>
          <p:cNvPr id="24" name="Rounded Rectangular Callout 23">
            <a:extLst>
              <a:ext uri="{FF2B5EF4-FFF2-40B4-BE49-F238E27FC236}">
                <a16:creationId xmlns:a16="http://schemas.microsoft.com/office/drawing/2014/main" id="{3108B691-456C-9680-A550-A31C3994E6D6}"/>
              </a:ext>
            </a:extLst>
          </p:cNvPr>
          <p:cNvSpPr/>
          <p:nvPr/>
        </p:nvSpPr>
        <p:spPr>
          <a:xfrm>
            <a:off x="83126" y="5655186"/>
            <a:ext cx="7716494" cy="1069680"/>
          </a:xfrm>
          <a:prstGeom prst="wedgeRoundRectCallout">
            <a:avLst>
              <a:gd name="adj1" fmla="val -23158"/>
              <a:gd name="adj2" fmla="val -64422"/>
              <a:gd name="adj3" fmla="val 16667"/>
            </a:avLst>
          </a:prstGeom>
          <a:solidFill>
            <a:srgbClr val="FFD9D5"/>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rial" panose="020B0604020202020204" pitchFamily="34" charset="0"/>
                <a:cs typeface="Arial" panose="020B0604020202020204" pitchFamily="34" charset="0"/>
              </a:rPr>
              <a:t>But we need to express the </a:t>
            </a:r>
            <a:r>
              <a:rPr lang="en-US" sz="2800" i="1" dirty="0">
                <a:solidFill>
                  <a:schemeClr val="tx1"/>
                </a:solidFill>
                <a:latin typeface="Arial" panose="020B0604020202020204" pitchFamily="34" charset="0"/>
                <a:cs typeface="Arial" panose="020B0604020202020204" pitchFamily="34" charset="0"/>
              </a:rPr>
              <a:t>same underlying task</a:t>
            </a:r>
            <a:r>
              <a:rPr lang="en-US" sz="2800" dirty="0">
                <a:solidFill>
                  <a:schemeClr val="tx1"/>
                </a:solidFill>
                <a:latin typeface="Arial" panose="020B0604020202020204" pitchFamily="34" charset="0"/>
                <a:cs typeface="Arial" panose="020B0604020202020204" pitchFamily="34" charset="0"/>
              </a:rPr>
              <a:t> in a language each model understands. </a:t>
            </a:r>
          </a:p>
        </p:txBody>
      </p:sp>
    </p:spTree>
    <p:extLst>
      <p:ext uri="{BB962C8B-B14F-4D97-AF65-F5344CB8AC3E}">
        <p14:creationId xmlns:p14="http://schemas.microsoft.com/office/powerpoint/2010/main" val="4215616825"/>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D8E17-182D-43B6-E82F-A09BF93B45D8}"/>
            </a:ext>
          </a:extLst>
        </p:cNvPr>
        <p:cNvGrpSpPr/>
        <p:nvPr/>
      </p:nvGrpSpPr>
      <p:grpSpPr>
        <a:xfrm>
          <a:off x="0" y="0"/>
          <a:ext cx="0" cy="0"/>
          <a:chOff x="0" y="0"/>
          <a:chExt cx="0" cy="0"/>
        </a:xfrm>
      </p:grpSpPr>
      <p:sp>
        <p:nvSpPr>
          <p:cNvPr id="20" name="Rounded Rectangle 19">
            <a:extLst>
              <a:ext uri="{FF2B5EF4-FFF2-40B4-BE49-F238E27FC236}">
                <a16:creationId xmlns:a16="http://schemas.microsoft.com/office/drawing/2014/main" id="{3C82CB7E-8A71-ADA6-E18F-1EF2A8B6BAC6}"/>
              </a:ext>
            </a:extLst>
          </p:cNvPr>
          <p:cNvSpPr/>
          <p:nvPr/>
        </p:nvSpPr>
        <p:spPr>
          <a:xfrm>
            <a:off x="357445" y="3334705"/>
            <a:ext cx="3788892" cy="1367925"/>
          </a:xfrm>
          <a:prstGeom prst="roundRect">
            <a:avLst>
              <a:gd name="adj" fmla="val 117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rIns="9144" rtlCol="0" anchor="ctr"/>
          <a:lstStyle/>
          <a:p>
            <a:r>
              <a:rPr lang="en-US" sz="2000" dirty="0">
                <a:solidFill>
                  <a:srgbClr val="000000"/>
                </a:solidFill>
                <a:latin typeface="Courier New" panose="02070309020205020404" pitchFamily="49" charset="0"/>
              </a:rPr>
              <a:t>10100000 -&gt; 00000101 SEP</a:t>
            </a:r>
            <a:endParaRPr lang="en-US" sz="2000" dirty="0"/>
          </a:p>
          <a:p>
            <a:r>
              <a:rPr lang="en-US" sz="2000" dirty="0">
                <a:solidFill>
                  <a:srgbClr val="000000"/>
                </a:solidFill>
                <a:latin typeface="Courier New" panose="02070309020205020404" pitchFamily="49" charset="0"/>
              </a:rPr>
              <a:t>11100011 -&gt; 11000111 SEP</a:t>
            </a:r>
            <a:endParaRPr lang="en-US" sz="2000" dirty="0"/>
          </a:p>
          <a:p>
            <a:r>
              <a:rPr lang="en-US" sz="2000" dirty="0">
                <a:solidFill>
                  <a:srgbClr val="000000"/>
                </a:solidFill>
                <a:latin typeface="Courier New" panose="02070309020205020404" pitchFamily="49" charset="0"/>
              </a:rPr>
              <a:t>11001110 -&gt; 01110011 SEP</a:t>
            </a:r>
            <a:endParaRPr lang="en-US" sz="2000" dirty="0"/>
          </a:p>
          <a:p>
            <a:r>
              <a:rPr lang="en-US" sz="2000" dirty="0">
                <a:solidFill>
                  <a:srgbClr val="000000"/>
                </a:solidFill>
                <a:latin typeface="Courier New" panose="02070309020205020404" pitchFamily="49" charset="0"/>
              </a:rPr>
              <a:t>11000000 -&gt; ?</a:t>
            </a:r>
            <a:endParaRPr lang="en-US" sz="2000" dirty="0"/>
          </a:p>
        </p:txBody>
      </p:sp>
      <p:sp>
        <p:nvSpPr>
          <p:cNvPr id="2" name="Title 1">
            <a:extLst>
              <a:ext uri="{FF2B5EF4-FFF2-40B4-BE49-F238E27FC236}">
                <a16:creationId xmlns:a16="http://schemas.microsoft.com/office/drawing/2014/main" id="{E7652D76-74AB-6183-65F7-D332A92132B3}"/>
              </a:ext>
            </a:extLst>
          </p:cNvPr>
          <p:cNvSpPr>
            <a:spLocks noGrp="1"/>
          </p:cNvSpPr>
          <p:nvPr>
            <p:ph type="title"/>
          </p:nvPr>
        </p:nvSpPr>
        <p:spPr/>
        <p:txBody>
          <a:bodyPr/>
          <a:lstStyle/>
          <a:p>
            <a:r>
              <a:rPr lang="en-US" dirty="0"/>
              <a:t>What task should we use for evaluation?</a:t>
            </a:r>
          </a:p>
        </p:txBody>
      </p:sp>
      <p:sp>
        <p:nvSpPr>
          <p:cNvPr id="4" name="Slide Number Placeholder 3">
            <a:extLst>
              <a:ext uri="{FF2B5EF4-FFF2-40B4-BE49-F238E27FC236}">
                <a16:creationId xmlns:a16="http://schemas.microsoft.com/office/drawing/2014/main" id="{D1133015-7CC0-0104-F4EC-FFA3CA0FB23C}"/>
              </a:ext>
            </a:extLst>
          </p:cNvPr>
          <p:cNvSpPr>
            <a:spLocks noGrp="1"/>
          </p:cNvSpPr>
          <p:nvPr>
            <p:ph type="sldNum" sz="quarter" idx="10"/>
          </p:nvPr>
        </p:nvSpPr>
        <p:spPr/>
        <p:txBody>
          <a:bodyPr/>
          <a:lstStyle/>
          <a:p>
            <a:pPr>
              <a:defRPr/>
            </a:pPr>
            <a:fld id="{0121240C-47AF-2F4D-83B3-CC3EDF50F794}" type="slidenum">
              <a:rPr lang="en-US" smtClean="0"/>
              <a:pPr>
                <a:defRPr/>
              </a:pPr>
              <a:t>50</a:t>
            </a:fld>
            <a:endParaRPr lang="en-US"/>
          </a:p>
        </p:txBody>
      </p:sp>
      <p:grpSp>
        <p:nvGrpSpPr>
          <p:cNvPr id="5" name="Group 4">
            <a:extLst>
              <a:ext uri="{FF2B5EF4-FFF2-40B4-BE49-F238E27FC236}">
                <a16:creationId xmlns:a16="http://schemas.microsoft.com/office/drawing/2014/main" id="{FCA06E4A-54F5-BE7E-036D-287206E527E4}"/>
              </a:ext>
            </a:extLst>
          </p:cNvPr>
          <p:cNvGrpSpPr/>
          <p:nvPr/>
        </p:nvGrpSpPr>
        <p:grpSpPr>
          <a:xfrm>
            <a:off x="7559664" y="1797753"/>
            <a:ext cx="2871623" cy="1185490"/>
            <a:chOff x="6595079" y="1616944"/>
            <a:chExt cx="2871623" cy="1185490"/>
          </a:xfrm>
        </p:grpSpPr>
        <p:cxnSp>
          <p:nvCxnSpPr>
            <p:cNvPr id="6" name="Straight Arrow Connector 5">
              <a:extLst>
                <a:ext uri="{FF2B5EF4-FFF2-40B4-BE49-F238E27FC236}">
                  <a16:creationId xmlns:a16="http://schemas.microsoft.com/office/drawing/2014/main" id="{6AC04AC9-58D7-02BA-E455-A7424DFEF9A1}"/>
                </a:ext>
              </a:extLst>
            </p:cNvPr>
            <p:cNvCxnSpPr>
              <a:cxnSpLocks/>
            </p:cNvCxnSpPr>
            <p:nvPr/>
          </p:nvCxnSpPr>
          <p:spPr>
            <a:xfrm>
              <a:off x="6595079" y="2191077"/>
              <a:ext cx="469985"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cxnSp>
          <p:nvCxnSpPr>
            <p:cNvPr id="7" name="Straight Arrow Connector 6">
              <a:extLst>
                <a:ext uri="{FF2B5EF4-FFF2-40B4-BE49-F238E27FC236}">
                  <a16:creationId xmlns:a16="http://schemas.microsoft.com/office/drawing/2014/main" id="{529E32D1-3DD1-347A-C037-56A60346A08B}"/>
                </a:ext>
              </a:extLst>
            </p:cNvPr>
            <p:cNvCxnSpPr>
              <a:cxnSpLocks/>
            </p:cNvCxnSpPr>
            <p:nvPr/>
          </p:nvCxnSpPr>
          <p:spPr>
            <a:xfrm>
              <a:off x="9007253" y="2191076"/>
              <a:ext cx="459449"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8" name="Rounded Rectangle 7">
              <a:extLst>
                <a:ext uri="{FF2B5EF4-FFF2-40B4-BE49-F238E27FC236}">
                  <a16:creationId xmlns:a16="http://schemas.microsoft.com/office/drawing/2014/main" id="{5E6368DC-EFCE-4A37-1A57-E5EF334496D0}"/>
                </a:ext>
              </a:extLst>
            </p:cNvPr>
            <p:cNvSpPr/>
            <p:nvPr/>
          </p:nvSpPr>
          <p:spPr>
            <a:xfrm>
              <a:off x="7146620" y="1616944"/>
              <a:ext cx="1677217" cy="1185490"/>
            </a:xfrm>
            <a:prstGeom prst="round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en-US" sz="6000" b="1" dirty="0">
                  <a:latin typeface="Avenir Book" panose="02000503020000020003" pitchFamily="2" charset="0"/>
                </a:rPr>
                <a:t>LM</a:t>
              </a:r>
            </a:p>
          </p:txBody>
        </p:sp>
      </p:grpSp>
      <p:grpSp>
        <p:nvGrpSpPr>
          <p:cNvPr id="9" name="Group 8">
            <a:extLst>
              <a:ext uri="{FF2B5EF4-FFF2-40B4-BE49-F238E27FC236}">
                <a16:creationId xmlns:a16="http://schemas.microsoft.com/office/drawing/2014/main" id="{1EBF762F-B5D4-6BED-7D31-03111597EECE}"/>
              </a:ext>
            </a:extLst>
          </p:cNvPr>
          <p:cNvGrpSpPr/>
          <p:nvPr/>
        </p:nvGrpSpPr>
        <p:grpSpPr>
          <a:xfrm>
            <a:off x="7598566" y="5071685"/>
            <a:ext cx="2871623" cy="1185490"/>
            <a:chOff x="6595079" y="1640694"/>
            <a:chExt cx="2871623" cy="1185490"/>
          </a:xfrm>
        </p:grpSpPr>
        <p:cxnSp>
          <p:nvCxnSpPr>
            <p:cNvPr id="10" name="Straight Arrow Connector 9">
              <a:extLst>
                <a:ext uri="{FF2B5EF4-FFF2-40B4-BE49-F238E27FC236}">
                  <a16:creationId xmlns:a16="http://schemas.microsoft.com/office/drawing/2014/main" id="{5012F86B-7D32-3E38-778D-E9D99315CE7A}"/>
                </a:ext>
              </a:extLst>
            </p:cNvPr>
            <p:cNvCxnSpPr>
              <a:cxnSpLocks/>
            </p:cNvCxnSpPr>
            <p:nvPr/>
          </p:nvCxnSpPr>
          <p:spPr>
            <a:xfrm>
              <a:off x="6595079" y="2191077"/>
              <a:ext cx="469985"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cxnSp>
          <p:nvCxnSpPr>
            <p:cNvPr id="11" name="Straight Arrow Connector 10">
              <a:extLst>
                <a:ext uri="{FF2B5EF4-FFF2-40B4-BE49-F238E27FC236}">
                  <a16:creationId xmlns:a16="http://schemas.microsoft.com/office/drawing/2014/main" id="{9478022E-7B64-7FE4-1660-C1D9141D25C7}"/>
                </a:ext>
              </a:extLst>
            </p:cNvPr>
            <p:cNvCxnSpPr>
              <a:cxnSpLocks/>
            </p:cNvCxnSpPr>
            <p:nvPr/>
          </p:nvCxnSpPr>
          <p:spPr>
            <a:xfrm>
              <a:off x="9007253" y="2191076"/>
              <a:ext cx="459449"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12" name="Rounded Rectangle 11">
              <a:extLst>
                <a:ext uri="{FF2B5EF4-FFF2-40B4-BE49-F238E27FC236}">
                  <a16:creationId xmlns:a16="http://schemas.microsoft.com/office/drawing/2014/main" id="{4C477A25-A79B-89B7-3918-ECAC4B6885F0}"/>
                </a:ext>
              </a:extLst>
            </p:cNvPr>
            <p:cNvSpPr/>
            <p:nvPr/>
          </p:nvSpPr>
          <p:spPr>
            <a:xfrm>
              <a:off x="7146620" y="1640694"/>
              <a:ext cx="1677217" cy="1185490"/>
            </a:xfrm>
            <a:prstGeom prst="round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en-US" sz="6000" b="1" dirty="0">
                  <a:latin typeface="Avenir Book" panose="02000503020000020003" pitchFamily="2" charset="0"/>
                </a:rPr>
                <a:t>GM</a:t>
              </a:r>
            </a:p>
          </p:txBody>
        </p:sp>
      </p:grpSp>
      <p:sp>
        <p:nvSpPr>
          <p:cNvPr id="13" name="TextBox 12">
            <a:extLst>
              <a:ext uri="{FF2B5EF4-FFF2-40B4-BE49-F238E27FC236}">
                <a16:creationId xmlns:a16="http://schemas.microsoft.com/office/drawing/2014/main" id="{6C88DFB5-2997-4B4D-3215-10C155C1A4EB}"/>
              </a:ext>
            </a:extLst>
          </p:cNvPr>
          <p:cNvSpPr txBox="1"/>
          <p:nvPr/>
        </p:nvSpPr>
        <p:spPr>
          <a:xfrm>
            <a:off x="7898406" y="6254989"/>
            <a:ext cx="2279405" cy="523220"/>
          </a:xfrm>
          <a:prstGeom prst="rect">
            <a:avLst/>
          </a:prstGeom>
          <a:noFill/>
        </p:spPr>
        <p:txBody>
          <a:bodyPr wrap="square">
            <a:spAutoFit/>
          </a:bodyPr>
          <a:lstStyle/>
          <a:p>
            <a:pPr algn="ctr"/>
            <a:r>
              <a:rPr lang="en-US" sz="2800" b="1" dirty="0">
                <a:solidFill>
                  <a:schemeClr val="tx1"/>
                </a:solidFill>
                <a:latin typeface="Avenir Book" panose="02000503020000020003" pitchFamily="2" charset="0"/>
                <a:cs typeface="Consolas" panose="020B0609020204030204" pitchFamily="49" charset="0"/>
              </a:rPr>
              <a:t>Evo2 </a:t>
            </a:r>
          </a:p>
        </p:txBody>
      </p:sp>
      <p:sp>
        <p:nvSpPr>
          <p:cNvPr id="14" name="TextBox 13">
            <a:extLst>
              <a:ext uri="{FF2B5EF4-FFF2-40B4-BE49-F238E27FC236}">
                <a16:creationId xmlns:a16="http://schemas.microsoft.com/office/drawing/2014/main" id="{C366A74E-0C5B-0033-8ADA-296891B2BF61}"/>
              </a:ext>
            </a:extLst>
          </p:cNvPr>
          <p:cNvSpPr txBox="1"/>
          <p:nvPr/>
        </p:nvSpPr>
        <p:spPr>
          <a:xfrm>
            <a:off x="7849392" y="1309636"/>
            <a:ext cx="2279405" cy="523220"/>
          </a:xfrm>
          <a:prstGeom prst="rect">
            <a:avLst/>
          </a:prstGeom>
          <a:noFill/>
        </p:spPr>
        <p:txBody>
          <a:bodyPr wrap="square">
            <a:spAutoFit/>
          </a:bodyPr>
          <a:lstStyle/>
          <a:p>
            <a:pPr algn="ctr"/>
            <a:r>
              <a:rPr lang="en-US" sz="2800" b="1" dirty="0">
                <a:solidFill>
                  <a:schemeClr val="tx1"/>
                </a:solidFill>
                <a:latin typeface="Avenir Book" panose="02000503020000020003" pitchFamily="2" charset="0"/>
                <a:cs typeface="Consolas" panose="020B0609020204030204" pitchFamily="49" charset="0"/>
              </a:rPr>
              <a:t>Qwen3</a:t>
            </a:r>
          </a:p>
        </p:txBody>
      </p:sp>
      <p:sp>
        <p:nvSpPr>
          <p:cNvPr id="3" name="Rounded Rectangle 2">
            <a:extLst>
              <a:ext uri="{FF2B5EF4-FFF2-40B4-BE49-F238E27FC236}">
                <a16:creationId xmlns:a16="http://schemas.microsoft.com/office/drawing/2014/main" id="{A4287BB2-5BB8-62CE-3A5E-D0F07A45C540}"/>
              </a:ext>
            </a:extLst>
          </p:cNvPr>
          <p:cNvSpPr/>
          <p:nvPr/>
        </p:nvSpPr>
        <p:spPr>
          <a:xfrm>
            <a:off x="4225384" y="5135066"/>
            <a:ext cx="3247331" cy="1006476"/>
          </a:xfrm>
          <a:prstGeom prst="roundRect">
            <a:avLst>
              <a:gd name="adj" fmla="val 117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rIns="9144" rtlCol="0" anchor="ctr"/>
          <a:lstStyle/>
          <a:p>
            <a:pPr algn="ctr"/>
            <a:r>
              <a:rPr lang="en-US" sz="2000" dirty="0">
                <a:solidFill>
                  <a:srgbClr val="000000"/>
                </a:solidFill>
                <a:latin typeface="Courier New" panose="02070309020205020404" pitchFamily="49" charset="0"/>
              </a:rPr>
              <a:t>TATAAAAAAAAAATATGTTTAAATTTTAAATTTGTTAATTTAATTTAATTGTTAAAAAA</a:t>
            </a:r>
            <a:endParaRPr lang="en-US" sz="2000" dirty="0"/>
          </a:p>
        </p:txBody>
      </p:sp>
      <p:sp>
        <p:nvSpPr>
          <p:cNvPr id="15" name="Rounded Rectangle 14">
            <a:extLst>
              <a:ext uri="{FF2B5EF4-FFF2-40B4-BE49-F238E27FC236}">
                <a16:creationId xmlns:a16="http://schemas.microsoft.com/office/drawing/2014/main" id="{4623839C-9E00-257A-443D-02ECFB17A656}"/>
              </a:ext>
            </a:extLst>
          </p:cNvPr>
          <p:cNvSpPr/>
          <p:nvPr/>
        </p:nvSpPr>
        <p:spPr>
          <a:xfrm>
            <a:off x="4232366" y="1883207"/>
            <a:ext cx="3247331" cy="1006476"/>
          </a:xfrm>
          <a:prstGeom prst="roundRect">
            <a:avLst>
              <a:gd name="adj" fmla="val 117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rIns="9144" rtlCol="0" anchor="ctr"/>
          <a:lstStyle/>
          <a:p>
            <a:pPr algn="ctr"/>
            <a:r>
              <a:rPr lang="en-US" sz="2000" dirty="0">
                <a:solidFill>
                  <a:srgbClr val="000000"/>
                </a:solidFill>
                <a:latin typeface="Courier New" panose="02070309020205020404" pitchFamily="49" charset="0"/>
              </a:rPr>
              <a:t>34344444444443436333444333344433363344333443334433633444444</a:t>
            </a:r>
            <a:endParaRPr lang="en-US" sz="2000" dirty="0"/>
          </a:p>
        </p:txBody>
      </p:sp>
      <p:sp>
        <p:nvSpPr>
          <p:cNvPr id="17" name="TextBox 16">
            <a:extLst>
              <a:ext uri="{FF2B5EF4-FFF2-40B4-BE49-F238E27FC236}">
                <a16:creationId xmlns:a16="http://schemas.microsoft.com/office/drawing/2014/main" id="{2EF4D259-BA3B-50A3-AF09-1D9CB519F999}"/>
              </a:ext>
            </a:extLst>
          </p:cNvPr>
          <p:cNvSpPr txBox="1"/>
          <p:nvPr/>
        </p:nvSpPr>
        <p:spPr>
          <a:xfrm>
            <a:off x="592622" y="4909544"/>
            <a:ext cx="2900112" cy="1323439"/>
          </a:xfrm>
          <a:prstGeom prst="rect">
            <a:avLst/>
          </a:prstGeom>
          <a:solidFill>
            <a:srgbClr val="F2FFE4"/>
          </a:solidFill>
        </p:spPr>
        <p:txBody>
          <a:bodyPr wrap="square" lIns="91440" rIns="0">
            <a:spAutoFit/>
          </a:bodyPr>
          <a:lstStyle/>
          <a:p>
            <a:pPr marL="115888" indent="-115888">
              <a:buFont typeface="Arial" panose="020B0604020202020204" pitchFamily="34" charset="0"/>
              <a:buChar char="•"/>
              <a:tabLst>
                <a:tab pos="52388" algn="l"/>
              </a:tabLst>
            </a:pPr>
            <a:r>
              <a:rPr lang="en-US" sz="2000" i="1" dirty="0">
                <a:latin typeface="Arial" panose="020B0604020202020204" pitchFamily="34" charset="0"/>
                <a:cs typeface="Arial" panose="020B0604020202020204" pitchFamily="34" charset="0"/>
              </a:rPr>
              <a:t>Replace “1” with “T”</a:t>
            </a:r>
          </a:p>
          <a:p>
            <a:pPr marL="115888" indent="-115888">
              <a:buFont typeface="Arial" panose="020B0604020202020204" pitchFamily="34" charset="0"/>
              <a:buChar char="•"/>
              <a:tabLst>
                <a:tab pos="52388" algn="l"/>
              </a:tabLst>
            </a:pPr>
            <a:r>
              <a:rPr lang="en-US" sz="2000" i="1" dirty="0">
                <a:latin typeface="Arial" panose="020B0604020202020204" pitchFamily="34" charset="0"/>
                <a:cs typeface="Arial" panose="020B0604020202020204" pitchFamily="34" charset="0"/>
              </a:rPr>
              <a:t>Replace “0” with “A”</a:t>
            </a:r>
          </a:p>
          <a:p>
            <a:pPr marL="115888" indent="-115888">
              <a:buFont typeface="Arial" panose="020B0604020202020204" pitchFamily="34" charset="0"/>
              <a:buChar char="•"/>
              <a:tabLst>
                <a:tab pos="52388" algn="l"/>
              </a:tabLst>
            </a:pPr>
            <a:r>
              <a:rPr lang="en-US" sz="2000" i="1" dirty="0">
                <a:latin typeface="Arial" panose="020B0604020202020204" pitchFamily="34" charset="0"/>
                <a:cs typeface="Arial" panose="020B0604020202020204" pitchFamily="34" charset="0"/>
              </a:rPr>
              <a:t>Replace “SEP” with “G”</a:t>
            </a:r>
          </a:p>
          <a:p>
            <a:pPr marL="115888" indent="-115888">
              <a:buFont typeface="Arial" panose="020B0604020202020204" pitchFamily="34" charset="0"/>
              <a:buChar char="•"/>
              <a:tabLst>
                <a:tab pos="52388" algn="l"/>
              </a:tabLst>
            </a:pPr>
            <a:r>
              <a:rPr lang="en-US" sz="2000" i="1" dirty="0">
                <a:latin typeface="Arial" panose="020B0604020202020204" pitchFamily="34" charset="0"/>
                <a:cs typeface="Arial" panose="020B0604020202020204" pitchFamily="34" charset="0"/>
              </a:rPr>
              <a:t>Drop “-&gt;”</a:t>
            </a:r>
          </a:p>
        </p:txBody>
      </p:sp>
      <p:sp>
        <p:nvSpPr>
          <p:cNvPr id="18" name="TextBox 17">
            <a:extLst>
              <a:ext uri="{FF2B5EF4-FFF2-40B4-BE49-F238E27FC236}">
                <a16:creationId xmlns:a16="http://schemas.microsoft.com/office/drawing/2014/main" id="{67C044D8-79D1-7CC7-7789-0A8A554701C6}"/>
              </a:ext>
            </a:extLst>
          </p:cNvPr>
          <p:cNvSpPr txBox="1"/>
          <p:nvPr/>
        </p:nvSpPr>
        <p:spPr>
          <a:xfrm>
            <a:off x="693388" y="1721374"/>
            <a:ext cx="2900112" cy="1323439"/>
          </a:xfrm>
          <a:prstGeom prst="rect">
            <a:avLst/>
          </a:prstGeom>
          <a:solidFill>
            <a:srgbClr val="F2FFE4"/>
          </a:solidFill>
        </p:spPr>
        <p:txBody>
          <a:bodyPr wrap="square" lIns="91440" rIns="0">
            <a:spAutoFit/>
          </a:bodyPr>
          <a:lstStyle/>
          <a:p>
            <a:pPr marL="115888" indent="-115888">
              <a:buFont typeface="Arial" panose="020B0604020202020204" pitchFamily="34" charset="0"/>
              <a:buChar char="•"/>
            </a:pPr>
            <a:r>
              <a:rPr lang="en-US" sz="2000" i="1" dirty="0">
                <a:latin typeface="Arial" panose="020B0604020202020204" pitchFamily="34" charset="0"/>
                <a:cs typeface="Arial" panose="020B0604020202020204" pitchFamily="34" charset="0"/>
              </a:rPr>
              <a:t>Replace “1” with “3”</a:t>
            </a:r>
          </a:p>
          <a:p>
            <a:pPr marL="115888" indent="-115888">
              <a:buFont typeface="Arial" panose="020B0604020202020204" pitchFamily="34" charset="0"/>
              <a:buChar char="•"/>
            </a:pPr>
            <a:r>
              <a:rPr lang="en-US" sz="2000" i="1" dirty="0">
                <a:latin typeface="Arial" panose="020B0604020202020204" pitchFamily="34" charset="0"/>
                <a:cs typeface="Arial" panose="020B0604020202020204" pitchFamily="34" charset="0"/>
              </a:rPr>
              <a:t>Replace “0” with “4”</a:t>
            </a:r>
          </a:p>
          <a:p>
            <a:pPr marL="115888" indent="-115888">
              <a:buFont typeface="Arial" panose="020B0604020202020204" pitchFamily="34" charset="0"/>
              <a:buChar char="•"/>
            </a:pPr>
            <a:r>
              <a:rPr lang="en-US" sz="2000" i="1" dirty="0">
                <a:latin typeface="Arial" panose="020B0604020202020204" pitchFamily="34" charset="0"/>
                <a:cs typeface="Arial" panose="020B0604020202020204" pitchFamily="34" charset="0"/>
              </a:rPr>
              <a:t>Replace “SEP” with “6”</a:t>
            </a:r>
          </a:p>
          <a:p>
            <a:pPr marL="115888" indent="-115888">
              <a:buFont typeface="Arial" panose="020B0604020202020204" pitchFamily="34" charset="0"/>
              <a:buChar char="•"/>
            </a:pPr>
            <a:r>
              <a:rPr lang="en-US" sz="2000" i="1" dirty="0">
                <a:latin typeface="Arial" panose="020B0604020202020204" pitchFamily="34" charset="0"/>
                <a:cs typeface="Arial" panose="020B0604020202020204" pitchFamily="34" charset="0"/>
              </a:rPr>
              <a:t>Drop “-&gt;”</a:t>
            </a:r>
          </a:p>
        </p:txBody>
      </p:sp>
      <p:cxnSp>
        <p:nvCxnSpPr>
          <p:cNvPr id="25" name="Straight Arrow Connector 24">
            <a:extLst>
              <a:ext uri="{FF2B5EF4-FFF2-40B4-BE49-F238E27FC236}">
                <a16:creationId xmlns:a16="http://schemas.microsoft.com/office/drawing/2014/main" id="{D7DAF5E9-D3E4-BF43-85D8-CD4B88FDA439}"/>
              </a:ext>
            </a:extLst>
          </p:cNvPr>
          <p:cNvCxnSpPr>
            <a:cxnSpLocks/>
          </p:cNvCxnSpPr>
          <p:nvPr/>
        </p:nvCxnSpPr>
        <p:spPr>
          <a:xfrm flipV="1">
            <a:off x="3979521" y="2952128"/>
            <a:ext cx="418666" cy="30198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cxnSp>
        <p:nvCxnSpPr>
          <p:cNvPr id="27" name="Straight Arrow Connector 26">
            <a:extLst>
              <a:ext uri="{FF2B5EF4-FFF2-40B4-BE49-F238E27FC236}">
                <a16:creationId xmlns:a16="http://schemas.microsoft.com/office/drawing/2014/main" id="{5F2995C1-466F-0CCD-FEC6-68A4ACBE9E35}"/>
              </a:ext>
            </a:extLst>
          </p:cNvPr>
          <p:cNvCxnSpPr>
            <a:cxnSpLocks/>
          </p:cNvCxnSpPr>
          <p:nvPr/>
        </p:nvCxnSpPr>
        <p:spPr>
          <a:xfrm>
            <a:off x="3943987" y="4783227"/>
            <a:ext cx="397589" cy="292622"/>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grpSp>
        <p:nvGrpSpPr>
          <p:cNvPr id="22" name="Group 21">
            <a:extLst>
              <a:ext uri="{FF2B5EF4-FFF2-40B4-BE49-F238E27FC236}">
                <a16:creationId xmlns:a16="http://schemas.microsoft.com/office/drawing/2014/main" id="{89E50B6C-6CC7-76C3-5583-6CADE06884BD}"/>
              </a:ext>
            </a:extLst>
          </p:cNvPr>
          <p:cNvGrpSpPr/>
          <p:nvPr/>
        </p:nvGrpSpPr>
        <p:grpSpPr>
          <a:xfrm>
            <a:off x="493828" y="4856411"/>
            <a:ext cx="3111463" cy="1425820"/>
            <a:chOff x="493828" y="4856411"/>
            <a:chExt cx="3111463" cy="1425820"/>
          </a:xfrm>
        </p:grpSpPr>
        <p:sp>
          <p:nvSpPr>
            <p:cNvPr id="19" name="Left Brace 18">
              <a:extLst>
                <a:ext uri="{FF2B5EF4-FFF2-40B4-BE49-F238E27FC236}">
                  <a16:creationId xmlns:a16="http://schemas.microsoft.com/office/drawing/2014/main" id="{26AE56D0-B7C6-2E26-F82A-9274C26460C2}"/>
                </a:ext>
              </a:extLst>
            </p:cNvPr>
            <p:cNvSpPr/>
            <p:nvPr/>
          </p:nvSpPr>
          <p:spPr>
            <a:xfrm>
              <a:off x="493828" y="4856411"/>
              <a:ext cx="157420" cy="1425820"/>
            </a:xfrm>
            <a:prstGeom prst="leftBrace">
              <a:avLst>
                <a:gd name="adj1" fmla="val 226436"/>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Left Brace 20">
              <a:extLst>
                <a:ext uri="{FF2B5EF4-FFF2-40B4-BE49-F238E27FC236}">
                  <a16:creationId xmlns:a16="http://schemas.microsoft.com/office/drawing/2014/main" id="{E09A9661-5434-6564-0173-B1F8678690C1}"/>
                </a:ext>
              </a:extLst>
            </p:cNvPr>
            <p:cNvSpPr/>
            <p:nvPr/>
          </p:nvSpPr>
          <p:spPr>
            <a:xfrm flipH="1">
              <a:off x="3447871" y="4856411"/>
              <a:ext cx="157420" cy="1425820"/>
            </a:xfrm>
            <a:prstGeom prst="leftBrace">
              <a:avLst>
                <a:gd name="adj1" fmla="val 226436"/>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93F39435-3811-A650-D999-8EEF664445E1}"/>
              </a:ext>
            </a:extLst>
          </p:cNvPr>
          <p:cNvGrpSpPr/>
          <p:nvPr/>
        </p:nvGrpSpPr>
        <p:grpSpPr>
          <a:xfrm>
            <a:off x="587712" y="1645544"/>
            <a:ext cx="3111463" cy="1425820"/>
            <a:chOff x="493828" y="4856411"/>
            <a:chExt cx="3111463" cy="1425820"/>
          </a:xfrm>
        </p:grpSpPr>
        <p:sp>
          <p:nvSpPr>
            <p:cNvPr id="24" name="Left Brace 23">
              <a:extLst>
                <a:ext uri="{FF2B5EF4-FFF2-40B4-BE49-F238E27FC236}">
                  <a16:creationId xmlns:a16="http://schemas.microsoft.com/office/drawing/2014/main" id="{8A49ACB3-A404-22AB-E0F2-ECF44B09466F}"/>
                </a:ext>
              </a:extLst>
            </p:cNvPr>
            <p:cNvSpPr/>
            <p:nvPr/>
          </p:nvSpPr>
          <p:spPr>
            <a:xfrm>
              <a:off x="493828" y="4856411"/>
              <a:ext cx="157420" cy="1425820"/>
            </a:xfrm>
            <a:prstGeom prst="leftBrace">
              <a:avLst>
                <a:gd name="adj1" fmla="val 226436"/>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Left Brace 25">
              <a:extLst>
                <a:ext uri="{FF2B5EF4-FFF2-40B4-BE49-F238E27FC236}">
                  <a16:creationId xmlns:a16="http://schemas.microsoft.com/office/drawing/2014/main" id="{E407587D-3592-6FDA-AE6A-BAF7E5027F6A}"/>
                </a:ext>
              </a:extLst>
            </p:cNvPr>
            <p:cNvSpPr/>
            <p:nvPr/>
          </p:nvSpPr>
          <p:spPr>
            <a:xfrm flipH="1">
              <a:off x="3447871" y="4856411"/>
              <a:ext cx="157420" cy="1425820"/>
            </a:xfrm>
            <a:prstGeom prst="leftBrace">
              <a:avLst>
                <a:gd name="adj1" fmla="val 226436"/>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8" name="TextBox 27">
            <a:extLst>
              <a:ext uri="{FF2B5EF4-FFF2-40B4-BE49-F238E27FC236}">
                <a16:creationId xmlns:a16="http://schemas.microsoft.com/office/drawing/2014/main" id="{86B903F4-388B-9207-8683-3DE57EDA15BB}"/>
              </a:ext>
            </a:extLst>
          </p:cNvPr>
          <p:cNvSpPr txBox="1"/>
          <p:nvPr/>
        </p:nvSpPr>
        <p:spPr>
          <a:xfrm>
            <a:off x="310888" y="6373270"/>
            <a:ext cx="11884077" cy="523220"/>
          </a:xfrm>
          <a:prstGeom prst="rect">
            <a:avLst/>
          </a:prstGeom>
          <a:noFill/>
        </p:spPr>
        <p:txBody>
          <a:bodyPr wrap="square">
            <a:spAutoFit/>
          </a:bodyPr>
          <a:lstStyle/>
          <a:p>
            <a:pPr algn="ctr"/>
            <a:r>
              <a:rPr lang="en-US" sz="1400" dirty="0">
                <a:solidFill>
                  <a:schemeClr val="bg1">
                    <a:lumMod val="50000"/>
                  </a:schemeClr>
                </a:solidFill>
                <a:latin typeface="Arial" panose="020B0604020202020204" pitchFamily="34" charset="0"/>
                <a:cs typeface="Arial" panose="020B0604020202020204" pitchFamily="34" charset="0"/>
              </a:rPr>
              <a:t>Genomic Next-Token Predictors are In-Context Learners. </a:t>
            </a:r>
          </a:p>
          <a:p>
            <a:pPr algn="ctr"/>
            <a:r>
              <a:rPr lang="en-US" sz="1400" dirty="0">
                <a:solidFill>
                  <a:schemeClr val="bg1">
                    <a:lumMod val="50000"/>
                  </a:schemeClr>
                </a:solidFill>
                <a:latin typeface="Arial" panose="020B0604020202020204" pitchFamily="34" charset="0"/>
                <a:cs typeface="Arial" panose="020B0604020202020204" pitchFamily="34" charset="0"/>
              </a:rPr>
              <a:t>Beslow, Mishra, </a:t>
            </a:r>
            <a:r>
              <a:rPr lang="en-US" sz="1400" dirty="0" err="1">
                <a:solidFill>
                  <a:schemeClr val="bg1">
                    <a:lumMod val="50000"/>
                  </a:schemeClr>
                </a:solidFill>
                <a:latin typeface="Arial" panose="020B0604020202020204" pitchFamily="34" charset="0"/>
                <a:cs typeface="Arial" panose="020B0604020202020204" pitchFamily="34" charset="0"/>
              </a:rPr>
              <a:t>Revsine</a:t>
            </a:r>
            <a:r>
              <a:rPr lang="en-US" sz="1400" dirty="0">
                <a:solidFill>
                  <a:schemeClr val="bg1">
                    <a:lumMod val="50000"/>
                  </a:schemeClr>
                </a:solidFill>
                <a:latin typeface="Arial" panose="020B0604020202020204" pitchFamily="34" charset="0"/>
                <a:cs typeface="Arial" panose="020B0604020202020204" pitchFamily="34" charset="0"/>
              </a:rPr>
              <a:t>, Schatz, Liu, Khashabi. TMLR. 2026. </a:t>
            </a:r>
          </a:p>
        </p:txBody>
      </p:sp>
    </p:spTree>
    <p:extLst>
      <p:ext uri="{BB962C8B-B14F-4D97-AF65-F5344CB8AC3E}">
        <p14:creationId xmlns:p14="http://schemas.microsoft.com/office/powerpoint/2010/main" val="1302087101"/>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animBg="1"/>
      <p:bldP spid="17" grpId="0" animBg="1"/>
      <p:bldP spid="1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9097A181-9BFC-5741-380B-7127995145A4}"/>
              </a:ext>
            </a:extLst>
          </p:cNvPr>
          <p:cNvSpPr txBox="1"/>
          <p:nvPr/>
        </p:nvSpPr>
        <p:spPr>
          <a:xfrm>
            <a:off x="310888" y="6373270"/>
            <a:ext cx="11884077" cy="523220"/>
          </a:xfrm>
          <a:prstGeom prst="rect">
            <a:avLst/>
          </a:prstGeom>
          <a:noFill/>
        </p:spPr>
        <p:txBody>
          <a:bodyPr wrap="square">
            <a:spAutoFit/>
          </a:bodyPr>
          <a:lstStyle/>
          <a:p>
            <a:pPr algn="ctr"/>
            <a:r>
              <a:rPr lang="en-US" sz="1400" dirty="0">
                <a:solidFill>
                  <a:schemeClr val="bg1">
                    <a:lumMod val="50000"/>
                  </a:schemeClr>
                </a:solidFill>
                <a:latin typeface="Arial" panose="020B0604020202020204" pitchFamily="34" charset="0"/>
                <a:cs typeface="Arial" panose="020B0604020202020204" pitchFamily="34" charset="0"/>
              </a:rPr>
              <a:t>Genomic Next-Token Predictors are In-Context Learners. </a:t>
            </a:r>
          </a:p>
          <a:p>
            <a:pPr algn="ctr"/>
            <a:r>
              <a:rPr lang="en-US" sz="1400" dirty="0">
                <a:solidFill>
                  <a:schemeClr val="bg1">
                    <a:lumMod val="50000"/>
                  </a:schemeClr>
                </a:solidFill>
                <a:latin typeface="Arial" panose="020B0604020202020204" pitchFamily="34" charset="0"/>
                <a:cs typeface="Arial" panose="020B0604020202020204" pitchFamily="34" charset="0"/>
              </a:rPr>
              <a:t>Beslow, Mishra, </a:t>
            </a:r>
            <a:r>
              <a:rPr lang="en-US" sz="1400" dirty="0" err="1">
                <a:solidFill>
                  <a:schemeClr val="bg1">
                    <a:lumMod val="50000"/>
                  </a:schemeClr>
                </a:solidFill>
                <a:latin typeface="Arial" panose="020B0604020202020204" pitchFamily="34" charset="0"/>
                <a:cs typeface="Arial" panose="020B0604020202020204" pitchFamily="34" charset="0"/>
              </a:rPr>
              <a:t>Revsine</a:t>
            </a:r>
            <a:r>
              <a:rPr lang="en-US" sz="1400" dirty="0">
                <a:solidFill>
                  <a:schemeClr val="bg1">
                    <a:lumMod val="50000"/>
                  </a:schemeClr>
                </a:solidFill>
                <a:latin typeface="Arial" panose="020B0604020202020204" pitchFamily="34" charset="0"/>
                <a:cs typeface="Arial" panose="020B0604020202020204" pitchFamily="34" charset="0"/>
              </a:rPr>
              <a:t>, Schatz, Liu, Khashabi. TMLR. 2026. </a:t>
            </a:r>
          </a:p>
        </p:txBody>
      </p:sp>
      <p:sp>
        <p:nvSpPr>
          <p:cNvPr id="2" name="Title 1">
            <a:extLst>
              <a:ext uri="{FF2B5EF4-FFF2-40B4-BE49-F238E27FC236}">
                <a16:creationId xmlns:a16="http://schemas.microsoft.com/office/drawing/2014/main" id="{F1E7665A-EA29-F4B2-8442-A2F9481BF677}"/>
              </a:ext>
            </a:extLst>
          </p:cNvPr>
          <p:cNvSpPr>
            <a:spLocks noGrp="1"/>
          </p:cNvSpPr>
          <p:nvPr>
            <p:ph type="title"/>
          </p:nvPr>
        </p:nvSpPr>
        <p:spPr/>
        <p:txBody>
          <a:bodyPr/>
          <a:lstStyle/>
          <a:p>
            <a:r>
              <a:rPr lang="en-US" dirty="0"/>
              <a:t>Genomic Models are In-Context Learners</a:t>
            </a:r>
          </a:p>
        </p:txBody>
      </p:sp>
      <p:sp>
        <p:nvSpPr>
          <p:cNvPr id="4" name="Slide Number Placeholder 3">
            <a:extLst>
              <a:ext uri="{FF2B5EF4-FFF2-40B4-BE49-F238E27FC236}">
                <a16:creationId xmlns:a16="http://schemas.microsoft.com/office/drawing/2014/main" id="{E20BF2D2-D85D-7313-AED7-CE4329ADD407}"/>
              </a:ext>
            </a:extLst>
          </p:cNvPr>
          <p:cNvSpPr>
            <a:spLocks noGrp="1"/>
          </p:cNvSpPr>
          <p:nvPr>
            <p:ph type="sldNum" sz="quarter" idx="10"/>
          </p:nvPr>
        </p:nvSpPr>
        <p:spPr/>
        <p:txBody>
          <a:bodyPr/>
          <a:lstStyle/>
          <a:p>
            <a:pPr>
              <a:defRPr/>
            </a:pPr>
            <a:fld id="{0121240C-47AF-2F4D-83B3-CC3EDF50F794}" type="slidenum">
              <a:rPr lang="en-US" smtClean="0"/>
              <a:pPr>
                <a:defRPr/>
              </a:pPr>
              <a:t>51</a:t>
            </a:fld>
            <a:endParaRPr lang="en-US"/>
          </a:p>
        </p:txBody>
      </p:sp>
      <p:pic>
        <p:nvPicPr>
          <p:cNvPr id="4098" name="Picture 2">
            <a:extLst>
              <a:ext uri="{FF2B5EF4-FFF2-40B4-BE49-F238E27FC236}">
                <a16:creationId xmlns:a16="http://schemas.microsoft.com/office/drawing/2014/main" id="{CD7EF3B2-A235-032C-BC4B-849D9FCA67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044" y="1631562"/>
            <a:ext cx="5608320" cy="420624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AC721413-EBC0-DC0B-1EB2-C2AD1C03AB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050" y="1631562"/>
            <a:ext cx="5608320" cy="420624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0DA1C83-3366-225E-8D94-9F4519B0B31A}"/>
              </a:ext>
            </a:extLst>
          </p:cNvPr>
          <p:cNvSpPr txBox="1"/>
          <p:nvPr/>
        </p:nvSpPr>
        <p:spPr>
          <a:xfrm>
            <a:off x="2095883" y="1710064"/>
            <a:ext cx="2279405" cy="523220"/>
          </a:xfrm>
          <a:prstGeom prst="rect">
            <a:avLst/>
          </a:prstGeom>
          <a:noFill/>
        </p:spPr>
        <p:txBody>
          <a:bodyPr wrap="square">
            <a:spAutoFit/>
          </a:bodyPr>
          <a:lstStyle/>
          <a:p>
            <a:pPr algn="ctr"/>
            <a:r>
              <a:rPr lang="en-US" sz="2800" b="1" dirty="0">
                <a:solidFill>
                  <a:schemeClr val="tx1"/>
                </a:solidFill>
                <a:latin typeface="Avenir Book" panose="02000503020000020003" pitchFamily="2" charset="0"/>
                <a:cs typeface="Consolas" panose="020B0609020204030204" pitchFamily="49" charset="0"/>
              </a:rPr>
              <a:t>Evo2-40B </a:t>
            </a:r>
          </a:p>
        </p:txBody>
      </p:sp>
      <p:sp>
        <p:nvSpPr>
          <p:cNvPr id="8" name="TextBox 7">
            <a:extLst>
              <a:ext uri="{FF2B5EF4-FFF2-40B4-BE49-F238E27FC236}">
                <a16:creationId xmlns:a16="http://schemas.microsoft.com/office/drawing/2014/main" id="{2CDAF586-C54E-93F0-6C03-ADD2C72E5AAF}"/>
              </a:ext>
            </a:extLst>
          </p:cNvPr>
          <p:cNvSpPr txBox="1"/>
          <p:nvPr/>
        </p:nvSpPr>
        <p:spPr>
          <a:xfrm>
            <a:off x="8094971" y="1727769"/>
            <a:ext cx="2279405" cy="523220"/>
          </a:xfrm>
          <a:prstGeom prst="rect">
            <a:avLst/>
          </a:prstGeom>
          <a:noFill/>
        </p:spPr>
        <p:txBody>
          <a:bodyPr wrap="square">
            <a:spAutoFit/>
          </a:bodyPr>
          <a:lstStyle/>
          <a:p>
            <a:pPr algn="ctr"/>
            <a:r>
              <a:rPr lang="en-US" sz="2800" b="1" dirty="0">
                <a:solidFill>
                  <a:schemeClr val="tx1"/>
                </a:solidFill>
                <a:latin typeface="Avenir Book" panose="02000503020000020003" pitchFamily="2" charset="0"/>
                <a:cs typeface="Consolas" panose="020B0609020204030204" pitchFamily="49" charset="0"/>
              </a:rPr>
              <a:t>Qwen3-14B</a:t>
            </a:r>
          </a:p>
        </p:txBody>
      </p:sp>
      <p:sp>
        <p:nvSpPr>
          <p:cNvPr id="9" name="Rounded Rectangle 8">
            <a:extLst>
              <a:ext uri="{FF2B5EF4-FFF2-40B4-BE49-F238E27FC236}">
                <a16:creationId xmlns:a16="http://schemas.microsoft.com/office/drawing/2014/main" id="{AE03DFA6-C277-7D06-6959-B752F4F63B48}"/>
              </a:ext>
            </a:extLst>
          </p:cNvPr>
          <p:cNvSpPr/>
          <p:nvPr/>
        </p:nvSpPr>
        <p:spPr>
          <a:xfrm>
            <a:off x="1198671" y="5813403"/>
            <a:ext cx="10108510" cy="1006476"/>
          </a:xfrm>
          <a:prstGeom prst="roundRect">
            <a:avLst/>
          </a:prstGeom>
          <a:solidFill>
            <a:srgbClr val="EAEDF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rial" panose="020B0604020202020204" pitchFamily="34" charset="0"/>
                <a:cs typeface="Arial" panose="020B0604020202020204" pitchFamily="34" charset="0"/>
              </a:rPr>
              <a:t>Both models exhibit </a:t>
            </a:r>
            <a:r>
              <a:rPr lang="en-US" sz="2800" dirty="0">
                <a:solidFill>
                  <a:srgbClr val="C00000"/>
                </a:solidFill>
                <a:latin typeface="Arial" panose="020B0604020202020204" pitchFamily="34" charset="0"/>
                <a:cs typeface="Arial" panose="020B0604020202020204" pitchFamily="34" charset="0"/>
              </a:rPr>
              <a:t>log-linear gains</a:t>
            </a:r>
            <a:r>
              <a:rPr lang="en-US" sz="2800" dirty="0">
                <a:solidFill>
                  <a:schemeClr val="tx1"/>
                </a:solidFill>
                <a:latin typeface="Arial" panose="020B0604020202020204" pitchFamily="34" charset="0"/>
                <a:cs typeface="Arial" panose="020B0604020202020204" pitchFamily="34" charset="0"/>
              </a:rPr>
              <a:t> in pattern induction </a:t>
            </a:r>
            <a:br>
              <a:rPr lang="en-US" sz="2800" dirty="0">
                <a:solidFill>
                  <a:schemeClr val="tx1"/>
                </a:solidFill>
                <a:latin typeface="Arial" panose="020B0604020202020204" pitchFamily="34" charset="0"/>
                <a:cs typeface="Arial" panose="020B0604020202020204" pitchFamily="34" charset="0"/>
              </a:rPr>
            </a:br>
            <a:r>
              <a:rPr lang="en-US" sz="2800" dirty="0">
                <a:solidFill>
                  <a:schemeClr val="tx1"/>
                </a:solidFill>
                <a:latin typeface="Arial" panose="020B0604020202020204" pitchFamily="34" charset="0"/>
                <a:cs typeface="Arial" panose="020B0604020202020204" pitchFamily="34" charset="0"/>
              </a:rPr>
              <a:t>as the number of in-context demonstrations increases. </a:t>
            </a:r>
          </a:p>
        </p:txBody>
      </p:sp>
      <p:sp>
        <p:nvSpPr>
          <p:cNvPr id="3" name="Rectangle 2">
            <a:extLst>
              <a:ext uri="{FF2B5EF4-FFF2-40B4-BE49-F238E27FC236}">
                <a16:creationId xmlns:a16="http://schemas.microsoft.com/office/drawing/2014/main" id="{5BA5EBD1-CF2B-76C1-874A-8422FA8FC186}"/>
              </a:ext>
            </a:extLst>
          </p:cNvPr>
          <p:cNvSpPr/>
          <p:nvPr/>
        </p:nvSpPr>
        <p:spPr>
          <a:xfrm>
            <a:off x="6970427" y="2173324"/>
            <a:ext cx="4616969" cy="29533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60EA688-D3CD-6DF0-C21E-64A808F6CAF0}"/>
              </a:ext>
            </a:extLst>
          </p:cNvPr>
          <p:cNvSpPr/>
          <p:nvPr/>
        </p:nvSpPr>
        <p:spPr>
          <a:xfrm>
            <a:off x="1049434" y="2098623"/>
            <a:ext cx="4542019" cy="30858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993768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animBg="1"/>
      <p:bldP spid="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E4E49-9037-1887-A017-C87D002332FE}"/>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D0A528BB-E51F-E5A4-86FB-A2B6D16A9F12}"/>
              </a:ext>
            </a:extLst>
          </p:cNvPr>
          <p:cNvSpPr>
            <a:spLocks noGrp="1"/>
          </p:cNvSpPr>
          <p:nvPr>
            <p:ph idx="1"/>
          </p:nvPr>
        </p:nvSpPr>
        <p:spPr>
          <a:xfrm>
            <a:off x="819912" y="2109087"/>
            <a:ext cx="10515600" cy="4662488"/>
          </a:xfrm>
        </p:spPr>
        <p:txBody>
          <a:bodyPr/>
          <a:lstStyle/>
          <a:p>
            <a:r>
              <a:rPr lang="en-US" dirty="0"/>
              <a:t>Next-nucleotide predictors are in-context learners. </a:t>
            </a:r>
          </a:p>
          <a:p>
            <a:pPr marL="0" indent="0">
              <a:buNone/>
            </a:pPr>
            <a:br>
              <a:rPr lang="en-US" dirty="0"/>
            </a:br>
            <a:endParaRPr lang="en-US" dirty="0"/>
          </a:p>
          <a:p>
            <a:r>
              <a:rPr lang="en-US" dirty="0"/>
              <a:t>Emergent ICL is clearly not tied to human language. </a:t>
            </a:r>
            <a:br>
              <a:rPr lang="en-US" dirty="0"/>
            </a:br>
            <a:br>
              <a:rPr lang="en-US" dirty="0"/>
            </a:br>
            <a:endParaRPr lang="en-US" dirty="0"/>
          </a:p>
          <a:p>
            <a:r>
              <a:rPr lang="en-US" dirty="0"/>
              <a:t>ICL is a consequence of large </a:t>
            </a:r>
            <a:br>
              <a:rPr lang="en-US" dirty="0"/>
            </a:br>
            <a:r>
              <a:rPr lang="en-US" dirty="0"/>
              <a:t>autoregressive training on rich distribution.</a:t>
            </a:r>
            <a:br>
              <a:rPr lang="en-US" dirty="0"/>
            </a:br>
            <a:endParaRPr lang="en-US" dirty="0"/>
          </a:p>
          <a:p>
            <a:pPr marL="0" indent="0">
              <a:buNone/>
            </a:pPr>
            <a:endParaRPr lang="en-US" dirty="0"/>
          </a:p>
          <a:p>
            <a:pPr marL="0" indent="0">
              <a:buNone/>
            </a:pPr>
            <a:endParaRPr lang="en-US" b="1" dirty="0"/>
          </a:p>
          <a:p>
            <a:endParaRPr lang="en-US" dirty="0"/>
          </a:p>
        </p:txBody>
      </p:sp>
      <p:sp>
        <p:nvSpPr>
          <p:cNvPr id="4" name="Slide Number Placeholder 3">
            <a:extLst>
              <a:ext uri="{FF2B5EF4-FFF2-40B4-BE49-F238E27FC236}">
                <a16:creationId xmlns:a16="http://schemas.microsoft.com/office/drawing/2014/main" id="{025299F8-F201-11EA-D414-412C712DDB7C}"/>
              </a:ext>
            </a:extLst>
          </p:cNvPr>
          <p:cNvSpPr>
            <a:spLocks noGrp="1"/>
          </p:cNvSpPr>
          <p:nvPr>
            <p:ph type="sldNum" sz="quarter" idx="10"/>
          </p:nvPr>
        </p:nvSpPr>
        <p:spPr/>
        <p:txBody>
          <a:bodyPr/>
          <a:lstStyle/>
          <a:p>
            <a:pPr>
              <a:defRPr/>
            </a:pPr>
            <a:fld id="{0121240C-47AF-2F4D-83B3-CC3EDF50F794}" type="slidenum">
              <a:rPr lang="en-US" smtClean="0"/>
              <a:pPr>
                <a:defRPr/>
              </a:pPr>
              <a:t>52</a:t>
            </a:fld>
            <a:endParaRPr lang="en-US"/>
          </a:p>
        </p:txBody>
      </p:sp>
      <p:sp>
        <p:nvSpPr>
          <p:cNvPr id="5" name="Rectangle 4">
            <a:extLst>
              <a:ext uri="{FF2B5EF4-FFF2-40B4-BE49-F238E27FC236}">
                <a16:creationId xmlns:a16="http://schemas.microsoft.com/office/drawing/2014/main" id="{1230077B-7D0A-BCAA-112B-B617301B6700}"/>
              </a:ext>
            </a:extLst>
          </p:cNvPr>
          <p:cNvSpPr/>
          <p:nvPr/>
        </p:nvSpPr>
        <p:spPr>
          <a:xfrm>
            <a:off x="631089" y="1617616"/>
            <a:ext cx="10904541" cy="1410940"/>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x</a:t>
            </a:r>
          </a:p>
        </p:txBody>
      </p:sp>
      <p:sp>
        <p:nvSpPr>
          <p:cNvPr id="7" name="Rectangle 6">
            <a:extLst>
              <a:ext uri="{FF2B5EF4-FFF2-40B4-BE49-F238E27FC236}">
                <a16:creationId xmlns:a16="http://schemas.microsoft.com/office/drawing/2014/main" id="{B33B1E7C-CCE0-706A-BD9B-A71931EAFB84}"/>
              </a:ext>
            </a:extLst>
          </p:cNvPr>
          <p:cNvSpPr/>
          <p:nvPr/>
        </p:nvSpPr>
        <p:spPr>
          <a:xfrm>
            <a:off x="806509" y="2971531"/>
            <a:ext cx="9144191" cy="1410940"/>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x</a:t>
            </a:r>
          </a:p>
        </p:txBody>
      </p:sp>
      <p:sp>
        <p:nvSpPr>
          <p:cNvPr id="32" name="Rectangle 31">
            <a:extLst>
              <a:ext uri="{FF2B5EF4-FFF2-40B4-BE49-F238E27FC236}">
                <a16:creationId xmlns:a16="http://schemas.microsoft.com/office/drawing/2014/main" id="{3C92ABFE-63B2-1EDA-0554-3D9C9732CA0F}"/>
              </a:ext>
            </a:extLst>
          </p:cNvPr>
          <p:cNvSpPr/>
          <p:nvPr/>
        </p:nvSpPr>
        <p:spPr>
          <a:xfrm>
            <a:off x="385153" y="4170937"/>
            <a:ext cx="11553482" cy="2428537"/>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x</a:t>
            </a:r>
          </a:p>
        </p:txBody>
      </p:sp>
    </p:spTree>
    <p:extLst>
      <p:ext uri="{BB962C8B-B14F-4D97-AF65-F5344CB8AC3E}">
        <p14:creationId xmlns:p14="http://schemas.microsoft.com/office/powerpoint/2010/main" val="929114976"/>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32"/>
                                        </p:tgtEl>
                                      </p:cBhvr>
                                    </p:animEffect>
                                    <p:set>
                                      <p:cBhvr>
                                        <p:cTn id="17"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3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DA172-C4C8-B37E-F11D-49D1C15C7F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DF29-2827-9813-DE02-CEC0F665B74C}"/>
              </a:ext>
            </a:extLst>
          </p:cNvPr>
          <p:cNvSpPr>
            <a:spLocks noGrp="1"/>
          </p:cNvSpPr>
          <p:nvPr>
            <p:ph type="title"/>
          </p:nvPr>
        </p:nvSpPr>
        <p:spPr/>
        <p:txBody>
          <a:bodyPr/>
          <a:lstStyle/>
          <a:p>
            <a:r>
              <a:rPr lang="en-US" dirty="0"/>
              <a:t>How about other modalities?</a:t>
            </a:r>
          </a:p>
        </p:txBody>
      </p:sp>
      <p:sp>
        <p:nvSpPr>
          <p:cNvPr id="3" name="Content Placeholder 2">
            <a:extLst>
              <a:ext uri="{FF2B5EF4-FFF2-40B4-BE49-F238E27FC236}">
                <a16:creationId xmlns:a16="http://schemas.microsoft.com/office/drawing/2014/main" id="{D90618DD-7311-7728-7216-90D1E4B0C63C}"/>
              </a:ext>
            </a:extLst>
          </p:cNvPr>
          <p:cNvSpPr>
            <a:spLocks noGrp="1"/>
          </p:cNvSpPr>
          <p:nvPr>
            <p:ph idx="1"/>
          </p:nvPr>
        </p:nvSpPr>
        <p:spPr>
          <a:xfrm>
            <a:off x="838200" y="1597023"/>
            <a:ext cx="10515600" cy="4662488"/>
          </a:xfrm>
        </p:spPr>
        <p:txBody>
          <a:bodyPr/>
          <a:lstStyle/>
          <a:p>
            <a:r>
              <a:rPr lang="en-US" dirty="0"/>
              <a:t>What other data can yield ICL? And what’s common in them?</a:t>
            </a:r>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40472F88-A063-55B9-6BCA-F5124DAE3ED1}"/>
              </a:ext>
            </a:extLst>
          </p:cNvPr>
          <p:cNvSpPr>
            <a:spLocks noGrp="1"/>
          </p:cNvSpPr>
          <p:nvPr>
            <p:ph type="sldNum" sz="quarter" idx="10"/>
          </p:nvPr>
        </p:nvSpPr>
        <p:spPr/>
        <p:txBody>
          <a:bodyPr/>
          <a:lstStyle/>
          <a:p>
            <a:pPr>
              <a:defRPr/>
            </a:pPr>
            <a:fld id="{0121240C-47AF-2F4D-83B3-CC3EDF50F794}" type="slidenum">
              <a:rPr lang="en-US" smtClean="0"/>
              <a:pPr>
                <a:defRPr/>
              </a:pPr>
              <a:t>53</a:t>
            </a:fld>
            <a:endParaRPr lang="en-US"/>
          </a:p>
        </p:txBody>
      </p:sp>
      <p:grpSp>
        <p:nvGrpSpPr>
          <p:cNvPr id="6" name="Group 5">
            <a:extLst>
              <a:ext uri="{FF2B5EF4-FFF2-40B4-BE49-F238E27FC236}">
                <a16:creationId xmlns:a16="http://schemas.microsoft.com/office/drawing/2014/main" id="{57953237-6426-D132-B913-FF5D28D39237}"/>
              </a:ext>
            </a:extLst>
          </p:cNvPr>
          <p:cNvGrpSpPr/>
          <p:nvPr/>
        </p:nvGrpSpPr>
        <p:grpSpPr>
          <a:xfrm>
            <a:off x="8572795" y="3340155"/>
            <a:ext cx="2871623" cy="1185490"/>
            <a:chOff x="6595079" y="1640694"/>
            <a:chExt cx="2871623" cy="1185490"/>
          </a:xfrm>
        </p:grpSpPr>
        <p:cxnSp>
          <p:nvCxnSpPr>
            <p:cNvPr id="9" name="Straight Arrow Connector 8">
              <a:extLst>
                <a:ext uri="{FF2B5EF4-FFF2-40B4-BE49-F238E27FC236}">
                  <a16:creationId xmlns:a16="http://schemas.microsoft.com/office/drawing/2014/main" id="{F6786182-CD6B-ABFB-F316-CE88AFD8C4A7}"/>
                </a:ext>
              </a:extLst>
            </p:cNvPr>
            <p:cNvCxnSpPr>
              <a:cxnSpLocks/>
            </p:cNvCxnSpPr>
            <p:nvPr/>
          </p:nvCxnSpPr>
          <p:spPr>
            <a:xfrm>
              <a:off x="6595079" y="2191077"/>
              <a:ext cx="469985"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cxnSp>
          <p:nvCxnSpPr>
            <p:cNvPr id="10" name="Straight Arrow Connector 9">
              <a:extLst>
                <a:ext uri="{FF2B5EF4-FFF2-40B4-BE49-F238E27FC236}">
                  <a16:creationId xmlns:a16="http://schemas.microsoft.com/office/drawing/2014/main" id="{728A9355-4894-EA81-FF97-8E165FB762B6}"/>
                </a:ext>
              </a:extLst>
            </p:cNvPr>
            <p:cNvCxnSpPr>
              <a:cxnSpLocks/>
            </p:cNvCxnSpPr>
            <p:nvPr/>
          </p:nvCxnSpPr>
          <p:spPr>
            <a:xfrm>
              <a:off x="9007253" y="2191076"/>
              <a:ext cx="459449" cy="0"/>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11" name="Rounded Rectangle 10">
              <a:extLst>
                <a:ext uri="{FF2B5EF4-FFF2-40B4-BE49-F238E27FC236}">
                  <a16:creationId xmlns:a16="http://schemas.microsoft.com/office/drawing/2014/main" id="{26EC6BEF-DBD6-0A84-E37E-5C48955EE52D}"/>
                </a:ext>
              </a:extLst>
            </p:cNvPr>
            <p:cNvSpPr/>
            <p:nvPr/>
          </p:nvSpPr>
          <p:spPr>
            <a:xfrm>
              <a:off x="7146620" y="1640694"/>
              <a:ext cx="1677217" cy="1185490"/>
            </a:xfrm>
            <a:prstGeom prst="round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en-US" sz="6000" b="1" dirty="0">
                  <a:latin typeface="Avenir Book" panose="02000503020000020003" pitchFamily="2" charset="0"/>
                </a:rPr>
                <a:t>M</a:t>
              </a:r>
            </a:p>
          </p:txBody>
        </p:sp>
      </p:grpSp>
      <p:grpSp>
        <p:nvGrpSpPr>
          <p:cNvPr id="12" name="Group 11">
            <a:extLst>
              <a:ext uri="{FF2B5EF4-FFF2-40B4-BE49-F238E27FC236}">
                <a16:creationId xmlns:a16="http://schemas.microsoft.com/office/drawing/2014/main" id="{0C9E167E-2692-85C4-DA5A-34E22736CAB0}"/>
              </a:ext>
            </a:extLst>
          </p:cNvPr>
          <p:cNvGrpSpPr/>
          <p:nvPr/>
        </p:nvGrpSpPr>
        <p:grpSpPr>
          <a:xfrm>
            <a:off x="514553" y="2805782"/>
            <a:ext cx="7870058" cy="407238"/>
            <a:chOff x="196105" y="2747575"/>
            <a:chExt cx="7870058" cy="407238"/>
          </a:xfrm>
        </p:grpSpPr>
        <p:sp>
          <p:nvSpPr>
            <p:cNvPr id="13" name="Rounded Rectangle 12">
              <a:extLst>
                <a:ext uri="{FF2B5EF4-FFF2-40B4-BE49-F238E27FC236}">
                  <a16:creationId xmlns:a16="http://schemas.microsoft.com/office/drawing/2014/main" id="{914302BE-928A-9263-2811-1F5CB39243AB}"/>
                </a:ext>
              </a:extLst>
            </p:cNvPr>
            <p:cNvSpPr/>
            <p:nvPr/>
          </p:nvSpPr>
          <p:spPr>
            <a:xfrm>
              <a:off x="2844000" y="2747575"/>
              <a:ext cx="5222163" cy="376460"/>
            </a:xfrm>
            <a:prstGeom prst="roundRect">
              <a:avLst>
                <a:gd name="adj" fmla="val 117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rIns="9144" rtlCol="0" anchor="ctr"/>
            <a:lstStyle/>
            <a:p>
              <a:pPr algn="ctr"/>
              <a:r>
                <a:rPr lang="en-US" sz="2400" dirty="0">
                  <a:solidFill>
                    <a:srgbClr val="000000"/>
                  </a:solidFill>
                  <a:latin typeface="Avenir Book" panose="02000503020000020003" pitchFamily="2" charset="0"/>
                </a:rPr>
                <a:t>Today I’m presenting …</a:t>
              </a:r>
              <a:endParaRPr lang="en-US" sz="2400" dirty="0">
                <a:latin typeface="Avenir Book" panose="02000503020000020003" pitchFamily="2" charset="0"/>
              </a:endParaRPr>
            </a:p>
          </p:txBody>
        </p:sp>
        <p:sp>
          <p:nvSpPr>
            <p:cNvPr id="18" name="TextBox 17">
              <a:extLst>
                <a:ext uri="{FF2B5EF4-FFF2-40B4-BE49-F238E27FC236}">
                  <a16:creationId xmlns:a16="http://schemas.microsoft.com/office/drawing/2014/main" id="{571FA396-7200-9B4A-9D35-CC3B75FBC62D}"/>
                </a:ext>
              </a:extLst>
            </p:cNvPr>
            <p:cNvSpPr txBox="1"/>
            <p:nvPr/>
          </p:nvSpPr>
          <p:spPr>
            <a:xfrm>
              <a:off x="196105" y="2754703"/>
              <a:ext cx="2725665" cy="400110"/>
            </a:xfrm>
            <a:prstGeom prst="rect">
              <a:avLst/>
            </a:prstGeom>
            <a:noFill/>
          </p:spPr>
          <p:txBody>
            <a:bodyPr wrap="square">
              <a:spAutoFit/>
            </a:bodyPr>
            <a:lstStyle/>
            <a:p>
              <a:r>
                <a:rPr lang="en-US" sz="2000" b="1" dirty="0">
                  <a:solidFill>
                    <a:srgbClr val="00B050"/>
                  </a:solidFill>
                </a:rPr>
                <a:t>✓  </a:t>
              </a:r>
              <a:r>
                <a:rPr lang="en-US" sz="2000" dirty="0">
                  <a:latin typeface="Avenir Book" panose="02000503020000020003" pitchFamily="2" charset="0"/>
                </a:rPr>
                <a:t>Human language</a:t>
              </a:r>
            </a:p>
          </p:txBody>
        </p:sp>
      </p:grpSp>
      <p:grpSp>
        <p:nvGrpSpPr>
          <p:cNvPr id="19" name="Group 18">
            <a:extLst>
              <a:ext uri="{FF2B5EF4-FFF2-40B4-BE49-F238E27FC236}">
                <a16:creationId xmlns:a16="http://schemas.microsoft.com/office/drawing/2014/main" id="{96B04994-4383-626A-20C3-2E2D91BC2469}"/>
              </a:ext>
            </a:extLst>
          </p:cNvPr>
          <p:cNvGrpSpPr/>
          <p:nvPr/>
        </p:nvGrpSpPr>
        <p:grpSpPr>
          <a:xfrm>
            <a:off x="514552" y="3219401"/>
            <a:ext cx="7886212" cy="419425"/>
            <a:chOff x="196104" y="3276604"/>
            <a:chExt cx="7886212" cy="419425"/>
          </a:xfrm>
        </p:grpSpPr>
        <p:sp>
          <p:nvSpPr>
            <p:cNvPr id="20" name="Rounded Rectangle 19">
              <a:extLst>
                <a:ext uri="{FF2B5EF4-FFF2-40B4-BE49-F238E27FC236}">
                  <a16:creationId xmlns:a16="http://schemas.microsoft.com/office/drawing/2014/main" id="{1D85FCCB-EA49-F47E-6E95-2FB2633893DA}"/>
                </a:ext>
              </a:extLst>
            </p:cNvPr>
            <p:cNvSpPr/>
            <p:nvPr/>
          </p:nvSpPr>
          <p:spPr>
            <a:xfrm>
              <a:off x="2860153" y="3319569"/>
              <a:ext cx="5222163" cy="376460"/>
            </a:xfrm>
            <a:prstGeom prst="roundRect">
              <a:avLst>
                <a:gd name="adj" fmla="val 117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rIns="9144" rtlCol="0" anchor="ctr"/>
            <a:lstStyle/>
            <a:p>
              <a:pPr algn="ctr"/>
              <a:r>
                <a:rPr lang="en-US" sz="2400" dirty="0">
                  <a:solidFill>
                    <a:srgbClr val="000000"/>
                  </a:solidFill>
                  <a:latin typeface="Avenir Book" panose="02000503020000020003" pitchFamily="2" charset="0"/>
                </a:rPr>
                <a:t>T A T A A A A A A A T A T G T T T …</a:t>
              </a:r>
              <a:endParaRPr lang="en-US" sz="2400" dirty="0">
                <a:latin typeface="Avenir Book" panose="02000503020000020003" pitchFamily="2" charset="0"/>
              </a:endParaRPr>
            </a:p>
          </p:txBody>
        </p:sp>
        <p:sp>
          <p:nvSpPr>
            <p:cNvPr id="21" name="TextBox 20">
              <a:extLst>
                <a:ext uri="{FF2B5EF4-FFF2-40B4-BE49-F238E27FC236}">
                  <a16:creationId xmlns:a16="http://schemas.microsoft.com/office/drawing/2014/main" id="{66452D34-C663-8925-0F73-0DEC83D6F288}"/>
                </a:ext>
              </a:extLst>
            </p:cNvPr>
            <p:cNvSpPr txBox="1"/>
            <p:nvPr/>
          </p:nvSpPr>
          <p:spPr>
            <a:xfrm>
              <a:off x="196104" y="3276604"/>
              <a:ext cx="2725665" cy="400110"/>
            </a:xfrm>
            <a:prstGeom prst="rect">
              <a:avLst/>
            </a:prstGeom>
            <a:noFill/>
          </p:spPr>
          <p:txBody>
            <a:bodyPr wrap="square">
              <a:spAutoFit/>
            </a:bodyPr>
            <a:lstStyle/>
            <a:p>
              <a:r>
                <a:rPr lang="en-US" sz="2000" b="1" dirty="0">
                  <a:solidFill>
                    <a:srgbClr val="00B050"/>
                  </a:solidFill>
                </a:rPr>
                <a:t>✓  </a:t>
              </a:r>
              <a:r>
                <a:rPr lang="en-US" sz="2000" dirty="0">
                  <a:latin typeface="Avenir Book" panose="02000503020000020003" pitchFamily="2" charset="0"/>
                </a:rPr>
                <a:t>DNA sequences</a:t>
              </a:r>
            </a:p>
          </p:txBody>
        </p:sp>
      </p:grpSp>
      <p:grpSp>
        <p:nvGrpSpPr>
          <p:cNvPr id="22" name="Group 21">
            <a:extLst>
              <a:ext uri="{FF2B5EF4-FFF2-40B4-BE49-F238E27FC236}">
                <a16:creationId xmlns:a16="http://schemas.microsoft.com/office/drawing/2014/main" id="{869FF3E4-7DCC-3799-BEF9-5A1DDAF38659}"/>
              </a:ext>
            </a:extLst>
          </p:cNvPr>
          <p:cNvGrpSpPr/>
          <p:nvPr/>
        </p:nvGrpSpPr>
        <p:grpSpPr>
          <a:xfrm>
            <a:off x="522630" y="3709094"/>
            <a:ext cx="7878134" cy="407238"/>
            <a:chOff x="204182" y="3890587"/>
            <a:chExt cx="7878134" cy="407238"/>
          </a:xfrm>
        </p:grpSpPr>
        <p:sp>
          <p:nvSpPr>
            <p:cNvPr id="23" name="Rounded Rectangle 22">
              <a:extLst>
                <a:ext uri="{FF2B5EF4-FFF2-40B4-BE49-F238E27FC236}">
                  <a16:creationId xmlns:a16="http://schemas.microsoft.com/office/drawing/2014/main" id="{D4B8CCF9-E485-16BC-E81B-72B8399A986C}"/>
                </a:ext>
              </a:extLst>
            </p:cNvPr>
            <p:cNvSpPr/>
            <p:nvPr/>
          </p:nvSpPr>
          <p:spPr>
            <a:xfrm>
              <a:off x="2860153" y="3890587"/>
              <a:ext cx="5222163" cy="376460"/>
            </a:xfrm>
            <a:prstGeom prst="roundRect">
              <a:avLst>
                <a:gd name="adj" fmla="val 117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rIns="9144" rtlCol="0" anchor="ctr"/>
            <a:lstStyle/>
            <a:p>
              <a:pPr algn="ctr"/>
              <a:r>
                <a:rPr lang="en-US" sz="2400" dirty="0">
                  <a:solidFill>
                    <a:srgbClr val="000000"/>
                  </a:solidFill>
                  <a:latin typeface="Avenir Book" panose="02000503020000020003" pitchFamily="2" charset="0"/>
                </a:rPr>
                <a:t>12, 15, 18, 14, 10, 8, 11, 17, 22,…</a:t>
              </a:r>
              <a:endParaRPr lang="en-US" sz="2400" dirty="0">
                <a:latin typeface="Avenir Book" panose="02000503020000020003" pitchFamily="2" charset="0"/>
              </a:endParaRPr>
            </a:p>
          </p:txBody>
        </p:sp>
        <p:sp>
          <p:nvSpPr>
            <p:cNvPr id="24" name="TextBox 23">
              <a:extLst>
                <a:ext uri="{FF2B5EF4-FFF2-40B4-BE49-F238E27FC236}">
                  <a16:creationId xmlns:a16="http://schemas.microsoft.com/office/drawing/2014/main" id="{59EEB61D-C4F5-840A-D37A-C25CD6566716}"/>
                </a:ext>
              </a:extLst>
            </p:cNvPr>
            <p:cNvSpPr txBox="1"/>
            <p:nvPr/>
          </p:nvSpPr>
          <p:spPr>
            <a:xfrm>
              <a:off x="204182" y="3897715"/>
              <a:ext cx="2725665" cy="400110"/>
            </a:xfrm>
            <a:prstGeom prst="rect">
              <a:avLst/>
            </a:prstGeom>
            <a:noFill/>
          </p:spPr>
          <p:txBody>
            <a:bodyPr wrap="square">
              <a:spAutoFit/>
            </a:bodyPr>
            <a:lstStyle/>
            <a:p>
              <a:r>
                <a:rPr lang="en-US" sz="2000" b="1" dirty="0">
                  <a:solidFill>
                    <a:schemeClr val="accent5"/>
                  </a:solidFill>
                  <a:latin typeface="Avenir Book" panose="02000503020000020003" pitchFamily="2" charset="0"/>
                </a:rPr>
                <a:t>?</a:t>
              </a:r>
              <a:r>
                <a:rPr lang="en-US" sz="2000" dirty="0">
                  <a:latin typeface="Avenir Book" panose="02000503020000020003" pitchFamily="2" charset="0"/>
                </a:rPr>
                <a:t> Brain signals</a:t>
              </a:r>
            </a:p>
          </p:txBody>
        </p:sp>
      </p:grpSp>
      <p:grpSp>
        <p:nvGrpSpPr>
          <p:cNvPr id="25" name="Group 24">
            <a:extLst>
              <a:ext uri="{FF2B5EF4-FFF2-40B4-BE49-F238E27FC236}">
                <a16:creationId xmlns:a16="http://schemas.microsoft.com/office/drawing/2014/main" id="{765D1DCD-41AE-5840-211C-22AADECAB742}"/>
              </a:ext>
            </a:extLst>
          </p:cNvPr>
          <p:cNvGrpSpPr/>
          <p:nvPr/>
        </p:nvGrpSpPr>
        <p:grpSpPr>
          <a:xfrm>
            <a:off x="514552" y="4174143"/>
            <a:ext cx="7886212" cy="407238"/>
            <a:chOff x="196104" y="4453294"/>
            <a:chExt cx="7886212" cy="407238"/>
          </a:xfrm>
        </p:grpSpPr>
        <p:sp>
          <p:nvSpPr>
            <p:cNvPr id="26" name="Rounded Rectangle 25">
              <a:extLst>
                <a:ext uri="{FF2B5EF4-FFF2-40B4-BE49-F238E27FC236}">
                  <a16:creationId xmlns:a16="http://schemas.microsoft.com/office/drawing/2014/main" id="{E2B70336-5D94-C309-ADB7-949A7DEB5ADC}"/>
                </a:ext>
              </a:extLst>
            </p:cNvPr>
            <p:cNvSpPr/>
            <p:nvPr/>
          </p:nvSpPr>
          <p:spPr>
            <a:xfrm>
              <a:off x="2860153" y="4453294"/>
              <a:ext cx="5222163" cy="376460"/>
            </a:xfrm>
            <a:prstGeom prst="roundRect">
              <a:avLst>
                <a:gd name="adj" fmla="val 117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rIns="9144" rtlCol="0" anchor="ctr"/>
            <a:lstStyle/>
            <a:p>
              <a:pPr algn="ctr"/>
              <a:r>
                <a:rPr lang="en-US" sz="2400" dirty="0">
                  <a:solidFill>
                    <a:srgbClr val="000000"/>
                  </a:solidFill>
                  <a:latin typeface="Avenir Book" panose="02000503020000020003" pitchFamily="2" charset="0"/>
                </a:rPr>
                <a:t>18934, 18951, 18920, 18885, …</a:t>
              </a:r>
              <a:endParaRPr lang="en-US" sz="2400" dirty="0">
                <a:latin typeface="Avenir Book" panose="02000503020000020003" pitchFamily="2" charset="0"/>
              </a:endParaRPr>
            </a:p>
          </p:txBody>
        </p:sp>
        <p:sp>
          <p:nvSpPr>
            <p:cNvPr id="27" name="TextBox 26">
              <a:extLst>
                <a:ext uri="{FF2B5EF4-FFF2-40B4-BE49-F238E27FC236}">
                  <a16:creationId xmlns:a16="http://schemas.microsoft.com/office/drawing/2014/main" id="{2D09A799-2F7E-7D95-0302-10A39AE27F7B}"/>
                </a:ext>
              </a:extLst>
            </p:cNvPr>
            <p:cNvSpPr txBox="1"/>
            <p:nvPr/>
          </p:nvSpPr>
          <p:spPr>
            <a:xfrm>
              <a:off x="196104" y="4460422"/>
              <a:ext cx="2725665" cy="400110"/>
            </a:xfrm>
            <a:prstGeom prst="rect">
              <a:avLst/>
            </a:prstGeom>
            <a:noFill/>
          </p:spPr>
          <p:txBody>
            <a:bodyPr wrap="square">
              <a:spAutoFit/>
            </a:bodyPr>
            <a:lstStyle/>
            <a:p>
              <a:r>
                <a:rPr lang="en-US" sz="2000" b="1" dirty="0">
                  <a:solidFill>
                    <a:schemeClr val="accent5"/>
                  </a:solidFill>
                  <a:latin typeface="Avenir Book" panose="02000503020000020003" pitchFamily="2" charset="0"/>
                </a:rPr>
                <a:t>?</a:t>
              </a:r>
              <a:r>
                <a:rPr lang="en-US" sz="2000" dirty="0">
                  <a:latin typeface="Avenir Book" panose="02000503020000020003" pitchFamily="2" charset="0"/>
                </a:rPr>
                <a:t> Time series  </a:t>
              </a:r>
            </a:p>
          </p:txBody>
        </p:sp>
      </p:grpSp>
      <p:grpSp>
        <p:nvGrpSpPr>
          <p:cNvPr id="28" name="Group 27">
            <a:extLst>
              <a:ext uri="{FF2B5EF4-FFF2-40B4-BE49-F238E27FC236}">
                <a16:creationId xmlns:a16="http://schemas.microsoft.com/office/drawing/2014/main" id="{5713B917-DEA7-A7D0-F5DE-566D383F6A4C}"/>
              </a:ext>
            </a:extLst>
          </p:cNvPr>
          <p:cNvGrpSpPr/>
          <p:nvPr/>
        </p:nvGrpSpPr>
        <p:grpSpPr>
          <a:xfrm>
            <a:off x="529556" y="4630211"/>
            <a:ext cx="7865157" cy="400110"/>
            <a:chOff x="211108" y="4998141"/>
            <a:chExt cx="7865157" cy="400110"/>
          </a:xfrm>
        </p:grpSpPr>
        <p:sp>
          <p:nvSpPr>
            <p:cNvPr id="29" name="Rounded Rectangle 28">
              <a:extLst>
                <a:ext uri="{FF2B5EF4-FFF2-40B4-BE49-F238E27FC236}">
                  <a16:creationId xmlns:a16="http://schemas.microsoft.com/office/drawing/2014/main" id="{2DB376D4-364A-9C64-4597-287465DB5509}"/>
                </a:ext>
              </a:extLst>
            </p:cNvPr>
            <p:cNvSpPr/>
            <p:nvPr/>
          </p:nvSpPr>
          <p:spPr>
            <a:xfrm>
              <a:off x="2854102" y="5009810"/>
              <a:ext cx="5222163" cy="376460"/>
            </a:xfrm>
            <a:prstGeom prst="roundRect">
              <a:avLst>
                <a:gd name="adj" fmla="val 117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rIns="9144" rtlCol="0" anchor="ctr"/>
            <a:lstStyle/>
            <a:p>
              <a:pPr algn="ctr"/>
              <a:r>
                <a:rPr lang="en-US" sz="2400" dirty="0">
                  <a:solidFill>
                    <a:srgbClr val="000000"/>
                  </a:solidFill>
                  <a:latin typeface="Avenir Book" panose="02000503020000020003" pitchFamily="2" charset="0"/>
                </a:rPr>
                <a:t>M A S M T G G Q Q M G S H ...</a:t>
              </a:r>
              <a:endParaRPr lang="en-US" sz="2400" dirty="0">
                <a:latin typeface="Avenir Book" panose="02000503020000020003" pitchFamily="2" charset="0"/>
              </a:endParaRPr>
            </a:p>
          </p:txBody>
        </p:sp>
        <p:sp>
          <p:nvSpPr>
            <p:cNvPr id="30" name="TextBox 29">
              <a:extLst>
                <a:ext uri="{FF2B5EF4-FFF2-40B4-BE49-F238E27FC236}">
                  <a16:creationId xmlns:a16="http://schemas.microsoft.com/office/drawing/2014/main" id="{E305B740-A383-C8A2-4540-45C082B5D2BA}"/>
                </a:ext>
              </a:extLst>
            </p:cNvPr>
            <p:cNvSpPr txBox="1"/>
            <p:nvPr/>
          </p:nvSpPr>
          <p:spPr>
            <a:xfrm>
              <a:off x="211108" y="4998141"/>
              <a:ext cx="2725665" cy="400110"/>
            </a:xfrm>
            <a:prstGeom prst="rect">
              <a:avLst/>
            </a:prstGeom>
            <a:noFill/>
          </p:spPr>
          <p:txBody>
            <a:bodyPr wrap="square">
              <a:spAutoFit/>
            </a:bodyPr>
            <a:lstStyle/>
            <a:p>
              <a:r>
                <a:rPr lang="en-US" sz="2000" b="1" dirty="0">
                  <a:solidFill>
                    <a:schemeClr val="accent5"/>
                  </a:solidFill>
                  <a:latin typeface="Avenir Book" panose="02000503020000020003" pitchFamily="2" charset="0"/>
                </a:rPr>
                <a:t>?</a:t>
              </a:r>
              <a:r>
                <a:rPr lang="en-US" sz="2000" dirty="0">
                  <a:latin typeface="Avenir Book" panose="02000503020000020003" pitchFamily="2" charset="0"/>
                </a:rPr>
                <a:t> Protein sequences </a:t>
              </a:r>
            </a:p>
          </p:txBody>
        </p:sp>
      </p:grpSp>
    </p:spTree>
    <p:extLst>
      <p:ext uri="{BB962C8B-B14F-4D97-AF65-F5344CB8AC3E}">
        <p14:creationId xmlns:p14="http://schemas.microsoft.com/office/powerpoint/2010/main" val="1055789542"/>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8CC91-3F96-46B1-3CA3-791FBD6553A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7287BE-E60D-7ACE-9FCC-6B23A2D91EA2}"/>
              </a:ext>
            </a:extLst>
          </p:cNvPr>
          <p:cNvSpPr>
            <a:spLocks noGrp="1"/>
          </p:cNvSpPr>
          <p:nvPr>
            <p:ph type="sldNum" sz="quarter" idx="10"/>
          </p:nvPr>
        </p:nvSpPr>
        <p:spPr/>
        <p:txBody>
          <a:bodyPr/>
          <a:lstStyle/>
          <a:p>
            <a:pPr>
              <a:defRPr/>
            </a:pPr>
            <a:fld id="{0121240C-47AF-2F4D-83B3-CC3EDF50F794}" type="slidenum">
              <a:rPr lang="en-US" smtClean="0"/>
              <a:pPr>
                <a:defRPr/>
              </a:pPr>
              <a:t>54</a:t>
            </a:fld>
            <a:endParaRPr lang="en-US"/>
          </a:p>
        </p:txBody>
      </p:sp>
      <p:sp>
        <p:nvSpPr>
          <p:cNvPr id="6" name="TextBox 5">
            <a:extLst>
              <a:ext uri="{FF2B5EF4-FFF2-40B4-BE49-F238E27FC236}">
                <a16:creationId xmlns:a16="http://schemas.microsoft.com/office/drawing/2014/main" id="{3BEB182F-14A3-FD1B-749D-85CA339F539F}"/>
              </a:ext>
            </a:extLst>
          </p:cNvPr>
          <p:cNvSpPr txBox="1"/>
          <p:nvPr/>
        </p:nvSpPr>
        <p:spPr>
          <a:xfrm>
            <a:off x="260087" y="6542606"/>
            <a:ext cx="11884077" cy="307777"/>
          </a:xfrm>
          <a:prstGeom prst="rect">
            <a:avLst/>
          </a:prstGeom>
          <a:noFill/>
        </p:spPr>
        <p:txBody>
          <a:bodyPr wrap="square">
            <a:spAutoFit/>
          </a:bodyPr>
          <a:lstStyle/>
          <a:p>
            <a:pPr algn="ctr"/>
            <a:r>
              <a:rPr lang="en-US" sz="1400" dirty="0">
                <a:solidFill>
                  <a:schemeClr val="bg1">
                    <a:lumMod val="50000"/>
                  </a:schemeClr>
                </a:solidFill>
                <a:latin typeface="Arial" panose="020B0604020202020204" pitchFamily="34" charset="0"/>
                <a:cs typeface="Arial" panose="020B0604020202020204" pitchFamily="34" charset="0"/>
              </a:rPr>
              <a:t>Convergent Emergence of In-Context Learning Across Modalities. Beslow et al. </a:t>
            </a:r>
            <a:r>
              <a:rPr lang="en-US" sz="1400" dirty="0" err="1">
                <a:solidFill>
                  <a:schemeClr val="bg1">
                    <a:lumMod val="50000"/>
                  </a:schemeClr>
                </a:solidFill>
                <a:latin typeface="Arial" panose="020B0604020202020204" pitchFamily="34" charset="0"/>
                <a:cs typeface="Arial" panose="020B0604020202020204" pitchFamily="34" charset="0"/>
              </a:rPr>
              <a:t>arXiv</a:t>
            </a:r>
            <a:r>
              <a:rPr lang="en-US" sz="1400" dirty="0">
                <a:solidFill>
                  <a:schemeClr val="bg1">
                    <a:lumMod val="50000"/>
                  </a:schemeClr>
                </a:solidFill>
                <a:latin typeface="Arial" panose="020B0604020202020204" pitchFamily="34" charset="0"/>
                <a:cs typeface="Arial" panose="020B0604020202020204" pitchFamily="34" charset="0"/>
              </a:rPr>
              <a:t> 2026. </a:t>
            </a:r>
          </a:p>
        </p:txBody>
      </p:sp>
      <p:sp>
        <p:nvSpPr>
          <p:cNvPr id="217" name="Google Shape;2577;g3f5188ffaf6_0_0">
            <a:extLst>
              <a:ext uri="{FF2B5EF4-FFF2-40B4-BE49-F238E27FC236}">
                <a16:creationId xmlns:a16="http://schemas.microsoft.com/office/drawing/2014/main" id="{A5EF77CA-0237-8185-E690-D28A7929CD41}"/>
              </a:ext>
            </a:extLst>
          </p:cNvPr>
          <p:cNvSpPr/>
          <p:nvPr/>
        </p:nvSpPr>
        <p:spPr>
          <a:xfrm>
            <a:off x="3613326" y="647680"/>
            <a:ext cx="7574627" cy="2781320"/>
          </a:xfrm>
          <a:prstGeom prst="roundRect">
            <a:avLst>
              <a:gd name="adj" fmla="val 5000"/>
            </a:avLst>
          </a:prstGeom>
          <a:solidFill>
            <a:srgbClr val="F7F7F7"/>
          </a:solidFill>
          <a:ln w="12075" cap="flat" cmpd="sng">
            <a:solidFill>
              <a:srgbClr val="B7BCC7"/>
            </a:solidFill>
            <a:prstDash val="solid"/>
            <a:round/>
            <a:headEnd type="none" w="sm" len="sm"/>
            <a:tailEnd type="none" w="sm" len="sm"/>
          </a:ln>
        </p:spPr>
        <p:txBody>
          <a:bodyPr spcFirstLastPara="1" wrap="square" lIns="91425" tIns="27425" rIns="91425" bIns="45700" anchor="t" anchorCtr="0">
            <a:noAutofit/>
          </a:bodyPr>
          <a:lstStyle/>
          <a:p>
            <a:pPr marL="0" lvl="0" indent="0" algn="ctr" rtl="0">
              <a:spcBef>
                <a:spcPts val="0"/>
              </a:spcBef>
              <a:spcAft>
                <a:spcPts val="0"/>
              </a:spcAft>
              <a:buNone/>
            </a:pPr>
            <a:endParaRPr sz="2800" dirty="0">
              <a:solidFill>
                <a:schemeClr val="dk1"/>
              </a:solidFill>
            </a:endParaRPr>
          </a:p>
          <a:p>
            <a:pPr marL="0" marR="0" lvl="0" indent="0" algn="l" rtl="0">
              <a:spcBef>
                <a:spcPts val="0"/>
              </a:spcBef>
              <a:spcAft>
                <a:spcPts val="0"/>
              </a:spcAft>
              <a:buNone/>
            </a:pPr>
            <a:endParaRPr sz="2800" dirty="0">
              <a:solidFill>
                <a:schemeClr val="dk1"/>
              </a:solidFill>
            </a:endParaRPr>
          </a:p>
        </p:txBody>
      </p:sp>
      <p:sp>
        <p:nvSpPr>
          <p:cNvPr id="225" name="Google Shape;2586;g3f5188ffaf6_0_0">
            <a:extLst>
              <a:ext uri="{FF2B5EF4-FFF2-40B4-BE49-F238E27FC236}">
                <a16:creationId xmlns:a16="http://schemas.microsoft.com/office/drawing/2014/main" id="{9A7B74E4-6C94-D322-0B66-C06EE11876EC}"/>
              </a:ext>
            </a:extLst>
          </p:cNvPr>
          <p:cNvSpPr/>
          <p:nvPr/>
        </p:nvSpPr>
        <p:spPr>
          <a:xfrm>
            <a:off x="6163605" y="807309"/>
            <a:ext cx="4763173" cy="1673677"/>
          </a:xfrm>
          <a:prstGeom prst="roundRect">
            <a:avLst>
              <a:gd name="adj" fmla="val 10333"/>
            </a:avLst>
          </a:prstGeom>
          <a:solidFill>
            <a:schemeClr val="lt1"/>
          </a:solidFill>
          <a:ln w="9525" cap="flat" cmpd="sng">
            <a:solidFill>
              <a:srgbClr val="F2F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400" b="0" i="0" u="none" strike="noStrike" cap="none">
              <a:solidFill>
                <a:schemeClr val="dk1"/>
              </a:solidFill>
              <a:latin typeface="Calibri"/>
              <a:ea typeface="Calibri"/>
              <a:cs typeface="Calibri"/>
              <a:sym typeface="Calibri"/>
            </a:endParaRPr>
          </a:p>
        </p:txBody>
      </p:sp>
      <p:sp>
        <p:nvSpPr>
          <p:cNvPr id="226" name="Google Shape;2587;g3f5188ffaf6_0_0">
            <a:extLst>
              <a:ext uri="{FF2B5EF4-FFF2-40B4-BE49-F238E27FC236}">
                <a16:creationId xmlns:a16="http://schemas.microsoft.com/office/drawing/2014/main" id="{C34E519A-661E-F851-9727-7C0AEF94FF2E}"/>
              </a:ext>
            </a:extLst>
          </p:cNvPr>
          <p:cNvSpPr/>
          <p:nvPr/>
        </p:nvSpPr>
        <p:spPr>
          <a:xfrm>
            <a:off x="6138480" y="2544948"/>
            <a:ext cx="4763173" cy="659529"/>
          </a:xfrm>
          <a:prstGeom prst="roundRect">
            <a:avLst>
              <a:gd name="adj" fmla="val 28339"/>
            </a:avLst>
          </a:prstGeom>
          <a:solidFill>
            <a:schemeClr val="lt1"/>
          </a:solidFill>
          <a:ln w="9525" cap="flat" cmpd="sng">
            <a:solidFill>
              <a:srgbClr val="F2F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400" b="0" i="0" u="none" strike="noStrike" cap="none">
              <a:solidFill>
                <a:schemeClr val="dk1"/>
              </a:solidFill>
              <a:latin typeface="Calibri"/>
              <a:ea typeface="Calibri"/>
              <a:cs typeface="Calibri"/>
              <a:sym typeface="Calibri"/>
            </a:endParaRPr>
          </a:p>
        </p:txBody>
      </p:sp>
      <p:sp>
        <p:nvSpPr>
          <p:cNvPr id="227" name="Google Shape;2588;g3f5188ffaf6_0_0">
            <a:extLst>
              <a:ext uri="{FF2B5EF4-FFF2-40B4-BE49-F238E27FC236}">
                <a16:creationId xmlns:a16="http://schemas.microsoft.com/office/drawing/2014/main" id="{91246459-4BC3-8EBF-D649-F9FF204BB05B}"/>
              </a:ext>
            </a:extLst>
          </p:cNvPr>
          <p:cNvSpPr txBox="1"/>
          <p:nvPr/>
        </p:nvSpPr>
        <p:spPr>
          <a:xfrm>
            <a:off x="3191802" y="1410097"/>
            <a:ext cx="2750531" cy="553997"/>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b="1" i="0" u="none" strike="noStrike" cap="none">
                <a:solidFill>
                  <a:srgbClr val="7A828F"/>
                </a:solidFill>
                <a:latin typeface="Arial"/>
                <a:ea typeface="Arial"/>
                <a:cs typeface="Arial"/>
                <a:sym typeface="Arial"/>
              </a:rPr>
              <a:t>IN-CONTEXT </a:t>
            </a:r>
            <a:br>
              <a:rPr lang="en-US" b="1" i="0" u="none" strike="noStrike" cap="none">
                <a:solidFill>
                  <a:srgbClr val="7A828F"/>
                </a:solidFill>
                <a:latin typeface="Arial"/>
                <a:ea typeface="Arial"/>
                <a:cs typeface="Arial"/>
                <a:sym typeface="Arial"/>
              </a:rPr>
            </a:br>
            <a:r>
              <a:rPr lang="en-US" b="1" i="0" u="none" strike="noStrike" cap="none">
                <a:solidFill>
                  <a:srgbClr val="7A828F"/>
                </a:solidFill>
                <a:latin typeface="Arial"/>
                <a:ea typeface="Arial"/>
                <a:cs typeface="Arial"/>
                <a:sym typeface="Arial"/>
              </a:rPr>
              <a:t>EXEMPLARS</a:t>
            </a:r>
            <a:endParaRPr/>
          </a:p>
        </p:txBody>
      </p:sp>
      <p:sp>
        <p:nvSpPr>
          <p:cNvPr id="228" name="Google Shape;2589;g3f5188ffaf6_0_0">
            <a:extLst>
              <a:ext uri="{FF2B5EF4-FFF2-40B4-BE49-F238E27FC236}">
                <a16:creationId xmlns:a16="http://schemas.microsoft.com/office/drawing/2014/main" id="{3D66421C-C5C1-6C0B-2384-D38D55E1F7DE}"/>
              </a:ext>
            </a:extLst>
          </p:cNvPr>
          <p:cNvSpPr txBox="1"/>
          <p:nvPr/>
        </p:nvSpPr>
        <p:spPr>
          <a:xfrm>
            <a:off x="3429874" y="2571754"/>
            <a:ext cx="2281499" cy="553997"/>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b="1" i="0" u="none" strike="noStrike" cap="none">
                <a:solidFill>
                  <a:srgbClr val="7A828F"/>
                </a:solidFill>
                <a:latin typeface="Arial"/>
                <a:ea typeface="Arial"/>
                <a:cs typeface="Arial"/>
                <a:sym typeface="Arial"/>
              </a:rPr>
              <a:t>TEST INPUT </a:t>
            </a:r>
            <a:br>
              <a:rPr lang="en-US" b="1" i="0" u="none" strike="noStrike" cap="none">
                <a:solidFill>
                  <a:srgbClr val="7A828F"/>
                </a:solidFill>
                <a:latin typeface="Arial"/>
                <a:ea typeface="Arial"/>
                <a:cs typeface="Arial"/>
                <a:sym typeface="Arial"/>
              </a:rPr>
            </a:br>
            <a:r>
              <a:rPr lang="en-US" b="1" i="0" u="none" strike="noStrike" cap="none">
                <a:solidFill>
                  <a:srgbClr val="7A828F"/>
                </a:solidFill>
                <a:latin typeface="Arial"/>
                <a:ea typeface="Arial"/>
                <a:cs typeface="Arial"/>
                <a:sym typeface="Arial"/>
              </a:rPr>
              <a:t>(QUERY)</a:t>
            </a:r>
            <a:endParaRPr>
              <a:solidFill>
                <a:srgbClr val="7A828F"/>
              </a:solidFill>
            </a:endParaRPr>
          </a:p>
        </p:txBody>
      </p:sp>
      <p:sp>
        <p:nvSpPr>
          <p:cNvPr id="229" name="Google Shape;2590;g3f5188ffaf6_0_0">
            <a:extLst>
              <a:ext uri="{FF2B5EF4-FFF2-40B4-BE49-F238E27FC236}">
                <a16:creationId xmlns:a16="http://schemas.microsoft.com/office/drawing/2014/main" id="{2592CCF8-143B-050B-1491-D7EE6826F95F}"/>
              </a:ext>
            </a:extLst>
          </p:cNvPr>
          <p:cNvSpPr txBox="1"/>
          <p:nvPr/>
        </p:nvSpPr>
        <p:spPr>
          <a:xfrm>
            <a:off x="6291241" y="1011693"/>
            <a:ext cx="1856859" cy="1292663"/>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00" b="1" i="0" u="none" strike="noStrike" cap="none">
                <a:solidFill>
                  <a:schemeClr val="dk1"/>
                </a:solidFill>
                <a:highlight>
                  <a:srgbClr val="E7F0F9"/>
                </a:highlight>
                <a:latin typeface="Courier New"/>
                <a:ea typeface="Courier New"/>
                <a:cs typeface="Courier New"/>
                <a:sym typeface="Courier New"/>
              </a:rPr>
              <a:t>10100010</a:t>
            </a:r>
            <a:endParaRPr sz="2800" b="1" i="0" u="none" strike="noStrike" cap="none">
              <a:solidFill>
                <a:schemeClr val="dk1"/>
              </a:solidFill>
              <a:highlight>
                <a:srgbClr val="E7F0F9"/>
              </a:highlight>
              <a:latin typeface="Courier New"/>
              <a:ea typeface="Courier New"/>
              <a:cs typeface="Courier New"/>
              <a:sym typeface="Courier New"/>
            </a:endParaRPr>
          </a:p>
          <a:p>
            <a:pPr marL="0" lvl="0" indent="0" algn="l" rtl="0">
              <a:spcBef>
                <a:spcPts val="0"/>
              </a:spcBef>
              <a:spcAft>
                <a:spcPts val="0"/>
              </a:spcAft>
              <a:buNone/>
            </a:pPr>
            <a:r>
              <a:rPr lang="en-US" sz="2800" b="1">
                <a:solidFill>
                  <a:schemeClr val="dk1"/>
                </a:solidFill>
                <a:highlight>
                  <a:srgbClr val="E7F0F9"/>
                </a:highlight>
                <a:latin typeface="Courier New"/>
                <a:ea typeface="Courier New"/>
                <a:cs typeface="Courier New"/>
                <a:sym typeface="Courier New"/>
              </a:rPr>
              <a:t>00011000</a:t>
            </a:r>
            <a:endParaRPr sz="2800" b="1">
              <a:solidFill>
                <a:schemeClr val="dk1"/>
              </a:solidFill>
              <a:highlight>
                <a:srgbClr val="E7F0F9"/>
              </a:highlight>
            </a:endParaRPr>
          </a:p>
          <a:p>
            <a:pPr marL="0" marR="0" lvl="0" indent="0" algn="l" rtl="0">
              <a:spcBef>
                <a:spcPts val="0"/>
              </a:spcBef>
              <a:spcAft>
                <a:spcPts val="0"/>
              </a:spcAft>
              <a:buNone/>
            </a:pPr>
            <a:endParaRPr sz="2800" b="1">
              <a:solidFill>
                <a:schemeClr val="dk1"/>
              </a:solidFill>
              <a:highlight>
                <a:srgbClr val="E7F0F9"/>
              </a:highlight>
              <a:latin typeface="Courier New"/>
              <a:ea typeface="Courier New"/>
              <a:cs typeface="Courier New"/>
              <a:sym typeface="Courier New"/>
            </a:endParaRPr>
          </a:p>
        </p:txBody>
      </p:sp>
      <p:cxnSp>
        <p:nvCxnSpPr>
          <p:cNvPr id="230" name="Google Shape;2591;g3f5188ffaf6_0_0">
            <a:extLst>
              <a:ext uri="{FF2B5EF4-FFF2-40B4-BE49-F238E27FC236}">
                <a16:creationId xmlns:a16="http://schemas.microsoft.com/office/drawing/2014/main" id="{31697455-4BE7-272A-46E6-4A998D525C79}"/>
              </a:ext>
            </a:extLst>
          </p:cNvPr>
          <p:cNvCxnSpPr/>
          <p:nvPr/>
        </p:nvCxnSpPr>
        <p:spPr>
          <a:xfrm>
            <a:off x="8004704" y="1165303"/>
            <a:ext cx="442229" cy="0"/>
          </a:xfrm>
          <a:prstGeom prst="straightConnector1">
            <a:avLst/>
          </a:prstGeom>
          <a:noFill/>
          <a:ln w="12075" cap="flat" cmpd="sng">
            <a:solidFill>
              <a:schemeClr val="dk1"/>
            </a:solidFill>
            <a:prstDash val="solid"/>
            <a:round/>
            <a:headEnd type="none" w="sm" len="sm"/>
            <a:tailEnd type="triangle" w="med" len="med"/>
          </a:ln>
        </p:spPr>
      </p:cxnSp>
      <p:sp>
        <p:nvSpPr>
          <p:cNvPr id="231" name="Google Shape;2592;g3f5188ffaf6_0_0">
            <a:extLst>
              <a:ext uri="{FF2B5EF4-FFF2-40B4-BE49-F238E27FC236}">
                <a16:creationId xmlns:a16="http://schemas.microsoft.com/office/drawing/2014/main" id="{3A03CDB9-CC0A-BA66-8ED4-B6F6E2242515}"/>
              </a:ext>
            </a:extLst>
          </p:cNvPr>
          <p:cNvSpPr txBox="1"/>
          <p:nvPr/>
        </p:nvSpPr>
        <p:spPr>
          <a:xfrm>
            <a:off x="8461228" y="1011681"/>
            <a:ext cx="2465762" cy="1292663"/>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00" b="1" i="0" u="none" strike="noStrike" cap="none">
                <a:solidFill>
                  <a:schemeClr val="dk1"/>
                </a:solidFill>
                <a:highlight>
                  <a:srgbClr val="FFEBEB"/>
                </a:highlight>
                <a:latin typeface="Courier New"/>
                <a:ea typeface="Courier New"/>
                <a:cs typeface="Courier New"/>
                <a:sym typeface="Courier New"/>
              </a:rPr>
              <a:t>10100010</a:t>
            </a:r>
            <a:r>
              <a:rPr lang="en-US" sz="2800" b="1" i="0" u="none" strike="noStrike" cap="none">
                <a:solidFill>
                  <a:schemeClr val="dk1"/>
                </a:solidFill>
                <a:highlight>
                  <a:srgbClr val="FFEEB0"/>
                </a:highlight>
                <a:latin typeface="Courier New"/>
                <a:ea typeface="Courier New"/>
                <a:cs typeface="Courier New"/>
                <a:sym typeface="Courier New"/>
              </a:rPr>
              <a:t>SEP</a:t>
            </a:r>
            <a:endParaRPr sz="2800" b="1" i="0" u="none" strike="noStrike" cap="none">
              <a:solidFill>
                <a:schemeClr val="dk1"/>
              </a:solidFill>
              <a:highlight>
                <a:srgbClr val="FFEEB0"/>
              </a:highlight>
              <a:latin typeface="Courier New"/>
              <a:ea typeface="Courier New"/>
              <a:cs typeface="Courier New"/>
              <a:sym typeface="Courier New"/>
            </a:endParaRPr>
          </a:p>
          <a:p>
            <a:pPr marL="0" lvl="0" indent="0" algn="l" rtl="0">
              <a:spcBef>
                <a:spcPts val="0"/>
              </a:spcBef>
              <a:spcAft>
                <a:spcPts val="0"/>
              </a:spcAft>
              <a:buNone/>
            </a:pPr>
            <a:r>
              <a:rPr lang="en-US" sz="2800" b="1">
                <a:solidFill>
                  <a:srgbClr val="1A1A1A"/>
                </a:solidFill>
                <a:highlight>
                  <a:srgbClr val="FFEBEB"/>
                </a:highlight>
                <a:latin typeface="Courier New"/>
                <a:ea typeface="Courier New"/>
                <a:cs typeface="Courier New"/>
                <a:sym typeface="Courier New"/>
              </a:rPr>
              <a:t>00011000</a:t>
            </a:r>
            <a:r>
              <a:rPr lang="en-US" sz="2800" b="1">
                <a:solidFill>
                  <a:schemeClr val="dk1"/>
                </a:solidFill>
                <a:highlight>
                  <a:srgbClr val="FFEEB0"/>
                </a:highlight>
                <a:latin typeface="Courier New"/>
                <a:ea typeface="Courier New"/>
                <a:cs typeface="Courier New"/>
                <a:sym typeface="Courier New"/>
              </a:rPr>
              <a:t>SEP</a:t>
            </a:r>
            <a:endParaRPr sz="2800" b="1">
              <a:solidFill>
                <a:schemeClr val="dk1"/>
              </a:solidFill>
              <a:highlight>
                <a:srgbClr val="FFEBEB"/>
              </a:highlight>
            </a:endParaRPr>
          </a:p>
          <a:p>
            <a:pPr marL="0" marR="0" lvl="0" indent="0" algn="l" rtl="0">
              <a:spcBef>
                <a:spcPts val="0"/>
              </a:spcBef>
              <a:spcAft>
                <a:spcPts val="0"/>
              </a:spcAft>
              <a:buNone/>
            </a:pPr>
            <a:r>
              <a:rPr lang="en-US" sz="2800" b="1" i="0" u="none" strike="noStrike" cap="none">
                <a:solidFill>
                  <a:schemeClr val="dk1"/>
                </a:solidFill>
                <a:highlight>
                  <a:srgbClr val="FFEBEB"/>
                </a:highlight>
                <a:latin typeface="Courier New"/>
                <a:ea typeface="Courier New"/>
                <a:cs typeface="Courier New"/>
                <a:sym typeface="Courier New"/>
              </a:rPr>
              <a:t> </a:t>
            </a:r>
            <a:endParaRPr sz="2800" b="1">
              <a:solidFill>
                <a:schemeClr val="dk1"/>
              </a:solidFill>
              <a:highlight>
                <a:srgbClr val="FFEBEB"/>
              </a:highlight>
            </a:endParaRPr>
          </a:p>
        </p:txBody>
      </p:sp>
      <p:cxnSp>
        <p:nvCxnSpPr>
          <p:cNvPr id="232" name="Google Shape;2593;g3f5188ffaf6_0_0">
            <a:extLst>
              <a:ext uri="{FF2B5EF4-FFF2-40B4-BE49-F238E27FC236}">
                <a16:creationId xmlns:a16="http://schemas.microsoft.com/office/drawing/2014/main" id="{E2B2ADF1-DDDE-CF88-775C-FB77764DD8D5}"/>
              </a:ext>
            </a:extLst>
          </p:cNvPr>
          <p:cNvCxnSpPr/>
          <p:nvPr/>
        </p:nvCxnSpPr>
        <p:spPr>
          <a:xfrm>
            <a:off x="8004704" y="1720935"/>
            <a:ext cx="442229" cy="0"/>
          </a:xfrm>
          <a:prstGeom prst="straightConnector1">
            <a:avLst/>
          </a:prstGeom>
          <a:noFill/>
          <a:ln w="12075" cap="flat" cmpd="sng">
            <a:solidFill>
              <a:schemeClr val="dk1"/>
            </a:solidFill>
            <a:prstDash val="solid"/>
            <a:round/>
            <a:headEnd type="none" w="sm" len="sm"/>
            <a:tailEnd type="triangle" w="med" len="med"/>
          </a:ln>
        </p:spPr>
      </p:cxnSp>
      <p:sp>
        <p:nvSpPr>
          <p:cNvPr id="233" name="Google Shape;2594;g3f5188ffaf6_0_0">
            <a:extLst>
              <a:ext uri="{FF2B5EF4-FFF2-40B4-BE49-F238E27FC236}">
                <a16:creationId xmlns:a16="http://schemas.microsoft.com/office/drawing/2014/main" id="{88E0630A-3A20-2A28-2A1C-5F5CF3F4EF6D}"/>
              </a:ext>
            </a:extLst>
          </p:cNvPr>
          <p:cNvSpPr txBox="1"/>
          <p:nvPr/>
        </p:nvSpPr>
        <p:spPr>
          <a:xfrm>
            <a:off x="7008447" y="1866746"/>
            <a:ext cx="340046" cy="615554"/>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4000" b="1" i="0" u="none" strike="noStrike" cap="none">
                <a:solidFill>
                  <a:srgbClr val="999999"/>
                </a:solidFill>
              </a:rPr>
              <a:t>⋮</a:t>
            </a:r>
            <a:endParaRPr sz="4000" b="1">
              <a:solidFill>
                <a:srgbClr val="999999"/>
              </a:solidFill>
            </a:endParaRPr>
          </a:p>
        </p:txBody>
      </p:sp>
      <p:sp>
        <p:nvSpPr>
          <p:cNvPr id="234" name="Google Shape;2595;g3f5188ffaf6_0_0">
            <a:extLst>
              <a:ext uri="{FF2B5EF4-FFF2-40B4-BE49-F238E27FC236}">
                <a16:creationId xmlns:a16="http://schemas.microsoft.com/office/drawing/2014/main" id="{15B614F3-FA25-FB51-608D-3D25A229D250}"/>
              </a:ext>
            </a:extLst>
          </p:cNvPr>
          <p:cNvSpPr txBox="1"/>
          <p:nvPr/>
        </p:nvSpPr>
        <p:spPr>
          <a:xfrm>
            <a:off x="6273182" y="2654138"/>
            <a:ext cx="1867748" cy="43088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00" b="1" i="0" u="none" strike="noStrike" cap="none">
                <a:solidFill>
                  <a:schemeClr val="dk1"/>
                </a:solidFill>
                <a:highlight>
                  <a:srgbClr val="E7F0F9"/>
                </a:highlight>
                <a:latin typeface="Courier New"/>
                <a:ea typeface="Courier New"/>
                <a:cs typeface="Courier New"/>
                <a:sym typeface="Courier New"/>
              </a:rPr>
              <a:t>10000100</a:t>
            </a:r>
            <a:endParaRPr sz="2800" b="1">
              <a:solidFill>
                <a:schemeClr val="dk1"/>
              </a:solidFill>
              <a:highlight>
                <a:srgbClr val="E7F0F9"/>
              </a:highlight>
            </a:endParaRPr>
          </a:p>
        </p:txBody>
      </p:sp>
      <p:cxnSp>
        <p:nvCxnSpPr>
          <p:cNvPr id="235" name="Google Shape;2596;g3f5188ffaf6_0_0">
            <a:extLst>
              <a:ext uri="{FF2B5EF4-FFF2-40B4-BE49-F238E27FC236}">
                <a16:creationId xmlns:a16="http://schemas.microsoft.com/office/drawing/2014/main" id="{429C5907-F6B8-5252-ABD1-30D3BBF1FD8A}"/>
              </a:ext>
            </a:extLst>
          </p:cNvPr>
          <p:cNvCxnSpPr/>
          <p:nvPr/>
        </p:nvCxnSpPr>
        <p:spPr>
          <a:xfrm>
            <a:off x="7929183" y="2869637"/>
            <a:ext cx="442229" cy="0"/>
          </a:xfrm>
          <a:prstGeom prst="straightConnector1">
            <a:avLst/>
          </a:prstGeom>
          <a:noFill/>
          <a:ln w="12900" cap="flat" cmpd="sng">
            <a:solidFill>
              <a:schemeClr val="dk1"/>
            </a:solidFill>
            <a:prstDash val="solid"/>
            <a:round/>
            <a:headEnd type="none" w="sm" len="sm"/>
            <a:tailEnd type="triangle" w="med" len="med"/>
          </a:ln>
        </p:spPr>
      </p:cxnSp>
      <p:sp>
        <p:nvSpPr>
          <p:cNvPr id="236" name="Google Shape;2597;g3f5188ffaf6_0_0">
            <a:extLst>
              <a:ext uri="{FF2B5EF4-FFF2-40B4-BE49-F238E27FC236}">
                <a16:creationId xmlns:a16="http://schemas.microsoft.com/office/drawing/2014/main" id="{DA1304EA-E444-2666-6A0A-9AFBFC5615C7}"/>
              </a:ext>
            </a:extLst>
          </p:cNvPr>
          <p:cNvSpPr txBox="1"/>
          <p:nvPr/>
        </p:nvSpPr>
        <p:spPr>
          <a:xfrm>
            <a:off x="8425509" y="2673229"/>
            <a:ext cx="1867748" cy="43088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00" b="1" i="0" u="none" strike="noStrike" cap="none">
                <a:solidFill>
                  <a:schemeClr val="dk1"/>
                </a:solidFill>
                <a:latin typeface="Courier New"/>
                <a:ea typeface="Courier New"/>
                <a:cs typeface="Courier New"/>
                <a:sym typeface="Courier New"/>
              </a:rPr>
              <a:t>????????</a:t>
            </a:r>
            <a:endParaRPr sz="2800" b="1">
              <a:solidFill>
                <a:schemeClr val="dk1"/>
              </a:solidFill>
            </a:endParaRPr>
          </a:p>
        </p:txBody>
      </p:sp>
      <p:sp>
        <p:nvSpPr>
          <p:cNvPr id="365" name="Google Shape;2780;g3f5188ffaf6_0_0">
            <a:extLst>
              <a:ext uri="{FF2B5EF4-FFF2-40B4-BE49-F238E27FC236}">
                <a16:creationId xmlns:a16="http://schemas.microsoft.com/office/drawing/2014/main" id="{E290E845-3D48-2BC2-0496-EF3F3D9407B4}"/>
              </a:ext>
            </a:extLst>
          </p:cNvPr>
          <p:cNvSpPr txBox="1"/>
          <p:nvPr/>
        </p:nvSpPr>
        <p:spPr>
          <a:xfrm>
            <a:off x="-412377" y="1530739"/>
            <a:ext cx="4238864" cy="980693"/>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3600" b="1" dirty="0">
                <a:solidFill>
                  <a:schemeClr val="dk1"/>
                </a:solidFill>
                <a:ea typeface="EB Garamond"/>
                <a:cs typeface="EB Garamond"/>
                <a:sym typeface="EB Garamond"/>
              </a:rPr>
              <a:t>① </a:t>
            </a:r>
            <a:r>
              <a:rPr lang="en-US" sz="3600" b="1" dirty="0">
                <a:solidFill>
                  <a:schemeClr val="dk1"/>
                </a:solidFill>
              </a:rPr>
              <a:t>Sample </a:t>
            </a:r>
            <a:br>
              <a:rPr lang="en-US" sz="3600" b="1" dirty="0">
                <a:solidFill>
                  <a:schemeClr val="dk1"/>
                </a:solidFill>
              </a:rPr>
            </a:br>
            <a:r>
              <a:rPr lang="en-US" sz="3600" b="1" dirty="0">
                <a:solidFill>
                  <a:schemeClr val="dk1"/>
                </a:solidFill>
              </a:rPr>
              <a:t>an abstract</a:t>
            </a:r>
            <a:endParaRPr sz="3600" b="1" dirty="0"/>
          </a:p>
        </p:txBody>
      </p:sp>
      <p:sp>
        <p:nvSpPr>
          <p:cNvPr id="366" name="Google Shape;2782;g3f5188ffaf6_0_0">
            <a:extLst>
              <a:ext uri="{FF2B5EF4-FFF2-40B4-BE49-F238E27FC236}">
                <a16:creationId xmlns:a16="http://schemas.microsoft.com/office/drawing/2014/main" id="{13510D9B-67CE-BC4D-527F-97A8B1CBD9DF}"/>
              </a:ext>
            </a:extLst>
          </p:cNvPr>
          <p:cNvSpPr txBox="1"/>
          <p:nvPr/>
        </p:nvSpPr>
        <p:spPr>
          <a:xfrm>
            <a:off x="9437647" y="1866746"/>
            <a:ext cx="340046" cy="615554"/>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4000" b="1" i="0" u="none" strike="noStrike" cap="none">
                <a:solidFill>
                  <a:srgbClr val="999999"/>
                </a:solidFill>
              </a:rPr>
              <a:t>⋮</a:t>
            </a:r>
            <a:endParaRPr sz="4000" b="1">
              <a:solidFill>
                <a:srgbClr val="999999"/>
              </a:solidFill>
            </a:endParaRPr>
          </a:p>
        </p:txBody>
      </p:sp>
      <p:sp>
        <p:nvSpPr>
          <p:cNvPr id="368" name="Google Shape;2784;g3f5188ffaf6_0_0">
            <a:extLst>
              <a:ext uri="{FF2B5EF4-FFF2-40B4-BE49-F238E27FC236}">
                <a16:creationId xmlns:a16="http://schemas.microsoft.com/office/drawing/2014/main" id="{3AD94A16-5BFE-AEC5-A456-5CED8311036A}"/>
              </a:ext>
            </a:extLst>
          </p:cNvPr>
          <p:cNvSpPr/>
          <p:nvPr/>
        </p:nvSpPr>
        <p:spPr>
          <a:xfrm>
            <a:off x="5728914" y="906010"/>
            <a:ext cx="199337" cy="1604857"/>
          </a:xfrm>
          <a:prstGeom prst="leftBrace">
            <a:avLst>
              <a:gd name="adj1" fmla="val 50000"/>
              <a:gd name="adj2" fmla="val 50000"/>
            </a:avLst>
          </a:prstGeom>
          <a:no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5400">
              <a:solidFill>
                <a:srgbClr val="BCBCBC"/>
              </a:solidFill>
              <a:latin typeface="Calibri"/>
              <a:ea typeface="Calibri"/>
              <a:cs typeface="Calibri"/>
              <a:sym typeface="Calibri"/>
            </a:endParaRPr>
          </a:p>
        </p:txBody>
      </p:sp>
      <p:sp>
        <p:nvSpPr>
          <p:cNvPr id="369" name="Google Shape;2785;g3f5188ffaf6_0_0">
            <a:extLst>
              <a:ext uri="{FF2B5EF4-FFF2-40B4-BE49-F238E27FC236}">
                <a16:creationId xmlns:a16="http://schemas.microsoft.com/office/drawing/2014/main" id="{CE74ABB2-A3CE-358F-06F1-9D677180E3BF}"/>
              </a:ext>
            </a:extLst>
          </p:cNvPr>
          <p:cNvSpPr/>
          <p:nvPr/>
        </p:nvSpPr>
        <p:spPr>
          <a:xfrm>
            <a:off x="5728918" y="2570912"/>
            <a:ext cx="199337" cy="612694"/>
          </a:xfrm>
          <a:prstGeom prst="leftBrace">
            <a:avLst>
              <a:gd name="adj1" fmla="val 50000"/>
              <a:gd name="adj2" fmla="val 50000"/>
            </a:avLst>
          </a:prstGeom>
          <a:no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5400">
              <a:solidFill>
                <a:srgbClr val="BCBCBC"/>
              </a:solidFill>
              <a:latin typeface="Calibri"/>
              <a:ea typeface="Calibri"/>
              <a:cs typeface="Calibri"/>
              <a:sym typeface="Calibri"/>
            </a:endParaRPr>
          </a:p>
        </p:txBody>
      </p:sp>
    </p:spTree>
    <p:extLst>
      <p:ext uri="{BB962C8B-B14F-4D97-AF65-F5344CB8AC3E}">
        <p14:creationId xmlns:p14="http://schemas.microsoft.com/office/powerpoint/2010/main" val="38806605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50B8EE3-60FF-AAEF-A5A1-ADA420A06290}"/>
              </a:ext>
            </a:extLst>
          </p:cNvPr>
          <p:cNvSpPr>
            <a:spLocks noGrp="1"/>
          </p:cNvSpPr>
          <p:nvPr>
            <p:ph type="sldNum" sz="quarter" idx="10"/>
          </p:nvPr>
        </p:nvSpPr>
        <p:spPr/>
        <p:txBody>
          <a:bodyPr/>
          <a:lstStyle/>
          <a:p>
            <a:pPr>
              <a:defRPr/>
            </a:pPr>
            <a:fld id="{0121240C-47AF-2F4D-83B3-CC3EDF50F794}" type="slidenum">
              <a:rPr lang="en-US" smtClean="0"/>
              <a:pPr>
                <a:defRPr/>
              </a:pPr>
              <a:t>55</a:t>
            </a:fld>
            <a:endParaRPr lang="en-US"/>
          </a:p>
        </p:txBody>
      </p:sp>
      <p:sp>
        <p:nvSpPr>
          <p:cNvPr id="6" name="TextBox 5">
            <a:extLst>
              <a:ext uri="{FF2B5EF4-FFF2-40B4-BE49-F238E27FC236}">
                <a16:creationId xmlns:a16="http://schemas.microsoft.com/office/drawing/2014/main" id="{52817EE1-563C-80C0-29AE-EAF29FEA8F2C}"/>
              </a:ext>
            </a:extLst>
          </p:cNvPr>
          <p:cNvSpPr txBox="1"/>
          <p:nvPr/>
        </p:nvSpPr>
        <p:spPr>
          <a:xfrm>
            <a:off x="260087" y="6542606"/>
            <a:ext cx="11884077" cy="307777"/>
          </a:xfrm>
          <a:prstGeom prst="rect">
            <a:avLst/>
          </a:prstGeom>
          <a:noFill/>
        </p:spPr>
        <p:txBody>
          <a:bodyPr wrap="square">
            <a:spAutoFit/>
          </a:bodyPr>
          <a:lstStyle/>
          <a:p>
            <a:pPr algn="ctr"/>
            <a:r>
              <a:rPr lang="en-US" sz="1400" dirty="0">
                <a:solidFill>
                  <a:schemeClr val="bg1">
                    <a:lumMod val="50000"/>
                  </a:schemeClr>
                </a:solidFill>
                <a:latin typeface="Arial" panose="020B0604020202020204" pitchFamily="34" charset="0"/>
                <a:cs typeface="Arial" panose="020B0604020202020204" pitchFamily="34" charset="0"/>
              </a:rPr>
              <a:t>Convergent Emergence of In-Context Learning Across Modalities. Beslow et al. </a:t>
            </a:r>
            <a:r>
              <a:rPr lang="en-US" sz="1400" dirty="0" err="1">
                <a:solidFill>
                  <a:schemeClr val="bg1">
                    <a:lumMod val="50000"/>
                  </a:schemeClr>
                </a:solidFill>
                <a:latin typeface="Arial" panose="020B0604020202020204" pitchFamily="34" charset="0"/>
                <a:cs typeface="Arial" panose="020B0604020202020204" pitchFamily="34" charset="0"/>
              </a:rPr>
              <a:t>arXiv</a:t>
            </a:r>
            <a:r>
              <a:rPr lang="en-US" sz="1400" dirty="0">
                <a:solidFill>
                  <a:schemeClr val="bg1">
                    <a:lumMod val="50000"/>
                  </a:schemeClr>
                </a:solidFill>
                <a:latin typeface="Arial" panose="020B0604020202020204" pitchFamily="34" charset="0"/>
                <a:cs typeface="Arial" panose="020B0604020202020204" pitchFamily="34" charset="0"/>
              </a:rPr>
              <a:t> 2026. </a:t>
            </a:r>
          </a:p>
        </p:txBody>
      </p:sp>
      <p:sp>
        <p:nvSpPr>
          <p:cNvPr id="213" name="Google Shape;2573;g3f5188ffaf6_0_0">
            <a:extLst>
              <a:ext uri="{FF2B5EF4-FFF2-40B4-BE49-F238E27FC236}">
                <a16:creationId xmlns:a16="http://schemas.microsoft.com/office/drawing/2014/main" id="{516E5035-560D-8A91-155A-FDB9AA918B6E}"/>
              </a:ext>
            </a:extLst>
          </p:cNvPr>
          <p:cNvSpPr/>
          <p:nvPr/>
        </p:nvSpPr>
        <p:spPr>
          <a:xfrm>
            <a:off x="191557" y="4500526"/>
            <a:ext cx="11791851" cy="1168951"/>
          </a:xfrm>
          <a:prstGeom prst="roundRect">
            <a:avLst>
              <a:gd name="adj" fmla="val 5000"/>
            </a:avLst>
          </a:prstGeom>
          <a:solidFill>
            <a:srgbClr val="F7F7F7"/>
          </a:solidFill>
          <a:ln w="12075" cap="flat" cmpd="sng">
            <a:solidFill>
              <a:srgbClr val="B7BCC7"/>
            </a:solidFill>
            <a:prstDash val="solid"/>
            <a:round/>
            <a:headEnd type="none" w="sm" len="sm"/>
            <a:tailEnd type="none" w="sm" len="sm"/>
          </a:ln>
        </p:spPr>
        <p:txBody>
          <a:bodyPr spcFirstLastPara="1" wrap="square" lIns="0" tIns="27425" rIns="0" bIns="0" anchor="t" anchorCtr="0">
            <a:noAutofit/>
          </a:bodyPr>
          <a:lstStyle/>
          <a:p>
            <a:pPr marL="0" lvl="0" indent="0" algn="ctr" rtl="0">
              <a:spcBef>
                <a:spcPts val="0"/>
              </a:spcBef>
              <a:spcAft>
                <a:spcPts val="0"/>
              </a:spcAft>
              <a:buSzPts val="1100"/>
              <a:buNone/>
            </a:pPr>
            <a:endParaRPr sz="3200" dirty="0">
              <a:solidFill>
                <a:schemeClr val="dk1"/>
              </a:solidFill>
              <a:latin typeface="Calibri"/>
              <a:ea typeface="Calibri"/>
              <a:cs typeface="Calibri"/>
              <a:sym typeface="Calibri"/>
            </a:endParaRPr>
          </a:p>
        </p:txBody>
      </p:sp>
      <p:sp>
        <p:nvSpPr>
          <p:cNvPr id="214" name="Google Shape;2574;g3f5188ffaf6_0_0">
            <a:extLst>
              <a:ext uri="{FF2B5EF4-FFF2-40B4-BE49-F238E27FC236}">
                <a16:creationId xmlns:a16="http://schemas.microsoft.com/office/drawing/2014/main" id="{CA2D9B0B-0208-7B39-FE36-B8C5DF34DA7E}"/>
              </a:ext>
            </a:extLst>
          </p:cNvPr>
          <p:cNvSpPr/>
          <p:nvPr/>
        </p:nvSpPr>
        <p:spPr>
          <a:xfrm>
            <a:off x="9998959" y="4608520"/>
            <a:ext cx="1895256" cy="1010531"/>
          </a:xfrm>
          <a:prstGeom prst="roundRect">
            <a:avLst>
              <a:gd name="adj" fmla="val 6000"/>
            </a:avLst>
          </a:prstGeom>
          <a:solidFill>
            <a:srgbClr val="FCFCFC"/>
          </a:solidFill>
          <a:ln w="12075" cap="flat" cmpd="sng">
            <a:solidFill>
              <a:srgbClr val="159A9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15" name="Google Shape;2575;g3f5188ffaf6_0_0">
            <a:extLst>
              <a:ext uri="{FF2B5EF4-FFF2-40B4-BE49-F238E27FC236}">
                <a16:creationId xmlns:a16="http://schemas.microsoft.com/office/drawing/2014/main" id="{45DAD9E7-CE3C-D1E7-4018-E4303FFD7564}"/>
              </a:ext>
            </a:extLst>
          </p:cNvPr>
          <p:cNvSpPr/>
          <p:nvPr/>
        </p:nvSpPr>
        <p:spPr>
          <a:xfrm>
            <a:off x="8054972" y="4608084"/>
            <a:ext cx="1904121" cy="1010531"/>
          </a:xfrm>
          <a:prstGeom prst="roundRect">
            <a:avLst>
              <a:gd name="adj" fmla="val 6000"/>
            </a:avLst>
          </a:prstGeom>
          <a:solidFill>
            <a:srgbClr val="FCFCFC"/>
          </a:solidFill>
          <a:ln w="12075" cap="flat" cmpd="sng">
            <a:solidFill>
              <a:srgbClr val="2B6FB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16" name="Google Shape;2576;g3f5188ffaf6_0_0">
            <a:extLst>
              <a:ext uri="{FF2B5EF4-FFF2-40B4-BE49-F238E27FC236}">
                <a16:creationId xmlns:a16="http://schemas.microsoft.com/office/drawing/2014/main" id="{F8880986-06F9-5F38-6532-C91A9DA8120E}"/>
              </a:ext>
            </a:extLst>
          </p:cNvPr>
          <p:cNvSpPr txBox="1"/>
          <p:nvPr/>
        </p:nvSpPr>
        <p:spPr>
          <a:xfrm>
            <a:off x="8997201" y="4721171"/>
            <a:ext cx="958710" cy="738664"/>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a:solidFill>
                  <a:srgbClr val="FDECE3"/>
                </a:solidFill>
                <a:highlight>
                  <a:srgbClr val="FFEBEB"/>
                </a:highlight>
                <a:latin typeface="Courier New"/>
                <a:ea typeface="Courier New"/>
                <a:cs typeface="Courier New"/>
                <a:sym typeface="Courier New"/>
              </a:rPr>
              <a:t>666666666</a:t>
            </a:r>
            <a:endParaRPr sz="1200" b="1">
              <a:solidFill>
                <a:srgbClr val="E7F0F9"/>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r>
              <a:rPr lang="en-US" sz="1200" b="1">
                <a:solidFill>
                  <a:srgbClr val="FDECE3"/>
                </a:solidFill>
                <a:highlight>
                  <a:srgbClr val="FFEBEB"/>
                </a:highlight>
                <a:latin typeface="Courier New"/>
                <a:ea typeface="Courier New"/>
                <a:cs typeface="Courier New"/>
                <a:sym typeface="Courier New"/>
              </a:rPr>
              <a:t>666666666</a:t>
            </a:r>
            <a:endParaRPr sz="1200" b="1">
              <a:solidFill>
                <a:srgbClr val="E7F0F9"/>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endParaRPr sz="1200" b="1">
              <a:solidFill>
                <a:srgbClr val="E7F0F9"/>
              </a:solidFill>
              <a:highlight>
                <a:srgbClr val="E7F0F9"/>
              </a:highlight>
              <a:latin typeface="Courier New"/>
              <a:ea typeface="Courier New"/>
              <a:cs typeface="Courier New"/>
              <a:sym typeface="Courier New"/>
            </a:endParaRPr>
          </a:p>
          <a:p>
            <a:pPr marL="0" lvl="0" indent="0" algn="l" rtl="0">
              <a:spcBef>
                <a:spcPts val="0"/>
              </a:spcBef>
              <a:spcAft>
                <a:spcPts val="0"/>
              </a:spcAft>
              <a:buNone/>
            </a:pPr>
            <a:r>
              <a:rPr lang="en-US" sz="1200" b="1">
                <a:solidFill>
                  <a:srgbClr val="FDECE3"/>
                </a:solidFill>
                <a:highlight>
                  <a:srgbClr val="FFEBEB"/>
                </a:highlight>
                <a:latin typeface="Courier New"/>
                <a:ea typeface="Courier New"/>
                <a:cs typeface="Courier New"/>
                <a:sym typeface="Courier New"/>
              </a:rPr>
              <a:t>666666666</a:t>
            </a:r>
            <a:endParaRPr sz="1200" b="1">
              <a:solidFill>
                <a:srgbClr val="E7F0F9"/>
              </a:solidFill>
              <a:highlight>
                <a:srgbClr val="E7F0F9"/>
              </a:highlight>
              <a:latin typeface="Courier New"/>
              <a:ea typeface="Courier New"/>
              <a:cs typeface="Courier New"/>
              <a:sym typeface="Courier New"/>
            </a:endParaRPr>
          </a:p>
        </p:txBody>
      </p:sp>
      <p:sp>
        <p:nvSpPr>
          <p:cNvPr id="217" name="Google Shape;2577;g3f5188ffaf6_0_0">
            <a:extLst>
              <a:ext uri="{FF2B5EF4-FFF2-40B4-BE49-F238E27FC236}">
                <a16:creationId xmlns:a16="http://schemas.microsoft.com/office/drawing/2014/main" id="{471ED4A6-C022-85FB-335F-56C84DC6885F}"/>
              </a:ext>
            </a:extLst>
          </p:cNvPr>
          <p:cNvSpPr/>
          <p:nvPr/>
        </p:nvSpPr>
        <p:spPr>
          <a:xfrm>
            <a:off x="4186369" y="91032"/>
            <a:ext cx="3644524" cy="1126180"/>
          </a:xfrm>
          <a:prstGeom prst="roundRect">
            <a:avLst>
              <a:gd name="adj" fmla="val 5000"/>
            </a:avLst>
          </a:prstGeom>
          <a:solidFill>
            <a:srgbClr val="F7F7F7"/>
          </a:solidFill>
          <a:ln w="12075" cap="flat" cmpd="sng">
            <a:solidFill>
              <a:srgbClr val="B7BCC7"/>
            </a:solidFill>
            <a:prstDash val="solid"/>
            <a:round/>
            <a:headEnd type="none" w="sm" len="sm"/>
            <a:tailEnd type="none" w="sm" len="sm"/>
          </a:ln>
        </p:spPr>
        <p:txBody>
          <a:bodyPr spcFirstLastPara="1" wrap="square" lIns="91425" tIns="27425" rIns="91425" bIns="45700" anchor="t" anchorCtr="0">
            <a:noAutofit/>
          </a:bodyPr>
          <a:lstStyle/>
          <a:p>
            <a:pPr marL="0" lvl="0" indent="0" algn="ctr" rtl="0">
              <a:spcBef>
                <a:spcPts val="0"/>
              </a:spcBef>
              <a:spcAft>
                <a:spcPts val="0"/>
              </a:spcAft>
              <a:buNone/>
            </a:pPr>
            <a:endParaRPr sz="1400" dirty="0">
              <a:solidFill>
                <a:schemeClr val="dk1"/>
              </a:solidFill>
            </a:endParaRPr>
          </a:p>
          <a:p>
            <a:pPr marL="0" marR="0" lvl="0" indent="0" algn="l" rtl="0">
              <a:spcBef>
                <a:spcPts val="0"/>
              </a:spcBef>
              <a:spcAft>
                <a:spcPts val="0"/>
              </a:spcAft>
              <a:buNone/>
            </a:pPr>
            <a:endParaRPr sz="1400" dirty="0">
              <a:solidFill>
                <a:schemeClr val="dk1"/>
              </a:solidFill>
            </a:endParaRPr>
          </a:p>
        </p:txBody>
      </p:sp>
      <p:sp>
        <p:nvSpPr>
          <p:cNvPr id="218" name="Google Shape;2578;g3f5188ffaf6_0_0">
            <a:extLst>
              <a:ext uri="{FF2B5EF4-FFF2-40B4-BE49-F238E27FC236}">
                <a16:creationId xmlns:a16="http://schemas.microsoft.com/office/drawing/2014/main" id="{5B9EA1B0-7E34-0F41-A888-4D1D98864C14}"/>
              </a:ext>
            </a:extLst>
          </p:cNvPr>
          <p:cNvSpPr/>
          <p:nvPr/>
        </p:nvSpPr>
        <p:spPr>
          <a:xfrm>
            <a:off x="191656" y="2634394"/>
            <a:ext cx="11791851" cy="1161784"/>
          </a:xfrm>
          <a:prstGeom prst="roundRect">
            <a:avLst>
              <a:gd name="adj" fmla="val 5000"/>
            </a:avLst>
          </a:prstGeom>
          <a:solidFill>
            <a:srgbClr val="F7F7F7"/>
          </a:solidFill>
          <a:ln w="12075" cap="flat" cmpd="sng">
            <a:solidFill>
              <a:srgbClr val="B7BCC7"/>
            </a:solidFill>
            <a:prstDash val="solid"/>
            <a:round/>
            <a:headEnd type="none" w="sm" len="sm"/>
            <a:tailEnd type="none" w="sm" len="sm"/>
          </a:ln>
        </p:spPr>
        <p:txBody>
          <a:bodyPr spcFirstLastPara="1" wrap="square" lIns="91425" tIns="27425" rIns="91425" bIns="45700" anchor="t" anchorCtr="0">
            <a:noAutofit/>
          </a:bodyPr>
          <a:lstStyle/>
          <a:p>
            <a:pPr marL="0" lvl="0" indent="0" algn="ctr" rtl="0">
              <a:spcBef>
                <a:spcPts val="0"/>
              </a:spcBef>
              <a:spcAft>
                <a:spcPts val="0"/>
              </a:spcAft>
              <a:buClr>
                <a:schemeClr val="dk1"/>
              </a:buClr>
              <a:buFont typeface="Arial"/>
              <a:buNone/>
            </a:pPr>
            <a:endParaRPr sz="1400" dirty="0">
              <a:solidFill>
                <a:schemeClr val="dk1"/>
              </a:solidFill>
            </a:endParaRPr>
          </a:p>
        </p:txBody>
      </p:sp>
      <p:sp>
        <p:nvSpPr>
          <p:cNvPr id="219" name="Google Shape;2579;g3f5188ffaf6_0_0">
            <a:extLst>
              <a:ext uri="{FF2B5EF4-FFF2-40B4-BE49-F238E27FC236}">
                <a16:creationId xmlns:a16="http://schemas.microsoft.com/office/drawing/2014/main" id="{A8E4C198-81FE-5AD4-3806-DF075C925EF5}"/>
              </a:ext>
            </a:extLst>
          </p:cNvPr>
          <p:cNvSpPr/>
          <p:nvPr/>
        </p:nvSpPr>
        <p:spPr>
          <a:xfrm>
            <a:off x="284154" y="2737718"/>
            <a:ext cx="1898882" cy="1013412"/>
          </a:xfrm>
          <a:prstGeom prst="roundRect">
            <a:avLst>
              <a:gd name="adj" fmla="val 6000"/>
            </a:avLst>
          </a:prstGeom>
          <a:solidFill>
            <a:schemeClr val="lt1"/>
          </a:solidFill>
          <a:ln w="12075" cap="flat" cmpd="sng">
            <a:solidFill>
              <a:srgbClr val="2B5FD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20" name="Google Shape;2580;g3f5188ffaf6_0_0">
            <a:extLst>
              <a:ext uri="{FF2B5EF4-FFF2-40B4-BE49-F238E27FC236}">
                <a16:creationId xmlns:a16="http://schemas.microsoft.com/office/drawing/2014/main" id="{A1A27946-5EFD-ACB0-BE29-992A9500EEAC}"/>
              </a:ext>
            </a:extLst>
          </p:cNvPr>
          <p:cNvSpPr/>
          <p:nvPr/>
        </p:nvSpPr>
        <p:spPr>
          <a:xfrm>
            <a:off x="8049512" y="2714881"/>
            <a:ext cx="1895256" cy="1013412"/>
          </a:xfrm>
          <a:prstGeom prst="roundRect">
            <a:avLst>
              <a:gd name="adj" fmla="val 6000"/>
            </a:avLst>
          </a:prstGeom>
          <a:solidFill>
            <a:schemeClr val="lt1"/>
          </a:solidFill>
          <a:ln w="12075" cap="flat" cmpd="sng">
            <a:solidFill>
              <a:srgbClr val="2B6FB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21" name="Google Shape;2581;g3f5188ffaf6_0_0">
            <a:extLst>
              <a:ext uri="{FF2B5EF4-FFF2-40B4-BE49-F238E27FC236}">
                <a16:creationId xmlns:a16="http://schemas.microsoft.com/office/drawing/2014/main" id="{F4AA2BBA-B66C-2907-A827-B4719B978081}"/>
              </a:ext>
            </a:extLst>
          </p:cNvPr>
          <p:cNvSpPr/>
          <p:nvPr/>
        </p:nvSpPr>
        <p:spPr>
          <a:xfrm>
            <a:off x="9990308" y="2706636"/>
            <a:ext cx="1895256" cy="1013412"/>
          </a:xfrm>
          <a:prstGeom prst="roundRect">
            <a:avLst>
              <a:gd name="adj" fmla="val 6000"/>
            </a:avLst>
          </a:prstGeom>
          <a:solidFill>
            <a:schemeClr val="lt1"/>
          </a:solidFill>
          <a:ln w="12075" cap="flat" cmpd="sng">
            <a:solidFill>
              <a:srgbClr val="159A9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22" name="Google Shape;2582;g3f5188ffaf6_0_0">
            <a:extLst>
              <a:ext uri="{FF2B5EF4-FFF2-40B4-BE49-F238E27FC236}">
                <a16:creationId xmlns:a16="http://schemas.microsoft.com/office/drawing/2014/main" id="{C7C8296D-F8CB-FD1B-6B8E-210BCD0BA12C}"/>
              </a:ext>
            </a:extLst>
          </p:cNvPr>
          <p:cNvSpPr/>
          <p:nvPr/>
        </p:nvSpPr>
        <p:spPr>
          <a:xfrm>
            <a:off x="6104985" y="2718860"/>
            <a:ext cx="1904121" cy="1013412"/>
          </a:xfrm>
          <a:prstGeom prst="roundRect">
            <a:avLst>
              <a:gd name="adj" fmla="val 6000"/>
            </a:avLst>
          </a:prstGeom>
          <a:solidFill>
            <a:schemeClr val="lt1"/>
          </a:solidFill>
          <a:ln w="12075" cap="flat" cmpd="sng">
            <a:solidFill>
              <a:srgbClr val="E8622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23" name="Google Shape;2583;g3f5188ffaf6_0_0">
            <a:extLst>
              <a:ext uri="{FF2B5EF4-FFF2-40B4-BE49-F238E27FC236}">
                <a16:creationId xmlns:a16="http://schemas.microsoft.com/office/drawing/2014/main" id="{BD295488-66F8-8381-31CE-D0C3CE892677}"/>
              </a:ext>
            </a:extLst>
          </p:cNvPr>
          <p:cNvSpPr txBox="1"/>
          <p:nvPr/>
        </p:nvSpPr>
        <p:spPr>
          <a:xfrm>
            <a:off x="8132876" y="4736838"/>
            <a:ext cx="934128" cy="738664"/>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dirty="0">
                <a:solidFill>
                  <a:srgbClr val="E7F0F9"/>
                </a:solidFill>
                <a:highlight>
                  <a:srgbClr val="E7F0F9"/>
                </a:highlight>
                <a:latin typeface="Courier New"/>
                <a:ea typeface="Courier New"/>
                <a:cs typeface="Courier New"/>
                <a:sym typeface="Courier New"/>
              </a:rPr>
              <a:t>76766666</a:t>
            </a:r>
            <a:endParaRPr sz="1200" b="1" dirty="0">
              <a:solidFill>
                <a:srgbClr val="E7F0F9"/>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r>
              <a:rPr lang="en-US" sz="1200" b="1" dirty="0">
                <a:solidFill>
                  <a:srgbClr val="E7F0F9"/>
                </a:solidFill>
                <a:highlight>
                  <a:srgbClr val="E7F0F9"/>
                </a:highlight>
                <a:latin typeface="Courier New"/>
                <a:ea typeface="Courier New"/>
                <a:cs typeface="Courier New"/>
                <a:sym typeface="Courier New"/>
              </a:rPr>
              <a:t>66776666</a:t>
            </a:r>
            <a:endParaRPr sz="1200" b="1" dirty="0">
              <a:solidFill>
                <a:srgbClr val="E7F0F9"/>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endParaRPr sz="1200" b="1" dirty="0">
              <a:solidFill>
                <a:srgbClr val="E7F0F9"/>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r>
              <a:rPr lang="en-US" sz="1200" b="1" dirty="0">
                <a:solidFill>
                  <a:srgbClr val="E7F0F9"/>
                </a:solidFill>
                <a:highlight>
                  <a:srgbClr val="E7F0F9"/>
                </a:highlight>
                <a:latin typeface="Courier New"/>
                <a:ea typeface="Courier New"/>
                <a:cs typeface="Courier New"/>
                <a:sym typeface="Courier New"/>
              </a:rPr>
              <a:t>76666766</a:t>
            </a:r>
            <a:endParaRPr sz="1200" b="1" dirty="0">
              <a:solidFill>
                <a:srgbClr val="E7F0F9"/>
              </a:solidFill>
              <a:highlight>
                <a:srgbClr val="E7F0F9"/>
              </a:highlight>
              <a:latin typeface="Courier New"/>
              <a:ea typeface="Courier New"/>
              <a:cs typeface="Courier New"/>
              <a:sym typeface="Courier New"/>
            </a:endParaRPr>
          </a:p>
        </p:txBody>
      </p:sp>
      <p:sp>
        <p:nvSpPr>
          <p:cNvPr id="224" name="Google Shape;2584;g3f5188ffaf6_0_0">
            <a:extLst>
              <a:ext uri="{FF2B5EF4-FFF2-40B4-BE49-F238E27FC236}">
                <a16:creationId xmlns:a16="http://schemas.microsoft.com/office/drawing/2014/main" id="{464B870D-43EC-1906-3934-2A54E1179236}"/>
              </a:ext>
            </a:extLst>
          </p:cNvPr>
          <p:cNvSpPr/>
          <p:nvPr/>
        </p:nvSpPr>
        <p:spPr>
          <a:xfrm>
            <a:off x="284165" y="4592727"/>
            <a:ext cx="1898882" cy="1010531"/>
          </a:xfrm>
          <a:prstGeom prst="roundRect">
            <a:avLst>
              <a:gd name="adj" fmla="val 6000"/>
            </a:avLst>
          </a:prstGeom>
          <a:solidFill>
            <a:srgbClr val="FCFCFC"/>
          </a:solidFill>
          <a:ln w="12075" cap="flat" cmpd="sng">
            <a:solidFill>
              <a:srgbClr val="2B5FD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25" name="Google Shape;2586;g3f5188ffaf6_0_0">
            <a:extLst>
              <a:ext uri="{FF2B5EF4-FFF2-40B4-BE49-F238E27FC236}">
                <a16:creationId xmlns:a16="http://schemas.microsoft.com/office/drawing/2014/main" id="{C1BECD39-9A2D-2768-5719-7D3A70DEEA12}"/>
              </a:ext>
            </a:extLst>
          </p:cNvPr>
          <p:cNvSpPr/>
          <p:nvPr/>
        </p:nvSpPr>
        <p:spPr>
          <a:xfrm>
            <a:off x="5413433" y="155667"/>
            <a:ext cx="2291796" cy="677686"/>
          </a:xfrm>
          <a:prstGeom prst="roundRect">
            <a:avLst>
              <a:gd name="adj" fmla="val 10333"/>
            </a:avLst>
          </a:prstGeom>
          <a:solidFill>
            <a:schemeClr val="lt1"/>
          </a:solidFill>
          <a:ln w="9525" cap="flat" cmpd="sng">
            <a:solidFill>
              <a:srgbClr val="F2F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26" name="Google Shape;2587;g3f5188ffaf6_0_0">
            <a:extLst>
              <a:ext uri="{FF2B5EF4-FFF2-40B4-BE49-F238E27FC236}">
                <a16:creationId xmlns:a16="http://schemas.microsoft.com/office/drawing/2014/main" id="{7CA0E5AA-52A3-C677-58D1-8BBC0C00F0B2}"/>
              </a:ext>
            </a:extLst>
          </p:cNvPr>
          <p:cNvSpPr/>
          <p:nvPr/>
        </p:nvSpPr>
        <p:spPr>
          <a:xfrm>
            <a:off x="5401344" y="859252"/>
            <a:ext cx="2291796" cy="267049"/>
          </a:xfrm>
          <a:prstGeom prst="roundRect">
            <a:avLst>
              <a:gd name="adj" fmla="val 28339"/>
            </a:avLst>
          </a:prstGeom>
          <a:solidFill>
            <a:schemeClr val="lt1"/>
          </a:solidFill>
          <a:ln w="9525" cap="flat" cmpd="sng">
            <a:solidFill>
              <a:srgbClr val="F2F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27" name="Google Shape;2588;g3f5188ffaf6_0_0">
            <a:extLst>
              <a:ext uri="{FF2B5EF4-FFF2-40B4-BE49-F238E27FC236}">
                <a16:creationId xmlns:a16="http://schemas.microsoft.com/office/drawing/2014/main" id="{F4C824F5-8C2E-DBFE-35D9-9C85847F5250}"/>
              </a:ext>
            </a:extLst>
          </p:cNvPr>
          <p:cNvSpPr txBox="1"/>
          <p:nvPr/>
        </p:nvSpPr>
        <p:spPr>
          <a:xfrm>
            <a:off x="3983553" y="303444"/>
            <a:ext cx="1323415" cy="41691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050" b="1" i="0" u="none" strike="noStrike" cap="none">
                <a:solidFill>
                  <a:srgbClr val="7A828F"/>
                </a:solidFill>
                <a:latin typeface="Arial"/>
                <a:ea typeface="Arial"/>
                <a:cs typeface="Arial"/>
                <a:sym typeface="Arial"/>
              </a:rPr>
              <a:t>IN-CONTEXT </a:t>
            </a:r>
            <a:br>
              <a:rPr lang="en-US" sz="1050" b="1" i="0" u="none" strike="noStrike" cap="none">
                <a:solidFill>
                  <a:srgbClr val="7A828F"/>
                </a:solidFill>
                <a:latin typeface="Arial"/>
                <a:ea typeface="Arial"/>
                <a:cs typeface="Arial"/>
                <a:sym typeface="Arial"/>
              </a:rPr>
            </a:br>
            <a:r>
              <a:rPr lang="en-US" sz="1050" b="1" i="0" u="none" strike="noStrike" cap="none">
                <a:solidFill>
                  <a:srgbClr val="7A828F"/>
                </a:solidFill>
                <a:latin typeface="Arial"/>
                <a:ea typeface="Arial"/>
                <a:cs typeface="Arial"/>
                <a:sym typeface="Arial"/>
              </a:rPr>
              <a:t>EXEMPLARS</a:t>
            </a:r>
            <a:endParaRPr sz="1050"/>
          </a:p>
        </p:txBody>
      </p:sp>
      <p:sp>
        <p:nvSpPr>
          <p:cNvPr id="228" name="Google Shape;2589;g3f5188ffaf6_0_0">
            <a:extLst>
              <a:ext uri="{FF2B5EF4-FFF2-40B4-BE49-F238E27FC236}">
                <a16:creationId xmlns:a16="http://schemas.microsoft.com/office/drawing/2014/main" id="{3DE97806-089F-7B68-11F3-3B3B76AE6501}"/>
              </a:ext>
            </a:extLst>
          </p:cNvPr>
          <p:cNvSpPr txBox="1"/>
          <p:nvPr/>
        </p:nvSpPr>
        <p:spPr>
          <a:xfrm>
            <a:off x="4098101" y="773809"/>
            <a:ext cx="1097741" cy="41691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050" b="1" i="0" u="none" strike="noStrike" cap="none">
                <a:solidFill>
                  <a:srgbClr val="7A828F"/>
                </a:solidFill>
                <a:latin typeface="Arial"/>
                <a:ea typeface="Arial"/>
                <a:cs typeface="Arial"/>
                <a:sym typeface="Arial"/>
              </a:rPr>
              <a:t>TEST INPUT </a:t>
            </a:r>
            <a:br>
              <a:rPr lang="en-US" sz="1050" b="1" i="0" u="none" strike="noStrike" cap="none">
                <a:solidFill>
                  <a:srgbClr val="7A828F"/>
                </a:solidFill>
                <a:latin typeface="Arial"/>
                <a:ea typeface="Arial"/>
                <a:cs typeface="Arial"/>
                <a:sym typeface="Arial"/>
              </a:rPr>
            </a:br>
            <a:r>
              <a:rPr lang="en-US" sz="1050" b="1" i="0" u="none" strike="noStrike" cap="none">
                <a:solidFill>
                  <a:srgbClr val="7A828F"/>
                </a:solidFill>
                <a:latin typeface="Arial"/>
                <a:ea typeface="Arial"/>
                <a:cs typeface="Arial"/>
                <a:sym typeface="Arial"/>
              </a:rPr>
              <a:t>(QUERY)</a:t>
            </a:r>
            <a:endParaRPr sz="1050">
              <a:solidFill>
                <a:srgbClr val="7A828F"/>
              </a:solidFill>
            </a:endParaRPr>
          </a:p>
        </p:txBody>
      </p:sp>
      <p:sp>
        <p:nvSpPr>
          <p:cNvPr id="229" name="Google Shape;2590;g3f5188ffaf6_0_0">
            <a:extLst>
              <a:ext uri="{FF2B5EF4-FFF2-40B4-BE49-F238E27FC236}">
                <a16:creationId xmlns:a16="http://schemas.microsoft.com/office/drawing/2014/main" id="{7D86034B-F7D0-9632-3604-9357FFEDD078}"/>
              </a:ext>
            </a:extLst>
          </p:cNvPr>
          <p:cNvSpPr txBox="1"/>
          <p:nvPr/>
        </p:nvSpPr>
        <p:spPr>
          <a:xfrm>
            <a:off x="5474845" y="-194729"/>
            <a:ext cx="893426" cy="1389713"/>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i="0" u="none" strike="noStrike" cap="none">
                <a:solidFill>
                  <a:schemeClr val="dk1"/>
                </a:solidFill>
                <a:highlight>
                  <a:srgbClr val="E7F0F9"/>
                </a:highlight>
                <a:latin typeface="Courier New"/>
                <a:ea typeface="Courier New"/>
                <a:cs typeface="Courier New"/>
                <a:sym typeface="Courier New"/>
              </a:rPr>
              <a:t>10100010</a:t>
            </a:r>
            <a:endParaRPr sz="1400" b="1" i="0" u="none" strike="noStrike" cap="none">
              <a:solidFill>
                <a:schemeClr val="dk1"/>
              </a:solidFill>
              <a:highlight>
                <a:srgbClr val="E7F0F9"/>
              </a:highlight>
              <a:latin typeface="Courier New"/>
              <a:ea typeface="Courier New"/>
              <a:cs typeface="Courier New"/>
              <a:sym typeface="Courier New"/>
            </a:endParaRPr>
          </a:p>
          <a:p>
            <a:pPr marL="0" lvl="0" indent="0" algn="l" rtl="0">
              <a:spcBef>
                <a:spcPts val="0"/>
              </a:spcBef>
              <a:spcAft>
                <a:spcPts val="0"/>
              </a:spcAft>
              <a:buNone/>
            </a:pPr>
            <a:r>
              <a:rPr lang="en-US" sz="1400" b="1">
                <a:solidFill>
                  <a:schemeClr val="dk1"/>
                </a:solidFill>
                <a:highlight>
                  <a:srgbClr val="E7F0F9"/>
                </a:highlight>
                <a:latin typeface="Courier New"/>
                <a:ea typeface="Courier New"/>
                <a:cs typeface="Courier New"/>
                <a:sym typeface="Courier New"/>
              </a:rPr>
              <a:t>00011000</a:t>
            </a:r>
            <a:endParaRPr sz="1400" b="1">
              <a:solidFill>
                <a:schemeClr val="dk1"/>
              </a:solidFill>
              <a:highlight>
                <a:srgbClr val="E7F0F9"/>
              </a:highlight>
            </a:endParaRPr>
          </a:p>
          <a:p>
            <a:pPr marL="0" marR="0" lvl="0" indent="0" algn="l" rtl="0">
              <a:spcBef>
                <a:spcPts val="0"/>
              </a:spcBef>
              <a:spcAft>
                <a:spcPts val="0"/>
              </a:spcAft>
              <a:buNone/>
            </a:pPr>
            <a:endParaRPr sz="1400" b="1">
              <a:solidFill>
                <a:schemeClr val="dk1"/>
              </a:solidFill>
              <a:highlight>
                <a:srgbClr val="E7F0F9"/>
              </a:highlight>
              <a:latin typeface="Courier New"/>
              <a:ea typeface="Courier New"/>
              <a:cs typeface="Courier New"/>
              <a:sym typeface="Courier New"/>
            </a:endParaRPr>
          </a:p>
        </p:txBody>
      </p:sp>
      <p:cxnSp>
        <p:nvCxnSpPr>
          <p:cNvPr id="230" name="Google Shape;2591;g3f5188ffaf6_0_0">
            <a:extLst>
              <a:ext uri="{FF2B5EF4-FFF2-40B4-BE49-F238E27FC236}">
                <a16:creationId xmlns:a16="http://schemas.microsoft.com/office/drawing/2014/main" id="{C449680F-C005-CB47-2F19-EB6D3AA738C4}"/>
              </a:ext>
            </a:extLst>
          </p:cNvPr>
          <p:cNvCxnSpPr/>
          <p:nvPr/>
        </p:nvCxnSpPr>
        <p:spPr>
          <a:xfrm>
            <a:off x="6299276" y="300622"/>
            <a:ext cx="212778" cy="0"/>
          </a:xfrm>
          <a:prstGeom prst="straightConnector1">
            <a:avLst/>
          </a:prstGeom>
          <a:noFill/>
          <a:ln w="12075" cap="flat" cmpd="sng">
            <a:solidFill>
              <a:schemeClr val="dk1"/>
            </a:solidFill>
            <a:prstDash val="solid"/>
            <a:round/>
            <a:headEnd type="none" w="sm" len="sm"/>
            <a:tailEnd type="triangle" w="med" len="med"/>
          </a:ln>
        </p:spPr>
      </p:cxnSp>
      <p:sp>
        <p:nvSpPr>
          <p:cNvPr id="231" name="Google Shape;2592;g3f5188ffaf6_0_0">
            <a:extLst>
              <a:ext uri="{FF2B5EF4-FFF2-40B4-BE49-F238E27FC236}">
                <a16:creationId xmlns:a16="http://schemas.microsoft.com/office/drawing/2014/main" id="{2B3D6BF2-3DFC-2BCD-3418-50BF93C0E1EF}"/>
              </a:ext>
            </a:extLst>
          </p:cNvPr>
          <p:cNvSpPr txBox="1"/>
          <p:nvPr/>
        </p:nvSpPr>
        <p:spPr>
          <a:xfrm>
            <a:off x="6518932" y="-194734"/>
            <a:ext cx="1186399" cy="1389713"/>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i="0" u="none" strike="noStrike" cap="none">
                <a:solidFill>
                  <a:schemeClr val="dk1"/>
                </a:solidFill>
                <a:highlight>
                  <a:srgbClr val="FFEBEB"/>
                </a:highlight>
                <a:latin typeface="Courier New"/>
                <a:ea typeface="Courier New"/>
                <a:cs typeface="Courier New"/>
                <a:sym typeface="Courier New"/>
              </a:rPr>
              <a:t>10100010</a:t>
            </a:r>
            <a:r>
              <a:rPr lang="en-US" sz="1400" b="1" i="0" u="none" strike="noStrike" cap="none">
                <a:solidFill>
                  <a:schemeClr val="dk1"/>
                </a:solidFill>
                <a:highlight>
                  <a:srgbClr val="FFEEB0"/>
                </a:highlight>
                <a:latin typeface="Courier New"/>
                <a:ea typeface="Courier New"/>
                <a:cs typeface="Courier New"/>
                <a:sym typeface="Courier New"/>
              </a:rPr>
              <a:t>SEP</a:t>
            </a:r>
            <a:endParaRPr sz="1400" b="1" i="0" u="none" strike="noStrike" cap="none">
              <a:solidFill>
                <a:schemeClr val="dk1"/>
              </a:solidFill>
              <a:highlight>
                <a:srgbClr val="FFEEB0"/>
              </a:highlight>
              <a:latin typeface="Courier New"/>
              <a:ea typeface="Courier New"/>
              <a:cs typeface="Courier New"/>
              <a:sym typeface="Courier New"/>
            </a:endParaRPr>
          </a:p>
          <a:p>
            <a:pPr marL="0" lvl="0" indent="0" algn="l" rtl="0">
              <a:spcBef>
                <a:spcPts val="0"/>
              </a:spcBef>
              <a:spcAft>
                <a:spcPts val="0"/>
              </a:spcAft>
              <a:buNone/>
            </a:pPr>
            <a:r>
              <a:rPr lang="en-US" sz="1400" b="1">
                <a:solidFill>
                  <a:srgbClr val="1A1A1A"/>
                </a:solidFill>
                <a:highlight>
                  <a:srgbClr val="FFEBEB"/>
                </a:highlight>
                <a:latin typeface="Courier New"/>
                <a:ea typeface="Courier New"/>
                <a:cs typeface="Courier New"/>
                <a:sym typeface="Courier New"/>
              </a:rPr>
              <a:t>00011000</a:t>
            </a:r>
            <a:r>
              <a:rPr lang="en-US" sz="1400" b="1">
                <a:solidFill>
                  <a:schemeClr val="dk1"/>
                </a:solidFill>
                <a:highlight>
                  <a:srgbClr val="FFEEB0"/>
                </a:highlight>
                <a:latin typeface="Courier New"/>
                <a:ea typeface="Courier New"/>
                <a:cs typeface="Courier New"/>
                <a:sym typeface="Courier New"/>
              </a:rPr>
              <a:t>SEP</a:t>
            </a:r>
            <a:endParaRPr sz="1400" b="1">
              <a:solidFill>
                <a:schemeClr val="dk1"/>
              </a:solidFill>
              <a:highlight>
                <a:srgbClr val="FFEBEB"/>
              </a:highlight>
            </a:endParaRPr>
          </a:p>
          <a:p>
            <a:pPr marL="0" marR="0" lvl="0" indent="0" algn="l" rtl="0">
              <a:spcBef>
                <a:spcPts val="0"/>
              </a:spcBef>
              <a:spcAft>
                <a:spcPts val="0"/>
              </a:spcAft>
              <a:buNone/>
            </a:pPr>
            <a:r>
              <a:rPr lang="en-US" sz="1400" b="1" i="0" u="none" strike="noStrike" cap="none">
                <a:solidFill>
                  <a:schemeClr val="dk1"/>
                </a:solidFill>
                <a:highlight>
                  <a:srgbClr val="FFEBEB"/>
                </a:highlight>
                <a:latin typeface="Courier New"/>
                <a:ea typeface="Courier New"/>
                <a:cs typeface="Courier New"/>
                <a:sym typeface="Courier New"/>
              </a:rPr>
              <a:t> </a:t>
            </a:r>
            <a:endParaRPr sz="1400" b="1">
              <a:solidFill>
                <a:schemeClr val="dk1"/>
              </a:solidFill>
              <a:highlight>
                <a:srgbClr val="FFEBEB"/>
              </a:highlight>
            </a:endParaRPr>
          </a:p>
        </p:txBody>
      </p:sp>
      <p:cxnSp>
        <p:nvCxnSpPr>
          <p:cNvPr id="232" name="Google Shape;2593;g3f5188ffaf6_0_0">
            <a:extLst>
              <a:ext uri="{FF2B5EF4-FFF2-40B4-BE49-F238E27FC236}">
                <a16:creationId xmlns:a16="http://schemas.microsoft.com/office/drawing/2014/main" id="{1CFEB46C-D07B-2824-D3B0-B65F6D29D294}"/>
              </a:ext>
            </a:extLst>
          </p:cNvPr>
          <p:cNvCxnSpPr/>
          <p:nvPr/>
        </p:nvCxnSpPr>
        <p:spPr>
          <a:xfrm>
            <a:off x="6299276" y="525602"/>
            <a:ext cx="212778" cy="0"/>
          </a:xfrm>
          <a:prstGeom prst="straightConnector1">
            <a:avLst/>
          </a:prstGeom>
          <a:noFill/>
          <a:ln w="12075" cap="flat" cmpd="sng">
            <a:solidFill>
              <a:schemeClr val="dk1"/>
            </a:solidFill>
            <a:prstDash val="solid"/>
            <a:round/>
            <a:headEnd type="none" w="sm" len="sm"/>
            <a:tailEnd type="triangle" w="med" len="med"/>
          </a:ln>
        </p:spPr>
      </p:cxnSp>
      <p:sp>
        <p:nvSpPr>
          <p:cNvPr id="233" name="Google Shape;2594;g3f5188ffaf6_0_0">
            <a:extLst>
              <a:ext uri="{FF2B5EF4-FFF2-40B4-BE49-F238E27FC236}">
                <a16:creationId xmlns:a16="http://schemas.microsoft.com/office/drawing/2014/main" id="{FC135A06-D060-5B25-C423-B343E4C3614E}"/>
              </a:ext>
            </a:extLst>
          </p:cNvPr>
          <p:cNvSpPr txBox="1"/>
          <p:nvPr/>
        </p:nvSpPr>
        <p:spPr>
          <a:xfrm>
            <a:off x="5819928" y="510733"/>
            <a:ext cx="163613" cy="39706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000" b="1" i="0" u="none" strike="noStrike" cap="none">
                <a:solidFill>
                  <a:srgbClr val="999999"/>
                </a:solidFill>
              </a:rPr>
              <a:t>⋮</a:t>
            </a:r>
            <a:endParaRPr sz="2000" b="1">
              <a:solidFill>
                <a:srgbClr val="999999"/>
              </a:solidFill>
            </a:endParaRPr>
          </a:p>
        </p:txBody>
      </p:sp>
      <p:sp>
        <p:nvSpPr>
          <p:cNvPr id="234" name="Google Shape;2595;g3f5188ffaf6_0_0">
            <a:extLst>
              <a:ext uri="{FF2B5EF4-FFF2-40B4-BE49-F238E27FC236}">
                <a16:creationId xmlns:a16="http://schemas.microsoft.com/office/drawing/2014/main" id="{D509D9C5-2AAC-DBE9-AC20-F417DC1C65B5}"/>
              </a:ext>
            </a:extLst>
          </p:cNvPr>
          <p:cNvSpPr txBox="1"/>
          <p:nvPr/>
        </p:nvSpPr>
        <p:spPr>
          <a:xfrm>
            <a:off x="5466156" y="712756"/>
            <a:ext cx="898665" cy="55588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i="0" u="none" strike="noStrike" cap="none">
                <a:solidFill>
                  <a:schemeClr val="dk1"/>
                </a:solidFill>
                <a:highlight>
                  <a:srgbClr val="E7F0F9"/>
                </a:highlight>
                <a:latin typeface="Courier New"/>
                <a:ea typeface="Courier New"/>
                <a:cs typeface="Courier New"/>
                <a:sym typeface="Courier New"/>
              </a:rPr>
              <a:t>10000100</a:t>
            </a:r>
            <a:endParaRPr sz="1400" b="1">
              <a:solidFill>
                <a:schemeClr val="dk1"/>
              </a:solidFill>
              <a:highlight>
                <a:srgbClr val="E7F0F9"/>
              </a:highlight>
            </a:endParaRPr>
          </a:p>
        </p:txBody>
      </p:sp>
      <p:cxnSp>
        <p:nvCxnSpPr>
          <p:cNvPr id="235" name="Google Shape;2596;g3f5188ffaf6_0_0">
            <a:extLst>
              <a:ext uri="{FF2B5EF4-FFF2-40B4-BE49-F238E27FC236}">
                <a16:creationId xmlns:a16="http://schemas.microsoft.com/office/drawing/2014/main" id="{1F3AA0B0-9EAB-C78D-DA51-D9C33A1FAF9E}"/>
              </a:ext>
            </a:extLst>
          </p:cNvPr>
          <p:cNvCxnSpPr/>
          <p:nvPr/>
        </p:nvCxnSpPr>
        <p:spPr>
          <a:xfrm>
            <a:off x="6262939" y="990721"/>
            <a:ext cx="212778" cy="0"/>
          </a:xfrm>
          <a:prstGeom prst="straightConnector1">
            <a:avLst/>
          </a:prstGeom>
          <a:noFill/>
          <a:ln w="12900" cap="flat" cmpd="sng">
            <a:solidFill>
              <a:schemeClr val="dk1"/>
            </a:solidFill>
            <a:prstDash val="solid"/>
            <a:round/>
            <a:headEnd type="none" w="sm" len="sm"/>
            <a:tailEnd type="triangle" w="med" len="med"/>
          </a:ln>
        </p:spPr>
      </p:cxnSp>
      <p:sp>
        <p:nvSpPr>
          <p:cNvPr id="236" name="Google Shape;2597;g3f5188ffaf6_0_0">
            <a:extLst>
              <a:ext uri="{FF2B5EF4-FFF2-40B4-BE49-F238E27FC236}">
                <a16:creationId xmlns:a16="http://schemas.microsoft.com/office/drawing/2014/main" id="{BDCC36E1-8901-8E85-37AA-7E73AAAE13CC}"/>
              </a:ext>
            </a:extLst>
          </p:cNvPr>
          <p:cNvSpPr txBox="1"/>
          <p:nvPr/>
        </p:nvSpPr>
        <p:spPr>
          <a:xfrm>
            <a:off x="6501746" y="720485"/>
            <a:ext cx="898665" cy="55588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i="0" u="none" strike="noStrike" cap="none">
                <a:solidFill>
                  <a:schemeClr val="dk1"/>
                </a:solidFill>
                <a:latin typeface="Courier New"/>
                <a:ea typeface="Courier New"/>
                <a:cs typeface="Courier New"/>
                <a:sym typeface="Courier New"/>
              </a:rPr>
              <a:t>????????</a:t>
            </a:r>
            <a:endParaRPr sz="1400" b="1">
              <a:solidFill>
                <a:schemeClr val="dk1"/>
              </a:solidFill>
            </a:endParaRPr>
          </a:p>
        </p:txBody>
      </p:sp>
      <p:sp>
        <p:nvSpPr>
          <p:cNvPr id="237" name="Google Shape;2598;g3f5188ffaf6_0_0">
            <a:extLst>
              <a:ext uri="{FF2B5EF4-FFF2-40B4-BE49-F238E27FC236}">
                <a16:creationId xmlns:a16="http://schemas.microsoft.com/office/drawing/2014/main" id="{366D2428-94C4-1869-CD2E-993FEDC6EC57}"/>
              </a:ext>
            </a:extLst>
          </p:cNvPr>
          <p:cNvSpPr txBox="1"/>
          <p:nvPr/>
        </p:nvSpPr>
        <p:spPr>
          <a:xfrm>
            <a:off x="775694" y="2569517"/>
            <a:ext cx="934128" cy="1250741"/>
          </a:xfrm>
          <a:prstGeom prst="rect">
            <a:avLst/>
          </a:prstGeom>
          <a:noFill/>
          <a:ln>
            <a:noFill/>
          </a:ln>
        </p:spPr>
        <p:txBody>
          <a:bodyPr spcFirstLastPara="1" wrap="square" lIns="0" tIns="0" rIns="0" bIns="0" anchor="ctr" anchorCtr="0">
            <a:spAutoFit/>
          </a:bodyPr>
          <a:lstStyle/>
          <a:p>
            <a:pPr marL="0" marR="0" lvl="0" indent="0" algn="l" rtl="0">
              <a:lnSpc>
                <a:spcPct val="150000"/>
              </a:lnSpc>
              <a:spcBef>
                <a:spcPts val="0"/>
              </a:spcBef>
              <a:spcAft>
                <a:spcPts val="0"/>
              </a:spcAft>
              <a:buNone/>
            </a:pPr>
            <a:r>
              <a:rPr lang="en-US" sz="1400" b="1" dirty="0">
                <a:solidFill>
                  <a:srgbClr val="1A1A1A"/>
                </a:solidFill>
                <a:latin typeface="Courier New"/>
                <a:ea typeface="Courier New"/>
                <a:cs typeface="Courier New"/>
                <a:sym typeface="Courier New"/>
              </a:rPr>
              <a:t>  </a:t>
            </a:r>
            <a:r>
              <a:rPr lang="en-US" sz="1400" b="1" i="0" u="none" strike="noStrike" cap="none" dirty="0">
                <a:solidFill>
                  <a:srgbClr val="1A1A1A"/>
                </a:solidFill>
                <a:latin typeface="Courier New"/>
                <a:ea typeface="Courier New"/>
                <a:cs typeface="Courier New"/>
                <a:sym typeface="Courier New"/>
              </a:rPr>
              <a:t>0 </a:t>
            </a:r>
            <a:r>
              <a:rPr lang="en-US" sz="1400" b="1" dirty="0">
                <a:solidFill>
                  <a:schemeClr val="dk1"/>
                </a:solidFill>
                <a:latin typeface="Courier New"/>
                <a:ea typeface="Courier New"/>
                <a:cs typeface="Courier New"/>
                <a:sym typeface="Courier New"/>
              </a:rPr>
              <a:t>⇒ 4</a:t>
            </a:r>
            <a:endParaRPr sz="1400" b="1" dirty="0">
              <a:solidFill>
                <a:schemeClr val="dk1"/>
              </a:solidFill>
              <a:latin typeface="Courier New"/>
              <a:ea typeface="Courier New"/>
              <a:cs typeface="Courier New"/>
              <a:sym typeface="Courier New"/>
            </a:endParaRPr>
          </a:p>
          <a:p>
            <a:pPr marL="0" marR="0" lvl="0" indent="0" algn="l" rtl="0">
              <a:lnSpc>
                <a:spcPct val="150000"/>
              </a:lnSpc>
              <a:spcBef>
                <a:spcPts val="0"/>
              </a:spcBef>
              <a:spcAft>
                <a:spcPts val="0"/>
              </a:spcAft>
              <a:buNone/>
            </a:pPr>
            <a:r>
              <a:rPr lang="en-US" sz="1400" b="1" dirty="0">
                <a:solidFill>
                  <a:schemeClr val="dk1"/>
                </a:solidFill>
                <a:latin typeface="Courier New"/>
                <a:ea typeface="Courier New"/>
                <a:cs typeface="Courier New"/>
                <a:sym typeface="Courier New"/>
              </a:rPr>
              <a:t>  1 ⇒ 9</a:t>
            </a:r>
            <a:endParaRPr sz="1400" b="1" dirty="0">
              <a:solidFill>
                <a:schemeClr val="dk1"/>
              </a:solidFill>
              <a:latin typeface="Courier New"/>
              <a:ea typeface="Courier New"/>
              <a:cs typeface="Courier New"/>
              <a:sym typeface="Courier New"/>
            </a:endParaRPr>
          </a:p>
          <a:p>
            <a:pPr marL="0" marR="0" lvl="0" indent="0" algn="l" rtl="0">
              <a:lnSpc>
                <a:spcPct val="150000"/>
              </a:lnSpc>
              <a:spcBef>
                <a:spcPts val="0"/>
              </a:spcBef>
              <a:spcAft>
                <a:spcPts val="0"/>
              </a:spcAft>
              <a:buNone/>
            </a:pPr>
            <a:r>
              <a:rPr lang="en-US" sz="1400" b="1" dirty="0">
                <a:solidFill>
                  <a:schemeClr val="dk1"/>
                </a:solidFill>
                <a:highlight>
                  <a:srgbClr val="FFEEB0"/>
                </a:highlight>
                <a:latin typeface="Courier New"/>
                <a:ea typeface="Courier New"/>
                <a:cs typeface="Courier New"/>
                <a:sym typeface="Courier New"/>
              </a:rPr>
              <a:t>SEP</a:t>
            </a:r>
            <a:r>
              <a:rPr lang="en-US" sz="1400" b="1" dirty="0">
                <a:solidFill>
                  <a:schemeClr val="dk1"/>
                </a:solidFill>
                <a:latin typeface="Courier New"/>
                <a:ea typeface="Courier New"/>
                <a:cs typeface="Courier New"/>
                <a:sym typeface="Courier New"/>
              </a:rPr>
              <a:t> ⇒ </a:t>
            </a:r>
            <a:r>
              <a:rPr lang="en-US" sz="1400" b="1" dirty="0">
                <a:solidFill>
                  <a:schemeClr val="dk1"/>
                </a:solidFill>
                <a:highlight>
                  <a:srgbClr val="FFEEB0"/>
                </a:highlight>
                <a:latin typeface="Courier New"/>
                <a:ea typeface="Courier New"/>
                <a:cs typeface="Courier New"/>
                <a:sym typeface="Courier New"/>
              </a:rPr>
              <a:t>2</a:t>
            </a:r>
            <a:endParaRPr sz="1400" b="1" dirty="0">
              <a:solidFill>
                <a:schemeClr val="dk1"/>
              </a:solidFill>
              <a:highlight>
                <a:srgbClr val="FFEEB0"/>
              </a:highlight>
              <a:latin typeface="Courier New"/>
              <a:ea typeface="Courier New"/>
              <a:cs typeface="Courier New"/>
              <a:sym typeface="Courier New"/>
            </a:endParaRPr>
          </a:p>
        </p:txBody>
      </p:sp>
      <p:sp>
        <p:nvSpPr>
          <p:cNvPr id="238" name="Google Shape;2599;g3f5188ffaf6_0_0">
            <a:extLst>
              <a:ext uri="{FF2B5EF4-FFF2-40B4-BE49-F238E27FC236}">
                <a16:creationId xmlns:a16="http://schemas.microsoft.com/office/drawing/2014/main" id="{485F924E-CA83-6AD4-CCE3-A93240077896}"/>
              </a:ext>
            </a:extLst>
          </p:cNvPr>
          <p:cNvSpPr/>
          <p:nvPr/>
        </p:nvSpPr>
        <p:spPr>
          <a:xfrm>
            <a:off x="9188434" y="2821820"/>
            <a:ext cx="188196" cy="190805"/>
          </a:xfrm>
          <a:prstGeom prst="rect">
            <a:avLst/>
          </a:prstGeom>
          <a:solidFill>
            <a:srgbClr val="151515"/>
          </a:solidFill>
          <a:ln w="7325" cap="flat" cmpd="sng">
            <a:solidFill>
              <a:srgbClr val="1A1A1A"/>
            </a:solidFill>
            <a:prstDash val="solid"/>
            <a:round/>
            <a:headEnd type="none" w="sm" len="sm"/>
            <a:tailEnd type="none" w="sm" len="sm"/>
          </a:ln>
        </p:spPr>
        <p:txBody>
          <a:bodyPr spcFirstLastPara="1" wrap="square" lIns="70200" tIns="35075" rIns="70200" bIns="35075" anchor="ctr" anchorCtr="0">
            <a:noAutofit/>
          </a:bodyPr>
          <a:lstStyle/>
          <a:p>
            <a:pPr marL="0" marR="0" lvl="0" indent="0" algn="ctr"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239" name="Google Shape;2600;g3f5188ffaf6_0_0">
            <a:extLst>
              <a:ext uri="{FF2B5EF4-FFF2-40B4-BE49-F238E27FC236}">
                <a16:creationId xmlns:a16="http://schemas.microsoft.com/office/drawing/2014/main" id="{65750CA0-7F89-DB28-0F1A-2CCABA5EAF94}"/>
              </a:ext>
            </a:extLst>
          </p:cNvPr>
          <p:cNvSpPr/>
          <p:nvPr/>
        </p:nvSpPr>
        <p:spPr>
          <a:xfrm>
            <a:off x="9188434" y="3100089"/>
            <a:ext cx="188196" cy="190805"/>
          </a:xfrm>
          <a:prstGeom prst="rect">
            <a:avLst/>
          </a:prstGeom>
          <a:solidFill>
            <a:srgbClr val="F2F2F2"/>
          </a:solidFill>
          <a:ln w="7325" cap="flat" cmpd="sng">
            <a:solidFill>
              <a:srgbClr val="1A1A1A"/>
            </a:solidFill>
            <a:prstDash val="solid"/>
            <a:round/>
            <a:headEnd type="none" w="sm" len="sm"/>
            <a:tailEnd type="none" w="sm" len="sm"/>
          </a:ln>
        </p:spPr>
        <p:txBody>
          <a:bodyPr spcFirstLastPara="1" wrap="square" lIns="70200" tIns="35075" rIns="70200" bIns="35075" anchor="ctr" anchorCtr="0">
            <a:noAutofit/>
          </a:bodyPr>
          <a:lstStyle/>
          <a:p>
            <a:pPr marL="0" marR="0" lvl="0" indent="0" algn="ctr"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240" name="Google Shape;2601;g3f5188ffaf6_0_0">
            <a:extLst>
              <a:ext uri="{FF2B5EF4-FFF2-40B4-BE49-F238E27FC236}">
                <a16:creationId xmlns:a16="http://schemas.microsoft.com/office/drawing/2014/main" id="{FD54A5FE-652E-BC95-B99E-B1D0AF0B781D}"/>
              </a:ext>
            </a:extLst>
          </p:cNvPr>
          <p:cNvSpPr/>
          <p:nvPr/>
        </p:nvSpPr>
        <p:spPr>
          <a:xfrm>
            <a:off x="9188434" y="3383086"/>
            <a:ext cx="188196" cy="190805"/>
          </a:xfrm>
          <a:prstGeom prst="rect">
            <a:avLst/>
          </a:prstGeom>
          <a:solidFill>
            <a:srgbClr val="BCBCBC"/>
          </a:solidFill>
          <a:ln w="7325" cap="flat" cmpd="sng">
            <a:solidFill>
              <a:srgbClr val="1A1A1A"/>
            </a:solidFill>
            <a:prstDash val="solid"/>
            <a:round/>
            <a:headEnd type="none" w="sm" len="sm"/>
            <a:tailEnd type="none" w="sm" len="sm"/>
          </a:ln>
        </p:spPr>
        <p:txBody>
          <a:bodyPr spcFirstLastPara="1" wrap="square" lIns="70200" tIns="35075" rIns="70200" bIns="35075" anchor="ctr" anchorCtr="0">
            <a:noAutofit/>
          </a:bodyPr>
          <a:lstStyle/>
          <a:p>
            <a:pPr marL="0" marR="0" lvl="0" indent="0" algn="ctr"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241" name="Google Shape;2602;g3f5188ffaf6_0_0">
            <a:extLst>
              <a:ext uri="{FF2B5EF4-FFF2-40B4-BE49-F238E27FC236}">
                <a16:creationId xmlns:a16="http://schemas.microsoft.com/office/drawing/2014/main" id="{6E8CAA74-095D-F62A-FD68-E9A04E316455}"/>
              </a:ext>
            </a:extLst>
          </p:cNvPr>
          <p:cNvSpPr/>
          <p:nvPr/>
        </p:nvSpPr>
        <p:spPr>
          <a:xfrm>
            <a:off x="11106316" y="2875390"/>
            <a:ext cx="326805" cy="100790"/>
          </a:xfrm>
          <a:custGeom>
            <a:avLst/>
            <a:gdLst/>
            <a:ahLst/>
            <a:cxnLst/>
            <a:rect l="l" t="t" r="r" b="b"/>
            <a:pathLst>
              <a:path w="316985" h="78126" extrusionOk="0">
                <a:moveTo>
                  <a:pt x="0" y="0"/>
                </a:moveTo>
                <a:lnTo>
                  <a:pt x="21133" y="16333"/>
                </a:lnTo>
                <a:lnTo>
                  <a:pt x="42265" y="31952"/>
                </a:lnTo>
                <a:lnTo>
                  <a:pt x="63397" y="46175"/>
                </a:lnTo>
                <a:lnTo>
                  <a:pt x="84530" y="58379"/>
                </a:lnTo>
                <a:lnTo>
                  <a:pt x="105662" y="68032"/>
                </a:lnTo>
                <a:lnTo>
                  <a:pt x="126794" y="74712"/>
                </a:lnTo>
                <a:lnTo>
                  <a:pt x="147926" y="78126"/>
                </a:lnTo>
                <a:lnTo>
                  <a:pt x="169059" y="78126"/>
                </a:lnTo>
                <a:lnTo>
                  <a:pt x="190191" y="74712"/>
                </a:lnTo>
                <a:lnTo>
                  <a:pt x="211323" y="68032"/>
                </a:lnTo>
                <a:lnTo>
                  <a:pt x="232455" y="58379"/>
                </a:lnTo>
                <a:lnTo>
                  <a:pt x="253588" y="46175"/>
                </a:lnTo>
                <a:lnTo>
                  <a:pt x="274720" y="31952"/>
                </a:lnTo>
                <a:lnTo>
                  <a:pt x="295852" y="16333"/>
                </a:lnTo>
                <a:lnTo>
                  <a:pt x="316985" y="0"/>
                </a:lnTo>
              </a:path>
            </a:pathLst>
          </a:custGeom>
          <a:noFill/>
          <a:ln w="13700" cap="flat" cmpd="sng">
            <a:solidFill>
              <a:srgbClr val="159A9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42" name="Google Shape;2603;g3f5188ffaf6_0_0">
            <a:extLst>
              <a:ext uri="{FF2B5EF4-FFF2-40B4-BE49-F238E27FC236}">
                <a16:creationId xmlns:a16="http://schemas.microsoft.com/office/drawing/2014/main" id="{98B88E22-8BB1-FC04-4068-D137172516FB}"/>
              </a:ext>
            </a:extLst>
          </p:cNvPr>
          <p:cNvSpPr/>
          <p:nvPr/>
        </p:nvSpPr>
        <p:spPr>
          <a:xfrm>
            <a:off x="11106316" y="3177309"/>
            <a:ext cx="326805" cy="100790"/>
          </a:xfrm>
          <a:custGeom>
            <a:avLst/>
            <a:gdLst/>
            <a:ahLst/>
            <a:cxnLst/>
            <a:rect l="l" t="t" r="r" b="b"/>
            <a:pathLst>
              <a:path w="316985" h="78126" extrusionOk="0">
                <a:moveTo>
                  <a:pt x="0" y="78126"/>
                </a:moveTo>
                <a:lnTo>
                  <a:pt x="21133" y="61793"/>
                </a:lnTo>
                <a:lnTo>
                  <a:pt x="42265" y="46174"/>
                </a:lnTo>
                <a:lnTo>
                  <a:pt x="63397" y="31952"/>
                </a:lnTo>
                <a:lnTo>
                  <a:pt x="84530" y="19748"/>
                </a:lnTo>
                <a:lnTo>
                  <a:pt x="105662" y="10095"/>
                </a:lnTo>
                <a:lnTo>
                  <a:pt x="126794" y="3415"/>
                </a:lnTo>
                <a:lnTo>
                  <a:pt x="147926" y="0"/>
                </a:lnTo>
                <a:lnTo>
                  <a:pt x="169059" y="0"/>
                </a:lnTo>
                <a:lnTo>
                  <a:pt x="190191" y="3415"/>
                </a:lnTo>
                <a:lnTo>
                  <a:pt x="211323" y="10095"/>
                </a:lnTo>
                <a:lnTo>
                  <a:pt x="232455" y="19748"/>
                </a:lnTo>
                <a:lnTo>
                  <a:pt x="253588" y="31952"/>
                </a:lnTo>
                <a:lnTo>
                  <a:pt x="274720" y="46174"/>
                </a:lnTo>
                <a:lnTo>
                  <a:pt x="295852" y="61793"/>
                </a:lnTo>
                <a:lnTo>
                  <a:pt x="316985" y="78126"/>
                </a:lnTo>
              </a:path>
            </a:pathLst>
          </a:custGeom>
          <a:noFill/>
          <a:ln w="13700" cap="flat" cmpd="sng">
            <a:solidFill>
              <a:srgbClr val="159A9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43" name="Google Shape;2604;g3f5188ffaf6_0_0">
            <a:extLst>
              <a:ext uri="{FF2B5EF4-FFF2-40B4-BE49-F238E27FC236}">
                <a16:creationId xmlns:a16="http://schemas.microsoft.com/office/drawing/2014/main" id="{A6A6BE92-8152-ED86-542D-07F95C89F641}"/>
              </a:ext>
            </a:extLst>
          </p:cNvPr>
          <p:cNvSpPr txBox="1"/>
          <p:nvPr/>
        </p:nvSpPr>
        <p:spPr>
          <a:xfrm>
            <a:off x="507238" y="1431001"/>
            <a:ext cx="1477356" cy="55588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400" b="1" i="0" u="none" strike="noStrike" cap="none">
                <a:solidFill>
                  <a:srgbClr val="2B5FD6"/>
                </a:solidFill>
                <a:latin typeface="Arial"/>
                <a:ea typeface="Arial"/>
                <a:cs typeface="Arial"/>
                <a:sym typeface="Arial"/>
              </a:rPr>
              <a:t>Language </a:t>
            </a:r>
            <a:br>
              <a:rPr lang="en-US" sz="1400" b="1" i="0" u="none" strike="noStrike" cap="none">
                <a:solidFill>
                  <a:srgbClr val="2B5FD6"/>
                </a:solidFill>
                <a:latin typeface="Arial"/>
                <a:ea typeface="Arial"/>
                <a:cs typeface="Arial"/>
                <a:sym typeface="Arial"/>
              </a:rPr>
            </a:br>
            <a:r>
              <a:rPr lang="en-US" sz="1400" b="1" i="0" u="none" strike="noStrike" cap="none">
                <a:solidFill>
                  <a:srgbClr val="2B5FD6"/>
                </a:solidFill>
                <a:latin typeface="Arial"/>
                <a:ea typeface="Arial"/>
                <a:cs typeface="Arial"/>
                <a:sym typeface="Arial"/>
              </a:rPr>
              <a:t>(digits)</a:t>
            </a:r>
            <a:endParaRPr sz="1400"/>
          </a:p>
        </p:txBody>
      </p:sp>
      <p:sp>
        <p:nvSpPr>
          <p:cNvPr id="244" name="Google Shape;2605;g3f5188ffaf6_0_0">
            <a:extLst>
              <a:ext uri="{FF2B5EF4-FFF2-40B4-BE49-F238E27FC236}">
                <a16:creationId xmlns:a16="http://schemas.microsoft.com/office/drawing/2014/main" id="{03A96853-E965-5D80-D6CF-6CDDEB590222}"/>
              </a:ext>
            </a:extLst>
          </p:cNvPr>
          <p:cNvSpPr/>
          <p:nvPr/>
        </p:nvSpPr>
        <p:spPr>
          <a:xfrm>
            <a:off x="770438" y="5833573"/>
            <a:ext cx="981277" cy="397091"/>
          </a:xfrm>
          <a:prstGeom prst="roundRect">
            <a:avLst>
              <a:gd name="adj" fmla="val 12000"/>
            </a:avLst>
          </a:prstGeom>
          <a:solidFill>
            <a:srgbClr val="EAF0FD"/>
          </a:solidFill>
          <a:ln w="12075" cap="flat" cmpd="sng">
            <a:solidFill>
              <a:srgbClr val="2B5FD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45" name="Google Shape;2606;g3f5188ffaf6_0_0">
            <a:extLst>
              <a:ext uri="{FF2B5EF4-FFF2-40B4-BE49-F238E27FC236}">
                <a16:creationId xmlns:a16="http://schemas.microsoft.com/office/drawing/2014/main" id="{B9AFD977-39E3-798D-C657-5A02E9A6B3EE}"/>
              </a:ext>
            </a:extLst>
          </p:cNvPr>
          <p:cNvSpPr txBox="1"/>
          <p:nvPr/>
        </p:nvSpPr>
        <p:spPr>
          <a:xfrm>
            <a:off x="975661" y="5878529"/>
            <a:ext cx="642767" cy="277943"/>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i="0" u="none" strike="noStrike" cap="none">
                <a:solidFill>
                  <a:srgbClr val="2B5FD6"/>
                </a:solidFill>
                <a:latin typeface="Arial"/>
                <a:ea typeface="Arial"/>
                <a:cs typeface="Arial"/>
                <a:sym typeface="Arial"/>
              </a:rPr>
              <a:t>Qwen3</a:t>
            </a:r>
            <a:endParaRPr sz="1400"/>
          </a:p>
        </p:txBody>
      </p:sp>
      <p:sp>
        <p:nvSpPr>
          <p:cNvPr id="246" name="Google Shape;2607;g3f5188ffaf6_0_0">
            <a:extLst>
              <a:ext uri="{FF2B5EF4-FFF2-40B4-BE49-F238E27FC236}">
                <a16:creationId xmlns:a16="http://schemas.microsoft.com/office/drawing/2014/main" id="{7525E025-13B1-AEB5-B34B-5EF80D1B0E9A}"/>
              </a:ext>
            </a:extLst>
          </p:cNvPr>
          <p:cNvSpPr txBox="1"/>
          <p:nvPr/>
        </p:nvSpPr>
        <p:spPr>
          <a:xfrm>
            <a:off x="2128882" y="1436911"/>
            <a:ext cx="2039526" cy="55588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400" b="1" i="0" u="none" strike="noStrike" cap="none">
                <a:solidFill>
                  <a:srgbClr val="2E8B57"/>
                </a:solidFill>
                <a:latin typeface="Arial"/>
                <a:ea typeface="Arial"/>
                <a:cs typeface="Arial"/>
                <a:sym typeface="Arial"/>
              </a:rPr>
              <a:t>Genome </a:t>
            </a:r>
            <a:br>
              <a:rPr lang="en-US" sz="1400" b="1" i="0" u="none" strike="noStrike" cap="none">
                <a:solidFill>
                  <a:srgbClr val="2E8B57"/>
                </a:solidFill>
                <a:latin typeface="Arial"/>
                <a:ea typeface="Arial"/>
                <a:cs typeface="Arial"/>
                <a:sym typeface="Arial"/>
              </a:rPr>
            </a:br>
            <a:r>
              <a:rPr lang="en-US" sz="1400" b="1" i="0" u="none" strike="noStrike" cap="none">
                <a:solidFill>
                  <a:srgbClr val="2E8B57"/>
                </a:solidFill>
                <a:latin typeface="Arial"/>
                <a:ea typeface="Arial"/>
                <a:cs typeface="Arial"/>
                <a:sym typeface="Arial"/>
              </a:rPr>
              <a:t>(</a:t>
            </a:r>
            <a:r>
              <a:rPr lang="en-US" sz="1400" b="1">
                <a:solidFill>
                  <a:srgbClr val="2E8B57"/>
                </a:solidFill>
              </a:rPr>
              <a:t>nucleotides</a:t>
            </a:r>
            <a:r>
              <a:rPr lang="en-US" sz="1400" b="1" i="0" u="none" strike="noStrike" cap="none">
                <a:solidFill>
                  <a:srgbClr val="2E8B57"/>
                </a:solidFill>
                <a:latin typeface="Arial"/>
                <a:ea typeface="Arial"/>
                <a:cs typeface="Arial"/>
                <a:sym typeface="Arial"/>
              </a:rPr>
              <a:t>)</a:t>
            </a:r>
            <a:endParaRPr sz="1400"/>
          </a:p>
        </p:txBody>
      </p:sp>
      <p:sp>
        <p:nvSpPr>
          <p:cNvPr id="247" name="Google Shape;2608;g3f5188ffaf6_0_0">
            <a:extLst>
              <a:ext uri="{FF2B5EF4-FFF2-40B4-BE49-F238E27FC236}">
                <a16:creationId xmlns:a16="http://schemas.microsoft.com/office/drawing/2014/main" id="{7B0995C9-7D8E-6D73-ADD8-A9A364CBA433}"/>
              </a:ext>
            </a:extLst>
          </p:cNvPr>
          <p:cNvSpPr/>
          <p:nvPr/>
        </p:nvSpPr>
        <p:spPr>
          <a:xfrm>
            <a:off x="2221943" y="4595348"/>
            <a:ext cx="1895256" cy="1010531"/>
          </a:xfrm>
          <a:prstGeom prst="roundRect">
            <a:avLst>
              <a:gd name="adj" fmla="val 6000"/>
            </a:avLst>
          </a:prstGeom>
          <a:solidFill>
            <a:srgbClr val="FCFCFC"/>
          </a:solidFill>
          <a:ln w="12075" cap="flat" cmpd="sng">
            <a:solidFill>
              <a:srgbClr val="2E8B5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48" name="Google Shape;2609;g3f5188ffaf6_0_0">
            <a:extLst>
              <a:ext uri="{FF2B5EF4-FFF2-40B4-BE49-F238E27FC236}">
                <a16:creationId xmlns:a16="http://schemas.microsoft.com/office/drawing/2014/main" id="{A3CC0068-6F17-A94B-6DE1-5D74FF8AE66D}"/>
              </a:ext>
            </a:extLst>
          </p:cNvPr>
          <p:cNvSpPr/>
          <p:nvPr/>
        </p:nvSpPr>
        <p:spPr>
          <a:xfrm>
            <a:off x="2675296" y="5833669"/>
            <a:ext cx="935337" cy="397091"/>
          </a:xfrm>
          <a:prstGeom prst="roundRect">
            <a:avLst>
              <a:gd name="adj" fmla="val 12000"/>
            </a:avLst>
          </a:prstGeom>
          <a:solidFill>
            <a:srgbClr val="E7F4EC"/>
          </a:solidFill>
          <a:ln w="12075" cap="flat" cmpd="sng">
            <a:solidFill>
              <a:srgbClr val="2E8B5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49" name="Google Shape;2610;g3f5188ffaf6_0_0">
            <a:extLst>
              <a:ext uri="{FF2B5EF4-FFF2-40B4-BE49-F238E27FC236}">
                <a16:creationId xmlns:a16="http://schemas.microsoft.com/office/drawing/2014/main" id="{A1831C16-2FE5-840E-BFED-90AB17EBA849}"/>
              </a:ext>
            </a:extLst>
          </p:cNvPr>
          <p:cNvSpPr txBox="1"/>
          <p:nvPr/>
        </p:nvSpPr>
        <p:spPr>
          <a:xfrm>
            <a:off x="2924614" y="5739558"/>
            <a:ext cx="458601" cy="55588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i="0" u="none" strike="noStrike" cap="none">
                <a:solidFill>
                  <a:srgbClr val="2E8B57"/>
                </a:solidFill>
                <a:latin typeface="Arial"/>
                <a:ea typeface="Arial"/>
                <a:cs typeface="Arial"/>
                <a:sym typeface="Arial"/>
              </a:rPr>
              <a:t>Evo2</a:t>
            </a:r>
            <a:endParaRPr sz="1400"/>
          </a:p>
        </p:txBody>
      </p:sp>
      <p:sp>
        <p:nvSpPr>
          <p:cNvPr id="250" name="Google Shape;2611;g3f5188ffaf6_0_0">
            <a:extLst>
              <a:ext uri="{FF2B5EF4-FFF2-40B4-BE49-F238E27FC236}">
                <a16:creationId xmlns:a16="http://schemas.microsoft.com/office/drawing/2014/main" id="{DD25CD65-CB44-9DA4-75AB-71A272507323}"/>
              </a:ext>
            </a:extLst>
          </p:cNvPr>
          <p:cNvSpPr txBox="1"/>
          <p:nvPr/>
        </p:nvSpPr>
        <p:spPr>
          <a:xfrm>
            <a:off x="4225619" y="1424963"/>
            <a:ext cx="1760657" cy="55588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400" b="1" i="0" u="none" strike="noStrike" cap="none">
                <a:solidFill>
                  <a:srgbClr val="7B3FBF"/>
                </a:solidFill>
                <a:latin typeface="Arial"/>
                <a:ea typeface="Arial"/>
                <a:cs typeface="Arial"/>
                <a:sym typeface="Arial"/>
              </a:rPr>
              <a:t>Protein </a:t>
            </a:r>
            <a:br>
              <a:rPr lang="en-US" sz="1400" b="1" i="0" u="none" strike="noStrike" cap="none">
                <a:solidFill>
                  <a:srgbClr val="7B3FBF"/>
                </a:solidFill>
                <a:latin typeface="Arial"/>
                <a:ea typeface="Arial"/>
                <a:cs typeface="Arial"/>
                <a:sym typeface="Arial"/>
              </a:rPr>
            </a:br>
            <a:r>
              <a:rPr lang="en-US" sz="1400" b="1" i="0" u="none" strike="noStrike" cap="none">
                <a:solidFill>
                  <a:srgbClr val="7B3FBF"/>
                </a:solidFill>
                <a:latin typeface="Arial"/>
                <a:ea typeface="Arial"/>
                <a:cs typeface="Arial"/>
                <a:sym typeface="Arial"/>
              </a:rPr>
              <a:t>(amino acids)</a:t>
            </a:r>
            <a:endParaRPr sz="1400"/>
          </a:p>
        </p:txBody>
      </p:sp>
      <p:sp>
        <p:nvSpPr>
          <p:cNvPr id="251" name="Google Shape;2612;g3f5188ffaf6_0_0">
            <a:extLst>
              <a:ext uri="{FF2B5EF4-FFF2-40B4-BE49-F238E27FC236}">
                <a16:creationId xmlns:a16="http://schemas.microsoft.com/office/drawing/2014/main" id="{F6BBFC7A-629D-A7DE-5ABA-73E7431E15CC}"/>
              </a:ext>
            </a:extLst>
          </p:cNvPr>
          <p:cNvSpPr/>
          <p:nvPr/>
        </p:nvSpPr>
        <p:spPr>
          <a:xfrm>
            <a:off x="4162540" y="4595344"/>
            <a:ext cx="1898882" cy="1010531"/>
          </a:xfrm>
          <a:prstGeom prst="roundRect">
            <a:avLst>
              <a:gd name="adj" fmla="val 6000"/>
            </a:avLst>
          </a:prstGeom>
          <a:solidFill>
            <a:srgbClr val="FCFCFC"/>
          </a:solidFill>
          <a:ln w="12075" cap="flat" cmpd="sng">
            <a:solidFill>
              <a:srgbClr val="7B3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52" name="Google Shape;2613;g3f5188ffaf6_0_0">
            <a:extLst>
              <a:ext uri="{FF2B5EF4-FFF2-40B4-BE49-F238E27FC236}">
                <a16:creationId xmlns:a16="http://schemas.microsoft.com/office/drawing/2014/main" id="{097611FB-F3A5-B386-4F98-5E35362C05BA}"/>
              </a:ext>
            </a:extLst>
          </p:cNvPr>
          <p:cNvSpPr/>
          <p:nvPr/>
        </p:nvSpPr>
        <p:spPr>
          <a:xfrm>
            <a:off x="4541368" y="5822198"/>
            <a:ext cx="1097741" cy="426505"/>
          </a:xfrm>
          <a:prstGeom prst="roundRect">
            <a:avLst>
              <a:gd name="adj" fmla="val 12000"/>
            </a:avLst>
          </a:prstGeom>
          <a:solidFill>
            <a:srgbClr val="F1EAFB"/>
          </a:solidFill>
          <a:ln w="12075" cap="flat" cmpd="sng">
            <a:solidFill>
              <a:srgbClr val="7B3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53" name="Google Shape;2614;g3f5188ffaf6_0_0">
            <a:extLst>
              <a:ext uri="{FF2B5EF4-FFF2-40B4-BE49-F238E27FC236}">
                <a16:creationId xmlns:a16="http://schemas.microsoft.com/office/drawing/2014/main" id="{91D3FC23-DEDD-978C-383D-4E27B6C2D191}"/>
              </a:ext>
            </a:extLst>
          </p:cNvPr>
          <p:cNvSpPr txBox="1"/>
          <p:nvPr/>
        </p:nvSpPr>
        <p:spPr>
          <a:xfrm>
            <a:off x="4715147" y="5750608"/>
            <a:ext cx="753589" cy="55588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i="0" u="none" strike="noStrike" cap="none">
                <a:solidFill>
                  <a:srgbClr val="7B3FBF"/>
                </a:solidFill>
                <a:latin typeface="Arial"/>
                <a:ea typeface="Arial"/>
                <a:cs typeface="Arial"/>
                <a:sym typeface="Arial"/>
              </a:rPr>
              <a:t>ProGen2</a:t>
            </a:r>
            <a:endParaRPr sz="1400"/>
          </a:p>
        </p:txBody>
      </p:sp>
      <p:sp>
        <p:nvSpPr>
          <p:cNvPr id="254" name="Google Shape;2615;g3f5188ffaf6_0_0">
            <a:extLst>
              <a:ext uri="{FF2B5EF4-FFF2-40B4-BE49-F238E27FC236}">
                <a16:creationId xmlns:a16="http://schemas.microsoft.com/office/drawing/2014/main" id="{9ECE730A-0114-1CF5-DE76-153607FAAABE}"/>
              </a:ext>
            </a:extLst>
          </p:cNvPr>
          <p:cNvSpPr txBox="1"/>
          <p:nvPr/>
        </p:nvSpPr>
        <p:spPr>
          <a:xfrm>
            <a:off x="6176590" y="1421411"/>
            <a:ext cx="1760657" cy="55588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400" b="1" i="0" u="none" strike="noStrike" cap="none">
                <a:solidFill>
                  <a:srgbClr val="E8622A"/>
                </a:solidFill>
                <a:latin typeface="Arial"/>
                <a:ea typeface="Arial"/>
                <a:cs typeface="Arial"/>
                <a:sym typeface="Arial"/>
              </a:rPr>
              <a:t>Integer sequence</a:t>
            </a:r>
            <a:br>
              <a:rPr lang="en-US" sz="1400" b="1" i="0" u="none" strike="noStrike" cap="none">
                <a:solidFill>
                  <a:srgbClr val="E8622A"/>
                </a:solidFill>
                <a:latin typeface="Arial"/>
                <a:ea typeface="Arial"/>
                <a:cs typeface="Arial"/>
                <a:sym typeface="Arial"/>
              </a:rPr>
            </a:br>
            <a:r>
              <a:rPr lang="en-US" sz="1400" b="1">
                <a:solidFill>
                  <a:srgbClr val="E8622A"/>
                </a:solidFill>
              </a:rPr>
              <a:t>(digits)</a:t>
            </a:r>
            <a:endParaRPr sz="1400"/>
          </a:p>
        </p:txBody>
      </p:sp>
      <p:sp>
        <p:nvSpPr>
          <p:cNvPr id="255" name="Google Shape;2616;g3f5188ffaf6_0_0">
            <a:extLst>
              <a:ext uri="{FF2B5EF4-FFF2-40B4-BE49-F238E27FC236}">
                <a16:creationId xmlns:a16="http://schemas.microsoft.com/office/drawing/2014/main" id="{F0E7B5B3-379E-F399-A816-1427EC375DBF}"/>
              </a:ext>
            </a:extLst>
          </p:cNvPr>
          <p:cNvSpPr/>
          <p:nvPr/>
        </p:nvSpPr>
        <p:spPr>
          <a:xfrm>
            <a:off x="6110998" y="4598247"/>
            <a:ext cx="1904121" cy="1010531"/>
          </a:xfrm>
          <a:prstGeom prst="roundRect">
            <a:avLst>
              <a:gd name="adj" fmla="val 6000"/>
            </a:avLst>
          </a:prstGeom>
          <a:solidFill>
            <a:srgbClr val="FCFCFC"/>
          </a:solidFill>
          <a:ln w="12075" cap="flat" cmpd="sng">
            <a:solidFill>
              <a:srgbClr val="E8622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56" name="Google Shape;2617;g3f5188ffaf6_0_0">
            <a:extLst>
              <a:ext uri="{FF2B5EF4-FFF2-40B4-BE49-F238E27FC236}">
                <a16:creationId xmlns:a16="http://schemas.microsoft.com/office/drawing/2014/main" id="{8FE22822-AF09-3466-A854-70245D53688E}"/>
              </a:ext>
            </a:extLst>
          </p:cNvPr>
          <p:cNvSpPr/>
          <p:nvPr/>
        </p:nvSpPr>
        <p:spPr>
          <a:xfrm>
            <a:off x="6375341" y="5816534"/>
            <a:ext cx="1264578" cy="426505"/>
          </a:xfrm>
          <a:prstGeom prst="roundRect">
            <a:avLst>
              <a:gd name="adj" fmla="val 12000"/>
            </a:avLst>
          </a:prstGeom>
          <a:solidFill>
            <a:srgbClr val="FDECE3"/>
          </a:solidFill>
          <a:ln w="12075" cap="flat" cmpd="sng">
            <a:solidFill>
              <a:srgbClr val="E8622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57" name="Google Shape;2618;g3f5188ffaf6_0_0">
            <a:extLst>
              <a:ext uri="{FF2B5EF4-FFF2-40B4-BE49-F238E27FC236}">
                <a16:creationId xmlns:a16="http://schemas.microsoft.com/office/drawing/2014/main" id="{94A2CF39-8BBD-5142-5107-3BD6D654D714}"/>
              </a:ext>
            </a:extLst>
          </p:cNvPr>
          <p:cNvSpPr txBox="1"/>
          <p:nvPr/>
        </p:nvSpPr>
        <p:spPr>
          <a:xfrm>
            <a:off x="6455408" y="5889578"/>
            <a:ext cx="1080816" cy="27794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400" b="1">
                <a:solidFill>
                  <a:srgbClr val="E8622A"/>
                </a:solidFill>
              </a:rPr>
              <a:t>NextTerm</a:t>
            </a:r>
            <a:endParaRPr sz="1400"/>
          </a:p>
        </p:txBody>
      </p:sp>
      <p:sp>
        <p:nvSpPr>
          <p:cNvPr id="258" name="Google Shape;2619;g3f5188ffaf6_0_0">
            <a:extLst>
              <a:ext uri="{FF2B5EF4-FFF2-40B4-BE49-F238E27FC236}">
                <a16:creationId xmlns:a16="http://schemas.microsoft.com/office/drawing/2014/main" id="{028F459E-8CA5-30C7-730F-6F315E7162EA}"/>
              </a:ext>
            </a:extLst>
          </p:cNvPr>
          <p:cNvSpPr txBox="1"/>
          <p:nvPr/>
        </p:nvSpPr>
        <p:spPr>
          <a:xfrm>
            <a:off x="8579003" y="1422122"/>
            <a:ext cx="1323415" cy="55588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400" b="1" i="0" u="none" strike="noStrike" cap="none" dirty="0">
                <a:solidFill>
                  <a:srgbClr val="2B6FB0"/>
                </a:solidFill>
                <a:latin typeface="Arial"/>
                <a:ea typeface="Arial"/>
                <a:cs typeface="Arial"/>
                <a:sym typeface="Arial"/>
              </a:rPr>
              <a:t>Image </a:t>
            </a:r>
            <a:br>
              <a:rPr lang="en-US" sz="1400" b="1" i="0" u="none" strike="noStrike" cap="none" dirty="0">
                <a:solidFill>
                  <a:srgbClr val="2B6FB0"/>
                </a:solidFill>
                <a:latin typeface="Arial"/>
                <a:ea typeface="Arial"/>
                <a:cs typeface="Arial"/>
                <a:sym typeface="Arial"/>
              </a:rPr>
            </a:br>
            <a:r>
              <a:rPr lang="en-US" sz="1400" b="1" i="0" u="none" strike="noStrike" cap="none" dirty="0">
                <a:solidFill>
                  <a:srgbClr val="2B6FB0"/>
                </a:solidFill>
                <a:latin typeface="Arial"/>
                <a:ea typeface="Arial"/>
                <a:cs typeface="Arial"/>
                <a:sym typeface="Arial"/>
              </a:rPr>
              <a:t>(pixels)</a:t>
            </a:r>
            <a:endParaRPr sz="1400" dirty="0"/>
          </a:p>
        </p:txBody>
      </p:sp>
      <p:sp>
        <p:nvSpPr>
          <p:cNvPr id="259" name="Google Shape;2620;g3f5188ffaf6_0_0">
            <a:extLst>
              <a:ext uri="{FF2B5EF4-FFF2-40B4-BE49-F238E27FC236}">
                <a16:creationId xmlns:a16="http://schemas.microsoft.com/office/drawing/2014/main" id="{D1FCD7DE-E2B9-DE7A-C3A3-D451059B99C6}"/>
              </a:ext>
            </a:extLst>
          </p:cNvPr>
          <p:cNvSpPr/>
          <p:nvPr/>
        </p:nvSpPr>
        <p:spPr>
          <a:xfrm>
            <a:off x="8114991" y="4799059"/>
            <a:ext cx="89866" cy="104885"/>
          </a:xfrm>
          <a:prstGeom prst="rect">
            <a:avLst/>
          </a:prstGeom>
          <a:solidFill>
            <a:srgbClr val="F2F2F2"/>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60" name="Google Shape;2621;g3f5188ffaf6_0_0">
            <a:extLst>
              <a:ext uri="{FF2B5EF4-FFF2-40B4-BE49-F238E27FC236}">
                <a16:creationId xmlns:a16="http://schemas.microsoft.com/office/drawing/2014/main" id="{F5DD0E29-8698-D4E9-9925-E1B0FEDA0E43}"/>
              </a:ext>
            </a:extLst>
          </p:cNvPr>
          <p:cNvSpPr/>
          <p:nvPr/>
        </p:nvSpPr>
        <p:spPr>
          <a:xfrm>
            <a:off x="8224460" y="4799059"/>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61" name="Google Shape;2622;g3f5188ffaf6_0_0">
            <a:extLst>
              <a:ext uri="{FF2B5EF4-FFF2-40B4-BE49-F238E27FC236}">
                <a16:creationId xmlns:a16="http://schemas.microsoft.com/office/drawing/2014/main" id="{A66D0CEC-EFBC-2074-C31E-9F2DAD8E77BA}"/>
              </a:ext>
            </a:extLst>
          </p:cNvPr>
          <p:cNvSpPr/>
          <p:nvPr/>
        </p:nvSpPr>
        <p:spPr>
          <a:xfrm>
            <a:off x="8333930" y="4799059"/>
            <a:ext cx="89866" cy="104885"/>
          </a:xfrm>
          <a:prstGeom prst="rect">
            <a:avLst/>
          </a:prstGeom>
          <a:solidFill>
            <a:srgbClr val="F2F2F2"/>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62" name="Google Shape;2623;g3f5188ffaf6_0_0">
            <a:extLst>
              <a:ext uri="{FF2B5EF4-FFF2-40B4-BE49-F238E27FC236}">
                <a16:creationId xmlns:a16="http://schemas.microsoft.com/office/drawing/2014/main" id="{066DE8A9-4863-69C8-7A12-809228E623E6}"/>
              </a:ext>
            </a:extLst>
          </p:cNvPr>
          <p:cNvSpPr/>
          <p:nvPr/>
        </p:nvSpPr>
        <p:spPr>
          <a:xfrm>
            <a:off x="8442688" y="4799059"/>
            <a:ext cx="95911"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63" name="Google Shape;2624;g3f5188ffaf6_0_0">
            <a:extLst>
              <a:ext uri="{FF2B5EF4-FFF2-40B4-BE49-F238E27FC236}">
                <a16:creationId xmlns:a16="http://schemas.microsoft.com/office/drawing/2014/main" id="{799C1A17-3CA2-69AF-3F7C-AA9D0F5EB921}"/>
              </a:ext>
            </a:extLst>
          </p:cNvPr>
          <p:cNvSpPr/>
          <p:nvPr/>
        </p:nvSpPr>
        <p:spPr>
          <a:xfrm>
            <a:off x="8552870" y="4799059"/>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64" name="Google Shape;2625;g3f5188ffaf6_0_0">
            <a:extLst>
              <a:ext uri="{FF2B5EF4-FFF2-40B4-BE49-F238E27FC236}">
                <a16:creationId xmlns:a16="http://schemas.microsoft.com/office/drawing/2014/main" id="{61A83D4A-7167-101E-1084-912F85450FF7}"/>
              </a:ext>
            </a:extLst>
          </p:cNvPr>
          <p:cNvSpPr/>
          <p:nvPr/>
        </p:nvSpPr>
        <p:spPr>
          <a:xfrm>
            <a:off x="8662341" y="4799059"/>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65" name="Google Shape;2626;g3f5188ffaf6_0_0">
            <a:extLst>
              <a:ext uri="{FF2B5EF4-FFF2-40B4-BE49-F238E27FC236}">
                <a16:creationId xmlns:a16="http://schemas.microsoft.com/office/drawing/2014/main" id="{D038F4E5-618D-3861-F773-5FF4905BE12E}"/>
              </a:ext>
            </a:extLst>
          </p:cNvPr>
          <p:cNvSpPr/>
          <p:nvPr/>
        </p:nvSpPr>
        <p:spPr>
          <a:xfrm>
            <a:off x="8771811" y="4799059"/>
            <a:ext cx="89866" cy="104885"/>
          </a:xfrm>
          <a:prstGeom prst="rect">
            <a:avLst/>
          </a:prstGeom>
          <a:solidFill>
            <a:srgbClr val="F2F2F2"/>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66" name="Google Shape;2627;g3f5188ffaf6_0_0">
            <a:extLst>
              <a:ext uri="{FF2B5EF4-FFF2-40B4-BE49-F238E27FC236}">
                <a16:creationId xmlns:a16="http://schemas.microsoft.com/office/drawing/2014/main" id="{533C6E0B-7EB2-1255-A460-779717A4C848}"/>
              </a:ext>
            </a:extLst>
          </p:cNvPr>
          <p:cNvSpPr/>
          <p:nvPr/>
        </p:nvSpPr>
        <p:spPr>
          <a:xfrm>
            <a:off x="8881282" y="4799059"/>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67" name="Google Shape;2628;g3f5188ffaf6_0_0">
            <a:extLst>
              <a:ext uri="{FF2B5EF4-FFF2-40B4-BE49-F238E27FC236}">
                <a16:creationId xmlns:a16="http://schemas.microsoft.com/office/drawing/2014/main" id="{8B52E79E-2573-47EB-E59F-2BA30F3C45CB}"/>
              </a:ext>
            </a:extLst>
          </p:cNvPr>
          <p:cNvSpPr/>
          <p:nvPr/>
        </p:nvSpPr>
        <p:spPr>
          <a:xfrm>
            <a:off x="8114991" y="4925166"/>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68" name="Google Shape;2629;g3f5188ffaf6_0_0">
            <a:extLst>
              <a:ext uri="{FF2B5EF4-FFF2-40B4-BE49-F238E27FC236}">
                <a16:creationId xmlns:a16="http://schemas.microsoft.com/office/drawing/2014/main" id="{40AA76EC-DBED-5FBB-74CB-98034F32879E}"/>
              </a:ext>
            </a:extLst>
          </p:cNvPr>
          <p:cNvSpPr/>
          <p:nvPr/>
        </p:nvSpPr>
        <p:spPr>
          <a:xfrm>
            <a:off x="8224460" y="4925166"/>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69" name="Google Shape;2630;g3f5188ffaf6_0_0">
            <a:extLst>
              <a:ext uri="{FF2B5EF4-FFF2-40B4-BE49-F238E27FC236}">
                <a16:creationId xmlns:a16="http://schemas.microsoft.com/office/drawing/2014/main" id="{91ADBF9D-18C8-1328-A9E5-6B39B99E7A63}"/>
              </a:ext>
            </a:extLst>
          </p:cNvPr>
          <p:cNvSpPr/>
          <p:nvPr/>
        </p:nvSpPr>
        <p:spPr>
          <a:xfrm>
            <a:off x="8333930" y="4925166"/>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70" name="Google Shape;2631;g3f5188ffaf6_0_0">
            <a:extLst>
              <a:ext uri="{FF2B5EF4-FFF2-40B4-BE49-F238E27FC236}">
                <a16:creationId xmlns:a16="http://schemas.microsoft.com/office/drawing/2014/main" id="{025F9045-459F-08DF-E3F8-4859FA4A41B8}"/>
              </a:ext>
            </a:extLst>
          </p:cNvPr>
          <p:cNvSpPr/>
          <p:nvPr/>
        </p:nvSpPr>
        <p:spPr>
          <a:xfrm>
            <a:off x="8443401" y="4925166"/>
            <a:ext cx="89866" cy="104885"/>
          </a:xfrm>
          <a:prstGeom prst="rect">
            <a:avLst/>
          </a:prstGeom>
          <a:solidFill>
            <a:srgbClr val="F2F2F2"/>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71" name="Google Shape;2632;g3f5188ffaf6_0_0">
            <a:extLst>
              <a:ext uri="{FF2B5EF4-FFF2-40B4-BE49-F238E27FC236}">
                <a16:creationId xmlns:a16="http://schemas.microsoft.com/office/drawing/2014/main" id="{D53A22D6-A10B-63D8-344C-FC10445268ED}"/>
              </a:ext>
            </a:extLst>
          </p:cNvPr>
          <p:cNvSpPr/>
          <p:nvPr/>
        </p:nvSpPr>
        <p:spPr>
          <a:xfrm>
            <a:off x="8552870" y="4925166"/>
            <a:ext cx="89866" cy="104885"/>
          </a:xfrm>
          <a:prstGeom prst="rect">
            <a:avLst/>
          </a:prstGeom>
          <a:solidFill>
            <a:srgbClr val="F2F2F2"/>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72" name="Google Shape;2633;g3f5188ffaf6_0_0">
            <a:extLst>
              <a:ext uri="{FF2B5EF4-FFF2-40B4-BE49-F238E27FC236}">
                <a16:creationId xmlns:a16="http://schemas.microsoft.com/office/drawing/2014/main" id="{2DA98331-9D00-F5FF-D7AE-B3107DB3BA7D}"/>
              </a:ext>
            </a:extLst>
          </p:cNvPr>
          <p:cNvSpPr/>
          <p:nvPr/>
        </p:nvSpPr>
        <p:spPr>
          <a:xfrm>
            <a:off x="8662341" y="4925166"/>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73" name="Google Shape;2634;g3f5188ffaf6_0_0">
            <a:extLst>
              <a:ext uri="{FF2B5EF4-FFF2-40B4-BE49-F238E27FC236}">
                <a16:creationId xmlns:a16="http://schemas.microsoft.com/office/drawing/2014/main" id="{F8F571FF-9E85-9AD7-7B26-92D72A8E528A}"/>
              </a:ext>
            </a:extLst>
          </p:cNvPr>
          <p:cNvSpPr/>
          <p:nvPr/>
        </p:nvSpPr>
        <p:spPr>
          <a:xfrm>
            <a:off x="8771811" y="4925166"/>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74" name="Google Shape;2635;g3f5188ffaf6_0_0">
            <a:extLst>
              <a:ext uri="{FF2B5EF4-FFF2-40B4-BE49-F238E27FC236}">
                <a16:creationId xmlns:a16="http://schemas.microsoft.com/office/drawing/2014/main" id="{6992178B-9E93-0414-3B58-75D495377DAF}"/>
              </a:ext>
            </a:extLst>
          </p:cNvPr>
          <p:cNvSpPr/>
          <p:nvPr/>
        </p:nvSpPr>
        <p:spPr>
          <a:xfrm>
            <a:off x="8881282" y="4925166"/>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75" name="Google Shape;2636;g3f5188ffaf6_0_0">
            <a:extLst>
              <a:ext uri="{FF2B5EF4-FFF2-40B4-BE49-F238E27FC236}">
                <a16:creationId xmlns:a16="http://schemas.microsoft.com/office/drawing/2014/main" id="{E97E4F48-A861-8DE9-5C78-E8E58D99CFD4}"/>
              </a:ext>
            </a:extLst>
          </p:cNvPr>
          <p:cNvSpPr/>
          <p:nvPr/>
        </p:nvSpPr>
        <p:spPr>
          <a:xfrm>
            <a:off x="8114991" y="5335810"/>
            <a:ext cx="89866" cy="104885"/>
          </a:xfrm>
          <a:prstGeom prst="rect">
            <a:avLst/>
          </a:prstGeom>
          <a:solidFill>
            <a:srgbClr val="F2F2F2"/>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76" name="Google Shape;2637;g3f5188ffaf6_0_0">
            <a:extLst>
              <a:ext uri="{FF2B5EF4-FFF2-40B4-BE49-F238E27FC236}">
                <a16:creationId xmlns:a16="http://schemas.microsoft.com/office/drawing/2014/main" id="{45B9FAF0-A83C-5118-D559-1913ABCE70EB}"/>
              </a:ext>
            </a:extLst>
          </p:cNvPr>
          <p:cNvSpPr/>
          <p:nvPr/>
        </p:nvSpPr>
        <p:spPr>
          <a:xfrm>
            <a:off x="8221565" y="5335808"/>
            <a:ext cx="95911"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77" name="Google Shape;2638;g3f5188ffaf6_0_0">
            <a:extLst>
              <a:ext uri="{FF2B5EF4-FFF2-40B4-BE49-F238E27FC236}">
                <a16:creationId xmlns:a16="http://schemas.microsoft.com/office/drawing/2014/main" id="{262B1FBB-DFE5-D580-1A84-AC83DAE27510}"/>
              </a:ext>
            </a:extLst>
          </p:cNvPr>
          <p:cNvSpPr/>
          <p:nvPr/>
        </p:nvSpPr>
        <p:spPr>
          <a:xfrm>
            <a:off x="8333930" y="5335810"/>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78" name="Google Shape;2639;g3f5188ffaf6_0_0">
            <a:extLst>
              <a:ext uri="{FF2B5EF4-FFF2-40B4-BE49-F238E27FC236}">
                <a16:creationId xmlns:a16="http://schemas.microsoft.com/office/drawing/2014/main" id="{9835C1FB-358D-B750-AC79-B15F5A656222}"/>
              </a:ext>
            </a:extLst>
          </p:cNvPr>
          <p:cNvSpPr/>
          <p:nvPr/>
        </p:nvSpPr>
        <p:spPr>
          <a:xfrm>
            <a:off x="8443401" y="5335810"/>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79" name="Google Shape;2640;g3f5188ffaf6_0_0">
            <a:extLst>
              <a:ext uri="{FF2B5EF4-FFF2-40B4-BE49-F238E27FC236}">
                <a16:creationId xmlns:a16="http://schemas.microsoft.com/office/drawing/2014/main" id="{C41D9B8C-1883-52FC-60E3-C2D0A7B5AE71}"/>
              </a:ext>
            </a:extLst>
          </p:cNvPr>
          <p:cNvSpPr/>
          <p:nvPr/>
        </p:nvSpPr>
        <p:spPr>
          <a:xfrm>
            <a:off x="8552870" y="5335810"/>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80" name="Google Shape;2641;g3f5188ffaf6_0_0">
            <a:extLst>
              <a:ext uri="{FF2B5EF4-FFF2-40B4-BE49-F238E27FC236}">
                <a16:creationId xmlns:a16="http://schemas.microsoft.com/office/drawing/2014/main" id="{02CF12CE-AEFF-42AF-927E-5E69411245C1}"/>
              </a:ext>
            </a:extLst>
          </p:cNvPr>
          <p:cNvSpPr/>
          <p:nvPr/>
        </p:nvSpPr>
        <p:spPr>
          <a:xfrm>
            <a:off x="8662341" y="5335810"/>
            <a:ext cx="89866" cy="104885"/>
          </a:xfrm>
          <a:prstGeom prst="rect">
            <a:avLst/>
          </a:prstGeom>
          <a:solidFill>
            <a:srgbClr val="F2F2F2"/>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81" name="Google Shape;2642;g3f5188ffaf6_0_0">
            <a:extLst>
              <a:ext uri="{FF2B5EF4-FFF2-40B4-BE49-F238E27FC236}">
                <a16:creationId xmlns:a16="http://schemas.microsoft.com/office/drawing/2014/main" id="{EBB2B007-68E2-BA5E-D8E6-1A4413033DBC}"/>
              </a:ext>
            </a:extLst>
          </p:cNvPr>
          <p:cNvSpPr/>
          <p:nvPr/>
        </p:nvSpPr>
        <p:spPr>
          <a:xfrm>
            <a:off x="8771811" y="5335810"/>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82" name="Google Shape;2643;g3f5188ffaf6_0_0">
            <a:extLst>
              <a:ext uri="{FF2B5EF4-FFF2-40B4-BE49-F238E27FC236}">
                <a16:creationId xmlns:a16="http://schemas.microsoft.com/office/drawing/2014/main" id="{70959C9A-8B93-339E-F940-244863F078BD}"/>
              </a:ext>
            </a:extLst>
          </p:cNvPr>
          <p:cNvSpPr/>
          <p:nvPr/>
        </p:nvSpPr>
        <p:spPr>
          <a:xfrm>
            <a:off x="8881282" y="5335810"/>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83" name="Google Shape;2644;g3f5188ffaf6_0_0">
            <a:extLst>
              <a:ext uri="{FF2B5EF4-FFF2-40B4-BE49-F238E27FC236}">
                <a16:creationId xmlns:a16="http://schemas.microsoft.com/office/drawing/2014/main" id="{C9322930-22D1-7D07-04CC-90964284C0B9}"/>
              </a:ext>
            </a:extLst>
          </p:cNvPr>
          <p:cNvSpPr/>
          <p:nvPr/>
        </p:nvSpPr>
        <p:spPr>
          <a:xfrm>
            <a:off x="8345493" y="5816521"/>
            <a:ext cx="1286743" cy="426505"/>
          </a:xfrm>
          <a:prstGeom prst="roundRect">
            <a:avLst>
              <a:gd name="adj" fmla="val 12000"/>
            </a:avLst>
          </a:prstGeom>
          <a:solidFill>
            <a:srgbClr val="E7F0F9"/>
          </a:solidFill>
          <a:ln w="12075" cap="flat" cmpd="sng">
            <a:solidFill>
              <a:srgbClr val="2B6FB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84" name="Google Shape;2645;g3f5188ffaf6_0_0">
            <a:extLst>
              <a:ext uri="{FF2B5EF4-FFF2-40B4-BE49-F238E27FC236}">
                <a16:creationId xmlns:a16="http://schemas.microsoft.com/office/drawing/2014/main" id="{B952170B-DCEA-6295-7710-491C2656F5C8}"/>
              </a:ext>
            </a:extLst>
          </p:cNvPr>
          <p:cNvSpPr txBox="1"/>
          <p:nvPr/>
        </p:nvSpPr>
        <p:spPr>
          <a:xfrm>
            <a:off x="8526524" y="5889578"/>
            <a:ext cx="981277" cy="277943"/>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i="0" u="none" strike="noStrike" cap="none">
                <a:solidFill>
                  <a:srgbClr val="2B6FB0"/>
                </a:solidFill>
                <a:latin typeface="Arial"/>
                <a:ea typeface="Arial"/>
                <a:cs typeface="Arial"/>
                <a:sym typeface="Arial"/>
              </a:rPr>
              <a:t>ImageGPT</a:t>
            </a:r>
            <a:endParaRPr sz="1400"/>
          </a:p>
        </p:txBody>
      </p:sp>
      <p:sp>
        <p:nvSpPr>
          <p:cNvPr id="285" name="Google Shape;2647;g3f5188ffaf6_0_0">
            <a:extLst>
              <a:ext uri="{FF2B5EF4-FFF2-40B4-BE49-F238E27FC236}">
                <a16:creationId xmlns:a16="http://schemas.microsoft.com/office/drawing/2014/main" id="{917B324E-0148-8DD8-17C1-78EE869C22B6}"/>
              </a:ext>
            </a:extLst>
          </p:cNvPr>
          <p:cNvSpPr/>
          <p:nvPr/>
        </p:nvSpPr>
        <p:spPr>
          <a:xfrm>
            <a:off x="10312751" y="5816515"/>
            <a:ext cx="1264578" cy="426505"/>
          </a:xfrm>
          <a:prstGeom prst="roundRect">
            <a:avLst>
              <a:gd name="adj" fmla="val 12000"/>
            </a:avLst>
          </a:prstGeom>
          <a:solidFill>
            <a:srgbClr val="E2F4F4"/>
          </a:solidFill>
          <a:ln w="12075" cap="flat" cmpd="sng">
            <a:solidFill>
              <a:srgbClr val="159A9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286" name="Google Shape;2648;g3f5188ffaf6_0_0">
            <a:extLst>
              <a:ext uri="{FF2B5EF4-FFF2-40B4-BE49-F238E27FC236}">
                <a16:creationId xmlns:a16="http://schemas.microsoft.com/office/drawing/2014/main" id="{F045DC69-39DE-D01E-2C57-54600A0B1DA3}"/>
              </a:ext>
            </a:extLst>
          </p:cNvPr>
          <p:cNvSpPr txBox="1"/>
          <p:nvPr/>
        </p:nvSpPr>
        <p:spPr>
          <a:xfrm>
            <a:off x="10413063" y="5750608"/>
            <a:ext cx="1080816" cy="55588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i="0" u="none" strike="noStrike" cap="none">
                <a:solidFill>
                  <a:srgbClr val="159A9A"/>
                </a:solidFill>
                <a:latin typeface="Arial"/>
                <a:ea typeface="Arial"/>
                <a:cs typeface="Arial"/>
                <a:sym typeface="Arial"/>
              </a:rPr>
              <a:t>TimesFM 2.5</a:t>
            </a:r>
            <a:endParaRPr sz="1400"/>
          </a:p>
        </p:txBody>
      </p:sp>
      <p:pic>
        <p:nvPicPr>
          <p:cNvPr id="287" name="Google Shape;2650;g3f5188ffaf6_0_0">
            <a:extLst>
              <a:ext uri="{FF2B5EF4-FFF2-40B4-BE49-F238E27FC236}">
                <a16:creationId xmlns:a16="http://schemas.microsoft.com/office/drawing/2014/main" id="{F497DF9A-6366-5C37-ED20-DB6A4ADC4D32}"/>
              </a:ext>
            </a:extLst>
          </p:cNvPr>
          <p:cNvPicPr preferRelativeResize="0"/>
          <p:nvPr/>
        </p:nvPicPr>
        <p:blipFill>
          <a:blip r:embed="rId2">
            <a:alphaModFix/>
          </a:blip>
          <a:stretch>
            <a:fillRect/>
          </a:stretch>
        </p:blipFill>
        <p:spPr>
          <a:xfrm flipH="1">
            <a:off x="2361553" y="1565294"/>
            <a:ext cx="250452" cy="317750"/>
          </a:xfrm>
          <a:prstGeom prst="rect">
            <a:avLst/>
          </a:prstGeom>
          <a:noFill/>
          <a:ln>
            <a:noFill/>
          </a:ln>
        </p:spPr>
      </p:pic>
      <p:pic>
        <p:nvPicPr>
          <p:cNvPr id="288" name="Google Shape;2651;g3f5188ffaf6_0_0">
            <a:extLst>
              <a:ext uri="{FF2B5EF4-FFF2-40B4-BE49-F238E27FC236}">
                <a16:creationId xmlns:a16="http://schemas.microsoft.com/office/drawing/2014/main" id="{AA46EE5B-FA37-3F80-1FBE-499A651B641A}"/>
              </a:ext>
            </a:extLst>
          </p:cNvPr>
          <p:cNvPicPr preferRelativeResize="0"/>
          <p:nvPr/>
        </p:nvPicPr>
        <p:blipFill>
          <a:blip r:embed="rId3">
            <a:alphaModFix/>
          </a:blip>
          <a:stretch>
            <a:fillRect/>
          </a:stretch>
        </p:blipFill>
        <p:spPr>
          <a:xfrm>
            <a:off x="473601" y="1606027"/>
            <a:ext cx="326824" cy="274686"/>
          </a:xfrm>
          <a:prstGeom prst="rect">
            <a:avLst/>
          </a:prstGeom>
          <a:noFill/>
          <a:ln>
            <a:noFill/>
          </a:ln>
        </p:spPr>
      </p:pic>
      <p:pic>
        <p:nvPicPr>
          <p:cNvPr id="289" name="Google Shape;2652;g3f5188ffaf6_0_0">
            <a:extLst>
              <a:ext uri="{FF2B5EF4-FFF2-40B4-BE49-F238E27FC236}">
                <a16:creationId xmlns:a16="http://schemas.microsoft.com/office/drawing/2014/main" id="{DB0DDA3C-F39F-AD27-4EDA-6B199CB4A2CD}"/>
              </a:ext>
            </a:extLst>
          </p:cNvPr>
          <p:cNvPicPr preferRelativeResize="0"/>
          <p:nvPr/>
        </p:nvPicPr>
        <p:blipFill rotWithShape="1">
          <a:blip r:embed="rId4">
            <a:alphaModFix/>
          </a:blip>
          <a:srcRect t="20723" r="40898" b="30813"/>
          <a:stretch/>
        </p:blipFill>
        <p:spPr>
          <a:xfrm>
            <a:off x="6193329" y="1695293"/>
            <a:ext cx="387273" cy="173614"/>
          </a:xfrm>
          <a:prstGeom prst="rect">
            <a:avLst/>
          </a:prstGeom>
          <a:noFill/>
          <a:ln>
            <a:noFill/>
          </a:ln>
        </p:spPr>
      </p:pic>
      <p:pic>
        <p:nvPicPr>
          <p:cNvPr id="290" name="Google Shape;2653;g3f5188ffaf6_0_0">
            <a:extLst>
              <a:ext uri="{FF2B5EF4-FFF2-40B4-BE49-F238E27FC236}">
                <a16:creationId xmlns:a16="http://schemas.microsoft.com/office/drawing/2014/main" id="{C88FBE41-3F38-3A74-5D73-E07BF1330791}"/>
              </a:ext>
            </a:extLst>
          </p:cNvPr>
          <p:cNvPicPr preferRelativeResize="0"/>
          <p:nvPr/>
        </p:nvPicPr>
        <p:blipFill>
          <a:blip r:embed="rId5">
            <a:alphaModFix/>
          </a:blip>
          <a:stretch>
            <a:fillRect/>
          </a:stretch>
        </p:blipFill>
        <p:spPr>
          <a:xfrm>
            <a:off x="10140894" y="1542952"/>
            <a:ext cx="343749" cy="330135"/>
          </a:xfrm>
          <a:prstGeom prst="rect">
            <a:avLst/>
          </a:prstGeom>
          <a:noFill/>
          <a:ln>
            <a:noFill/>
          </a:ln>
        </p:spPr>
      </p:pic>
      <p:pic>
        <p:nvPicPr>
          <p:cNvPr id="291" name="Google Shape;2654;g3f5188ffaf6_0_0">
            <a:extLst>
              <a:ext uri="{FF2B5EF4-FFF2-40B4-BE49-F238E27FC236}">
                <a16:creationId xmlns:a16="http://schemas.microsoft.com/office/drawing/2014/main" id="{B5276056-5FEC-CA0B-0D9B-DA03513D92AF}"/>
              </a:ext>
            </a:extLst>
          </p:cNvPr>
          <p:cNvPicPr preferRelativeResize="0"/>
          <p:nvPr/>
        </p:nvPicPr>
        <p:blipFill rotWithShape="1">
          <a:blip r:embed="rId6">
            <a:alphaModFix/>
          </a:blip>
          <a:srcRect l="70492" t="23590" r="8458" b="22353"/>
          <a:stretch/>
        </p:blipFill>
        <p:spPr>
          <a:xfrm>
            <a:off x="8517566" y="1559023"/>
            <a:ext cx="311174" cy="287816"/>
          </a:xfrm>
          <a:prstGeom prst="rect">
            <a:avLst/>
          </a:prstGeom>
          <a:noFill/>
          <a:ln>
            <a:noFill/>
          </a:ln>
        </p:spPr>
      </p:pic>
      <p:sp>
        <p:nvSpPr>
          <p:cNvPr id="292" name="Google Shape;2655;g3f5188ffaf6_0_0">
            <a:extLst>
              <a:ext uri="{FF2B5EF4-FFF2-40B4-BE49-F238E27FC236}">
                <a16:creationId xmlns:a16="http://schemas.microsoft.com/office/drawing/2014/main" id="{88EAC83A-90FF-6D04-316D-E96C499E2FA7}"/>
              </a:ext>
            </a:extLst>
          </p:cNvPr>
          <p:cNvSpPr/>
          <p:nvPr/>
        </p:nvSpPr>
        <p:spPr>
          <a:xfrm>
            <a:off x="1122113" y="5623104"/>
            <a:ext cx="270002" cy="188870"/>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293" name="Google Shape;2656;g3f5188ffaf6_0_0">
            <a:extLst>
              <a:ext uri="{FF2B5EF4-FFF2-40B4-BE49-F238E27FC236}">
                <a16:creationId xmlns:a16="http://schemas.microsoft.com/office/drawing/2014/main" id="{CADE2D76-B593-B38D-B1AD-407C45B64C33}"/>
              </a:ext>
            </a:extLst>
          </p:cNvPr>
          <p:cNvSpPr/>
          <p:nvPr/>
        </p:nvSpPr>
        <p:spPr>
          <a:xfrm>
            <a:off x="3000403" y="5620186"/>
            <a:ext cx="270002" cy="188870"/>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294" name="Google Shape;2657;g3f5188ffaf6_0_0">
            <a:extLst>
              <a:ext uri="{FF2B5EF4-FFF2-40B4-BE49-F238E27FC236}">
                <a16:creationId xmlns:a16="http://schemas.microsoft.com/office/drawing/2014/main" id="{E9B5969C-AB44-6329-4792-8C43A7C51056}"/>
              </a:ext>
            </a:extLst>
          </p:cNvPr>
          <p:cNvSpPr/>
          <p:nvPr/>
        </p:nvSpPr>
        <p:spPr>
          <a:xfrm>
            <a:off x="4942394" y="5620201"/>
            <a:ext cx="270002" cy="188870"/>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295" name="Google Shape;2658;g3f5188ffaf6_0_0">
            <a:extLst>
              <a:ext uri="{FF2B5EF4-FFF2-40B4-BE49-F238E27FC236}">
                <a16:creationId xmlns:a16="http://schemas.microsoft.com/office/drawing/2014/main" id="{380CC1D4-CC03-791C-8976-07D84B29AE12}"/>
              </a:ext>
            </a:extLst>
          </p:cNvPr>
          <p:cNvSpPr/>
          <p:nvPr/>
        </p:nvSpPr>
        <p:spPr>
          <a:xfrm>
            <a:off x="6872002" y="5620201"/>
            <a:ext cx="270002" cy="188870"/>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296" name="Google Shape;2659;g3f5188ffaf6_0_0">
            <a:extLst>
              <a:ext uri="{FF2B5EF4-FFF2-40B4-BE49-F238E27FC236}">
                <a16:creationId xmlns:a16="http://schemas.microsoft.com/office/drawing/2014/main" id="{5AE3A797-0E91-A4B6-194B-E10506BC75EE}"/>
              </a:ext>
            </a:extLst>
          </p:cNvPr>
          <p:cNvSpPr/>
          <p:nvPr/>
        </p:nvSpPr>
        <p:spPr>
          <a:xfrm>
            <a:off x="8853848" y="5620186"/>
            <a:ext cx="270002" cy="188870"/>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297" name="Google Shape;2660;g3f5188ffaf6_0_0">
            <a:extLst>
              <a:ext uri="{FF2B5EF4-FFF2-40B4-BE49-F238E27FC236}">
                <a16:creationId xmlns:a16="http://schemas.microsoft.com/office/drawing/2014/main" id="{20BDDFCE-B118-A353-A20C-8138DE3FB2AC}"/>
              </a:ext>
            </a:extLst>
          </p:cNvPr>
          <p:cNvSpPr/>
          <p:nvPr/>
        </p:nvSpPr>
        <p:spPr>
          <a:xfrm>
            <a:off x="10813344" y="5620201"/>
            <a:ext cx="270002" cy="188870"/>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298" name="Google Shape;2661;g3f5188ffaf6_0_0">
            <a:extLst>
              <a:ext uri="{FF2B5EF4-FFF2-40B4-BE49-F238E27FC236}">
                <a16:creationId xmlns:a16="http://schemas.microsoft.com/office/drawing/2014/main" id="{136E22A3-0EDB-D733-6D83-92EF5A12E114}"/>
              </a:ext>
            </a:extLst>
          </p:cNvPr>
          <p:cNvSpPr txBox="1"/>
          <p:nvPr/>
        </p:nvSpPr>
        <p:spPr>
          <a:xfrm>
            <a:off x="344252" y="4121491"/>
            <a:ext cx="893426" cy="194559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dirty="0">
                <a:solidFill>
                  <a:schemeClr val="dk1"/>
                </a:solidFill>
                <a:highlight>
                  <a:srgbClr val="E7F0F9"/>
                </a:highlight>
                <a:latin typeface="Courier New"/>
                <a:ea typeface="Courier New"/>
                <a:cs typeface="Courier New"/>
                <a:sym typeface="Courier New"/>
              </a:rPr>
              <a:t>94944494</a:t>
            </a:r>
            <a:endParaRPr sz="1400" b="1" dirty="0">
              <a:solidFill>
                <a:schemeClr val="dk1"/>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r>
              <a:rPr lang="en-US" sz="1400" b="1" dirty="0">
                <a:solidFill>
                  <a:schemeClr val="dk1"/>
                </a:solidFill>
                <a:highlight>
                  <a:srgbClr val="E7F0F9"/>
                </a:highlight>
                <a:latin typeface="Courier New"/>
                <a:ea typeface="Courier New"/>
                <a:cs typeface="Courier New"/>
                <a:sym typeface="Courier New"/>
              </a:rPr>
              <a:t>44499444</a:t>
            </a:r>
            <a:endParaRPr sz="1400" b="1" dirty="0">
              <a:solidFill>
                <a:schemeClr val="dk1"/>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endParaRPr sz="1400" b="1" dirty="0">
              <a:solidFill>
                <a:schemeClr val="dk1"/>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r>
              <a:rPr lang="en-US" sz="1400" b="1" dirty="0">
                <a:solidFill>
                  <a:schemeClr val="dk1"/>
                </a:solidFill>
                <a:highlight>
                  <a:srgbClr val="E7F0F9"/>
                </a:highlight>
                <a:latin typeface="Courier New"/>
                <a:ea typeface="Courier New"/>
                <a:cs typeface="Courier New"/>
                <a:sym typeface="Courier New"/>
              </a:rPr>
              <a:t>94444944</a:t>
            </a:r>
            <a:endParaRPr sz="1400" b="1" dirty="0">
              <a:solidFill>
                <a:schemeClr val="dk1"/>
              </a:solidFill>
              <a:highlight>
                <a:srgbClr val="E7F0F9"/>
              </a:highlight>
              <a:latin typeface="Courier New"/>
              <a:ea typeface="Courier New"/>
              <a:cs typeface="Courier New"/>
              <a:sym typeface="Courier New"/>
            </a:endParaRPr>
          </a:p>
        </p:txBody>
      </p:sp>
      <p:sp>
        <p:nvSpPr>
          <p:cNvPr id="299" name="Google Shape;2662;g3f5188ffaf6_0_0">
            <a:extLst>
              <a:ext uri="{FF2B5EF4-FFF2-40B4-BE49-F238E27FC236}">
                <a16:creationId xmlns:a16="http://schemas.microsoft.com/office/drawing/2014/main" id="{844AB7A6-04E7-E55D-04C0-AE046A102EBD}"/>
              </a:ext>
            </a:extLst>
          </p:cNvPr>
          <p:cNvSpPr txBox="1"/>
          <p:nvPr/>
        </p:nvSpPr>
        <p:spPr>
          <a:xfrm>
            <a:off x="1180620" y="4523923"/>
            <a:ext cx="981277" cy="111177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dirty="0">
                <a:solidFill>
                  <a:schemeClr val="dk1"/>
                </a:solidFill>
                <a:highlight>
                  <a:srgbClr val="FFEBEB"/>
                </a:highlight>
                <a:latin typeface="Courier New"/>
                <a:ea typeface="Courier New"/>
                <a:cs typeface="Courier New"/>
                <a:sym typeface="Courier New"/>
              </a:rPr>
              <a:t>94944494</a:t>
            </a:r>
            <a:endParaRPr sz="1400" b="1" dirty="0">
              <a:solidFill>
                <a:schemeClr val="dk1"/>
              </a:solidFill>
              <a:highlight>
                <a:srgbClr val="FFEEB0"/>
              </a:highlight>
              <a:latin typeface="Courier New"/>
              <a:ea typeface="Courier New"/>
              <a:cs typeface="Courier New"/>
              <a:sym typeface="Courier New"/>
            </a:endParaRPr>
          </a:p>
          <a:p>
            <a:pPr marL="0" marR="0" lvl="0" indent="0" algn="l" rtl="0">
              <a:spcBef>
                <a:spcPts val="0"/>
              </a:spcBef>
              <a:spcAft>
                <a:spcPts val="0"/>
              </a:spcAft>
              <a:buNone/>
            </a:pPr>
            <a:r>
              <a:rPr lang="en-US" sz="1400" b="1" dirty="0">
                <a:solidFill>
                  <a:schemeClr val="dk1"/>
                </a:solidFill>
                <a:highlight>
                  <a:srgbClr val="FDECE3"/>
                </a:highlight>
                <a:latin typeface="Courier New"/>
                <a:ea typeface="Courier New"/>
                <a:cs typeface="Courier New"/>
                <a:sym typeface="Courier New"/>
              </a:rPr>
              <a:t>44499444</a:t>
            </a:r>
            <a:endParaRPr sz="1400" b="1" dirty="0">
              <a:solidFill>
                <a:schemeClr val="dk1"/>
              </a:solidFill>
              <a:highlight>
                <a:srgbClr val="FFEEB0"/>
              </a:highlight>
              <a:latin typeface="Courier New"/>
              <a:ea typeface="Courier New"/>
              <a:cs typeface="Courier New"/>
              <a:sym typeface="Courier New"/>
            </a:endParaRPr>
          </a:p>
          <a:p>
            <a:pPr marL="0" marR="0" lvl="0" indent="0" algn="l" rtl="0">
              <a:spcBef>
                <a:spcPts val="0"/>
              </a:spcBef>
              <a:spcAft>
                <a:spcPts val="0"/>
              </a:spcAft>
              <a:buNone/>
            </a:pPr>
            <a:endParaRPr sz="14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b="1" dirty="0">
                <a:solidFill>
                  <a:srgbClr val="2B5FD6"/>
                </a:solidFill>
                <a:latin typeface="Courier New"/>
                <a:ea typeface="Courier New"/>
                <a:cs typeface="Courier New"/>
                <a:sym typeface="Courier New"/>
              </a:rPr>
              <a:t>????????</a:t>
            </a:r>
            <a:endParaRPr sz="1400" b="1" dirty="0">
              <a:solidFill>
                <a:srgbClr val="2B5FD6"/>
              </a:solidFill>
              <a:latin typeface="Courier New"/>
              <a:ea typeface="Courier New"/>
              <a:cs typeface="Courier New"/>
              <a:sym typeface="Courier New"/>
            </a:endParaRPr>
          </a:p>
        </p:txBody>
      </p:sp>
      <p:sp>
        <p:nvSpPr>
          <p:cNvPr id="300" name="Google Shape;2663;g3f5188ffaf6_0_0">
            <a:extLst>
              <a:ext uri="{FF2B5EF4-FFF2-40B4-BE49-F238E27FC236}">
                <a16:creationId xmlns:a16="http://schemas.microsoft.com/office/drawing/2014/main" id="{46CDD2A7-B36F-5844-9923-3D6B40B0722B}"/>
              </a:ext>
            </a:extLst>
          </p:cNvPr>
          <p:cNvSpPr txBox="1"/>
          <p:nvPr/>
        </p:nvSpPr>
        <p:spPr>
          <a:xfrm>
            <a:off x="680260" y="4982325"/>
            <a:ext cx="163613" cy="39706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000" b="1" i="0" u="none" strike="noStrike" cap="none">
                <a:solidFill>
                  <a:srgbClr val="999999"/>
                </a:solidFill>
              </a:rPr>
              <a:t>⋮</a:t>
            </a:r>
            <a:endParaRPr sz="3200" b="1">
              <a:solidFill>
                <a:srgbClr val="999999"/>
              </a:solidFill>
            </a:endParaRPr>
          </a:p>
        </p:txBody>
      </p:sp>
      <p:sp>
        <p:nvSpPr>
          <p:cNvPr id="301" name="Google Shape;2664;g3f5188ffaf6_0_0">
            <a:extLst>
              <a:ext uri="{FF2B5EF4-FFF2-40B4-BE49-F238E27FC236}">
                <a16:creationId xmlns:a16="http://schemas.microsoft.com/office/drawing/2014/main" id="{0AABF2F3-C2FD-DFC6-32CC-08011286CD8F}"/>
              </a:ext>
            </a:extLst>
          </p:cNvPr>
          <p:cNvSpPr txBox="1"/>
          <p:nvPr/>
        </p:nvSpPr>
        <p:spPr>
          <a:xfrm>
            <a:off x="2023758" y="4483439"/>
            <a:ext cx="165225" cy="1389713"/>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a:solidFill>
                  <a:schemeClr val="dk1"/>
                </a:solidFill>
                <a:highlight>
                  <a:srgbClr val="FFEEB0"/>
                </a:highlight>
                <a:latin typeface="Courier New"/>
                <a:ea typeface="Courier New"/>
                <a:cs typeface="Courier New"/>
                <a:sym typeface="Courier New"/>
              </a:rPr>
              <a:t>2</a:t>
            </a:r>
            <a:endParaRPr sz="1400" b="1">
              <a:solidFill>
                <a:schemeClr val="dk1"/>
              </a:solidFill>
              <a:highlight>
                <a:srgbClr val="FFEEB0"/>
              </a:highlight>
              <a:latin typeface="Courier New"/>
              <a:ea typeface="Courier New"/>
              <a:cs typeface="Courier New"/>
              <a:sym typeface="Courier New"/>
            </a:endParaRPr>
          </a:p>
          <a:p>
            <a:pPr marL="0" marR="0" lvl="0" indent="0" algn="l" rtl="0">
              <a:spcBef>
                <a:spcPts val="0"/>
              </a:spcBef>
              <a:spcAft>
                <a:spcPts val="0"/>
              </a:spcAft>
              <a:buNone/>
            </a:pPr>
            <a:r>
              <a:rPr lang="en-US" sz="1400" b="1">
                <a:solidFill>
                  <a:schemeClr val="dk1"/>
                </a:solidFill>
                <a:highlight>
                  <a:srgbClr val="FFEEB0"/>
                </a:highlight>
                <a:latin typeface="Courier New"/>
                <a:ea typeface="Courier New"/>
                <a:cs typeface="Courier New"/>
                <a:sym typeface="Courier New"/>
              </a:rPr>
              <a:t>2</a:t>
            </a:r>
            <a:endParaRPr sz="1400" b="1">
              <a:solidFill>
                <a:schemeClr val="dk1"/>
              </a:solidFill>
              <a:highlight>
                <a:srgbClr val="FFEEB0"/>
              </a:highlight>
              <a:latin typeface="Courier New"/>
              <a:ea typeface="Courier New"/>
              <a:cs typeface="Courier New"/>
              <a:sym typeface="Courier New"/>
            </a:endParaRPr>
          </a:p>
          <a:p>
            <a:pPr marL="0" marR="0" lvl="0" indent="0" algn="l" rtl="0">
              <a:spcBef>
                <a:spcPts val="0"/>
              </a:spcBef>
              <a:spcAft>
                <a:spcPts val="0"/>
              </a:spcAft>
              <a:buNone/>
            </a:pPr>
            <a:endParaRPr sz="1400" b="1">
              <a:solidFill>
                <a:schemeClr val="dk1"/>
              </a:solidFill>
              <a:latin typeface="Courier New"/>
              <a:ea typeface="Courier New"/>
              <a:cs typeface="Courier New"/>
              <a:sym typeface="Courier New"/>
            </a:endParaRPr>
          </a:p>
          <a:p>
            <a:pPr marL="0" marR="0" lvl="0" indent="0" algn="l" rtl="0">
              <a:spcBef>
                <a:spcPts val="0"/>
              </a:spcBef>
              <a:spcAft>
                <a:spcPts val="0"/>
              </a:spcAft>
              <a:buNone/>
            </a:pPr>
            <a:endParaRPr sz="1400" b="1">
              <a:solidFill>
                <a:schemeClr val="dk1"/>
              </a:solidFill>
              <a:latin typeface="Courier New"/>
              <a:ea typeface="Courier New"/>
              <a:cs typeface="Courier New"/>
              <a:sym typeface="Courier New"/>
            </a:endParaRPr>
          </a:p>
          <a:p>
            <a:pPr marL="0" marR="0" lvl="0" indent="0" algn="l" rtl="0">
              <a:spcBef>
                <a:spcPts val="0"/>
              </a:spcBef>
              <a:spcAft>
                <a:spcPts val="0"/>
              </a:spcAft>
              <a:buNone/>
            </a:pPr>
            <a:endParaRPr sz="1400" b="1">
              <a:solidFill>
                <a:schemeClr val="dk1"/>
              </a:solidFill>
              <a:latin typeface="Courier New"/>
              <a:ea typeface="Courier New"/>
              <a:cs typeface="Courier New"/>
              <a:sym typeface="Courier New"/>
            </a:endParaRPr>
          </a:p>
        </p:txBody>
      </p:sp>
      <p:sp>
        <p:nvSpPr>
          <p:cNvPr id="302" name="Google Shape;2665;g3f5188ffaf6_0_0">
            <a:extLst>
              <a:ext uri="{FF2B5EF4-FFF2-40B4-BE49-F238E27FC236}">
                <a16:creationId xmlns:a16="http://schemas.microsoft.com/office/drawing/2014/main" id="{11F9D967-A190-2FCC-DD73-669316AC7F71}"/>
              </a:ext>
            </a:extLst>
          </p:cNvPr>
          <p:cNvSpPr txBox="1"/>
          <p:nvPr/>
        </p:nvSpPr>
        <p:spPr>
          <a:xfrm>
            <a:off x="6135912" y="4113266"/>
            <a:ext cx="893426" cy="194559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a:solidFill>
                  <a:schemeClr val="dk1"/>
                </a:solidFill>
                <a:highlight>
                  <a:srgbClr val="E7F0F9"/>
                </a:highlight>
                <a:latin typeface="Courier New"/>
                <a:ea typeface="Courier New"/>
                <a:cs typeface="Courier New"/>
                <a:sym typeface="Courier New"/>
              </a:rPr>
              <a:t>76766676</a:t>
            </a:r>
            <a:endParaRPr sz="1400" b="1">
              <a:solidFill>
                <a:schemeClr val="dk1"/>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r>
              <a:rPr lang="en-US" sz="1400" b="1">
                <a:solidFill>
                  <a:schemeClr val="dk1"/>
                </a:solidFill>
                <a:highlight>
                  <a:srgbClr val="E7F0F9"/>
                </a:highlight>
                <a:latin typeface="Courier New"/>
                <a:ea typeface="Courier New"/>
                <a:cs typeface="Courier New"/>
                <a:sym typeface="Courier New"/>
              </a:rPr>
              <a:t>66677666</a:t>
            </a:r>
            <a:endParaRPr sz="1400" b="1">
              <a:solidFill>
                <a:schemeClr val="dk1"/>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endParaRPr sz="1400" b="1">
              <a:solidFill>
                <a:schemeClr val="dk1"/>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r>
              <a:rPr lang="en-US" sz="1400" b="1">
                <a:solidFill>
                  <a:schemeClr val="dk1"/>
                </a:solidFill>
                <a:highlight>
                  <a:srgbClr val="E7F0F9"/>
                </a:highlight>
                <a:latin typeface="Courier New"/>
                <a:ea typeface="Courier New"/>
                <a:cs typeface="Courier New"/>
                <a:sym typeface="Courier New"/>
              </a:rPr>
              <a:t>76666766</a:t>
            </a:r>
            <a:endParaRPr sz="1400" b="1">
              <a:solidFill>
                <a:schemeClr val="dk1"/>
              </a:solidFill>
              <a:highlight>
                <a:srgbClr val="E7F0F9"/>
              </a:highlight>
              <a:latin typeface="Courier New"/>
              <a:ea typeface="Courier New"/>
              <a:cs typeface="Courier New"/>
              <a:sym typeface="Courier New"/>
            </a:endParaRPr>
          </a:p>
        </p:txBody>
      </p:sp>
      <p:sp>
        <p:nvSpPr>
          <p:cNvPr id="303" name="Google Shape;2666;g3f5188ffaf6_0_0">
            <a:extLst>
              <a:ext uri="{FF2B5EF4-FFF2-40B4-BE49-F238E27FC236}">
                <a16:creationId xmlns:a16="http://schemas.microsoft.com/office/drawing/2014/main" id="{59BB3025-E78C-0CE1-248D-7BDF38515CFE}"/>
              </a:ext>
            </a:extLst>
          </p:cNvPr>
          <p:cNvSpPr txBox="1"/>
          <p:nvPr/>
        </p:nvSpPr>
        <p:spPr>
          <a:xfrm>
            <a:off x="7053403" y="4111598"/>
            <a:ext cx="857963" cy="194559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dirty="0">
                <a:solidFill>
                  <a:schemeClr val="dk1"/>
                </a:solidFill>
                <a:highlight>
                  <a:srgbClr val="FFEBEB"/>
                </a:highlight>
                <a:latin typeface="Courier New"/>
                <a:ea typeface="Courier New"/>
                <a:cs typeface="Courier New"/>
                <a:sym typeface="Courier New"/>
              </a:rPr>
              <a:t>76766676</a:t>
            </a:r>
            <a:endParaRPr sz="1400" b="1" dirty="0">
              <a:solidFill>
                <a:schemeClr val="dk1"/>
              </a:solidFill>
              <a:highlight>
                <a:srgbClr val="FFEEB0"/>
              </a:highlight>
              <a:latin typeface="Courier New"/>
              <a:ea typeface="Courier New"/>
              <a:cs typeface="Courier New"/>
              <a:sym typeface="Courier New"/>
            </a:endParaRPr>
          </a:p>
          <a:p>
            <a:pPr marL="0" lvl="0" indent="0" algn="l" rtl="0">
              <a:spcBef>
                <a:spcPts val="0"/>
              </a:spcBef>
              <a:spcAft>
                <a:spcPts val="0"/>
              </a:spcAft>
              <a:buNone/>
            </a:pPr>
            <a:r>
              <a:rPr lang="en-US" sz="1400" b="1" dirty="0">
                <a:solidFill>
                  <a:schemeClr val="dk1"/>
                </a:solidFill>
                <a:highlight>
                  <a:srgbClr val="FFEBEB"/>
                </a:highlight>
                <a:latin typeface="Courier New"/>
                <a:ea typeface="Courier New"/>
                <a:cs typeface="Courier New"/>
                <a:sym typeface="Courier New"/>
              </a:rPr>
              <a:t>66677666</a:t>
            </a:r>
            <a:endParaRPr sz="1400" b="1" dirty="0">
              <a:solidFill>
                <a:schemeClr val="dk1"/>
              </a:solidFill>
              <a:highlight>
                <a:srgbClr val="FFEEB0"/>
              </a:highlight>
              <a:latin typeface="Courier New"/>
              <a:ea typeface="Courier New"/>
              <a:cs typeface="Courier New"/>
              <a:sym typeface="Courier New"/>
            </a:endParaRPr>
          </a:p>
          <a:p>
            <a:pPr marL="0" marR="0" lvl="0" indent="0" algn="l" rtl="0">
              <a:spcBef>
                <a:spcPts val="0"/>
              </a:spcBef>
              <a:spcAft>
                <a:spcPts val="0"/>
              </a:spcAft>
              <a:buNone/>
            </a:pPr>
            <a:endParaRPr sz="14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b="1" dirty="0">
                <a:solidFill>
                  <a:srgbClr val="E86229"/>
                </a:solidFill>
                <a:latin typeface="Courier New"/>
                <a:ea typeface="Courier New"/>
                <a:cs typeface="Courier New"/>
                <a:sym typeface="Courier New"/>
              </a:rPr>
              <a:t>????????</a:t>
            </a:r>
            <a:endParaRPr sz="1400" b="1" dirty="0">
              <a:solidFill>
                <a:srgbClr val="E86229"/>
              </a:solidFill>
              <a:latin typeface="Courier New"/>
              <a:ea typeface="Courier New"/>
              <a:cs typeface="Courier New"/>
              <a:sym typeface="Courier New"/>
            </a:endParaRPr>
          </a:p>
        </p:txBody>
      </p:sp>
      <p:sp>
        <p:nvSpPr>
          <p:cNvPr id="304" name="Google Shape;2667;g3f5188ffaf6_0_0">
            <a:extLst>
              <a:ext uri="{FF2B5EF4-FFF2-40B4-BE49-F238E27FC236}">
                <a16:creationId xmlns:a16="http://schemas.microsoft.com/office/drawing/2014/main" id="{CB91E2A0-3DE0-1160-1007-68E66ED7291F}"/>
              </a:ext>
            </a:extLst>
          </p:cNvPr>
          <p:cNvSpPr txBox="1"/>
          <p:nvPr/>
        </p:nvSpPr>
        <p:spPr>
          <a:xfrm>
            <a:off x="7897892" y="4488006"/>
            <a:ext cx="165225" cy="1389713"/>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a:solidFill>
                  <a:schemeClr val="dk1"/>
                </a:solidFill>
                <a:highlight>
                  <a:srgbClr val="FFEEB0"/>
                </a:highlight>
                <a:latin typeface="Courier New"/>
                <a:ea typeface="Courier New"/>
                <a:cs typeface="Courier New"/>
                <a:sym typeface="Courier New"/>
              </a:rPr>
              <a:t>I</a:t>
            </a:r>
            <a:endParaRPr sz="1400" b="1">
              <a:solidFill>
                <a:schemeClr val="dk1"/>
              </a:solidFill>
              <a:highlight>
                <a:srgbClr val="FFEEB0"/>
              </a:highlight>
              <a:latin typeface="Courier New"/>
              <a:ea typeface="Courier New"/>
              <a:cs typeface="Courier New"/>
              <a:sym typeface="Courier New"/>
            </a:endParaRPr>
          </a:p>
          <a:p>
            <a:pPr marL="0" marR="0" lvl="0" indent="0" algn="l" rtl="0">
              <a:spcBef>
                <a:spcPts val="0"/>
              </a:spcBef>
              <a:spcAft>
                <a:spcPts val="0"/>
              </a:spcAft>
              <a:buNone/>
            </a:pPr>
            <a:r>
              <a:rPr lang="en-US" sz="1400" b="1">
                <a:solidFill>
                  <a:schemeClr val="dk1"/>
                </a:solidFill>
                <a:highlight>
                  <a:srgbClr val="FFEEB0"/>
                </a:highlight>
                <a:latin typeface="Courier New"/>
                <a:ea typeface="Courier New"/>
                <a:cs typeface="Courier New"/>
                <a:sym typeface="Courier New"/>
              </a:rPr>
              <a:t>I</a:t>
            </a:r>
            <a:endParaRPr sz="1400" b="1">
              <a:solidFill>
                <a:schemeClr val="dk1"/>
              </a:solidFill>
              <a:highlight>
                <a:srgbClr val="FFEEB0"/>
              </a:highlight>
              <a:latin typeface="Courier New"/>
              <a:ea typeface="Courier New"/>
              <a:cs typeface="Courier New"/>
              <a:sym typeface="Courier New"/>
            </a:endParaRPr>
          </a:p>
          <a:p>
            <a:pPr marL="0" marR="0" lvl="0" indent="0" algn="l" rtl="0">
              <a:spcBef>
                <a:spcPts val="0"/>
              </a:spcBef>
              <a:spcAft>
                <a:spcPts val="0"/>
              </a:spcAft>
              <a:buNone/>
            </a:pPr>
            <a:endParaRPr sz="1400" b="1">
              <a:solidFill>
                <a:schemeClr val="dk1"/>
              </a:solidFill>
              <a:latin typeface="Courier New"/>
              <a:ea typeface="Courier New"/>
              <a:cs typeface="Courier New"/>
              <a:sym typeface="Courier New"/>
            </a:endParaRPr>
          </a:p>
          <a:p>
            <a:pPr marL="0" marR="0" lvl="0" indent="0" algn="l" rtl="0">
              <a:spcBef>
                <a:spcPts val="0"/>
              </a:spcBef>
              <a:spcAft>
                <a:spcPts val="0"/>
              </a:spcAft>
              <a:buNone/>
            </a:pPr>
            <a:endParaRPr sz="1400" b="1">
              <a:solidFill>
                <a:schemeClr val="dk1"/>
              </a:solidFill>
              <a:latin typeface="Courier New"/>
              <a:ea typeface="Courier New"/>
              <a:cs typeface="Courier New"/>
              <a:sym typeface="Courier New"/>
            </a:endParaRPr>
          </a:p>
          <a:p>
            <a:pPr marL="0" marR="0" lvl="0" indent="0" algn="l" rtl="0">
              <a:spcBef>
                <a:spcPts val="0"/>
              </a:spcBef>
              <a:spcAft>
                <a:spcPts val="0"/>
              </a:spcAft>
              <a:buNone/>
            </a:pPr>
            <a:endParaRPr sz="1400" b="1">
              <a:solidFill>
                <a:schemeClr val="dk1"/>
              </a:solidFill>
              <a:latin typeface="Courier New"/>
              <a:ea typeface="Courier New"/>
              <a:cs typeface="Courier New"/>
              <a:sym typeface="Courier New"/>
            </a:endParaRPr>
          </a:p>
        </p:txBody>
      </p:sp>
      <p:sp>
        <p:nvSpPr>
          <p:cNvPr id="305" name="Google Shape;2668;g3f5188ffaf6_0_0">
            <a:extLst>
              <a:ext uri="{FF2B5EF4-FFF2-40B4-BE49-F238E27FC236}">
                <a16:creationId xmlns:a16="http://schemas.microsoft.com/office/drawing/2014/main" id="{82D35E52-513D-925F-02A3-5AD2B40599AF}"/>
              </a:ext>
            </a:extLst>
          </p:cNvPr>
          <p:cNvSpPr txBox="1"/>
          <p:nvPr/>
        </p:nvSpPr>
        <p:spPr>
          <a:xfrm>
            <a:off x="2260968" y="4116284"/>
            <a:ext cx="893426" cy="194559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a:solidFill>
                  <a:schemeClr val="dk1"/>
                </a:solidFill>
                <a:highlight>
                  <a:srgbClr val="E7F0F9"/>
                </a:highlight>
                <a:latin typeface="Courier New"/>
                <a:ea typeface="Courier New"/>
                <a:cs typeface="Courier New"/>
                <a:sym typeface="Courier New"/>
              </a:rPr>
              <a:t>GTGTTTGT</a:t>
            </a:r>
            <a:endParaRPr sz="1400" b="1">
              <a:solidFill>
                <a:schemeClr val="dk1"/>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r>
              <a:rPr lang="en-US" sz="1400" b="1">
                <a:solidFill>
                  <a:schemeClr val="dk1"/>
                </a:solidFill>
                <a:highlight>
                  <a:srgbClr val="E7F0F9"/>
                </a:highlight>
                <a:latin typeface="Courier New"/>
                <a:ea typeface="Courier New"/>
                <a:cs typeface="Courier New"/>
                <a:sym typeface="Courier New"/>
              </a:rPr>
              <a:t>TTTGGTTT</a:t>
            </a:r>
            <a:endParaRPr sz="1400" b="1">
              <a:solidFill>
                <a:schemeClr val="dk1"/>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endParaRPr sz="1400" b="1">
              <a:solidFill>
                <a:schemeClr val="dk1"/>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r>
              <a:rPr lang="en-US" sz="1400" b="1">
                <a:solidFill>
                  <a:schemeClr val="dk1"/>
                </a:solidFill>
                <a:highlight>
                  <a:srgbClr val="E7F0F9"/>
                </a:highlight>
                <a:latin typeface="Courier New"/>
                <a:ea typeface="Courier New"/>
                <a:cs typeface="Courier New"/>
                <a:sym typeface="Courier New"/>
              </a:rPr>
              <a:t>GTTTTGTT</a:t>
            </a:r>
            <a:endParaRPr sz="1400" b="1">
              <a:solidFill>
                <a:schemeClr val="dk1"/>
              </a:solidFill>
              <a:highlight>
                <a:srgbClr val="E7F0F9"/>
              </a:highlight>
              <a:latin typeface="Courier New"/>
              <a:ea typeface="Courier New"/>
              <a:cs typeface="Courier New"/>
              <a:sym typeface="Courier New"/>
            </a:endParaRPr>
          </a:p>
        </p:txBody>
      </p:sp>
      <p:sp>
        <p:nvSpPr>
          <p:cNvPr id="306" name="Google Shape;2669;g3f5188ffaf6_0_0">
            <a:extLst>
              <a:ext uri="{FF2B5EF4-FFF2-40B4-BE49-F238E27FC236}">
                <a16:creationId xmlns:a16="http://schemas.microsoft.com/office/drawing/2014/main" id="{9B8F62ED-A34B-79E1-C6A3-6100FF2D634B}"/>
              </a:ext>
            </a:extLst>
          </p:cNvPr>
          <p:cNvSpPr txBox="1"/>
          <p:nvPr/>
        </p:nvSpPr>
        <p:spPr>
          <a:xfrm>
            <a:off x="3097345" y="4524938"/>
            <a:ext cx="981277" cy="111177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dirty="0">
                <a:solidFill>
                  <a:schemeClr val="dk1"/>
                </a:solidFill>
                <a:highlight>
                  <a:srgbClr val="FFEBEB"/>
                </a:highlight>
                <a:latin typeface="Courier New"/>
                <a:ea typeface="Courier New"/>
                <a:cs typeface="Courier New"/>
                <a:sym typeface="Courier New"/>
              </a:rPr>
              <a:t>GTGTTTGT</a:t>
            </a:r>
            <a:endParaRPr sz="1400" b="1" dirty="0">
              <a:solidFill>
                <a:schemeClr val="dk1"/>
              </a:solidFill>
              <a:highlight>
                <a:srgbClr val="FFEEB0"/>
              </a:highlight>
              <a:latin typeface="Courier New"/>
              <a:ea typeface="Courier New"/>
              <a:cs typeface="Courier New"/>
              <a:sym typeface="Courier New"/>
            </a:endParaRPr>
          </a:p>
          <a:p>
            <a:pPr marL="0" lvl="0" indent="0" algn="l" rtl="0">
              <a:spcBef>
                <a:spcPts val="0"/>
              </a:spcBef>
              <a:spcAft>
                <a:spcPts val="0"/>
              </a:spcAft>
              <a:buNone/>
            </a:pPr>
            <a:r>
              <a:rPr lang="en-US" sz="1400" b="1" dirty="0">
                <a:solidFill>
                  <a:schemeClr val="dk1"/>
                </a:solidFill>
                <a:highlight>
                  <a:srgbClr val="FFEBEB"/>
                </a:highlight>
                <a:latin typeface="Courier New"/>
                <a:ea typeface="Courier New"/>
                <a:cs typeface="Courier New"/>
                <a:sym typeface="Courier New"/>
              </a:rPr>
              <a:t>TTTGGTTT</a:t>
            </a:r>
            <a:endParaRPr sz="1400" b="1" dirty="0">
              <a:solidFill>
                <a:schemeClr val="dk1"/>
              </a:solidFill>
              <a:highlight>
                <a:srgbClr val="FFEEB0"/>
              </a:highlight>
              <a:latin typeface="Courier New"/>
              <a:ea typeface="Courier New"/>
              <a:cs typeface="Courier New"/>
              <a:sym typeface="Courier New"/>
            </a:endParaRPr>
          </a:p>
          <a:p>
            <a:pPr marL="0" marR="0" lvl="0" indent="0" algn="l" rtl="0">
              <a:spcBef>
                <a:spcPts val="0"/>
              </a:spcBef>
              <a:spcAft>
                <a:spcPts val="0"/>
              </a:spcAft>
              <a:buNone/>
            </a:pPr>
            <a:endParaRPr sz="14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b="1" dirty="0">
                <a:solidFill>
                  <a:srgbClr val="2E8B57"/>
                </a:solidFill>
                <a:latin typeface="Courier New"/>
                <a:ea typeface="Courier New"/>
                <a:cs typeface="Courier New"/>
                <a:sym typeface="Courier New"/>
              </a:rPr>
              <a:t>????????</a:t>
            </a:r>
            <a:endParaRPr sz="1400" b="1" dirty="0">
              <a:solidFill>
                <a:srgbClr val="2E8B57"/>
              </a:solidFill>
              <a:latin typeface="Courier New"/>
              <a:ea typeface="Courier New"/>
              <a:cs typeface="Courier New"/>
              <a:sym typeface="Courier New"/>
            </a:endParaRPr>
          </a:p>
        </p:txBody>
      </p:sp>
      <p:sp>
        <p:nvSpPr>
          <p:cNvPr id="307" name="Google Shape;2670;g3f5188ffaf6_0_0">
            <a:extLst>
              <a:ext uri="{FF2B5EF4-FFF2-40B4-BE49-F238E27FC236}">
                <a16:creationId xmlns:a16="http://schemas.microsoft.com/office/drawing/2014/main" id="{3A5C35E3-A4AD-375F-633C-8CA214103932}"/>
              </a:ext>
            </a:extLst>
          </p:cNvPr>
          <p:cNvSpPr txBox="1"/>
          <p:nvPr/>
        </p:nvSpPr>
        <p:spPr>
          <a:xfrm>
            <a:off x="2600185" y="4992629"/>
            <a:ext cx="163613" cy="39706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000" b="1" i="0" u="none" strike="noStrike" cap="none">
                <a:solidFill>
                  <a:srgbClr val="999999"/>
                </a:solidFill>
              </a:rPr>
              <a:t>⋮</a:t>
            </a:r>
            <a:endParaRPr sz="3200" b="1">
              <a:solidFill>
                <a:srgbClr val="999999"/>
              </a:solidFill>
            </a:endParaRPr>
          </a:p>
        </p:txBody>
      </p:sp>
      <p:sp>
        <p:nvSpPr>
          <p:cNvPr id="308" name="Google Shape;2671;g3f5188ffaf6_0_0">
            <a:extLst>
              <a:ext uri="{FF2B5EF4-FFF2-40B4-BE49-F238E27FC236}">
                <a16:creationId xmlns:a16="http://schemas.microsoft.com/office/drawing/2014/main" id="{8ADCAA7D-1AF1-46C7-3C33-9199A1781EB5}"/>
              </a:ext>
            </a:extLst>
          </p:cNvPr>
          <p:cNvSpPr txBox="1"/>
          <p:nvPr/>
        </p:nvSpPr>
        <p:spPr>
          <a:xfrm>
            <a:off x="3940473" y="4492906"/>
            <a:ext cx="165225" cy="1389713"/>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a:solidFill>
                  <a:schemeClr val="dk1"/>
                </a:solidFill>
                <a:highlight>
                  <a:srgbClr val="FFEEB0"/>
                </a:highlight>
                <a:latin typeface="Courier New"/>
                <a:ea typeface="Courier New"/>
                <a:cs typeface="Courier New"/>
                <a:sym typeface="Courier New"/>
              </a:rPr>
              <a:t>C</a:t>
            </a:r>
            <a:endParaRPr sz="1400" b="1">
              <a:solidFill>
                <a:schemeClr val="dk1"/>
              </a:solidFill>
              <a:highlight>
                <a:srgbClr val="FFEEB0"/>
              </a:highlight>
              <a:latin typeface="Courier New"/>
              <a:ea typeface="Courier New"/>
              <a:cs typeface="Courier New"/>
              <a:sym typeface="Courier New"/>
            </a:endParaRPr>
          </a:p>
          <a:p>
            <a:pPr marL="0" marR="0" lvl="0" indent="0" algn="l" rtl="0">
              <a:spcBef>
                <a:spcPts val="0"/>
              </a:spcBef>
              <a:spcAft>
                <a:spcPts val="0"/>
              </a:spcAft>
              <a:buNone/>
            </a:pPr>
            <a:r>
              <a:rPr lang="en-US" sz="1400" b="1">
                <a:solidFill>
                  <a:schemeClr val="dk1"/>
                </a:solidFill>
                <a:highlight>
                  <a:srgbClr val="FFEEB0"/>
                </a:highlight>
                <a:latin typeface="Courier New"/>
                <a:ea typeface="Courier New"/>
                <a:cs typeface="Courier New"/>
                <a:sym typeface="Courier New"/>
              </a:rPr>
              <a:t>C</a:t>
            </a:r>
            <a:endParaRPr sz="1400" b="1">
              <a:solidFill>
                <a:schemeClr val="dk1"/>
              </a:solidFill>
              <a:highlight>
                <a:srgbClr val="FFEEB0"/>
              </a:highlight>
              <a:latin typeface="Courier New"/>
              <a:ea typeface="Courier New"/>
              <a:cs typeface="Courier New"/>
              <a:sym typeface="Courier New"/>
            </a:endParaRPr>
          </a:p>
          <a:p>
            <a:pPr marL="0" marR="0" lvl="0" indent="0" algn="l" rtl="0">
              <a:spcBef>
                <a:spcPts val="0"/>
              </a:spcBef>
              <a:spcAft>
                <a:spcPts val="0"/>
              </a:spcAft>
              <a:buNone/>
            </a:pPr>
            <a:endParaRPr sz="1400" b="1">
              <a:solidFill>
                <a:schemeClr val="dk1"/>
              </a:solidFill>
              <a:latin typeface="Courier New"/>
              <a:ea typeface="Courier New"/>
              <a:cs typeface="Courier New"/>
              <a:sym typeface="Courier New"/>
            </a:endParaRPr>
          </a:p>
          <a:p>
            <a:pPr marL="0" marR="0" lvl="0" indent="0" algn="l" rtl="0">
              <a:spcBef>
                <a:spcPts val="0"/>
              </a:spcBef>
              <a:spcAft>
                <a:spcPts val="0"/>
              </a:spcAft>
              <a:buNone/>
            </a:pPr>
            <a:endParaRPr sz="1400" b="1">
              <a:solidFill>
                <a:schemeClr val="dk1"/>
              </a:solidFill>
              <a:latin typeface="Courier New"/>
              <a:ea typeface="Courier New"/>
              <a:cs typeface="Courier New"/>
              <a:sym typeface="Courier New"/>
            </a:endParaRPr>
          </a:p>
          <a:p>
            <a:pPr marL="0" marR="0" lvl="0" indent="0" algn="l" rtl="0">
              <a:spcBef>
                <a:spcPts val="0"/>
              </a:spcBef>
              <a:spcAft>
                <a:spcPts val="0"/>
              </a:spcAft>
              <a:buNone/>
            </a:pPr>
            <a:endParaRPr sz="1400" b="1">
              <a:solidFill>
                <a:schemeClr val="dk1"/>
              </a:solidFill>
              <a:latin typeface="Courier New"/>
              <a:ea typeface="Courier New"/>
              <a:cs typeface="Courier New"/>
              <a:sym typeface="Courier New"/>
            </a:endParaRPr>
          </a:p>
        </p:txBody>
      </p:sp>
      <p:sp>
        <p:nvSpPr>
          <p:cNvPr id="309" name="Google Shape;2672;g3f5188ffaf6_0_0">
            <a:extLst>
              <a:ext uri="{FF2B5EF4-FFF2-40B4-BE49-F238E27FC236}">
                <a16:creationId xmlns:a16="http://schemas.microsoft.com/office/drawing/2014/main" id="{BE010FF4-F34B-8227-AB52-84BABFB01777}"/>
              </a:ext>
            </a:extLst>
          </p:cNvPr>
          <p:cNvSpPr txBox="1"/>
          <p:nvPr/>
        </p:nvSpPr>
        <p:spPr>
          <a:xfrm>
            <a:off x="4205141" y="4096497"/>
            <a:ext cx="893426" cy="194559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dirty="0">
                <a:solidFill>
                  <a:schemeClr val="dk1"/>
                </a:solidFill>
                <a:highlight>
                  <a:srgbClr val="E7F0F9"/>
                </a:highlight>
                <a:latin typeface="Courier New"/>
                <a:ea typeface="Courier New"/>
                <a:cs typeface="Courier New"/>
                <a:sym typeface="Courier New"/>
              </a:rPr>
              <a:t>PNPNNNPN</a:t>
            </a:r>
            <a:endParaRPr sz="1400" b="1" dirty="0">
              <a:solidFill>
                <a:schemeClr val="dk1"/>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r>
              <a:rPr lang="en-US" sz="1400" b="1" dirty="0">
                <a:solidFill>
                  <a:schemeClr val="dk1"/>
                </a:solidFill>
                <a:highlight>
                  <a:srgbClr val="E7F0F9"/>
                </a:highlight>
                <a:latin typeface="Courier New"/>
                <a:ea typeface="Courier New"/>
                <a:cs typeface="Courier New"/>
                <a:sym typeface="Courier New"/>
              </a:rPr>
              <a:t>TTTGGTTT</a:t>
            </a:r>
            <a:endParaRPr sz="1400" b="1" dirty="0">
              <a:solidFill>
                <a:schemeClr val="dk1"/>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endParaRPr sz="1400" b="1" dirty="0">
              <a:solidFill>
                <a:schemeClr val="dk1"/>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r>
              <a:rPr lang="en-US" sz="1400" b="1" dirty="0">
                <a:solidFill>
                  <a:schemeClr val="dk1"/>
                </a:solidFill>
                <a:highlight>
                  <a:srgbClr val="E7F0F9"/>
                </a:highlight>
                <a:latin typeface="Courier New"/>
                <a:ea typeface="Courier New"/>
                <a:cs typeface="Courier New"/>
                <a:sym typeface="Courier New"/>
              </a:rPr>
              <a:t>PNNNNPNN</a:t>
            </a:r>
            <a:endParaRPr sz="1400" b="1" dirty="0">
              <a:solidFill>
                <a:schemeClr val="dk1"/>
              </a:solidFill>
              <a:highlight>
                <a:srgbClr val="E7F0F9"/>
              </a:highlight>
              <a:latin typeface="Courier New"/>
              <a:ea typeface="Courier New"/>
              <a:cs typeface="Courier New"/>
              <a:sym typeface="Courier New"/>
            </a:endParaRPr>
          </a:p>
        </p:txBody>
      </p:sp>
      <p:sp>
        <p:nvSpPr>
          <p:cNvPr id="310" name="Google Shape;2673;g3f5188ffaf6_0_0">
            <a:extLst>
              <a:ext uri="{FF2B5EF4-FFF2-40B4-BE49-F238E27FC236}">
                <a16:creationId xmlns:a16="http://schemas.microsoft.com/office/drawing/2014/main" id="{89104789-1F9E-235F-2D08-CC3F12FE54D0}"/>
              </a:ext>
            </a:extLst>
          </p:cNvPr>
          <p:cNvSpPr txBox="1"/>
          <p:nvPr/>
        </p:nvSpPr>
        <p:spPr>
          <a:xfrm>
            <a:off x="5041507" y="4513618"/>
            <a:ext cx="981277" cy="111177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a:solidFill>
                  <a:schemeClr val="dk1"/>
                </a:solidFill>
                <a:highlight>
                  <a:srgbClr val="FFEBEB"/>
                </a:highlight>
                <a:latin typeface="Courier New"/>
                <a:ea typeface="Courier New"/>
                <a:cs typeface="Courier New"/>
                <a:sym typeface="Courier New"/>
              </a:rPr>
              <a:t>PNPNNNPN</a:t>
            </a:r>
            <a:endParaRPr sz="1400" b="1">
              <a:solidFill>
                <a:schemeClr val="dk1"/>
              </a:solidFill>
              <a:highlight>
                <a:srgbClr val="FFEEB0"/>
              </a:highlight>
              <a:latin typeface="Courier New"/>
              <a:ea typeface="Courier New"/>
              <a:cs typeface="Courier New"/>
              <a:sym typeface="Courier New"/>
            </a:endParaRPr>
          </a:p>
          <a:p>
            <a:pPr marL="0" lvl="0" indent="0" algn="l" rtl="0">
              <a:spcBef>
                <a:spcPts val="0"/>
              </a:spcBef>
              <a:spcAft>
                <a:spcPts val="0"/>
              </a:spcAft>
              <a:buNone/>
            </a:pPr>
            <a:r>
              <a:rPr lang="en-US" sz="1400" b="1">
                <a:solidFill>
                  <a:schemeClr val="dk1"/>
                </a:solidFill>
                <a:highlight>
                  <a:srgbClr val="FFEBEB"/>
                </a:highlight>
                <a:latin typeface="Courier New"/>
                <a:ea typeface="Courier New"/>
                <a:cs typeface="Courier New"/>
                <a:sym typeface="Courier New"/>
              </a:rPr>
              <a:t>TTTGGTTT</a:t>
            </a:r>
            <a:endParaRPr sz="1400" b="1">
              <a:solidFill>
                <a:schemeClr val="dk1"/>
              </a:solidFill>
              <a:highlight>
                <a:srgbClr val="FFEEB0"/>
              </a:highlight>
              <a:latin typeface="Courier New"/>
              <a:ea typeface="Courier New"/>
              <a:cs typeface="Courier New"/>
              <a:sym typeface="Courier New"/>
            </a:endParaRPr>
          </a:p>
          <a:p>
            <a:pPr marL="0" marR="0" lvl="0" indent="0" algn="l" rtl="0">
              <a:spcBef>
                <a:spcPts val="0"/>
              </a:spcBef>
              <a:spcAft>
                <a:spcPts val="0"/>
              </a:spcAft>
              <a:buNone/>
            </a:pPr>
            <a:endParaRPr sz="1400" b="1">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b="1">
                <a:solidFill>
                  <a:srgbClr val="7B3FBF"/>
                </a:solidFill>
                <a:latin typeface="Courier New"/>
                <a:ea typeface="Courier New"/>
                <a:cs typeface="Courier New"/>
                <a:sym typeface="Courier New"/>
              </a:rPr>
              <a:t>????????</a:t>
            </a:r>
            <a:endParaRPr sz="1400" b="1">
              <a:solidFill>
                <a:srgbClr val="7B3FBF"/>
              </a:solidFill>
              <a:latin typeface="Courier New"/>
              <a:ea typeface="Courier New"/>
              <a:cs typeface="Courier New"/>
              <a:sym typeface="Courier New"/>
            </a:endParaRPr>
          </a:p>
        </p:txBody>
      </p:sp>
      <p:sp>
        <p:nvSpPr>
          <p:cNvPr id="311" name="Google Shape;2674;g3f5188ffaf6_0_0">
            <a:extLst>
              <a:ext uri="{FF2B5EF4-FFF2-40B4-BE49-F238E27FC236}">
                <a16:creationId xmlns:a16="http://schemas.microsoft.com/office/drawing/2014/main" id="{B035AC4F-ED68-66A5-505A-7D796BFC887E}"/>
              </a:ext>
            </a:extLst>
          </p:cNvPr>
          <p:cNvSpPr txBox="1"/>
          <p:nvPr/>
        </p:nvSpPr>
        <p:spPr>
          <a:xfrm>
            <a:off x="4556625" y="4979924"/>
            <a:ext cx="163613" cy="39706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000" b="1" i="0" u="none" strike="noStrike" cap="none">
                <a:solidFill>
                  <a:srgbClr val="999999"/>
                </a:solidFill>
              </a:rPr>
              <a:t>⋮</a:t>
            </a:r>
            <a:endParaRPr sz="3200" b="1">
              <a:solidFill>
                <a:srgbClr val="999999"/>
              </a:solidFill>
            </a:endParaRPr>
          </a:p>
        </p:txBody>
      </p:sp>
      <p:sp>
        <p:nvSpPr>
          <p:cNvPr id="312" name="Google Shape;2675;g3f5188ffaf6_0_0">
            <a:extLst>
              <a:ext uri="{FF2B5EF4-FFF2-40B4-BE49-F238E27FC236}">
                <a16:creationId xmlns:a16="http://schemas.microsoft.com/office/drawing/2014/main" id="{650AAAD5-F6E8-8720-169B-EEB54C0ACA6D}"/>
              </a:ext>
            </a:extLst>
          </p:cNvPr>
          <p:cNvSpPr txBox="1"/>
          <p:nvPr/>
        </p:nvSpPr>
        <p:spPr>
          <a:xfrm>
            <a:off x="5888610" y="4481585"/>
            <a:ext cx="165225" cy="1389713"/>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a:solidFill>
                  <a:schemeClr val="dk1"/>
                </a:solidFill>
                <a:highlight>
                  <a:srgbClr val="FFEEB0"/>
                </a:highlight>
                <a:latin typeface="Courier New"/>
                <a:ea typeface="Courier New"/>
                <a:cs typeface="Courier New"/>
                <a:sym typeface="Courier New"/>
              </a:rPr>
              <a:t>I</a:t>
            </a:r>
            <a:endParaRPr sz="1400" b="1">
              <a:solidFill>
                <a:schemeClr val="dk1"/>
              </a:solidFill>
              <a:highlight>
                <a:srgbClr val="FFEEB0"/>
              </a:highlight>
              <a:latin typeface="Courier New"/>
              <a:ea typeface="Courier New"/>
              <a:cs typeface="Courier New"/>
              <a:sym typeface="Courier New"/>
            </a:endParaRPr>
          </a:p>
          <a:p>
            <a:pPr marL="0" marR="0" lvl="0" indent="0" algn="l" rtl="0">
              <a:spcBef>
                <a:spcPts val="0"/>
              </a:spcBef>
              <a:spcAft>
                <a:spcPts val="0"/>
              </a:spcAft>
              <a:buNone/>
            </a:pPr>
            <a:r>
              <a:rPr lang="en-US" sz="1400" b="1">
                <a:solidFill>
                  <a:schemeClr val="dk1"/>
                </a:solidFill>
                <a:highlight>
                  <a:srgbClr val="FFEEB0"/>
                </a:highlight>
                <a:latin typeface="Courier New"/>
                <a:ea typeface="Courier New"/>
                <a:cs typeface="Courier New"/>
                <a:sym typeface="Courier New"/>
              </a:rPr>
              <a:t>I</a:t>
            </a:r>
            <a:endParaRPr sz="1400" b="1">
              <a:solidFill>
                <a:schemeClr val="dk1"/>
              </a:solidFill>
              <a:highlight>
                <a:srgbClr val="FFEEB0"/>
              </a:highlight>
              <a:latin typeface="Courier New"/>
              <a:ea typeface="Courier New"/>
              <a:cs typeface="Courier New"/>
              <a:sym typeface="Courier New"/>
            </a:endParaRPr>
          </a:p>
          <a:p>
            <a:pPr marL="0" marR="0" lvl="0" indent="0" algn="l" rtl="0">
              <a:spcBef>
                <a:spcPts val="0"/>
              </a:spcBef>
              <a:spcAft>
                <a:spcPts val="0"/>
              </a:spcAft>
              <a:buNone/>
            </a:pPr>
            <a:endParaRPr sz="1400" b="1">
              <a:solidFill>
                <a:schemeClr val="dk1"/>
              </a:solidFill>
              <a:latin typeface="Courier New"/>
              <a:ea typeface="Courier New"/>
              <a:cs typeface="Courier New"/>
              <a:sym typeface="Courier New"/>
            </a:endParaRPr>
          </a:p>
          <a:p>
            <a:pPr marL="0" marR="0" lvl="0" indent="0" algn="l" rtl="0">
              <a:spcBef>
                <a:spcPts val="0"/>
              </a:spcBef>
              <a:spcAft>
                <a:spcPts val="0"/>
              </a:spcAft>
              <a:buNone/>
            </a:pPr>
            <a:endParaRPr sz="1400" b="1">
              <a:solidFill>
                <a:schemeClr val="dk1"/>
              </a:solidFill>
              <a:latin typeface="Courier New"/>
              <a:ea typeface="Courier New"/>
              <a:cs typeface="Courier New"/>
              <a:sym typeface="Courier New"/>
            </a:endParaRPr>
          </a:p>
          <a:p>
            <a:pPr marL="0" marR="0" lvl="0" indent="0" algn="l" rtl="0">
              <a:spcBef>
                <a:spcPts val="0"/>
              </a:spcBef>
              <a:spcAft>
                <a:spcPts val="0"/>
              </a:spcAft>
              <a:buNone/>
            </a:pPr>
            <a:endParaRPr sz="1400" b="1">
              <a:solidFill>
                <a:schemeClr val="dk1"/>
              </a:solidFill>
              <a:latin typeface="Courier New"/>
              <a:ea typeface="Courier New"/>
              <a:cs typeface="Courier New"/>
              <a:sym typeface="Courier New"/>
            </a:endParaRPr>
          </a:p>
        </p:txBody>
      </p:sp>
      <p:sp>
        <p:nvSpPr>
          <p:cNvPr id="313" name="Google Shape;2676;g3f5188ffaf6_0_0">
            <a:extLst>
              <a:ext uri="{FF2B5EF4-FFF2-40B4-BE49-F238E27FC236}">
                <a16:creationId xmlns:a16="http://schemas.microsoft.com/office/drawing/2014/main" id="{E75261F2-A62C-6182-6A05-2AEDF0694619}"/>
              </a:ext>
            </a:extLst>
          </p:cNvPr>
          <p:cNvSpPr txBox="1"/>
          <p:nvPr/>
        </p:nvSpPr>
        <p:spPr>
          <a:xfrm>
            <a:off x="6958142" y="4530305"/>
            <a:ext cx="165225" cy="111177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400" b="1">
                <a:solidFill>
                  <a:schemeClr val="dk1"/>
                </a:solidFill>
                <a:highlight>
                  <a:srgbClr val="FFEEB0"/>
                </a:highlight>
                <a:latin typeface="Courier New"/>
                <a:ea typeface="Courier New"/>
                <a:cs typeface="Courier New"/>
                <a:sym typeface="Courier New"/>
              </a:rPr>
              <a:t>,</a:t>
            </a:r>
            <a:endParaRPr sz="1400" b="1">
              <a:solidFill>
                <a:schemeClr val="dk1"/>
              </a:solidFill>
              <a:highlight>
                <a:srgbClr val="FFEEB0"/>
              </a:highlight>
              <a:latin typeface="Courier New"/>
              <a:ea typeface="Courier New"/>
              <a:cs typeface="Courier New"/>
              <a:sym typeface="Courier New"/>
            </a:endParaRPr>
          </a:p>
          <a:p>
            <a:pPr marL="0" marR="0" lvl="0" indent="0" algn="l" rtl="0">
              <a:spcBef>
                <a:spcPts val="0"/>
              </a:spcBef>
              <a:spcAft>
                <a:spcPts val="0"/>
              </a:spcAft>
              <a:buNone/>
            </a:pPr>
            <a:r>
              <a:rPr lang="en-US" sz="1400" b="1">
                <a:solidFill>
                  <a:schemeClr val="dk1"/>
                </a:solidFill>
                <a:highlight>
                  <a:srgbClr val="FFEEB0"/>
                </a:highlight>
                <a:latin typeface="Courier New"/>
                <a:ea typeface="Courier New"/>
                <a:cs typeface="Courier New"/>
                <a:sym typeface="Courier New"/>
              </a:rPr>
              <a:t>,</a:t>
            </a:r>
            <a:endParaRPr sz="1400" b="1">
              <a:solidFill>
                <a:schemeClr val="dk1"/>
              </a:solidFill>
              <a:highlight>
                <a:srgbClr val="FFEEB0"/>
              </a:highlight>
              <a:latin typeface="Courier New"/>
              <a:ea typeface="Courier New"/>
              <a:cs typeface="Courier New"/>
              <a:sym typeface="Courier New"/>
            </a:endParaRPr>
          </a:p>
          <a:p>
            <a:pPr marL="0" marR="0" lvl="0" indent="0" algn="l" rtl="0">
              <a:spcBef>
                <a:spcPts val="0"/>
              </a:spcBef>
              <a:spcAft>
                <a:spcPts val="0"/>
              </a:spcAft>
              <a:buNone/>
            </a:pPr>
            <a:endParaRPr sz="1400" b="1">
              <a:solidFill>
                <a:schemeClr val="dk1"/>
              </a:solidFill>
              <a:latin typeface="Courier New"/>
              <a:ea typeface="Courier New"/>
              <a:cs typeface="Courier New"/>
              <a:sym typeface="Courier New"/>
            </a:endParaRPr>
          </a:p>
          <a:p>
            <a:pPr marL="0" lvl="0" indent="0" algn="l" rtl="0">
              <a:spcBef>
                <a:spcPts val="0"/>
              </a:spcBef>
              <a:spcAft>
                <a:spcPts val="0"/>
              </a:spcAft>
              <a:buNone/>
            </a:pPr>
            <a:r>
              <a:rPr lang="en-US" sz="1400" b="1">
                <a:solidFill>
                  <a:schemeClr val="dk1"/>
                </a:solidFill>
                <a:highlight>
                  <a:srgbClr val="FFEEB0"/>
                </a:highlight>
                <a:latin typeface="Courier New"/>
                <a:ea typeface="Courier New"/>
                <a:cs typeface="Courier New"/>
                <a:sym typeface="Courier New"/>
              </a:rPr>
              <a:t>,</a:t>
            </a:r>
            <a:endParaRPr sz="1400" b="1">
              <a:solidFill>
                <a:schemeClr val="dk1"/>
              </a:solidFill>
              <a:latin typeface="Courier New"/>
              <a:ea typeface="Courier New"/>
              <a:cs typeface="Courier New"/>
              <a:sym typeface="Courier New"/>
            </a:endParaRPr>
          </a:p>
        </p:txBody>
      </p:sp>
      <p:sp>
        <p:nvSpPr>
          <p:cNvPr id="314" name="Google Shape;2677;g3f5188ffaf6_0_0">
            <a:extLst>
              <a:ext uri="{FF2B5EF4-FFF2-40B4-BE49-F238E27FC236}">
                <a16:creationId xmlns:a16="http://schemas.microsoft.com/office/drawing/2014/main" id="{804D9449-3E41-EEA2-DD92-7D8F0E2CE3A3}"/>
              </a:ext>
            </a:extLst>
          </p:cNvPr>
          <p:cNvSpPr txBox="1"/>
          <p:nvPr/>
        </p:nvSpPr>
        <p:spPr>
          <a:xfrm>
            <a:off x="6466985" y="4983046"/>
            <a:ext cx="163613" cy="39706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000" b="1" i="0" u="none" strike="noStrike" cap="none">
                <a:solidFill>
                  <a:srgbClr val="999999"/>
                </a:solidFill>
              </a:rPr>
              <a:t>⋮</a:t>
            </a:r>
            <a:endParaRPr sz="3200" b="1">
              <a:solidFill>
                <a:srgbClr val="999999"/>
              </a:solidFill>
            </a:endParaRPr>
          </a:p>
        </p:txBody>
      </p:sp>
      <p:sp>
        <p:nvSpPr>
          <p:cNvPr id="315" name="Google Shape;2678;g3f5188ffaf6_0_0">
            <a:extLst>
              <a:ext uri="{FF2B5EF4-FFF2-40B4-BE49-F238E27FC236}">
                <a16:creationId xmlns:a16="http://schemas.microsoft.com/office/drawing/2014/main" id="{08DE2BC8-3704-A77D-CC72-66704756B492}"/>
              </a:ext>
            </a:extLst>
          </p:cNvPr>
          <p:cNvSpPr/>
          <p:nvPr/>
        </p:nvSpPr>
        <p:spPr>
          <a:xfrm>
            <a:off x="9042766" y="4799059"/>
            <a:ext cx="89866" cy="104885"/>
          </a:xfrm>
          <a:prstGeom prst="rect">
            <a:avLst/>
          </a:prstGeom>
          <a:solidFill>
            <a:srgbClr val="F2F2F2"/>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16" name="Google Shape;2679;g3f5188ffaf6_0_0">
            <a:extLst>
              <a:ext uri="{FF2B5EF4-FFF2-40B4-BE49-F238E27FC236}">
                <a16:creationId xmlns:a16="http://schemas.microsoft.com/office/drawing/2014/main" id="{7B7061FE-A931-1686-CC54-C999509DC71C}"/>
              </a:ext>
            </a:extLst>
          </p:cNvPr>
          <p:cNvSpPr/>
          <p:nvPr/>
        </p:nvSpPr>
        <p:spPr>
          <a:xfrm>
            <a:off x="9152236" y="4799059"/>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17" name="Google Shape;2680;g3f5188ffaf6_0_0">
            <a:extLst>
              <a:ext uri="{FF2B5EF4-FFF2-40B4-BE49-F238E27FC236}">
                <a16:creationId xmlns:a16="http://schemas.microsoft.com/office/drawing/2014/main" id="{B22F24F5-D2A9-E653-E8C8-E4246B97CF52}"/>
              </a:ext>
            </a:extLst>
          </p:cNvPr>
          <p:cNvSpPr/>
          <p:nvPr/>
        </p:nvSpPr>
        <p:spPr>
          <a:xfrm>
            <a:off x="9261706" y="4799059"/>
            <a:ext cx="89866" cy="104885"/>
          </a:xfrm>
          <a:prstGeom prst="rect">
            <a:avLst/>
          </a:prstGeom>
          <a:solidFill>
            <a:srgbClr val="F2F2F2"/>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18" name="Google Shape;2681;g3f5188ffaf6_0_0">
            <a:extLst>
              <a:ext uri="{FF2B5EF4-FFF2-40B4-BE49-F238E27FC236}">
                <a16:creationId xmlns:a16="http://schemas.microsoft.com/office/drawing/2014/main" id="{38400F6A-F578-6A92-2CF6-69E2238E4E09}"/>
              </a:ext>
            </a:extLst>
          </p:cNvPr>
          <p:cNvSpPr/>
          <p:nvPr/>
        </p:nvSpPr>
        <p:spPr>
          <a:xfrm>
            <a:off x="9371176" y="4799059"/>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19" name="Google Shape;2682;g3f5188ffaf6_0_0">
            <a:extLst>
              <a:ext uri="{FF2B5EF4-FFF2-40B4-BE49-F238E27FC236}">
                <a16:creationId xmlns:a16="http://schemas.microsoft.com/office/drawing/2014/main" id="{572E66E9-3181-8B77-0B02-18A176AF1E05}"/>
              </a:ext>
            </a:extLst>
          </p:cNvPr>
          <p:cNvSpPr/>
          <p:nvPr/>
        </p:nvSpPr>
        <p:spPr>
          <a:xfrm>
            <a:off x="9480647" y="4799059"/>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20" name="Google Shape;2683;g3f5188ffaf6_0_0">
            <a:extLst>
              <a:ext uri="{FF2B5EF4-FFF2-40B4-BE49-F238E27FC236}">
                <a16:creationId xmlns:a16="http://schemas.microsoft.com/office/drawing/2014/main" id="{AB3377ED-213A-6BEA-209D-CB760B04A5FA}"/>
              </a:ext>
            </a:extLst>
          </p:cNvPr>
          <p:cNvSpPr/>
          <p:nvPr/>
        </p:nvSpPr>
        <p:spPr>
          <a:xfrm>
            <a:off x="9590116" y="4799059"/>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21" name="Google Shape;2684;g3f5188ffaf6_0_0">
            <a:extLst>
              <a:ext uri="{FF2B5EF4-FFF2-40B4-BE49-F238E27FC236}">
                <a16:creationId xmlns:a16="http://schemas.microsoft.com/office/drawing/2014/main" id="{D70936A8-27A9-5674-0D02-DDAA2231A527}"/>
              </a:ext>
            </a:extLst>
          </p:cNvPr>
          <p:cNvSpPr/>
          <p:nvPr/>
        </p:nvSpPr>
        <p:spPr>
          <a:xfrm>
            <a:off x="9699586" y="4799059"/>
            <a:ext cx="89866" cy="104885"/>
          </a:xfrm>
          <a:prstGeom prst="rect">
            <a:avLst/>
          </a:prstGeom>
          <a:solidFill>
            <a:srgbClr val="F2F2F2"/>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22" name="Google Shape;2685;g3f5188ffaf6_0_0">
            <a:extLst>
              <a:ext uri="{FF2B5EF4-FFF2-40B4-BE49-F238E27FC236}">
                <a16:creationId xmlns:a16="http://schemas.microsoft.com/office/drawing/2014/main" id="{74647F0B-1C61-E425-8E83-4F02DFD8C72A}"/>
              </a:ext>
            </a:extLst>
          </p:cNvPr>
          <p:cNvSpPr/>
          <p:nvPr/>
        </p:nvSpPr>
        <p:spPr>
          <a:xfrm>
            <a:off x="9809209" y="4799059"/>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23" name="Google Shape;2686;g3f5188ffaf6_0_0">
            <a:extLst>
              <a:ext uri="{FF2B5EF4-FFF2-40B4-BE49-F238E27FC236}">
                <a16:creationId xmlns:a16="http://schemas.microsoft.com/office/drawing/2014/main" id="{54506BCC-6E36-35F5-2A72-F53D51176743}"/>
              </a:ext>
            </a:extLst>
          </p:cNvPr>
          <p:cNvSpPr/>
          <p:nvPr/>
        </p:nvSpPr>
        <p:spPr>
          <a:xfrm>
            <a:off x="9042766" y="4925166"/>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24" name="Google Shape;2687;g3f5188ffaf6_0_0">
            <a:extLst>
              <a:ext uri="{FF2B5EF4-FFF2-40B4-BE49-F238E27FC236}">
                <a16:creationId xmlns:a16="http://schemas.microsoft.com/office/drawing/2014/main" id="{FCA5749C-77A5-9ED1-8834-9DE1EF285B0B}"/>
              </a:ext>
            </a:extLst>
          </p:cNvPr>
          <p:cNvSpPr/>
          <p:nvPr/>
        </p:nvSpPr>
        <p:spPr>
          <a:xfrm>
            <a:off x="9152236" y="4925166"/>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25" name="Google Shape;2688;g3f5188ffaf6_0_0">
            <a:extLst>
              <a:ext uri="{FF2B5EF4-FFF2-40B4-BE49-F238E27FC236}">
                <a16:creationId xmlns:a16="http://schemas.microsoft.com/office/drawing/2014/main" id="{058BC981-6F2F-9D92-F70A-4ABEA5B3C7E3}"/>
              </a:ext>
            </a:extLst>
          </p:cNvPr>
          <p:cNvSpPr/>
          <p:nvPr/>
        </p:nvSpPr>
        <p:spPr>
          <a:xfrm>
            <a:off x="9261706" y="4925166"/>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26" name="Google Shape;2689;g3f5188ffaf6_0_0">
            <a:extLst>
              <a:ext uri="{FF2B5EF4-FFF2-40B4-BE49-F238E27FC236}">
                <a16:creationId xmlns:a16="http://schemas.microsoft.com/office/drawing/2014/main" id="{779DB939-B421-FB4B-8ED5-5BD4BF9CB0DA}"/>
              </a:ext>
            </a:extLst>
          </p:cNvPr>
          <p:cNvSpPr/>
          <p:nvPr/>
        </p:nvSpPr>
        <p:spPr>
          <a:xfrm>
            <a:off x="9371176" y="4925166"/>
            <a:ext cx="89866" cy="104885"/>
          </a:xfrm>
          <a:prstGeom prst="rect">
            <a:avLst/>
          </a:prstGeom>
          <a:solidFill>
            <a:srgbClr val="F2F2F2"/>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27" name="Google Shape;2690;g3f5188ffaf6_0_0">
            <a:extLst>
              <a:ext uri="{FF2B5EF4-FFF2-40B4-BE49-F238E27FC236}">
                <a16:creationId xmlns:a16="http://schemas.microsoft.com/office/drawing/2014/main" id="{DA4C5B67-6C3A-957B-A54C-1B632657F7B0}"/>
              </a:ext>
            </a:extLst>
          </p:cNvPr>
          <p:cNvSpPr/>
          <p:nvPr/>
        </p:nvSpPr>
        <p:spPr>
          <a:xfrm>
            <a:off x="9480647" y="4925166"/>
            <a:ext cx="89866" cy="104885"/>
          </a:xfrm>
          <a:prstGeom prst="rect">
            <a:avLst/>
          </a:prstGeom>
          <a:solidFill>
            <a:srgbClr val="F2F2F2"/>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28" name="Google Shape;2691;g3f5188ffaf6_0_0">
            <a:extLst>
              <a:ext uri="{FF2B5EF4-FFF2-40B4-BE49-F238E27FC236}">
                <a16:creationId xmlns:a16="http://schemas.microsoft.com/office/drawing/2014/main" id="{C125D582-0D09-3442-DF2A-5E1D797AC93B}"/>
              </a:ext>
            </a:extLst>
          </p:cNvPr>
          <p:cNvSpPr/>
          <p:nvPr/>
        </p:nvSpPr>
        <p:spPr>
          <a:xfrm>
            <a:off x="9590116" y="4925166"/>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29" name="Google Shape;2692;g3f5188ffaf6_0_0">
            <a:extLst>
              <a:ext uri="{FF2B5EF4-FFF2-40B4-BE49-F238E27FC236}">
                <a16:creationId xmlns:a16="http://schemas.microsoft.com/office/drawing/2014/main" id="{2EDEFB29-5397-9648-9450-3FAEA2B26450}"/>
              </a:ext>
            </a:extLst>
          </p:cNvPr>
          <p:cNvSpPr/>
          <p:nvPr/>
        </p:nvSpPr>
        <p:spPr>
          <a:xfrm>
            <a:off x="9699586" y="4925166"/>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30" name="Google Shape;2693;g3f5188ffaf6_0_0">
            <a:extLst>
              <a:ext uri="{FF2B5EF4-FFF2-40B4-BE49-F238E27FC236}">
                <a16:creationId xmlns:a16="http://schemas.microsoft.com/office/drawing/2014/main" id="{BE8C6246-642D-B55B-F46D-A6095CF76E2E}"/>
              </a:ext>
            </a:extLst>
          </p:cNvPr>
          <p:cNvSpPr/>
          <p:nvPr/>
        </p:nvSpPr>
        <p:spPr>
          <a:xfrm>
            <a:off x="9809209" y="4925166"/>
            <a:ext cx="89866" cy="104885"/>
          </a:xfrm>
          <a:prstGeom prst="rect">
            <a:avLst/>
          </a:prstGeom>
          <a:solidFill>
            <a:srgbClr val="151515"/>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31" name="Google Shape;2694;g3f5188ffaf6_0_0">
            <a:extLst>
              <a:ext uri="{FF2B5EF4-FFF2-40B4-BE49-F238E27FC236}">
                <a16:creationId xmlns:a16="http://schemas.microsoft.com/office/drawing/2014/main" id="{77AC8B86-D96D-D8F8-BCA2-8D3C5E964723}"/>
              </a:ext>
            </a:extLst>
          </p:cNvPr>
          <p:cNvSpPr/>
          <p:nvPr/>
        </p:nvSpPr>
        <p:spPr>
          <a:xfrm>
            <a:off x="9042766" y="5335810"/>
            <a:ext cx="89866" cy="104885"/>
          </a:xfrm>
          <a:prstGeom prst="rect">
            <a:avLst/>
          </a:prstGeom>
          <a:noFill/>
          <a:ln w="9525" cap="flat" cmpd="sng">
            <a:solidFill>
              <a:srgbClr val="2B6FB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2B6FB0"/>
                </a:solidFill>
                <a:latin typeface="Courier New"/>
                <a:ea typeface="Courier New"/>
                <a:cs typeface="Courier New"/>
                <a:sym typeface="Courier New"/>
              </a:rPr>
              <a:t>?</a:t>
            </a:r>
            <a:endParaRPr sz="3200" b="0" i="0" u="none" strike="noStrike" cap="none">
              <a:solidFill>
                <a:srgbClr val="2B6FB0"/>
              </a:solidFill>
              <a:latin typeface="Calibri"/>
              <a:ea typeface="Calibri"/>
              <a:cs typeface="Calibri"/>
              <a:sym typeface="Calibri"/>
            </a:endParaRPr>
          </a:p>
        </p:txBody>
      </p:sp>
      <p:sp>
        <p:nvSpPr>
          <p:cNvPr id="332" name="Google Shape;2695;g3f5188ffaf6_0_0">
            <a:extLst>
              <a:ext uri="{FF2B5EF4-FFF2-40B4-BE49-F238E27FC236}">
                <a16:creationId xmlns:a16="http://schemas.microsoft.com/office/drawing/2014/main" id="{C626DF25-F2E6-ABCA-D9B4-72997D3524B4}"/>
              </a:ext>
            </a:extLst>
          </p:cNvPr>
          <p:cNvSpPr/>
          <p:nvPr/>
        </p:nvSpPr>
        <p:spPr>
          <a:xfrm>
            <a:off x="9152236" y="5335810"/>
            <a:ext cx="89866" cy="104885"/>
          </a:xfrm>
          <a:prstGeom prst="rect">
            <a:avLst/>
          </a:prstGeom>
          <a:noFill/>
          <a:ln w="9525" cap="flat" cmpd="sng">
            <a:solidFill>
              <a:srgbClr val="2B6FB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2B6FB0"/>
                </a:solidFill>
                <a:latin typeface="Courier New"/>
                <a:ea typeface="Courier New"/>
                <a:cs typeface="Courier New"/>
                <a:sym typeface="Courier New"/>
              </a:rPr>
              <a:t>?</a:t>
            </a:r>
            <a:endParaRPr sz="3200" b="0" i="0" u="none" strike="noStrike" cap="none">
              <a:solidFill>
                <a:srgbClr val="2B6FB0"/>
              </a:solidFill>
              <a:latin typeface="Calibri"/>
              <a:ea typeface="Calibri"/>
              <a:cs typeface="Calibri"/>
              <a:sym typeface="Calibri"/>
            </a:endParaRPr>
          </a:p>
        </p:txBody>
      </p:sp>
      <p:sp>
        <p:nvSpPr>
          <p:cNvPr id="333" name="Google Shape;2696;g3f5188ffaf6_0_0">
            <a:extLst>
              <a:ext uri="{FF2B5EF4-FFF2-40B4-BE49-F238E27FC236}">
                <a16:creationId xmlns:a16="http://schemas.microsoft.com/office/drawing/2014/main" id="{60D8B5F5-6D9F-2740-511F-F9170397AD3A}"/>
              </a:ext>
            </a:extLst>
          </p:cNvPr>
          <p:cNvSpPr/>
          <p:nvPr/>
        </p:nvSpPr>
        <p:spPr>
          <a:xfrm>
            <a:off x="9261706" y="5335810"/>
            <a:ext cx="89866" cy="104885"/>
          </a:xfrm>
          <a:prstGeom prst="rect">
            <a:avLst/>
          </a:prstGeom>
          <a:noFill/>
          <a:ln w="9525" cap="flat" cmpd="sng">
            <a:solidFill>
              <a:srgbClr val="2B6FB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2B6FB0"/>
                </a:solidFill>
                <a:latin typeface="Courier New"/>
                <a:ea typeface="Courier New"/>
                <a:cs typeface="Courier New"/>
                <a:sym typeface="Courier New"/>
              </a:rPr>
              <a:t>?</a:t>
            </a:r>
            <a:endParaRPr sz="3200" b="0" i="0" u="none" strike="noStrike" cap="none">
              <a:solidFill>
                <a:srgbClr val="2B6FB0"/>
              </a:solidFill>
              <a:latin typeface="Calibri"/>
              <a:ea typeface="Calibri"/>
              <a:cs typeface="Calibri"/>
              <a:sym typeface="Calibri"/>
            </a:endParaRPr>
          </a:p>
        </p:txBody>
      </p:sp>
      <p:sp>
        <p:nvSpPr>
          <p:cNvPr id="334" name="Google Shape;2697;g3f5188ffaf6_0_0">
            <a:extLst>
              <a:ext uri="{FF2B5EF4-FFF2-40B4-BE49-F238E27FC236}">
                <a16:creationId xmlns:a16="http://schemas.microsoft.com/office/drawing/2014/main" id="{01D5BED9-7B02-C2EA-199A-C6637F6CCC8F}"/>
              </a:ext>
            </a:extLst>
          </p:cNvPr>
          <p:cNvSpPr/>
          <p:nvPr/>
        </p:nvSpPr>
        <p:spPr>
          <a:xfrm>
            <a:off x="9371176" y="5335810"/>
            <a:ext cx="89866" cy="104885"/>
          </a:xfrm>
          <a:prstGeom prst="rect">
            <a:avLst/>
          </a:prstGeom>
          <a:noFill/>
          <a:ln w="9525" cap="flat" cmpd="sng">
            <a:solidFill>
              <a:srgbClr val="2B6FB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2B6FB0"/>
                </a:solidFill>
                <a:latin typeface="Courier New"/>
                <a:ea typeface="Courier New"/>
                <a:cs typeface="Courier New"/>
                <a:sym typeface="Courier New"/>
              </a:rPr>
              <a:t>?</a:t>
            </a:r>
            <a:endParaRPr sz="3200" b="0" i="0" u="none" strike="noStrike" cap="none">
              <a:solidFill>
                <a:srgbClr val="2B6FB0"/>
              </a:solidFill>
              <a:latin typeface="Calibri"/>
              <a:ea typeface="Calibri"/>
              <a:cs typeface="Calibri"/>
              <a:sym typeface="Calibri"/>
            </a:endParaRPr>
          </a:p>
        </p:txBody>
      </p:sp>
      <p:sp>
        <p:nvSpPr>
          <p:cNvPr id="335" name="Google Shape;2698;g3f5188ffaf6_0_0">
            <a:extLst>
              <a:ext uri="{FF2B5EF4-FFF2-40B4-BE49-F238E27FC236}">
                <a16:creationId xmlns:a16="http://schemas.microsoft.com/office/drawing/2014/main" id="{0B8E2EB0-83B8-6244-22AB-E02A53EFED84}"/>
              </a:ext>
            </a:extLst>
          </p:cNvPr>
          <p:cNvSpPr/>
          <p:nvPr/>
        </p:nvSpPr>
        <p:spPr>
          <a:xfrm>
            <a:off x="9480647" y="5335810"/>
            <a:ext cx="89866" cy="104885"/>
          </a:xfrm>
          <a:prstGeom prst="rect">
            <a:avLst/>
          </a:prstGeom>
          <a:noFill/>
          <a:ln w="9525" cap="flat" cmpd="sng">
            <a:solidFill>
              <a:srgbClr val="2B6FB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2B6FB0"/>
                </a:solidFill>
                <a:latin typeface="Courier New"/>
                <a:ea typeface="Courier New"/>
                <a:cs typeface="Courier New"/>
                <a:sym typeface="Courier New"/>
              </a:rPr>
              <a:t>?</a:t>
            </a:r>
            <a:endParaRPr sz="3200" b="0" i="0" u="none" strike="noStrike" cap="none">
              <a:solidFill>
                <a:srgbClr val="2B6FB0"/>
              </a:solidFill>
              <a:latin typeface="Calibri"/>
              <a:ea typeface="Calibri"/>
              <a:cs typeface="Calibri"/>
              <a:sym typeface="Calibri"/>
            </a:endParaRPr>
          </a:p>
        </p:txBody>
      </p:sp>
      <p:sp>
        <p:nvSpPr>
          <p:cNvPr id="336" name="Google Shape;2699;g3f5188ffaf6_0_0">
            <a:extLst>
              <a:ext uri="{FF2B5EF4-FFF2-40B4-BE49-F238E27FC236}">
                <a16:creationId xmlns:a16="http://schemas.microsoft.com/office/drawing/2014/main" id="{EFAD1FF6-BC75-395F-B07A-568E6E1A231D}"/>
              </a:ext>
            </a:extLst>
          </p:cNvPr>
          <p:cNvSpPr/>
          <p:nvPr/>
        </p:nvSpPr>
        <p:spPr>
          <a:xfrm>
            <a:off x="9590116" y="5335810"/>
            <a:ext cx="89866" cy="104885"/>
          </a:xfrm>
          <a:prstGeom prst="rect">
            <a:avLst/>
          </a:prstGeom>
          <a:noFill/>
          <a:ln w="9525" cap="flat" cmpd="sng">
            <a:solidFill>
              <a:srgbClr val="2B6FB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2B6FB0"/>
                </a:solidFill>
                <a:latin typeface="Courier New"/>
                <a:ea typeface="Courier New"/>
                <a:cs typeface="Courier New"/>
                <a:sym typeface="Courier New"/>
              </a:rPr>
              <a:t>?</a:t>
            </a:r>
            <a:endParaRPr sz="3200" b="0" i="0" u="none" strike="noStrike" cap="none">
              <a:solidFill>
                <a:srgbClr val="2B6FB0"/>
              </a:solidFill>
              <a:latin typeface="Calibri"/>
              <a:ea typeface="Calibri"/>
              <a:cs typeface="Calibri"/>
              <a:sym typeface="Calibri"/>
            </a:endParaRPr>
          </a:p>
        </p:txBody>
      </p:sp>
      <p:sp>
        <p:nvSpPr>
          <p:cNvPr id="337" name="Google Shape;2700;g3f5188ffaf6_0_0">
            <a:extLst>
              <a:ext uri="{FF2B5EF4-FFF2-40B4-BE49-F238E27FC236}">
                <a16:creationId xmlns:a16="http://schemas.microsoft.com/office/drawing/2014/main" id="{6EFE8D7E-16A3-5E91-CD66-329E7D135B04}"/>
              </a:ext>
            </a:extLst>
          </p:cNvPr>
          <p:cNvSpPr/>
          <p:nvPr/>
        </p:nvSpPr>
        <p:spPr>
          <a:xfrm>
            <a:off x="9699586" y="5335810"/>
            <a:ext cx="89866" cy="104885"/>
          </a:xfrm>
          <a:prstGeom prst="rect">
            <a:avLst/>
          </a:prstGeom>
          <a:noFill/>
          <a:ln w="9525" cap="flat" cmpd="sng">
            <a:solidFill>
              <a:srgbClr val="2B6FB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2B6FB0"/>
                </a:solidFill>
                <a:latin typeface="Courier New"/>
                <a:ea typeface="Courier New"/>
                <a:cs typeface="Courier New"/>
                <a:sym typeface="Courier New"/>
              </a:rPr>
              <a:t>?</a:t>
            </a:r>
            <a:endParaRPr sz="3200" b="0" i="0" u="none" strike="noStrike" cap="none">
              <a:solidFill>
                <a:srgbClr val="2B6FB0"/>
              </a:solidFill>
              <a:latin typeface="Calibri"/>
              <a:ea typeface="Calibri"/>
              <a:cs typeface="Calibri"/>
              <a:sym typeface="Calibri"/>
            </a:endParaRPr>
          </a:p>
        </p:txBody>
      </p:sp>
      <p:sp>
        <p:nvSpPr>
          <p:cNvPr id="338" name="Google Shape;2701;g3f5188ffaf6_0_0">
            <a:extLst>
              <a:ext uri="{FF2B5EF4-FFF2-40B4-BE49-F238E27FC236}">
                <a16:creationId xmlns:a16="http://schemas.microsoft.com/office/drawing/2014/main" id="{3C942350-D88A-0766-C02A-080941BD9A27}"/>
              </a:ext>
            </a:extLst>
          </p:cNvPr>
          <p:cNvSpPr/>
          <p:nvPr/>
        </p:nvSpPr>
        <p:spPr>
          <a:xfrm>
            <a:off x="9805760" y="5335810"/>
            <a:ext cx="89866" cy="104885"/>
          </a:xfrm>
          <a:prstGeom prst="rect">
            <a:avLst/>
          </a:prstGeom>
          <a:noFill/>
          <a:ln w="9525" cap="flat" cmpd="sng">
            <a:solidFill>
              <a:srgbClr val="2B6FB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2B6FB0"/>
                </a:solidFill>
                <a:latin typeface="Courier New"/>
                <a:ea typeface="Courier New"/>
                <a:cs typeface="Courier New"/>
                <a:sym typeface="Courier New"/>
              </a:rPr>
              <a:t>?</a:t>
            </a:r>
            <a:endParaRPr sz="2800" b="0" i="0" u="none" strike="noStrike" cap="none">
              <a:solidFill>
                <a:srgbClr val="2B6FB0"/>
              </a:solidFill>
              <a:latin typeface="Calibri"/>
              <a:ea typeface="Calibri"/>
              <a:cs typeface="Calibri"/>
              <a:sym typeface="Calibri"/>
            </a:endParaRPr>
          </a:p>
        </p:txBody>
      </p:sp>
      <p:sp>
        <p:nvSpPr>
          <p:cNvPr id="339" name="Google Shape;2702;g3f5188ffaf6_0_0">
            <a:extLst>
              <a:ext uri="{FF2B5EF4-FFF2-40B4-BE49-F238E27FC236}">
                <a16:creationId xmlns:a16="http://schemas.microsoft.com/office/drawing/2014/main" id="{921FDC6F-B2C5-21D8-D3F9-71B45499EE23}"/>
              </a:ext>
            </a:extLst>
          </p:cNvPr>
          <p:cNvSpPr txBox="1"/>
          <p:nvPr/>
        </p:nvSpPr>
        <p:spPr>
          <a:xfrm>
            <a:off x="8455739" y="4984413"/>
            <a:ext cx="139031" cy="39706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000" b="1" i="0" u="none" strike="noStrike" cap="none">
                <a:solidFill>
                  <a:srgbClr val="999999"/>
                </a:solidFill>
              </a:rPr>
              <a:t>⋮</a:t>
            </a:r>
            <a:endParaRPr sz="3200" b="1">
              <a:solidFill>
                <a:srgbClr val="999999"/>
              </a:solidFill>
            </a:endParaRPr>
          </a:p>
        </p:txBody>
      </p:sp>
      <p:sp>
        <p:nvSpPr>
          <p:cNvPr id="340" name="Google Shape;2703;g3f5188ffaf6_0_0">
            <a:extLst>
              <a:ext uri="{FF2B5EF4-FFF2-40B4-BE49-F238E27FC236}">
                <a16:creationId xmlns:a16="http://schemas.microsoft.com/office/drawing/2014/main" id="{2B8D074C-872E-35DA-3575-AC3A1B034AA6}"/>
              </a:ext>
            </a:extLst>
          </p:cNvPr>
          <p:cNvSpPr txBox="1"/>
          <p:nvPr/>
        </p:nvSpPr>
        <p:spPr>
          <a:xfrm>
            <a:off x="9295511" y="4994423"/>
            <a:ext cx="139031" cy="39706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000" b="1" i="0" u="none" strike="noStrike" cap="none">
                <a:solidFill>
                  <a:srgbClr val="999999"/>
                </a:solidFill>
              </a:rPr>
              <a:t>⋮</a:t>
            </a:r>
            <a:endParaRPr sz="3200" b="1">
              <a:solidFill>
                <a:srgbClr val="999999"/>
              </a:solidFill>
            </a:endParaRPr>
          </a:p>
        </p:txBody>
      </p:sp>
      <p:grpSp>
        <p:nvGrpSpPr>
          <p:cNvPr id="341" name="Google Shape;2704;g3f5188ffaf6_0_0">
            <a:extLst>
              <a:ext uri="{FF2B5EF4-FFF2-40B4-BE49-F238E27FC236}">
                <a16:creationId xmlns:a16="http://schemas.microsoft.com/office/drawing/2014/main" id="{50C2BFC2-48DE-6624-177B-A866636A5AC2}"/>
              </a:ext>
            </a:extLst>
          </p:cNvPr>
          <p:cNvGrpSpPr/>
          <p:nvPr/>
        </p:nvGrpSpPr>
        <p:grpSpPr>
          <a:xfrm>
            <a:off x="10052669" y="4268459"/>
            <a:ext cx="1868004" cy="1667656"/>
            <a:chOff x="9830976" y="3937610"/>
            <a:chExt cx="1523459" cy="1292662"/>
          </a:xfrm>
        </p:grpSpPr>
        <p:sp>
          <p:nvSpPr>
            <p:cNvPr id="372" name="Google Shape;2705;g3f5188ffaf6_0_0">
              <a:extLst>
                <a:ext uri="{FF2B5EF4-FFF2-40B4-BE49-F238E27FC236}">
                  <a16:creationId xmlns:a16="http://schemas.microsoft.com/office/drawing/2014/main" id="{A10C4EF6-9333-96BA-5B3E-C385031BD560}"/>
                </a:ext>
              </a:extLst>
            </p:cNvPr>
            <p:cNvSpPr txBox="1"/>
            <p:nvPr/>
          </p:nvSpPr>
          <p:spPr>
            <a:xfrm>
              <a:off x="10567721" y="4212684"/>
              <a:ext cx="766200" cy="738664"/>
            </a:xfrm>
            <a:prstGeom prst="rect">
              <a:avLst/>
            </a:prstGeom>
            <a:noFill/>
            <a:ln>
              <a:noFill/>
            </a:ln>
          </p:spPr>
          <p:txBody>
            <a:bodyPr spcFirstLastPara="1" wrap="square" lIns="0" tIns="0" rIns="0" bIns="0" anchor="ctr" anchorCtr="0">
              <a:spAutoFit/>
            </a:bodyPr>
            <a:lstStyle/>
            <a:p>
              <a:pPr marL="0" lvl="0" indent="0" algn="l" rtl="0">
                <a:spcBef>
                  <a:spcPts val="0"/>
                </a:spcBef>
                <a:spcAft>
                  <a:spcPts val="0"/>
                </a:spcAft>
                <a:buNone/>
              </a:pPr>
              <a:r>
                <a:rPr lang="en-US" sz="1200" b="1">
                  <a:solidFill>
                    <a:srgbClr val="FDECE3"/>
                  </a:solidFill>
                  <a:highlight>
                    <a:srgbClr val="FFEBEB"/>
                  </a:highlight>
                  <a:latin typeface="Courier New"/>
                  <a:ea typeface="Courier New"/>
                  <a:cs typeface="Courier New"/>
                  <a:sym typeface="Courier New"/>
                </a:rPr>
                <a:t>666666666</a:t>
              </a:r>
              <a:endParaRPr sz="1200" b="1">
                <a:solidFill>
                  <a:srgbClr val="FDECE3"/>
                </a:solidFill>
                <a:highlight>
                  <a:srgbClr val="E7F0F9"/>
                </a:highlight>
                <a:latin typeface="Courier New"/>
                <a:ea typeface="Courier New"/>
                <a:cs typeface="Courier New"/>
                <a:sym typeface="Courier New"/>
              </a:endParaRPr>
            </a:p>
            <a:p>
              <a:pPr marL="0" lvl="0" indent="0" algn="l" rtl="0">
                <a:spcBef>
                  <a:spcPts val="0"/>
                </a:spcBef>
                <a:spcAft>
                  <a:spcPts val="0"/>
                </a:spcAft>
                <a:buNone/>
              </a:pPr>
              <a:r>
                <a:rPr lang="en-US" sz="1200" b="1">
                  <a:solidFill>
                    <a:srgbClr val="FDECE3"/>
                  </a:solidFill>
                  <a:highlight>
                    <a:srgbClr val="FFEBEB"/>
                  </a:highlight>
                  <a:latin typeface="Courier New"/>
                  <a:ea typeface="Courier New"/>
                  <a:cs typeface="Courier New"/>
                  <a:sym typeface="Courier New"/>
                </a:rPr>
                <a:t>666666666</a:t>
              </a:r>
              <a:endParaRPr sz="1200" b="1">
                <a:solidFill>
                  <a:srgbClr val="E7F0F9"/>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endParaRPr sz="1200" b="1">
                <a:solidFill>
                  <a:srgbClr val="E7F0F9"/>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r>
                <a:rPr lang="en-US" sz="1200" b="1">
                  <a:solidFill>
                    <a:srgbClr val="FDECE3"/>
                  </a:solidFill>
                  <a:highlight>
                    <a:srgbClr val="FFEBEB"/>
                  </a:highlight>
                  <a:latin typeface="Courier New"/>
                  <a:ea typeface="Courier New"/>
                  <a:cs typeface="Courier New"/>
                  <a:sym typeface="Courier New"/>
                </a:rPr>
                <a:t>666666666</a:t>
              </a:r>
              <a:endParaRPr sz="1200" b="1">
                <a:solidFill>
                  <a:srgbClr val="E7F0F9"/>
                </a:solidFill>
                <a:highlight>
                  <a:srgbClr val="E7F0F9"/>
                </a:highlight>
                <a:latin typeface="Courier New"/>
                <a:ea typeface="Courier New"/>
                <a:cs typeface="Courier New"/>
                <a:sym typeface="Courier New"/>
              </a:endParaRPr>
            </a:p>
          </p:txBody>
        </p:sp>
        <p:sp>
          <p:nvSpPr>
            <p:cNvPr id="373" name="Google Shape;2706;g3f5188ffaf6_0_0">
              <a:extLst>
                <a:ext uri="{FF2B5EF4-FFF2-40B4-BE49-F238E27FC236}">
                  <a16:creationId xmlns:a16="http://schemas.microsoft.com/office/drawing/2014/main" id="{BBC715C2-934B-0155-5A13-1C42C42DF3D9}"/>
                </a:ext>
              </a:extLst>
            </p:cNvPr>
            <p:cNvSpPr txBox="1"/>
            <p:nvPr/>
          </p:nvSpPr>
          <p:spPr>
            <a:xfrm>
              <a:off x="9830976" y="3937610"/>
              <a:ext cx="730500" cy="129266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a:solidFill>
                    <a:srgbClr val="E7F0F9"/>
                  </a:solidFill>
                  <a:highlight>
                    <a:srgbClr val="E7F0F9"/>
                  </a:highlight>
                  <a:latin typeface="Courier New"/>
                  <a:ea typeface="Courier New"/>
                  <a:cs typeface="Courier New"/>
                  <a:sym typeface="Courier New"/>
                </a:rPr>
                <a:t>767666667</a:t>
              </a:r>
              <a:endParaRPr sz="1200" b="1">
                <a:solidFill>
                  <a:srgbClr val="E7F0F9"/>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r>
                <a:rPr lang="en-US" sz="1200" b="1">
                  <a:solidFill>
                    <a:srgbClr val="E7F0F9"/>
                  </a:solidFill>
                  <a:highlight>
                    <a:srgbClr val="E7F0F9"/>
                  </a:highlight>
                  <a:latin typeface="Courier New"/>
                  <a:ea typeface="Courier New"/>
                  <a:cs typeface="Courier New"/>
                  <a:sym typeface="Courier New"/>
                </a:rPr>
                <a:t>666776666</a:t>
              </a:r>
              <a:endParaRPr sz="1200" b="1">
                <a:solidFill>
                  <a:srgbClr val="E7F0F9"/>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endParaRPr sz="1200" b="1">
                <a:solidFill>
                  <a:srgbClr val="E7F0F9"/>
                </a:solidFill>
                <a:highlight>
                  <a:srgbClr val="E7F0F9"/>
                </a:highlight>
                <a:latin typeface="Courier New"/>
                <a:ea typeface="Courier New"/>
                <a:cs typeface="Courier New"/>
                <a:sym typeface="Courier New"/>
              </a:endParaRPr>
            </a:p>
            <a:p>
              <a:pPr marL="0" marR="0" lvl="0" indent="0" algn="l" rtl="0">
                <a:spcBef>
                  <a:spcPts val="0"/>
                </a:spcBef>
                <a:spcAft>
                  <a:spcPts val="0"/>
                </a:spcAft>
                <a:buNone/>
              </a:pPr>
              <a:r>
                <a:rPr lang="en-US" sz="1200" b="1">
                  <a:solidFill>
                    <a:srgbClr val="E7F0F9"/>
                  </a:solidFill>
                  <a:highlight>
                    <a:srgbClr val="E7F0F9"/>
                  </a:highlight>
                  <a:latin typeface="Courier New"/>
                  <a:ea typeface="Courier New"/>
                  <a:cs typeface="Courier New"/>
                  <a:sym typeface="Courier New"/>
                </a:rPr>
                <a:t>766667666</a:t>
              </a:r>
              <a:endParaRPr sz="1200" b="1">
                <a:solidFill>
                  <a:srgbClr val="E7F0F9"/>
                </a:solidFill>
                <a:highlight>
                  <a:srgbClr val="E7F0F9"/>
                </a:highlight>
                <a:latin typeface="Courier New"/>
                <a:ea typeface="Courier New"/>
                <a:cs typeface="Courier New"/>
                <a:sym typeface="Courier New"/>
              </a:endParaRPr>
            </a:p>
          </p:txBody>
        </p:sp>
        <p:sp>
          <p:nvSpPr>
            <p:cNvPr id="374" name="Google Shape;2707;g3f5188ffaf6_0_0">
              <a:extLst>
                <a:ext uri="{FF2B5EF4-FFF2-40B4-BE49-F238E27FC236}">
                  <a16:creationId xmlns:a16="http://schemas.microsoft.com/office/drawing/2014/main" id="{C88E40A4-BF8A-7E05-B9B7-B72D4437BB97}"/>
                </a:ext>
              </a:extLst>
            </p:cNvPr>
            <p:cNvSpPr/>
            <p:nvPr/>
          </p:nvSpPr>
          <p:spPr>
            <a:xfrm>
              <a:off x="9856436" y="4324742"/>
              <a:ext cx="78206" cy="42462"/>
            </a:xfrm>
            <a:custGeom>
              <a:avLst/>
              <a:gdLst/>
              <a:ahLst/>
              <a:cxnLst/>
              <a:rect l="l" t="t" r="r" b="b"/>
              <a:pathLst>
                <a:path w="78206" h="79369" extrusionOk="0">
                  <a:moveTo>
                    <a:pt x="0" y="79369"/>
                  </a:moveTo>
                  <a:lnTo>
                    <a:pt x="5214" y="62776"/>
                  </a:lnTo>
                  <a:lnTo>
                    <a:pt x="10428" y="46909"/>
                  </a:lnTo>
                  <a:lnTo>
                    <a:pt x="15642" y="32460"/>
                  </a:lnTo>
                  <a:lnTo>
                    <a:pt x="20855" y="20061"/>
                  </a:lnTo>
                  <a:lnTo>
                    <a:pt x="26069" y="10255"/>
                  </a:lnTo>
                  <a:lnTo>
                    <a:pt x="31283" y="3469"/>
                  </a:lnTo>
                  <a:lnTo>
                    <a:pt x="36496" y="0"/>
                  </a:lnTo>
                  <a:lnTo>
                    <a:pt x="41710" y="0"/>
                  </a:lnTo>
                  <a:lnTo>
                    <a:pt x="46924" y="3469"/>
                  </a:lnTo>
                  <a:lnTo>
                    <a:pt x="52138" y="10255"/>
                  </a:lnTo>
                  <a:lnTo>
                    <a:pt x="57351" y="20061"/>
                  </a:lnTo>
                  <a:lnTo>
                    <a:pt x="62565" y="32460"/>
                  </a:lnTo>
                  <a:lnTo>
                    <a:pt x="67779" y="46909"/>
                  </a:lnTo>
                  <a:lnTo>
                    <a:pt x="72993" y="62776"/>
                  </a:lnTo>
                  <a:lnTo>
                    <a:pt x="78206" y="79369"/>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75" name="Google Shape;2708;g3f5188ffaf6_0_0">
              <a:extLst>
                <a:ext uri="{FF2B5EF4-FFF2-40B4-BE49-F238E27FC236}">
                  <a16:creationId xmlns:a16="http://schemas.microsoft.com/office/drawing/2014/main" id="{E10B780E-2D24-F104-7BD0-80706006C8B0}"/>
                </a:ext>
              </a:extLst>
            </p:cNvPr>
            <p:cNvSpPr/>
            <p:nvPr/>
          </p:nvSpPr>
          <p:spPr>
            <a:xfrm>
              <a:off x="9943332" y="4367312"/>
              <a:ext cx="78206" cy="42462"/>
            </a:xfrm>
            <a:custGeom>
              <a:avLst/>
              <a:gdLst/>
              <a:ahLst/>
              <a:cxnLst/>
              <a:rect l="l" t="t" r="r" b="b"/>
              <a:pathLst>
                <a:path w="78206" h="79368" extrusionOk="0">
                  <a:moveTo>
                    <a:pt x="0" y="0"/>
                  </a:moveTo>
                  <a:lnTo>
                    <a:pt x="5214" y="16592"/>
                  </a:lnTo>
                  <a:lnTo>
                    <a:pt x="10427" y="32460"/>
                  </a:lnTo>
                  <a:lnTo>
                    <a:pt x="15641" y="46908"/>
                  </a:lnTo>
                  <a:lnTo>
                    <a:pt x="20855" y="59307"/>
                  </a:lnTo>
                  <a:lnTo>
                    <a:pt x="26069" y="69114"/>
                  </a:lnTo>
                  <a:lnTo>
                    <a:pt x="31282" y="75900"/>
                  </a:lnTo>
                  <a:lnTo>
                    <a:pt x="36496" y="79368"/>
                  </a:lnTo>
                  <a:lnTo>
                    <a:pt x="41710" y="79368"/>
                  </a:lnTo>
                  <a:lnTo>
                    <a:pt x="46924" y="75900"/>
                  </a:lnTo>
                  <a:lnTo>
                    <a:pt x="52137" y="69114"/>
                  </a:lnTo>
                  <a:lnTo>
                    <a:pt x="57351" y="59307"/>
                  </a:lnTo>
                  <a:lnTo>
                    <a:pt x="62565" y="46908"/>
                  </a:lnTo>
                  <a:lnTo>
                    <a:pt x="67779" y="32460"/>
                  </a:lnTo>
                  <a:lnTo>
                    <a:pt x="72992" y="16592"/>
                  </a:lnTo>
                  <a:lnTo>
                    <a:pt x="78206"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76" name="Google Shape;2709;g3f5188ffaf6_0_0">
              <a:extLst>
                <a:ext uri="{FF2B5EF4-FFF2-40B4-BE49-F238E27FC236}">
                  <a16:creationId xmlns:a16="http://schemas.microsoft.com/office/drawing/2014/main" id="{58F297DA-D5F7-065F-C452-0089866EEA53}"/>
                </a:ext>
              </a:extLst>
            </p:cNvPr>
            <p:cNvSpPr/>
            <p:nvPr/>
          </p:nvSpPr>
          <p:spPr>
            <a:xfrm>
              <a:off x="10030227" y="4324742"/>
              <a:ext cx="78206" cy="42462"/>
            </a:xfrm>
            <a:custGeom>
              <a:avLst/>
              <a:gdLst/>
              <a:ahLst/>
              <a:cxnLst/>
              <a:rect l="l" t="t" r="r" b="b"/>
              <a:pathLst>
                <a:path w="78206" h="79369" extrusionOk="0">
                  <a:moveTo>
                    <a:pt x="0" y="79369"/>
                  </a:moveTo>
                  <a:lnTo>
                    <a:pt x="5213" y="62776"/>
                  </a:lnTo>
                  <a:lnTo>
                    <a:pt x="10427" y="46909"/>
                  </a:lnTo>
                  <a:lnTo>
                    <a:pt x="15641" y="32460"/>
                  </a:lnTo>
                  <a:lnTo>
                    <a:pt x="20855" y="20061"/>
                  </a:lnTo>
                  <a:lnTo>
                    <a:pt x="26068" y="10255"/>
                  </a:lnTo>
                  <a:lnTo>
                    <a:pt x="31282" y="3469"/>
                  </a:lnTo>
                  <a:lnTo>
                    <a:pt x="36496" y="0"/>
                  </a:lnTo>
                  <a:lnTo>
                    <a:pt x="41710" y="0"/>
                  </a:lnTo>
                  <a:lnTo>
                    <a:pt x="46923" y="3469"/>
                  </a:lnTo>
                  <a:lnTo>
                    <a:pt x="52137" y="10255"/>
                  </a:lnTo>
                  <a:lnTo>
                    <a:pt x="57351" y="20061"/>
                  </a:lnTo>
                  <a:lnTo>
                    <a:pt x="62565" y="32460"/>
                  </a:lnTo>
                  <a:lnTo>
                    <a:pt x="67778" y="46909"/>
                  </a:lnTo>
                  <a:lnTo>
                    <a:pt x="72992" y="62776"/>
                  </a:lnTo>
                  <a:lnTo>
                    <a:pt x="78206" y="79369"/>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77" name="Google Shape;2710;g3f5188ffaf6_0_0">
              <a:extLst>
                <a:ext uri="{FF2B5EF4-FFF2-40B4-BE49-F238E27FC236}">
                  <a16:creationId xmlns:a16="http://schemas.microsoft.com/office/drawing/2014/main" id="{7CF9C1C2-822D-B188-A888-B85B6FF35D32}"/>
                </a:ext>
              </a:extLst>
            </p:cNvPr>
            <p:cNvSpPr/>
            <p:nvPr/>
          </p:nvSpPr>
          <p:spPr>
            <a:xfrm>
              <a:off x="10117121" y="4367312"/>
              <a:ext cx="78207" cy="42462"/>
            </a:xfrm>
            <a:custGeom>
              <a:avLst/>
              <a:gdLst/>
              <a:ahLst/>
              <a:cxnLst/>
              <a:rect l="l" t="t" r="r" b="b"/>
              <a:pathLst>
                <a:path w="78207" h="79368" extrusionOk="0">
                  <a:moveTo>
                    <a:pt x="0" y="0"/>
                  </a:moveTo>
                  <a:lnTo>
                    <a:pt x="5214" y="16592"/>
                  </a:lnTo>
                  <a:lnTo>
                    <a:pt x="10428" y="32460"/>
                  </a:lnTo>
                  <a:lnTo>
                    <a:pt x="15642" y="46908"/>
                  </a:lnTo>
                  <a:lnTo>
                    <a:pt x="20855" y="59307"/>
                  </a:lnTo>
                  <a:lnTo>
                    <a:pt x="26069" y="69114"/>
                  </a:lnTo>
                  <a:lnTo>
                    <a:pt x="31283" y="75900"/>
                  </a:lnTo>
                  <a:lnTo>
                    <a:pt x="36497" y="79368"/>
                  </a:lnTo>
                  <a:lnTo>
                    <a:pt x="41710" y="79368"/>
                  </a:lnTo>
                  <a:lnTo>
                    <a:pt x="46924" y="75900"/>
                  </a:lnTo>
                  <a:lnTo>
                    <a:pt x="52138" y="69114"/>
                  </a:lnTo>
                  <a:lnTo>
                    <a:pt x="57352" y="59307"/>
                  </a:lnTo>
                  <a:lnTo>
                    <a:pt x="62565" y="46908"/>
                  </a:lnTo>
                  <a:lnTo>
                    <a:pt x="67779" y="32460"/>
                  </a:lnTo>
                  <a:lnTo>
                    <a:pt x="72993" y="16592"/>
                  </a:lnTo>
                  <a:lnTo>
                    <a:pt x="78207"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78" name="Google Shape;2711;g3f5188ffaf6_0_0">
              <a:extLst>
                <a:ext uri="{FF2B5EF4-FFF2-40B4-BE49-F238E27FC236}">
                  <a16:creationId xmlns:a16="http://schemas.microsoft.com/office/drawing/2014/main" id="{A30533C3-5411-4A48-F62A-5A0856C901EC}"/>
                </a:ext>
              </a:extLst>
            </p:cNvPr>
            <p:cNvSpPr/>
            <p:nvPr/>
          </p:nvSpPr>
          <p:spPr>
            <a:xfrm>
              <a:off x="10204017" y="4367312"/>
              <a:ext cx="78206" cy="42462"/>
            </a:xfrm>
            <a:custGeom>
              <a:avLst/>
              <a:gdLst/>
              <a:ahLst/>
              <a:cxnLst/>
              <a:rect l="l" t="t" r="r" b="b"/>
              <a:pathLst>
                <a:path w="78206" h="79368" extrusionOk="0">
                  <a:moveTo>
                    <a:pt x="0" y="0"/>
                  </a:moveTo>
                  <a:lnTo>
                    <a:pt x="5214" y="16592"/>
                  </a:lnTo>
                  <a:lnTo>
                    <a:pt x="10428" y="32460"/>
                  </a:lnTo>
                  <a:lnTo>
                    <a:pt x="15641" y="46908"/>
                  </a:lnTo>
                  <a:lnTo>
                    <a:pt x="20855" y="59307"/>
                  </a:lnTo>
                  <a:lnTo>
                    <a:pt x="26069" y="69114"/>
                  </a:lnTo>
                  <a:lnTo>
                    <a:pt x="31283" y="75900"/>
                  </a:lnTo>
                  <a:lnTo>
                    <a:pt x="36496" y="79368"/>
                  </a:lnTo>
                  <a:lnTo>
                    <a:pt x="41710" y="79368"/>
                  </a:lnTo>
                  <a:lnTo>
                    <a:pt x="46924" y="75900"/>
                  </a:lnTo>
                  <a:lnTo>
                    <a:pt x="52138" y="69114"/>
                  </a:lnTo>
                  <a:lnTo>
                    <a:pt x="57351" y="59307"/>
                  </a:lnTo>
                  <a:lnTo>
                    <a:pt x="62565" y="46908"/>
                  </a:lnTo>
                  <a:lnTo>
                    <a:pt x="67779" y="32460"/>
                  </a:lnTo>
                  <a:lnTo>
                    <a:pt x="72993" y="16592"/>
                  </a:lnTo>
                  <a:lnTo>
                    <a:pt x="78206"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79" name="Google Shape;2712;g3f5188ffaf6_0_0">
              <a:extLst>
                <a:ext uri="{FF2B5EF4-FFF2-40B4-BE49-F238E27FC236}">
                  <a16:creationId xmlns:a16="http://schemas.microsoft.com/office/drawing/2014/main" id="{878D25AF-E40E-A4C1-3A78-B2AC3202B8D1}"/>
                </a:ext>
              </a:extLst>
            </p:cNvPr>
            <p:cNvSpPr/>
            <p:nvPr/>
          </p:nvSpPr>
          <p:spPr>
            <a:xfrm>
              <a:off x="10290912" y="4367312"/>
              <a:ext cx="78206" cy="42462"/>
            </a:xfrm>
            <a:custGeom>
              <a:avLst/>
              <a:gdLst/>
              <a:ahLst/>
              <a:cxnLst/>
              <a:rect l="l" t="t" r="r" b="b"/>
              <a:pathLst>
                <a:path w="78206" h="79368" extrusionOk="0">
                  <a:moveTo>
                    <a:pt x="0" y="0"/>
                  </a:moveTo>
                  <a:lnTo>
                    <a:pt x="5214" y="16592"/>
                  </a:lnTo>
                  <a:lnTo>
                    <a:pt x="10427" y="32460"/>
                  </a:lnTo>
                  <a:lnTo>
                    <a:pt x="15641" y="46908"/>
                  </a:lnTo>
                  <a:lnTo>
                    <a:pt x="20855" y="59307"/>
                  </a:lnTo>
                  <a:lnTo>
                    <a:pt x="26069" y="69114"/>
                  </a:lnTo>
                  <a:lnTo>
                    <a:pt x="31282" y="75900"/>
                  </a:lnTo>
                  <a:lnTo>
                    <a:pt x="36496" y="79368"/>
                  </a:lnTo>
                  <a:lnTo>
                    <a:pt x="41710" y="79368"/>
                  </a:lnTo>
                  <a:lnTo>
                    <a:pt x="46924" y="75900"/>
                  </a:lnTo>
                  <a:lnTo>
                    <a:pt x="52137" y="69114"/>
                  </a:lnTo>
                  <a:lnTo>
                    <a:pt x="57351" y="59307"/>
                  </a:lnTo>
                  <a:lnTo>
                    <a:pt x="62565" y="46908"/>
                  </a:lnTo>
                  <a:lnTo>
                    <a:pt x="67778" y="32460"/>
                  </a:lnTo>
                  <a:lnTo>
                    <a:pt x="72992" y="16592"/>
                  </a:lnTo>
                  <a:lnTo>
                    <a:pt x="78206"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80" name="Google Shape;2713;g3f5188ffaf6_0_0">
              <a:extLst>
                <a:ext uri="{FF2B5EF4-FFF2-40B4-BE49-F238E27FC236}">
                  <a16:creationId xmlns:a16="http://schemas.microsoft.com/office/drawing/2014/main" id="{EE227AA4-AF91-EB20-0837-153FB580CC25}"/>
                </a:ext>
              </a:extLst>
            </p:cNvPr>
            <p:cNvSpPr/>
            <p:nvPr/>
          </p:nvSpPr>
          <p:spPr>
            <a:xfrm>
              <a:off x="10377807" y="4324742"/>
              <a:ext cx="78206" cy="42462"/>
            </a:xfrm>
            <a:custGeom>
              <a:avLst/>
              <a:gdLst/>
              <a:ahLst/>
              <a:cxnLst/>
              <a:rect l="l" t="t" r="r" b="b"/>
              <a:pathLst>
                <a:path w="78206" h="79369" extrusionOk="0">
                  <a:moveTo>
                    <a:pt x="0" y="79369"/>
                  </a:moveTo>
                  <a:lnTo>
                    <a:pt x="5213" y="62776"/>
                  </a:lnTo>
                  <a:lnTo>
                    <a:pt x="10427" y="46909"/>
                  </a:lnTo>
                  <a:lnTo>
                    <a:pt x="15641" y="32460"/>
                  </a:lnTo>
                  <a:lnTo>
                    <a:pt x="20855" y="20061"/>
                  </a:lnTo>
                  <a:lnTo>
                    <a:pt x="26068" y="10255"/>
                  </a:lnTo>
                  <a:lnTo>
                    <a:pt x="31282" y="3469"/>
                  </a:lnTo>
                  <a:lnTo>
                    <a:pt x="36496" y="0"/>
                  </a:lnTo>
                  <a:lnTo>
                    <a:pt x="41709" y="0"/>
                  </a:lnTo>
                  <a:lnTo>
                    <a:pt x="46923" y="3469"/>
                  </a:lnTo>
                  <a:lnTo>
                    <a:pt x="52137" y="10255"/>
                  </a:lnTo>
                  <a:lnTo>
                    <a:pt x="57351" y="20061"/>
                  </a:lnTo>
                  <a:lnTo>
                    <a:pt x="62564" y="32460"/>
                  </a:lnTo>
                  <a:lnTo>
                    <a:pt x="67778" y="46909"/>
                  </a:lnTo>
                  <a:lnTo>
                    <a:pt x="72992" y="62776"/>
                  </a:lnTo>
                  <a:lnTo>
                    <a:pt x="78206" y="79369"/>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81" name="Google Shape;2714;g3f5188ffaf6_0_0">
              <a:extLst>
                <a:ext uri="{FF2B5EF4-FFF2-40B4-BE49-F238E27FC236}">
                  <a16:creationId xmlns:a16="http://schemas.microsoft.com/office/drawing/2014/main" id="{40EDF16A-B881-CE7C-6328-291D5876502F}"/>
                </a:ext>
              </a:extLst>
            </p:cNvPr>
            <p:cNvSpPr/>
            <p:nvPr/>
          </p:nvSpPr>
          <p:spPr>
            <a:xfrm>
              <a:off x="10464701" y="4367312"/>
              <a:ext cx="78206" cy="42462"/>
            </a:xfrm>
            <a:custGeom>
              <a:avLst/>
              <a:gdLst/>
              <a:ahLst/>
              <a:cxnLst/>
              <a:rect l="l" t="t" r="r" b="b"/>
              <a:pathLst>
                <a:path w="78206" h="79368" extrusionOk="0">
                  <a:moveTo>
                    <a:pt x="0" y="0"/>
                  </a:moveTo>
                  <a:lnTo>
                    <a:pt x="5214" y="16592"/>
                  </a:lnTo>
                  <a:lnTo>
                    <a:pt x="10428" y="32460"/>
                  </a:lnTo>
                  <a:lnTo>
                    <a:pt x="15641" y="46908"/>
                  </a:lnTo>
                  <a:lnTo>
                    <a:pt x="20855" y="59307"/>
                  </a:lnTo>
                  <a:lnTo>
                    <a:pt x="26069" y="69114"/>
                  </a:lnTo>
                  <a:lnTo>
                    <a:pt x="31283" y="75900"/>
                  </a:lnTo>
                  <a:lnTo>
                    <a:pt x="36496" y="79368"/>
                  </a:lnTo>
                  <a:lnTo>
                    <a:pt x="41710" y="79368"/>
                  </a:lnTo>
                  <a:lnTo>
                    <a:pt x="46924" y="75900"/>
                  </a:lnTo>
                  <a:lnTo>
                    <a:pt x="52138" y="69114"/>
                  </a:lnTo>
                  <a:lnTo>
                    <a:pt x="57351" y="59307"/>
                  </a:lnTo>
                  <a:lnTo>
                    <a:pt x="62565" y="46908"/>
                  </a:lnTo>
                  <a:lnTo>
                    <a:pt x="67779" y="32460"/>
                  </a:lnTo>
                  <a:lnTo>
                    <a:pt x="72993" y="16592"/>
                  </a:lnTo>
                  <a:lnTo>
                    <a:pt x="78206"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82" name="Google Shape;2715;g3f5188ffaf6_0_0">
              <a:extLst>
                <a:ext uri="{FF2B5EF4-FFF2-40B4-BE49-F238E27FC236}">
                  <a16:creationId xmlns:a16="http://schemas.microsoft.com/office/drawing/2014/main" id="{1980263D-7B0C-0BBE-825B-83B19E241893}"/>
                </a:ext>
              </a:extLst>
            </p:cNvPr>
            <p:cNvSpPr/>
            <p:nvPr/>
          </p:nvSpPr>
          <p:spPr>
            <a:xfrm>
              <a:off x="10582116" y="4324742"/>
              <a:ext cx="78206" cy="42462"/>
            </a:xfrm>
            <a:custGeom>
              <a:avLst/>
              <a:gdLst/>
              <a:ahLst/>
              <a:cxnLst/>
              <a:rect l="l" t="t" r="r" b="b"/>
              <a:pathLst>
                <a:path w="78206" h="79369" extrusionOk="0">
                  <a:moveTo>
                    <a:pt x="0" y="79369"/>
                  </a:moveTo>
                  <a:lnTo>
                    <a:pt x="5213" y="62776"/>
                  </a:lnTo>
                  <a:lnTo>
                    <a:pt x="10427" y="46909"/>
                  </a:lnTo>
                  <a:lnTo>
                    <a:pt x="15641" y="32460"/>
                  </a:lnTo>
                  <a:lnTo>
                    <a:pt x="20855" y="20061"/>
                  </a:lnTo>
                  <a:lnTo>
                    <a:pt x="26068" y="10255"/>
                  </a:lnTo>
                  <a:lnTo>
                    <a:pt x="31282" y="3469"/>
                  </a:lnTo>
                  <a:lnTo>
                    <a:pt x="36496" y="0"/>
                  </a:lnTo>
                  <a:lnTo>
                    <a:pt x="41710" y="0"/>
                  </a:lnTo>
                  <a:lnTo>
                    <a:pt x="46923" y="3469"/>
                  </a:lnTo>
                  <a:lnTo>
                    <a:pt x="52137" y="10255"/>
                  </a:lnTo>
                  <a:lnTo>
                    <a:pt x="57351" y="20061"/>
                  </a:lnTo>
                  <a:lnTo>
                    <a:pt x="62565" y="32460"/>
                  </a:lnTo>
                  <a:lnTo>
                    <a:pt x="67778" y="46909"/>
                  </a:lnTo>
                  <a:lnTo>
                    <a:pt x="72992" y="62776"/>
                  </a:lnTo>
                  <a:lnTo>
                    <a:pt x="78206" y="79369"/>
                  </a:lnTo>
                </a:path>
              </a:pathLst>
            </a:custGeom>
            <a:noFill/>
            <a:ln w="120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83" name="Google Shape;2716;g3f5188ffaf6_0_0">
              <a:extLst>
                <a:ext uri="{FF2B5EF4-FFF2-40B4-BE49-F238E27FC236}">
                  <a16:creationId xmlns:a16="http://schemas.microsoft.com/office/drawing/2014/main" id="{CAAFEDC0-318D-0675-6C1A-2D98057E82BD}"/>
                </a:ext>
              </a:extLst>
            </p:cNvPr>
            <p:cNvSpPr/>
            <p:nvPr/>
          </p:nvSpPr>
          <p:spPr>
            <a:xfrm>
              <a:off x="10669010" y="4367312"/>
              <a:ext cx="78207" cy="42462"/>
            </a:xfrm>
            <a:custGeom>
              <a:avLst/>
              <a:gdLst/>
              <a:ahLst/>
              <a:cxnLst/>
              <a:rect l="l" t="t" r="r" b="b"/>
              <a:pathLst>
                <a:path w="78207" h="79368" extrusionOk="0">
                  <a:moveTo>
                    <a:pt x="0" y="0"/>
                  </a:moveTo>
                  <a:lnTo>
                    <a:pt x="5214" y="16592"/>
                  </a:lnTo>
                  <a:lnTo>
                    <a:pt x="10428" y="32460"/>
                  </a:lnTo>
                  <a:lnTo>
                    <a:pt x="15642" y="46908"/>
                  </a:lnTo>
                  <a:lnTo>
                    <a:pt x="20855" y="59307"/>
                  </a:lnTo>
                  <a:lnTo>
                    <a:pt x="26069" y="69114"/>
                  </a:lnTo>
                  <a:lnTo>
                    <a:pt x="31283" y="75900"/>
                  </a:lnTo>
                  <a:lnTo>
                    <a:pt x="36497" y="79368"/>
                  </a:lnTo>
                  <a:lnTo>
                    <a:pt x="41710" y="79368"/>
                  </a:lnTo>
                  <a:lnTo>
                    <a:pt x="46924" y="75900"/>
                  </a:lnTo>
                  <a:lnTo>
                    <a:pt x="52138" y="69114"/>
                  </a:lnTo>
                  <a:lnTo>
                    <a:pt x="57352" y="59307"/>
                  </a:lnTo>
                  <a:lnTo>
                    <a:pt x="62565" y="46908"/>
                  </a:lnTo>
                  <a:lnTo>
                    <a:pt x="67779" y="32460"/>
                  </a:lnTo>
                  <a:lnTo>
                    <a:pt x="72993" y="16592"/>
                  </a:lnTo>
                  <a:lnTo>
                    <a:pt x="78207" y="0"/>
                  </a:lnTo>
                </a:path>
              </a:pathLst>
            </a:custGeom>
            <a:noFill/>
            <a:ln w="120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84" name="Google Shape;2717;g3f5188ffaf6_0_0">
              <a:extLst>
                <a:ext uri="{FF2B5EF4-FFF2-40B4-BE49-F238E27FC236}">
                  <a16:creationId xmlns:a16="http://schemas.microsoft.com/office/drawing/2014/main" id="{A2A3310D-1D72-DF37-1EFF-6959A7FBD7AB}"/>
                </a:ext>
              </a:extLst>
            </p:cNvPr>
            <p:cNvSpPr/>
            <p:nvPr/>
          </p:nvSpPr>
          <p:spPr>
            <a:xfrm>
              <a:off x="10755905" y="4324742"/>
              <a:ext cx="78206" cy="42462"/>
            </a:xfrm>
            <a:custGeom>
              <a:avLst/>
              <a:gdLst/>
              <a:ahLst/>
              <a:cxnLst/>
              <a:rect l="l" t="t" r="r" b="b"/>
              <a:pathLst>
                <a:path w="78206" h="79369" extrusionOk="0">
                  <a:moveTo>
                    <a:pt x="0" y="79369"/>
                  </a:moveTo>
                  <a:lnTo>
                    <a:pt x="5214" y="62776"/>
                  </a:lnTo>
                  <a:lnTo>
                    <a:pt x="10428" y="46909"/>
                  </a:lnTo>
                  <a:lnTo>
                    <a:pt x="15641" y="32460"/>
                  </a:lnTo>
                  <a:lnTo>
                    <a:pt x="20855" y="20061"/>
                  </a:lnTo>
                  <a:lnTo>
                    <a:pt x="26069" y="10255"/>
                  </a:lnTo>
                  <a:lnTo>
                    <a:pt x="31283" y="3469"/>
                  </a:lnTo>
                  <a:lnTo>
                    <a:pt x="36496" y="0"/>
                  </a:lnTo>
                  <a:lnTo>
                    <a:pt x="41710" y="0"/>
                  </a:lnTo>
                  <a:lnTo>
                    <a:pt x="46924" y="3469"/>
                  </a:lnTo>
                  <a:lnTo>
                    <a:pt x="52138" y="10255"/>
                  </a:lnTo>
                  <a:lnTo>
                    <a:pt x="57351" y="20061"/>
                  </a:lnTo>
                  <a:lnTo>
                    <a:pt x="62565" y="32460"/>
                  </a:lnTo>
                  <a:lnTo>
                    <a:pt x="67779" y="46909"/>
                  </a:lnTo>
                  <a:lnTo>
                    <a:pt x="72992" y="62776"/>
                  </a:lnTo>
                  <a:lnTo>
                    <a:pt x="78206" y="79369"/>
                  </a:lnTo>
                </a:path>
              </a:pathLst>
            </a:custGeom>
            <a:noFill/>
            <a:ln w="120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85" name="Google Shape;2718;g3f5188ffaf6_0_0">
              <a:extLst>
                <a:ext uri="{FF2B5EF4-FFF2-40B4-BE49-F238E27FC236}">
                  <a16:creationId xmlns:a16="http://schemas.microsoft.com/office/drawing/2014/main" id="{451AF9C5-001A-1948-2E89-34E054965FF9}"/>
                </a:ext>
              </a:extLst>
            </p:cNvPr>
            <p:cNvSpPr/>
            <p:nvPr/>
          </p:nvSpPr>
          <p:spPr>
            <a:xfrm>
              <a:off x="10842800" y="4367312"/>
              <a:ext cx="78206" cy="42462"/>
            </a:xfrm>
            <a:custGeom>
              <a:avLst/>
              <a:gdLst/>
              <a:ahLst/>
              <a:cxnLst/>
              <a:rect l="l" t="t" r="r" b="b"/>
              <a:pathLst>
                <a:path w="78206" h="79368" extrusionOk="0">
                  <a:moveTo>
                    <a:pt x="0" y="0"/>
                  </a:moveTo>
                  <a:lnTo>
                    <a:pt x="5214" y="16592"/>
                  </a:lnTo>
                  <a:lnTo>
                    <a:pt x="10427" y="32460"/>
                  </a:lnTo>
                  <a:lnTo>
                    <a:pt x="15641" y="46908"/>
                  </a:lnTo>
                  <a:lnTo>
                    <a:pt x="20855" y="59307"/>
                  </a:lnTo>
                  <a:lnTo>
                    <a:pt x="26069" y="69114"/>
                  </a:lnTo>
                  <a:lnTo>
                    <a:pt x="31282" y="75900"/>
                  </a:lnTo>
                  <a:lnTo>
                    <a:pt x="36496" y="79368"/>
                  </a:lnTo>
                  <a:lnTo>
                    <a:pt x="41710" y="79368"/>
                  </a:lnTo>
                  <a:lnTo>
                    <a:pt x="46923" y="75900"/>
                  </a:lnTo>
                  <a:lnTo>
                    <a:pt x="52137" y="69114"/>
                  </a:lnTo>
                  <a:lnTo>
                    <a:pt x="57351" y="59307"/>
                  </a:lnTo>
                  <a:lnTo>
                    <a:pt x="62565" y="46908"/>
                  </a:lnTo>
                  <a:lnTo>
                    <a:pt x="67778" y="32460"/>
                  </a:lnTo>
                  <a:lnTo>
                    <a:pt x="72992" y="16592"/>
                  </a:lnTo>
                  <a:lnTo>
                    <a:pt x="78206" y="0"/>
                  </a:lnTo>
                </a:path>
              </a:pathLst>
            </a:custGeom>
            <a:noFill/>
            <a:ln w="120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86" name="Google Shape;2719;g3f5188ffaf6_0_0">
              <a:extLst>
                <a:ext uri="{FF2B5EF4-FFF2-40B4-BE49-F238E27FC236}">
                  <a16:creationId xmlns:a16="http://schemas.microsoft.com/office/drawing/2014/main" id="{3CD6774C-AE1B-54B7-1C8A-65E7F8967990}"/>
                </a:ext>
              </a:extLst>
            </p:cNvPr>
            <p:cNvSpPr/>
            <p:nvPr/>
          </p:nvSpPr>
          <p:spPr>
            <a:xfrm>
              <a:off x="10929696" y="4367312"/>
              <a:ext cx="78206" cy="42462"/>
            </a:xfrm>
            <a:custGeom>
              <a:avLst/>
              <a:gdLst/>
              <a:ahLst/>
              <a:cxnLst/>
              <a:rect l="l" t="t" r="r" b="b"/>
              <a:pathLst>
                <a:path w="78206" h="79368" extrusionOk="0">
                  <a:moveTo>
                    <a:pt x="0" y="0"/>
                  </a:moveTo>
                  <a:lnTo>
                    <a:pt x="5213" y="16592"/>
                  </a:lnTo>
                  <a:lnTo>
                    <a:pt x="10427" y="32460"/>
                  </a:lnTo>
                  <a:lnTo>
                    <a:pt x="15641" y="46908"/>
                  </a:lnTo>
                  <a:lnTo>
                    <a:pt x="20854" y="59307"/>
                  </a:lnTo>
                  <a:lnTo>
                    <a:pt x="26068" y="69114"/>
                  </a:lnTo>
                  <a:lnTo>
                    <a:pt x="31282" y="75900"/>
                  </a:lnTo>
                  <a:lnTo>
                    <a:pt x="36496" y="79368"/>
                  </a:lnTo>
                  <a:lnTo>
                    <a:pt x="41709" y="79368"/>
                  </a:lnTo>
                  <a:lnTo>
                    <a:pt x="46923" y="75900"/>
                  </a:lnTo>
                  <a:lnTo>
                    <a:pt x="52137" y="69114"/>
                  </a:lnTo>
                  <a:lnTo>
                    <a:pt x="57351" y="59307"/>
                  </a:lnTo>
                  <a:lnTo>
                    <a:pt x="62564" y="46908"/>
                  </a:lnTo>
                  <a:lnTo>
                    <a:pt x="67778" y="32460"/>
                  </a:lnTo>
                  <a:lnTo>
                    <a:pt x="72992" y="16592"/>
                  </a:lnTo>
                  <a:lnTo>
                    <a:pt x="78206" y="0"/>
                  </a:lnTo>
                </a:path>
              </a:pathLst>
            </a:custGeom>
            <a:noFill/>
            <a:ln w="120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87" name="Google Shape;2720;g3f5188ffaf6_0_0">
              <a:extLst>
                <a:ext uri="{FF2B5EF4-FFF2-40B4-BE49-F238E27FC236}">
                  <a16:creationId xmlns:a16="http://schemas.microsoft.com/office/drawing/2014/main" id="{96FBC74B-799F-A66A-2250-AE01DED6EEED}"/>
                </a:ext>
              </a:extLst>
            </p:cNvPr>
            <p:cNvSpPr/>
            <p:nvPr/>
          </p:nvSpPr>
          <p:spPr>
            <a:xfrm>
              <a:off x="11016590" y="4367312"/>
              <a:ext cx="78206" cy="42462"/>
            </a:xfrm>
            <a:custGeom>
              <a:avLst/>
              <a:gdLst/>
              <a:ahLst/>
              <a:cxnLst/>
              <a:rect l="l" t="t" r="r" b="b"/>
              <a:pathLst>
                <a:path w="78206" h="79368" extrusionOk="0">
                  <a:moveTo>
                    <a:pt x="0" y="0"/>
                  </a:moveTo>
                  <a:lnTo>
                    <a:pt x="5214" y="16592"/>
                  </a:lnTo>
                  <a:lnTo>
                    <a:pt x="10428" y="32460"/>
                  </a:lnTo>
                  <a:lnTo>
                    <a:pt x="15641" y="46908"/>
                  </a:lnTo>
                  <a:lnTo>
                    <a:pt x="20855" y="59307"/>
                  </a:lnTo>
                  <a:lnTo>
                    <a:pt x="26069" y="69114"/>
                  </a:lnTo>
                  <a:lnTo>
                    <a:pt x="31283" y="75900"/>
                  </a:lnTo>
                  <a:lnTo>
                    <a:pt x="36496" y="79368"/>
                  </a:lnTo>
                  <a:lnTo>
                    <a:pt x="41710" y="79368"/>
                  </a:lnTo>
                  <a:lnTo>
                    <a:pt x="46924" y="75900"/>
                  </a:lnTo>
                  <a:lnTo>
                    <a:pt x="52138" y="69114"/>
                  </a:lnTo>
                  <a:lnTo>
                    <a:pt x="57351" y="59307"/>
                  </a:lnTo>
                  <a:lnTo>
                    <a:pt x="62565" y="46908"/>
                  </a:lnTo>
                  <a:lnTo>
                    <a:pt x="67779" y="32460"/>
                  </a:lnTo>
                  <a:lnTo>
                    <a:pt x="72993" y="16592"/>
                  </a:lnTo>
                  <a:lnTo>
                    <a:pt x="78206" y="0"/>
                  </a:lnTo>
                </a:path>
              </a:pathLst>
            </a:custGeom>
            <a:noFill/>
            <a:ln w="120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88" name="Google Shape;2721;g3f5188ffaf6_0_0">
              <a:extLst>
                <a:ext uri="{FF2B5EF4-FFF2-40B4-BE49-F238E27FC236}">
                  <a16:creationId xmlns:a16="http://schemas.microsoft.com/office/drawing/2014/main" id="{F3FA8DDC-DEC0-7E42-7F51-70B3114AFC76}"/>
                </a:ext>
              </a:extLst>
            </p:cNvPr>
            <p:cNvSpPr/>
            <p:nvPr/>
          </p:nvSpPr>
          <p:spPr>
            <a:xfrm>
              <a:off x="11103485" y="4324742"/>
              <a:ext cx="78206" cy="42462"/>
            </a:xfrm>
            <a:custGeom>
              <a:avLst/>
              <a:gdLst/>
              <a:ahLst/>
              <a:cxnLst/>
              <a:rect l="l" t="t" r="r" b="b"/>
              <a:pathLst>
                <a:path w="78206" h="79369" extrusionOk="0">
                  <a:moveTo>
                    <a:pt x="0" y="79369"/>
                  </a:moveTo>
                  <a:lnTo>
                    <a:pt x="5214" y="62776"/>
                  </a:lnTo>
                  <a:lnTo>
                    <a:pt x="10427" y="46909"/>
                  </a:lnTo>
                  <a:lnTo>
                    <a:pt x="15641" y="32460"/>
                  </a:lnTo>
                  <a:lnTo>
                    <a:pt x="20855" y="20061"/>
                  </a:lnTo>
                  <a:lnTo>
                    <a:pt x="26069" y="10255"/>
                  </a:lnTo>
                  <a:lnTo>
                    <a:pt x="31282" y="3469"/>
                  </a:lnTo>
                  <a:lnTo>
                    <a:pt x="36496" y="0"/>
                  </a:lnTo>
                  <a:lnTo>
                    <a:pt x="41710" y="0"/>
                  </a:lnTo>
                  <a:lnTo>
                    <a:pt x="46924" y="3469"/>
                  </a:lnTo>
                  <a:lnTo>
                    <a:pt x="52137" y="10255"/>
                  </a:lnTo>
                  <a:lnTo>
                    <a:pt x="57351" y="20061"/>
                  </a:lnTo>
                  <a:lnTo>
                    <a:pt x="62565" y="32460"/>
                  </a:lnTo>
                  <a:lnTo>
                    <a:pt x="67779" y="46909"/>
                  </a:lnTo>
                  <a:lnTo>
                    <a:pt x="72992" y="62776"/>
                  </a:lnTo>
                  <a:lnTo>
                    <a:pt x="78206" y="79369"/>
                  </a:lnTo>
                </a:path>
              </a:pathLst>
            </a:custGeom>
            <a:noFill/>
            <a:ln w="120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89" name="Google Shape;2722;g3f5188ffaf6_0_0">
              <a:extLst>
                <a:ext uri="{FF2B5EF4-FFF2-40B4-BE49-F238E27FC236}">
                  <a16:creationId xmlns:a16="http://schemas.microsoft.com/office/drawing/2014/main" id="{CA6792FB-38AB-B5CA-854C-D7D39043F5C7}"/>
                </a:ext>
              </a:extLst>
            </p:cNvPr>
            <p:cNvSpPr/>
            <p:nvPr/>
          </p:nvSpPr>
          <p:spPr>
            <a:xfrm>
              <a:off x="11190381" y="4367312"/>
              <a:ext cx="78206" cy="42462"/>
            </a:xfrm>
            <a:custGeom>
              <a:avLst/>
              <a:gdLst/>
              <a:ahLst/>
              <a:cxnLst/>
              <a:rect l="l" t="t" r="r" b="b"/>
              <a:pathLst>
                <a:path w="78206" h="79368" extrusionOk="0">
                  <a:moveTo>
                    <a:pt x="0" y="0"/>
                  </a:moveTo>
                  <a:lnTo>
                    <a:pt x="5213" y="16592"/>
                  </a:lnTo>
                  <a:lnTo>
                    <a:pt x="10427" y="32460"/>
                  </a:lnTo>
                  <a:lnTo>
                    <a:pt x="15641" y="46908"/>
                  </a:lnTo>
                  <a:lnTo>
                    <a:pt x="20855" y="59307"/>
                  </a:lnTo>
                  <a:lnTo>
                    <a:pt x="26068" y="69114"/>
                  </a:lnTo>
                  <a:lnTo>
                    <a:pt x="31282" y="75900"/>
                  </a:lnTo>
                  <a:lnTo>
                    <a:pt x="36496" y="79368"/>
                  </a:lnTo>
                  <a:lnTo>
                    <a:pt x="41710" y="79368"/>
                  </a:lnTo>
                  <a:lnTo>
                    <a:pt x="46923" y="75900"/>
                  </a:lnTo>
                  <a:lnTo>
                    <a:pt x="52137" y="69114"/>
                  </a:lnTo>
                  <a:lnTo>
                    <a:pt x="57351" y="59307"/>
                  </a:lnTo>
                  <a:lnTo>
                    <a:pt x="62565" y="46908"/>
                  </a:lnTo>
                  <a:lnTo>
                    <a:pt x="67778" y="32460"/>
                  </a:lnTo>
                  <a:lnTo>
                    <a:pt x="72992" y="16592"/>
                  </a:lnTo>
                  <a:lnTo>
                    <a:pt x="78206" y="0"/>
                  </a:lnTo>
                </a:path>
              </a:pathLst>
            </a:custGeom>
            <a:noFill/>
            <a:ln w="120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90" name="Google Shape;2723;g3f5188ffaf6_0_0">
              <a:extLst>
                <a:ext uri="{FF2B5EF4-FFF2-40B4-BE49-F238E27FC236}">
                  <a16:creationId xmlns:a16="http://schemas.microsoft.com/office/drawing/2014/main" id="{5C321FCC-D44A-7E39-6ADD-E8924CBAE5D0}"/>
                </a:ext>
              </a:extLst>
            </p:cNvPr>
            <p:cNvSpPr/>
            <p:nvPr/>
          </p:nvSpPr>
          <p:spPr>
            <a:xfrm>
              <a:off x="9856436" y="4509994"/>
              <a:ext cx="78206" cy="42462"/>
            </a:xfrm>
            <a:custGeom>
              <a:avLst/>
              <a:gdLst/>
              <a:ahLst/>
              <a:cxnLst/>
              <a:rect l="l" t="t" r="r" b="b"/>
              <a:pathLst>
                <a:path w="78206" h="79369" extrusionOk="0">
                  <a:moveTo>
                    <a:pt x="0" y="0"/>
                  </a:moveTo>
                  <a:lnTo>
                    <a:pt x="5214" y="16593"/>
                  </a:lnTo>
                  <a:lnTo>
                    <a:pt x="10428" y="32460"/>
                  </a:lnTo>
                  <a:lnTo>
                    <a:pt x="15642" y="46909"/>
                  </a:lnTo>
                  <a:lnTo>
                    <a:pt x="20855" y="59308"/>
                  </a:lnTo>
                  <a:lnTo>
                    <a:pt x="26069" y="69114"/>
                  </a:lnTo>
                  <a:lnTo>
                    <a:pt x="31283" y="75900"/>
                  </a:lnTo>
                  <a:lnTo>
                    <a:pt x="36496" y="79369"/>
                  </a:lnTo>
                  <a:lnTo>
                    <a:pt x="41710" y="79369"/>
                  </a:lnTo>
                  <a:lnTo>
                    <a:pt x="46924" y="75900"/>
                  </a:lnTo>
                  <a:lnTo>
                    <a:pt x="52138" y="69114"/>
                  </a:lnTo>
                  <a:lnTo>
                    <a:pt x="57351" y="59308"/>
                  </a:lnTo>
                  <a:lnTo>
                    <a:pt x="62565" y="46909"/>
                  </a:lnTo>
                  <a:lnTo>
                    <a:pt x="67779" y="32460"/>
                  </a:lnTo>
                  <a:lnTo>
                    <a:pt x="72993" y="16593"/>
                  </a:lnTo>
                  <a:lnTo>
                    <a:pt x="78206"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91" name="Google Shape;2724;g3f5188ffaf6_0_0">
              <a:extLst>
                <a:ext uri="{FF2B5EF4-FFF2-40B4-BE49-F238E27FC236}">
                  <a16:creationId xmlns:a16="http://schemas.microsoft.com/office/drawing/2014/main" id="{FA9B83B9-4058-4458-FCC8-F212C1894E2E}"/>
                </a:ext>
              </a:extLst>
            </p:cNvPr>
            <p:cNvSpPr/>
            <p:nvPr/>
          </p:nvSpPr>
          <p:spPr>
            <a:xfrm>
              <a:off x="9943332" y="4509994"/>
              <a:ext cx="78206" cy="42462"/>
            </a:xfrm>
            <a:custGeom>
              <a:avLst/>
              <a:gdLst/>
              <a:ahLst/>
              <a:cxnLst/>
              <a:rect l="l" t="t" r="r" b="b"/>
              <a:pathLst>
                <a:path w="78206" h="79369" extrusionOk="0">
                  <a:moveTo>
                    <a:pt x="0" y="0"/>
                  </a:moveTo>
                  <a:lnTo>
                    <a:pt x="5214" y="16593"/>
                  </a:lnTo>
                  <a:lnTo>
                    <a:pt x="10427" y="32460"/>
                  </a:lnTo>
                  <a:lnTo>
                    <a:pt x="15641" y="46909"/>
                  </a:lnTo>
                  <a:lnTo>
                    <a:pt x="20855" y="59308"/>
                  </a:lnTo>
                  <a:lnTo>
                    <a:pt x="26069" y="69114"/>
                  </a:lnTo>
                  <a:lnTo>
                    <a:pt x="31282" y="75900"/>
                  </a:lnTo>
                  <a:lnTo>
                    <a:pt x="36496" y="79369"/>
                  </a:lnTo>
                  <a:lnTo>
                    <a:pt x="41710" y="79369"/>
                  </a:lnTo>
                  <a:lnTo>
                    <a:pt x="46924" y="75900"/>
                  </a:lnTo>
                  <a:lnTo>
                    <a:pt x="52137" y="69114"/>
                  </a:lnTo>
                  <a:lnTo>
                    <a:pt x="57351" y="59308"/>
                  </a:lnTo>
                  <a:lnTo>
                    <a:pt x="62565" y="46909"/>
                  </a:lnTo>
                  <a:lnTo>
                    <a:pt x="67779" y="32460"/>
                  </a:lnTo>
                  <a:lnTo>
                    <a:pt x="72992" y="16593"/>
                  </a:lnTo>
                  <a:lnTo>
                    <a:pt x="78206"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92" name="Google Shape;2725;g3f5188ffaf6_0_0">
              <a:extLst>
                <a:ext uri="{FF2B5EF4-FFF2-40B4-BE49-F238E27FC236}">
                  <a16:creationId xmlns:a16="http://schemas.microsoft.com/office/drawing/2014/main" id="{1751B15F-189A-E777-05B8-D6938A9304C2}"/>
                </a:ext>
              </a:extLst>
            </p:cNvPr>
            <p:cNvSpPr/>
            <p:nvPr/>
          </p:nvSpPr>
          <p:spPr>
            <a:xfrm>
              <a:off x="10030227" y="4509994"/>
              <a:ext cx="78206" cy="42462"/>
            </a:xfrm>
            <a:custGeom>
              <a:avLst/>
              <a:gdLst/>
              <a:ahLst/>
              <a:cxnLst/>
              <a:rect l="l" t="t" r="r" b="b"/>
              <a:pathLst>
                <a:path w="78206" h="79369" extrusionOk="0">
                  <a:moveTo>
                    <a:pt x="0" y="0"/>
                  </a:moveTo>
                  <a:lnTo>
                    <a:pt x="5213" y="16593"/>
                  </a:lnTo>
                  <a:lnTo>
                    <a:pt x="10427" y="32460"/>
                  </a:lnTo>
                  <a:lnTo>
                    <a:pt x="15641" y="46909"/>
                  </a:lnTo>
                  <a:lnTo>
                    <a:pt x="20855" y="59308"/>
                  </a:lnTo>
                  <a:lnTo>
                    <a:pt x="26068" y="69114"/>
                  </a:lnTo>
                  <a:lnTo>
                    <a:pt x="31282" y="75900"/>
                  </a:lnTo>
                  <a:lnTo>
                    <a:pt x="36496" y="79369"/>
                  </a:lnTo>
                  <a:lnTo>
                    <a:pt x="41710" y="79369"/>
                  </a:lnTo>
                  <a:lnTo>
                    <a:pt x="46923" y="75900"/>
                  </a:lnTo>
                  <a:lnTo>
                    <a:pt x="52137" y="69114"/>
                  </a:lnTo>
                  <a:lnTo>
                    <a:pt x="57351" y="59308"/>
                  </a:lnTo>
                  <a:lnTo>
                    <a:pt x="62565" y="46909"/>
                  </a:lnTo>
                  <a:lnTo>
                    <a:pt x="67778" y="32460"/>
                  </a:lnTo>
                  <a:lnTo>
                    <a:pt x="72992" y="16593"/>
                  </a:lnTo>
                  <a:lnTo>
                    <a:pt x="78206"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93" name="Google Shape;2726;g3f5188ffaf6_0_0">
              <a:extLst>
                <a:ext uri="{FF2B5EF4-FFF2-40B4-BE49-F238E27FC236}">
                  <a16:creationId xmlns:a16="http://schemas.microsoft.com/office/drawing/2014/main" id="{67400743-4652-742A-894A-C9F4EED0AC9E}"/>
                </a:ext>
              </a:extLst>
            </p:cNvPr>
            <p:cNvSpPr/>
            <p:nvPr/>
          </p:nvSpPr>
          <p:spPr>
            <a:xfrm>
              <a:off x="10117121" y="4467424"/>
              <a:ext cx="78207" cy="42462"/>
            </a:xfrm>
            <a:custGeom>
              <a:avLst/>
              <a:gdLst/>
              <a:ahLst/>
              <a:cxnLst/>
              <a:rect l="l" t="t" r="r" b="b"/>
              <a:pathLst>
                <a:path w="78207" h="79368" extrusionOk="0">
                  <a:moveTo>
                    <a:pt x="0" y="79368"/>
                  </a:moveTo>
                  <a:lnTo>
                    <a:pt x="5214" y="62776"/>
                  </a:lnTo>
                  <a:lnTo>
                    <a:pt x="10428" y="46908"/>
                  </a:lnTo>
                  <a:lnTo>
                    <a:pt x="15642" y="32460"/>
                  </a:lnTo>
                  <a:lnTo>
                    <a:pt x="20855" y="20061"/>
                  </a:lnTo>
                  <a:lnTo>
                    <a:pt x="26069" y="10254"/>
                  </a:lnTo>
                  <a:lnTo>
                    <a:pt x="31283" y="3468"/>
                  </a:lnTo>
                  <a:lnTo>
                    <a:pt x="36497" y="0"/>
                  </a:lnTo>
                  <a:lnTo>
                    <a:pt x="41710" y="0"/>
                  </a:lnTo>
                  <a:lnTo>
                    <a:pt x="46924" y="3468"/>
                  </a:lnTo>
                  <a:lnTo>
                    <a:pt x="52138" y="10254"/>
                  </a:lnTo>
                  <a:lnTo>
                    <a:pt x="57352" y="20061"/>
                  </a:lnTo>
                  <a:lnTo>
                    <a:pt x="62565" y="32460"/>
                  </a:lnTo>
                  <a:lnTo>
                    <a:pt x="67779" y="46908"/>
                  </a:lnTo>
                  <a:lnTo>
                    <a:pt x="72993" y="62776"/>
                  </a:lnTo>
                  <a:lnTo>
                    <a:pt x="78207" y="79368"/>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94" name="Google Shape;2727;g3f5188ffaf6_0_0">
              <a:extLst>
                <a:ext uri="{FF2B5EF4-FFF2-40B4-BE49-F238E27FC236}">
                  <a16:creationId xmlns:a16="http://schemas.microsoft.com/office/drawing/2014/main" id="{4373F7CC-FD58-4AC5-4966-BF6A0B6D9604}"/>
                </a:ext>
              </a:extLst>
            </p:cNvPr>
            <p:cNvSpPr/>
            <p:nvPr/>
          </p:nvSpPr>
          <p:spPr>
            <a:xfrm>
              <a:off x="10204017" y="4467424"/>
              <a:ext cx="78206" cy="42462"/>
            </a:xfrm>
            <a:custGeom>
              <a:avLst/>
              <a:gdLst/>
              <a:ahLst/>
              <a:cxnLst/>
              <a:rect l="l" t="t" r="r" b="b"/>
              <a:pathLst>
                <a:path w="78206" h="79368" extrusionOk="0">
                  <a:moveTo>
                    <a:pt x="0" y="79368"/>
                  </a:moveTo>
                  <a:lnTo>
                    <a:pt x="5214" y="62776"/>
                  </a:lnTo>
                  <a:lnTo>
                    <a:pt x="10428" y="46908"/>
                  </a:lnTo>
                  <a:lnTo>
                    <a:pt x="15641" y="32460"/>
                  </a:lnTo>
                  <a:lnTo>
                    <a:pt x="20855" y="20061"/>
                  </a:lnTo>
                  <a:lnTo>
                    <a:pt x="26069" y="10254"/>
                  </a:lnTo>
                  <a:lnTo>
                    <a:pt x="31283" y="3468"/>
                  </a:lnTo>
                  <a:lnTo>
                    <a:pt x="36496" y="0"/>
                  </a:lnTo>
                  <a:lnTo>
                    <a:pt x="41710" y="0"/>
                  </a:lnTo>
                  <a:lnTo>
                    <a:pt x="46924" y="3468"/>
                  </a:lnTo>
                  <a:lnTo>
                    <a:pt x="52138" y="10254"/>
                  </a:lnTo>
                  <a:lnTo>
                    <a:pt x="57351" y="20061"/>
                  </a:lnTo>
                  <a:lnTo>
                    <a:pt x="62565" y="32460"/>
                  </a:lnTo>
                  <a:lnTo>
                    <a:pt x="67779" y="46908"/>
                  </a:lnTo>
                  <a:lnTo>
                    <a:pt x="72993" y="62776"/>
                  </a:lnTo>
                  <a:lnTo>
                    <a:pt x="78206" y="79368"/>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95" name="Google Shape;2728;g3f5188ffaf6_0_0">
              <a:extLst>
                <a:ext uri="{FF2B5EF4-FFF2-40B4-BE49-F238E27FC236}">
                  <a16:creationId xmlns:a16="http://schemas.microsoft.com/office/drawing/2014/main" id="{A058D47D-C104-4EF0-4FBC-F73935FE19D0}"/>
                </a:ext>
              </a:extLst>
            </p:cNvPr>
            <p:cNvSpPr/>
            <p:nvPr/>
          </p:nvSpPr>
          <p:spPr>
            <a:xfrm>
              <a:off x="10290912" y="4509994"/>
              <a:ext cx="78206" cy="42462"/>
            </a:xfrm>
            <a:custGeom>
              <a:avLst/>
              <a:gdLst/>
              <a:ahLst/>
              <a:cxnLst/>
              <a:rect l="l" t="t" r="r" b="b"/>
              <a:pathLst>
                <a:path w="78206" h="79369" extrusionOk="0">
                  <a:moveTo>
                    <a:pt x="0" y="0"/>
                  </a:moveTo>
                  <a:lnTo>
                    <a:pt x="5214" y="16593"/>
                  </a:lnTo>
                  <a:lnTo>
                    <a:pt x="10427" y="32460"/>
                  </a:lnTo>
                  <a:lnTo>
                    <a:pt x="15641" y="46909"/>
                  </a:lnTo>
                  <a:lnTo>
                    <a:pt x="20855" y="59308"/>
                  </a:lnTo>
                  <a:lnTo>
                    <a:pt x="26069" y="69114"/>
                  </a:lnTo>
                  <a:lnTo>
                    <a:pt x="31282" y="75900"/>
                  </a:lnTo>
                  <a:lnTo>
                    <a:pt x="36496" y="79369"/>
                  </a:lnTo>
                  <a:lnTo>
                    <a:pt x="41710" y="79369"/>
                  </a:lnTo>
                  <a:lnTo>
                    <a:pt x="46924" y="75900"/>
                  </a:lnTo>
                  <a:lnTo>
                    <a:pt x="52137" y="69114"/>
                  </a:lnTo>
                  <a:lnTo>
                    <a:pt x="57351" y="59308"/>
                  </a:lnTo>
                  <a:lnTo>
                    <a:pt x="62565" y="46909"/>
                  </a:lnTo>
                  <a:lnTo>
                    <a:pt x="67778" y="32460"/>
                  </a:lnTo>
                  <a:lnTo>
                    <a:pt x="72992" y="16593"/>
                  </a:lnTo>
                  <a:lnTo>
                    <a:pt x="78206"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96" name="Google Shape;2729;g3f5188ffaf6_0_0">
              <a:extLst>
                <a:ext uri="{FF2B5EF4-FFF2-40B4-BE49-F238E27FC236}">
                  <a16:creationId xmlns:a16="http://schemas.microsoft.com/office/drawing/2014/main" id="{794CF8B0-2C53-032C-EF12-6B8EC647E7C8}"/>
                </a:ext>
              </a:extLst>
            </p:cNvPr>
            <p:cNvSpPr/>
            <p:nvPr/>
          </p:nvSpPr>
          <p:spPr>
            <a:xfrm>
              <a:off x="10377807" y="4509994"/>
              <a:ext cx="78206" cy="42462"/>
            </a:xfrm>
            <a:custGeom>
              <a:avLst/>
              <a:gdLst/>
              <a:ahLst/>
              <a:cxnLst/>
              <a:rect l="l" t="t" r="r" b="b"/>
              <a:pathLst>
                <a:path w="78206" h="79369" extrusionOk="0">
                  <a:moveTo>
                    <a:pt x="0" y="0"/>
                  </a:moveTo>
                  <a:lnTo>
                    <a:pt x="5213" y="16593"/>
                  </a:lnTo>
                  <a:lnTo>
                    <a:pt x="10427" y="32460"/>
                  </a:lnTo>
                  <a:lnTo>
                    <a:pt x="15641" y="46909"/>
                  </a:lnTo>
                  <a:lnTo>
                    <a:pt x="20855" y="59308"/>
                  </a:lnTo>
                  <a:lnTo>
                    <a:pt x="26068" y="69114"/>
                  </a:lnTo>
                  <a:lnTo>
                    <a:pt x="31282" y="75900"/>
                  </a:lnTo>
                  <a:lnTo>
                    <a:pt x="36496" y="79369"/>
                  </a:lnTo>
                  <a:lnTo>
                    <a:pt x="41709" y="79369"/>
                  </a:lnTo>
                  <a:lnTo>
                    <a:pt x="46923" y="75900"/>
                  </a:lnTo>
                  <a:lnTo>
                    <a:pt x="52137" y="69114"/>
                  </a:lnTo>
                  <a:lnTo>
                    <a:pt x="57351" y="59308"/>
                  </a:lnTo>
                  <a:lnTo>
                    <a:pt x="62564" y="46909"/>
                  </a:lnTo>
                  <a:lnTo>
                    <a:pt x="67778" y="32460"/>
                  </a:lnTo>
                  <a:lnTo>
                    <a:pt x="72992" y="16593"/>
                  </a:lnTo>
                  <a:lnTo>
                    <a:pt x="78206"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97" name="Google Shape;2730;g3f5188ffaf6_0_0">
              <a:extLst>
                <a:ext uri="{FF2B5EF4-FFF2-40B4-BE49-F238E27FC236}">
                  <a16:creationId xmlns:a16="http://schemas.microsoft.com/office/drawing/2014/main" id="{64E691BC-B231-8B8C-354B-BD93B291DF5E}"/>
                </a:ext>
              </a:extLst>
            </p:cNvPr>
            <p:cNvSpPr/>
            <p:nvPr/>
          </p:nvSpPr>
          <p:spPr>
            <a:xfrm>
              <a:off x="10464701" y="4509994"/>
              <a:ext cx="78206" cy="42462"/>
            </a:xfrm>
            <a:custGeom>
              <a:avLst/>
              <a:gdLst/>
              <a:ahLst/>
              <a:cxnLst/>
              <a:rect l="l" t="t" r="r" b="b"/>
              <a:pathLst>
                <a:path w="78206" h="79369" extrusionOk="0">
                  <a:moveTo>
                    <a:pt x="0" y="0"/>
                  </a:moveTo>
                  <a:lnTo>
                    <a:pt x="5214" y="16593"/>
                  </a:lnTo>
                  <a:lnTo>
                    <a:pt x="10428" y="32460"/>
                  </a:lnTo>
                  <a:lnTo>
                    <a:pt x="15641" y="46909"/>
                  </a:lnTo>
                  <a:lnTo>
                    <a:pt x="20855" y="59308"/>
                  </a:lnTo>
                  <a:lnTo>
                    <a:pt x="26069" y="69114"/>
                  </a:lnTo>
                  <a:lnTo>
                    <a:pt x="31283" y="75900"/>
                  </a:lnTo>
                  <a:lnTo>
                    <a:pt x="36496" y="79369"/>
                  </a:lnTo>
                  <a:lnTo>
                    <a:pt x="41710" y="79369"/>
                  </a:lnTo>
                  <a:lnTo>
                    <a:pt x="46924" y="75900"/>
                  </a:lnTo>
                  <a:lnTo>
                    <a:pt x="52138" y="69114"/>
                  </a:lnTo>
                  <a:lnTo>
                    <a:pt x="57351" y="59308"/>
                  </a:lnTo>
                  <a:lnTo>
                    <a:pt x="62565" y="46909"/>
                  </a:lnTo>
                  <a:lnTo>
                    <a:pt x="67779" y="32460"/>
                  </a:lnTo>
                  <a:lnTo>
                    <a:pt x="72993" y="16593"/>
                  </a:lnTo>
                  <a:lnTo>
                    <a:pt x="78206"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98" name="Google Shape;2731;g3f5188ffaf6_0_0">
              <a:extLst>
                <a:ext uri="{FF2B5EF4-FFF2-40B4-BE49-F238E27FC236}">
                  <a16:creationId xmlns:a16="http://schemas.microsoft.com/office/drawing/2014/main" id="{F7746924-DAFA-4C21-5432-5CF0C39411A1}"/>
                </a:ext>
              </a:extLst>
            </p:cNvPr>
            <p:cNvSpPr/>
            <p:nvPr/>
          </p:nvSpPr>
          <p:spPr>
            <a:xfrm>
              <a:off x="10582116" y="4509994"/>
              <a:ext cx="78206" cy="42462"/>
            </a:xfrm>
            <a:custGeom>
              <a:avLst/>
              <a:gdLst/>
              <a:ahLst/>
              <a:cxnLst/>
              <a:rect l="l" t="t" r="r" b="b"/>
              <a:pathLst>
                <a:path w="78206" h="79369" extrusionOk="0">
                  <a:moveTo>
                    <a:pt x="0" y="0"/>
                  </a:moveTo>
                  <a:lnTo>
                    <a:pt x="5213" y="16593"/>
                  </a:lnTo>
                  <a:lnTo>
                    <a:pt x="10427" y="32460"/>
                  </a:lnTo>
                  <a:lnTo>
                    <a:pt x="15641" y="46909"/>
                  </a:lnTo>
                  <a:lnTo>
                    <a:pt x="20855" y="59308"/>
                  </a:lnTo>
                  <a:lnTo>
                    <a:pt x="26068" y="69114"/>
                  </a:lnTo>
                  <a:lnTo>
                    <a:pt x="31282" y="75900"/>
                  </a:lnTo>
                  <a:lnTo>
                    <a:pt x="36496" y="79369"/>
                  </a:lnTo>
                  <a:lnTo>
                    <a:pt x="41710" y="79369"/>
                  </a:lnTo>
                  <a:lnTo>
                    <a:pt x="46923" y="75900"/>
                  </a:lnTo>
                  <a:lnTo>
                    <a:pt x="52137" y="69114"/>
                  </a:lnTo>
                  <a:lnTo>
                    <a:pt x="57351" y="59308"/>
                  </a:lnTo>
                  <a:lnTo>
                    <a:pt x="62565" y="46909"/>
                  </a:lnTo>
                  <a:lnTo>
                    <a:pt x="67778" y="32460"/>
                  </a:lnTo>
                  <a:lnTo>
                    <a:pt x="72992" y="16593"/>
                  </a:lnTo>
                  <a:lnTo>
                    <a:pt x="78206" y="0"/>
                  </a:lnTo>
                </a:path>
              </a:pathLst>
            </a:custGeom>
            <a:noFill/>
            <a:ln w="120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99" name="Google Shape;2732;g3f5188ffaf6_0_0">
              <a:extLst>
                <a:ext uri="{FF2B5EF4-FFF2-40B4-BE49-F238E27FC236}">
                  <a16:creationId xmlns:a16="http://schemas.microsoft.com/office/drawing/2014/main" id="{673E4261-ACB7-6CD8-466D-C49AEF2BB2B4}"/>
                </a:ext>
              </a:extLst>
            </p:cNvPr>
            <p:cNvSpPr/>
            <p:nvPr/>
          </p:nvSpPr>
          <p:spPr>
            <a:xfrm>
              <a:off x="10669010" y="4509994"/>
              <a:ext cx="78207" cy="42462"/>
            </a:xfrm>
            <a:custGeom>
              <a:avLst/>
              <a:gdLst/>
              <a:ahLst/>
              <a:cxnLst/>
              <a:rect l="l" t="t" r="r" b="b"/>
              <a:pathLst>
                <a:path w="78207" h="79369" extrusionOk="0">
                  <a:moveTo>
                    <a:pt x="0" y="0"/>
                  </a:moveTo>
                  <a:lnTo>
                    <a:pt x="5214" y="16593"/>
                  </a:lnTo>
                  <a:lnTo>
                    <a:pt x="10428" y="32460"/>
                  </a:lnTo>
                  <a:lnTo>
                    <a:pt x="15642" y="46909"/>
                  </a:lnTo>
                  <a:lnTo>
                    <a:pt x="20855" y="59308"/>
                  </a:lnTo>
                  <a:lnTo>
                    <a:pt x="26069" y="69114"/>
                  </a:lnTo>
                  <a:lnTo>
                    <a:pt x="31283" y="75900"/>
                  </a:lnTo>
                  <a:lnTo>
                    <a:pt x="36497" y="79369"/>
                  </a:lnTo>
                  <a:lnTo>
                    <a:pt x="41710" y="79369"/>
                  </a:lnTo>
                  <a:lnTo>
                    <a:pt x="46924" y="75900"/>
                  </a:lnTo>
                  <a:lnTo>
                    <a:pt x="52138" y="69114"/>
                  </a:lnTo>
                  <a:lnTo>
                    <a:pt x="57352" y="59308"/>
                  </a:lnTo>
                  <a:lnTo>
                    <a:pt x="62565" y="46909"/>
                  </a:lnTo>
                  <a:lnTo>
                    <a:pt x="67779" y="32460"/>
                  </a:lnTo>
                  <a:lnTo>
                    <a:pt x="72993" y="16593"/>
                  </a:lnTo>
                  <a:lnTo>
                    <a:pt x="78207" y="0"/>
                  </a:lnTo>
                </a:path>
              </a:pathLst>
            </a:custGeom>
            <a:noFill/>
            <a:ln w="120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400" name="Google Shape;2733;g3f5188ffaf6_0_0">
              <a:extLst>
                <a:ext uri="{FF2B5EF4-FFF2-40B4-BE49-F238E27FC236}">
                  <a16:creationId xmlns:a16="http://schemas.microsoft.com/office/drawing/2014/main" id="{616EB7ED-ADA2-C578-2FCF-3BF91840BE39}"/>
                </a:ext>
              </a:extLst>
            </p:cNvPr>
            <p:cNvSpPr/>
            <p:nvPr/>
          </p:nvSpPr>
          <p:spPr>
            <a:xfrm>
              <a:off x="10755905" y="4509994"/>
              <a:ext cx="78206" cy="42462"/>
            </a:xfrm>
            <a:custGeom>
              <a:avLst/>
              <a:gdLst/>
              <a:ahLst/>
              <a:cxnLst/>
              <a:rect l="l" t="t" r="r" b="b"/>
              <a:pathLst>
                <a:path w="78206" h="79369" extrusionOk="0">
                  <a:moveTo>
                    <a:pt x="0" y="0"/>
                  </a:moveTo>
                  <a:lnTo>
                    <a:pt x="5214" y="16593"/>
                  </a:lnTo>
                  <a:lnTo>
                    <a:pt x="10428" y="32460"/>
                  </a:lnTo>
                  <a:lnTo>
                    <a:pt x="15641" y="46909"/>
                  </a:lnTo>
                  <a:lnTo>
                    <a:pt x="20855" y="59308"/>
                  </a:lnTo>
                  <a:lnTo>
                    <a:pt x="26069" y="69114"/>
                  </a:lnTo>
                  <a:lnTo>
                    <a:pt x="31283" y="75900"/>
                  </a:lnTo>
                  <a:lnTo>
                    <a:pt x="36496" y="79369"/>
                  </a:lnTo>
                  <a:lnTo>
                    <a:pt x="41710" y="79369"/>
                  </a:lnTo>
                  <a:lnTo>
                    <a:pt x="46924" y="75900"/>
                  </a:lnTo>
                  <a:lnTo>
                    <a:pt x="52138" y="69114"/>
                  </a:lnTo>
                  <a:lnTo>
                    <a:pt x="57351" y="59308"/>
                  </a:lnTo>
                  <a:lnTo>
                    <a:pt x="62565" y="46909"/>
                  </a:lnTo>
                  <a:lnTo>
                    <a:pt x="67779" y="32460"/>
                  </a:lnTo>
                  <a:lnTo>
                    <a:pt x="72992" y="16593"/>
                  </a:lnTo>
                  <a:lnTo>
                    <a:pt x="78206" y="0"/>
                  </a:lnTo>
                </a:path>
              </a:pathLst>
            </a:custGeom>
            <a:noFill/>
            <a:ln w="120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401" name="Google Shape;2734;g3f5188ffaf6_0_0">
              <a:extLst>
                <a:ext uri="{FF2B5EF4-FFF2-40B4-BE49-F238E27FC236}">
                  <a16:creationId xmlns:a16="http://schemas.microsoft.com/office/drawing/2014/main" id="{E87BF7DD-7888-4F52-4882-5A786449776E}"/>
                </a:ext>
              </a:extLst>
            </p:cNvPr>
            <p:cNvSpPr/>
            <p:nvPr/>
          </p:nvSpPr>
          <p:spPr>
            <a:xfrm>
              <a:off x="10842800" y="4467424"/>
              <a:ext cx="78206" cy="42462"/>
            </a:xfrm>
            <a:custGeom>
              <a:avLst/>
              <a:gdLst/>
              <a:ahLst/>
              <a:cxnLst/>
              <a:rect l="l" t="t" r="r" b="b"/>
              <a:pathLst>
                <a:path w="78206" h="79368" extrusionOk="0">
                  <a:moveTo>
                    <a:pt x="0" y="79368"/>
                  </a:moveTo>
                  <a:lnTo>
                    <a:pt x="5214" y="62776"/>
                  </a:lnTo>
                  <a:lnTo>
                    <a:pt x="10427" y="46908"/>
                  </a:lnTo>
                  <a:lnTo>
                    <a:pt x="15641" y="32460"/>
                  </a:lnTo>
                  <a:lnTo>
                    <a:pt x="20855" y="20061"/>
                  </a:lnTo>
                  <a:lnTo>
                    <a:pt x="26069" y="10254"/>
                  </a:lnTo>
                  <a:lnTo>
                    <a:pt x="31282" y="3468"/>
                  </a:lnTo>
                  <a:lnTo>
                    <a:pt x="36496" y="0"/>
                  </a:lnTo>
                  <a:lnTo>
                    <a:pt x="41710" y="0"/>
                  </a:lnTo>
                  <a:lnTo>
                    <a:pt x="46923" y="3468"/>
                  </a:lnTo>
                  <a:lnTo>
                    <a:pt x="52137" y="10254"/>
                  </a:lnTo>
                  <a:lnTo>
                    <a:pt x="57351" y="20061"/>
                  </a:lnTo>
                  <a:lnTo>
                    <a:pt x="62565" y="32460"/>
                  </a:lnTo>
                  <a:lnTo>
                    <a:pt x="67778" y="46908"/>
                  </a:lnTo>
                  <a:lnTo>
                    <a:pt x="72992" y="62776"/>
                  </a:lnTo>
                  <a:lnTo>
                    <a:pt x="78206" y="79368"/>
                  </a:lnTo>
                </a:path>
              </a:pathLst>
            </a:custGeom>
            <a:noFill/>
            <a:ln w="120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402" name="Google Shape;2735;g3f5188ffaf6_0_0">
              <a:extLst>
                <a:ext uri="{FF2B5EF4-FFF2-40B4-BE49-F238E27FC236}">
                  <a16:creationId xmlns:a16="http://schemas.microsoft.com/office/drawing/2014/main" id="{C658A859-1EF3-178D-86D3-F7A0FB973B7C}"/>
                </a:ext>
              </a:extLst>
            </p:cNvPr>
            <p:cNvSpPr/>
            <p:nvPr/>
          </p:nvSpPr>
          <p:spPr>
            <a:xfrm>
              <a:off x="10929696" y="4467424"/>
              <a:ext cx="78206" cy="42462"/>
            </a:xfrm>
            <a:custGeom>
              <a:avLst/>
              <a:gdLst/>
              <a:ahLst/>
              <a:cxnLst/>
              <a:rect l="l" t="t" r="r" b="b"/>
              <a:pathLst>
                <a:path w="78206" h="79368" extrusionOk="0">
                  <a:moveTo>
                    <a:pt x="0" y="79368"/>
                  </a:moveTo>
                  <a:lnTo>
                    <a:pt x="5213" y="62776"/>
                  </a:lnTo>
                  <a:lnTo>
                    <a:pt x="10427" y="46908"/>
                  </a:lnTo>
                  <a:lnTo>
                    <a:pt x="15641" y="32460"/>
                  </a:lnTo>
                  <a:lnTo>
                    <a:pt x="20854" y="20061"/>
                  </a:lnTo>
                  <a:lnTo>
                    <a:pt x="26068" y="10254"/>
                  </a:lnTo>
                  <a:lnTo>
                    <a:pt x="31282" y="3468"/>
                  </a:lnTo>
                  <a:lnTo>
                    <a:pt x="36496" y="0"/>
                  </a:lnTo>
                  <a:lnTo>
                    <a:pt x="41709" y="0"/>
                  </a:lnTo>
                  <a:lnTo>
                    <a:pt x="46923" y="3468"/>
                  </a:lnTo>
                  <a:lnTo>
                    <a:pt x="52137" y="10254"/>
                  </a:lnTo>
                  <a:lnTo>
                    <a:pt x="57351" y="20061"/>
                  </a:lnTo>
                  <a:lnTo>
                    <a:pt x="62564" y="32460"/>
                  </a:lnTo>
                  <a:lnTo>
                    <a:pt x="67778" y="46908"/>
                  </a:lnTo>
                  <a:lnTo>
                    <a:pt x="72992" y="62776"/>
                  </a:lnTo>
                  <a:lnTo>
                    <a:pt x="78206" y="79368"/>
                  </a:lnTo>
                </a:path>
              </a:pathLst>
            </a:custGeom>
            <a:noFill/>
            <a:ln w="120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403" name="Google Shape;2736;g3f5188ffaf6_0_0">
              <a:extLst>
                <a:ext uri="{FF2B5EF4-FFF2-40B4-BE49-F238E27FC236}">
                  <a16:creationId xmlns:a16="http://schemas.microsoft.com/office/drawing/2014/main" id="{B1FEE226-228C-3F00-36C2-DDEA8610AF97}"/>
                </a:ext>
              </a:extLst>
            </p:cNvPr>
            <p:cNvSpPr/>
            <p:nvPr/>
          </p:nvSpPr>
          <p:spPr>
            <a:xfrm>
              <a:off x="11016590" y="4509994"/>
              <a:ext cx="78206" cy="42462"/>
            </a:xfrm>
            <a:custGeom>
              <a:avLst/>
              <a:gdLst/>
              <a:ahLst/>
              <a:cxnLst/>
              <a:rect l="l" t="t" r="r" b="b"/>
              <a:pathLst>
                <a:path w="78206" h="79369" extrusionOk="0">
                  <a:moveTo>
                    <a:pt x="0" y="0"/>
                  </a:moveTo>
                  <a:lnTo>
                    <a:pt x="5214" y="16593"/>
                  </a:lnTo>
                  <a:lnTo>
                    <a:pt x="10428" y="32460"/>
                  </a:lnTo>
                  <a:lnTo>
                    <a:pt x="15641" y="46909"/>
                  </a:lnTo>
                  <a:lnTo>
                    <a:pt x="20855" y="59308"/>
                  </a:lnTo>
                  <a:lnTo>
                    <a:pt x="26069" y="69114"/>
                  </a:lnTo>
                  <a:lnTo>
                    <a:pt x="31283" y="75900"/>
                  </a:lnTo>
                  <a:lnTo>
                    <a:pt x="36496" y="79369"/>
                  </a:lnTo>
                  <a:lnTo>
                    <a:pt x="41710" y="79369"/>
                  </a:lnTo>
                  <a:lnTo>
                    <a:pt x="46924" y="75900"/>
                  </a:lnTo>
                  <a:lnTo>
                    <a:pt x="52138" y="69114"/>
                  </a:lnTo>
                  <a:lnTo>
                    <a:pt x="57351" y="59308"/>
                  </a:lnTo>
                  <a:lnTo>
                    <a:pt x="62565" y="46909"/>
                  </a:lnTo>
                  <a:lnTo>
                    <a:pt x="67779" y="32460"/>
                  </a:lnTo>
                  <a:lnTo>
                    <a:pt x="72993" y="16593"/>
                  </a:lnTo>
                  <a:lnTo>
                    <a:pt x="78206" y="0"/>
                  </a:lnTo>
                </a:path>
              </a:pathLst>
            </a:custGeom>
            <a:noFill/>
            <a:ln w="120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404" name="Google Shape;2737;g3f5188ffaf6_0_0">
              <a:extLst>
                <a:ext uri="{FF2B5EF4-FFF2-40B4-BE49-F238E27FC236}">
                  <a16:creationId xmlns:a16="http://schemas.microsoft.com/office/drawing/2014/main" id="{63A91F11-3ECA-8B28-9D49-81162F3B7B0E}"/>
                </a:ext>
              </a:extLst>
            </p:cNvPr>
            <p:cNvSpPr/>
            <p:nvPr/>
          </p:nvSpPr>
          <p:spPr>
            <a:xfrm>
              <a:off x="11103485" y="4509994"/>
              <a:ext cx="78206" cy="42462"/>
            </a:xfrm>
            <a:custGeom>
              <a:avLst/>
              <a:gdLst/>
              <a:ahLst/>
              <a:cxnLst/>
              <a:rect l="l" t="t" r="r" b="b"/>
              <a:pathLst>
                <a:path w="78206" h="79369" extrusionOk="0">
                  <a:moveTo>
                    <a:pt x="0" y="0"/>
                  </a:moveTo>
                  <a:lnTo>
                    <a:pt x="5214" y="16593"/>
                  </a:lnTo>
                  <a:lnTo>
                    <a:pt x="10427" y="32460"/>
                  </a:lnTo>
                  <a:lnTo>
                    <a:pt x="15641" y="46909"/>
                  </a:lnTo>
                  <a:lnTo>
                    <a:pt x="20855" y="59308"/>
                  </a:lnTo>
                  <a:lnTo>
                    <a:pt x="26069" y="69114"/>
                  </a:lnTo>
                  <a:lnTo>
                    <a:pt x="31282" y="75900"/>
                  </a:lnTo>
                  <a:lnTo>
                    <a:pt x="36496" y="79369"/>
                  </a:lnTo>
                  <a:lnTo>
                    <a:pt x="41710" y="79369"/>
                  </a:lnTo>
                  <a:lnTo>
                    <a:pt x="46924" y="75900"/>
                  </a:lnTo>
                  <a:lnTo>
                    <a:pt x="52137" y="69114"/>
                  </a:lnTo>
                  <a:lnTo>
                    <a:pt x="57351" y="59308"/>
                  </a:lnTo>
                  <a:lnTo>
                    <a:pt x="62565" y="46909"/>
                  </a:lnTo>
                  <a:lnTo>
                    <a:pt x="67779" y="32460"/>
                  </a:lnTo>
                  <a:lnTo>
                    <a:pt x="72992" y="16593"/>
                  </a:lnTo>
                  <a:lnTo>
                    <a:pt x="78206" y="0"/>
                  </a:lnTo>
                </a:path>
              </a:pathLst>
            </a:custGeom>
            <a:noFill/>
            <a:ln w="120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405" name="Google Shape;2738;g3f5188ffaf6_0_0">
              <a:extLst>
                <a:ext uri="{FF2B5EF4-FFF2-40B4-BE49-F238E27FC236}">
                  <a16:creationId xmlns:a16="http://schemas.microsoft.com/office/drawing/2014/main" id="{478C35DD-B831-142D-7820-3286661F7021}"/>
                </a:ext>
              </a:extLst>
            </p:cNvPr>
            <p:cNvSpPr/>
            <p:nvPr/>
          </p:nvSpPr>
          <p:spPr>
            <a:xfrm>
              <a:off x="11190381" y="4509994"/>
              <a:ext cx="78206" cy="42462"/>
            </a:xfrm>
            <a:custGeom>
              <a:avLst/>
              <a:gdLst/>
              <a:ahLst/>
              <a:cxnLst/>
              <a:rect l="l" t="t" r="r" b="b"/>
              <a:pathLst>
                <a:path w="78206" h="79369" extrusionOk="0">
                  <a:moveTo>
                    <a:pt x="0" y="0"/>
                  </a:moveTo>
                  <a:lnTo>
                    <a:pt x="5213" y="16593"/>
                  </a:lnTo>
                  <a:lnTo>
                    <a:pt x="10427" y="32460"/>
                  </a:lnTo>
                  <a:lnTo>
                    <a:pt x="15641" y="46909"/>
                  </a:lnTo>
                  <a:lnTo>
                    <a:pt x="20855" y="59308"/>
                  </a:lnTo>
                  <a:lnTo>
                    <a:pt x="26068" y="69114"/>
                  </a:lnTo>
                  <a:lnTo>
                    <a:pt x="31282" y="75900"/>
                  </a:lnTo>
                  <a:lnTo>
                    <a:pt x="36496" y="79369"/>
                  </a:lnTo>
                  <a:lnTo>
                    <a:pt x="41710" y="79369"/>
                  </a:lnTo>
                  <a:lnTo>
                    <a:pt x="46923" y="75900"/>
                  </a:lnTo>
                  <a:lnTo>
                    <a:pt x="52137" y="69114"/>
                  </a:lnTo>
                  <a:lnTo>
                    <a:pt x="57351" y="59308"/>
                  </a:lnTo>
                  <a:lnTo>
                    <a:pt x="62565" y="46909"/>
                  </a:lnTo>
                  <a:lnTo>
                    <a:pt x="67778" y="32460"/>
                  </a:lnTo>
                  <a:lnTo>
                    <a:pt x="72992" y="16593"/>
                  </a:lnTo>
                  <a:lnTo>
                    <a:pt x="78206" y="0"/>
                  </a:lnTo>
                </a:path>
              </a:pathLst>
            </a:custGeom>
            <a:noFill/>
            <a:ln w="120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406" name="Google Shape;2739;g3f5188ffaf6_0_0">
              <a:extLst>
                <a:ext uri="{FF2B5EF4-FFF2-40B4-BE49-F238E27FC236}">
                  <a16:creationId xmlns:a16="http://schemas.microsoft.com/office/drawing/2014/main" id="{391E302F-4A6D-C63E-9C29-3A914A49BA5C}"/>
                </a:ext>
              </a:extLst>
            </p:cNvPr>
            <p:cNvSpPr/>
            <p:nvPr/>
          </p:nvSpPr>
          <p:spPr>
            <a:xfrm>
              <a:off x="9856436" y="4752787"/>
              <a:ext cx="78206" cy="42462"/>
            </a:xfrm>
            <a:custGeom>
              <a:avLst/>
              <a:gdLst/>
              <a:ahLst/>
              <a:cxnLst/>
              <a:rect l="l" t="t" r="r" b="b"/>
              <a:pathLst>
                <a:path w="78206" h="79368" extrusionOk="0">
                  <a:moveTo>
                    <a:pt x="0" y="79368"/>
                  </a:moveTo>
                  <a:lnTo>
                    <a:pt x="5214" y="62776"/>
                  </a:lnTo>
                  <a:lnTo>
                    <a:pt x="10428" y="46908"/>
                  </a:lnTo>
                  <a:lnTo>
                    <a:pt x="15642" y="32460"/>
                  </a:lnTo>
                  <a:lnTo>
                    <a:pt x="20855" y="20061"/>
                  </a:lnTo>
                  <a:lnTo>
                    <a:pt x="26069" y="10254"/>
                  </a:lnTo>
                  <a:lnTo>
                    <a:pt x="31283" y="3468"/>
                  </a:lnTo>
                  <a:lnTo>
                    <a:pt x="36496" y="0"/>
                  </a:lnTo>
                  <a:lnTo>
                    <a:pt x="41710" y="0"/>
                  </a:lnTo>
                  <a:lnTo>
                    <a:pt x="46924" y="3468"/>
                  </a:lnTo>
                  <a:lnTo>
                    <a:pt x="52138" y="10254"/>
                  </a:lnTo>
                  <a:lnTo>
                    <a:pt x="57351" y="20061"/>
                  </a:lnTo>
                  <a:lnTo>
                    <a:pt x="62565" y="32460"/>
                  </a:lnTo>
                  <a:lnTo>
                    <a:pt x="67779" y="46908"/>
                  </a:lnTo>
                  <a:lnTo>
                    <a:pt x="72993" y="62776"/>
                  </a:lnTo>
                  <a:lnTo>
                    <a:pt x="78206" y="79368"/>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407" name="Google Shape;2740;g3f5188ffaf6_0_0">
              <a:extLst>
                <a:ext uri="{FF2B5EF4-FFF2-40B4-BE49-F238E27FC236}">
                  <a16:creationId xmlns:a16="http://schemas.microsoft.com/office/drawing/2014/main" id="{81BC0570-8F8E-BE28-3087-2CA4F6DBC820}"/>
                </a:ext>
              </a:extLst>
            </p:cNvPr>
            <p:cNvSpPr/>
            <p:nvPr/>
          </p:nvSpPr>
          <p:spPr>
            <a:xfrm>
              <a:off x="9943332" y="4795357"/>
              <a:ext cx="78206" cy="42462"/>
            </a:xfrm>
            <a:custGeom>
              <a:avLst/>
              <a:gdLst/>
              <a:ahLst/>
              <a:cxnLst/>
              <a:rect l="l" t="t" r="r" b="b"/>
              <a:pathLst>
                <a:path w="78206" h="79369" extrusionOk="0">
                  <a:moveTo>
                    <a:pt x="0" y="0"/>
                  </a:moveTo>
                  <a:lnTo>
                    <a:pt x="5214" y="16593"/>
                  </a:lnTo>
                  <a:lnTo>
                    <a:pt x="10427" y="32460"/>
                  </a:lnTo>
                  <a:lnTo>
                    <a:pt x="15641" y="46909"/>
                  </a:lnTo>
                  <a:lnTo>
                    <a:pt x="20855" y="59308"/>
                  </a:lnTo>
                  <a:lnTo>
                    <a:pt x="26069" y="69114"/>
                  </a:lnTo>
                  <a:lnTo>
                    <a:pt x="31282" y="75900"/>
                  </a:lnTo>
                  <a:lnTo>
                    <a:pt x="36496" y="79369"/>
                  </a:lnTo>
                  <a:lnTo>
                    <a:pt x="41710" y="79369"/>
                  </a:lnTo>
                  <a:lnTo>
                    <a:pt x="46924" y="75900"/>
                  </a:lnTo>
                  <a:lnTo>
                    <a:pt x="52137" y="69114"/>
                  </a:lnTo>
                  <a:lnTo>
                    <a:pt x="57351" y="59308"/>
                  </a:lnTo>
                  <a:lnTo>
                    <a:pt x="62565" y="46909"/>
                  </a:lnTo>
                  <a:lnTo>
                    <a:pt x="67779" y="32460"/>
                  </a:lnTo>
                  <a:lnTo>
                    <a:pt x="72992" y="16593"/>
                  </a:lnTo>
                  <a:lnTo>
                    <a:pt x="78206"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408" name="Google Shape;2741;g3f5188ffaf6_0_0">
              <a:extLst>
                <a:ext uri="{FF2B5EF4-FFF2-40B4-BE49-F238E27FC236}">
                  <a16:creationId xmlns:a16="http://schemas.microsoft.com/office/drawing/2014/main" id="{5FC4E749-B341-DAEA-BCCE-F5ED8308AC24}"/>
                </a:ext>
              </a:extLst>
            </p:cNvPr>
            <p:cNvSpPr/>
            <p:nvPr/>
          </p:nvSpPr>
          <p:spPr>
            <a:xfrm>
              <a:off x="10030227" y="4795357"/>
              <a:ext cx="78206" cy="42462"/>
            </a:xfrm>
            <a:custGeom>
              <a:avLst/>
              <a:gdLst/>
              <a:ahLst/>
              <a:cxnLst/>
              <a:rect l="l" t="t" r="r" b="b"/>
              <a:pathLst>
                <a:path w="78206" h="79369" extrusionOk="0">
                  <a:moveTo>
                    <a:pt x="0" y="0"/>
                  </a:moveTo>
                  <a:lnTo>
                    <a:pt x="5213" y="16593"/>
                  </a:lnTo>
                  <a:lnTo>
                    <a:pt x="10427" y="32460"/>
                  </a:lnTo>
                  <a:lnTo>
                    <a:pt x="15641" y="46909"/>
                  </a:lnTo>
                  <a:lnTo>
                    <a:pt x="20855" y="59308"/>
                  </a:lnTo>
                  <a:lnTo>
                    <a:pt x="26068" y="69114"/>
                  </a:lnTo>
                  <a:lnTo>
                    <a:pt x="31282" y="75900"/>
                  </a:lnTo>
                  <a:lnTo>
                    <a:pt x="36496" y="79369"/>
                  </a:lnTo>
                  <a:lnTo>
                    <a:pt x="41710" y="79369"/>
                  </a:lnTo>
                  <a:lnTo>
                    <a:pt x="46923" y="75900"/>
                  </a:lnTo>
                  <a:lnTo>
                    <a:pt x="52137" y="69114"/>
                  </a:lnTo>
                  <a:lnTo>
                    <a:pt x="57351" y="59308"/>
                  </a:lnTo>
                  <a:lnTo>
                    <a:pt x="62565" y="46909"/>
                  </a:lnTo>
                  <a:lnTo>
                    <a:pt x="67778" y="32460"/>
                  </a:lnTo>
                  <a:lnTo>
                    <a:pt x="72992" y="16593"/>
                  </a:lnTo>
                  <a:lnTo>
                    <a:pt x="78206"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409" name="Google Shape;2742;g3f5188ffaf6_0_0">
              <a:extLst>
                <a:ext uri="{FF2B5EF4-FFF2-40B4-BE49-F238E27FC236}">
                  <a16:creationId xmlns:a16="http://schemas.microsoft.com/office/drawing/2014/main" id="{F4194B04-8E20-7066-741E-9A075A09054F}"/>
                </a:ext>
              </a:extLst>
            </p:cNvPr>
            <p:cNvSpPr/>
            <p:nvPr/>
          </p:nvSpPr>
          <p:spPr>
            <a:xfrm>
              <a:off x="10117121" y="4795357"/>
              <a:ext cx="78207" cy="42462"/>
            </a:xfrm>
            <a:custGeom>
              <a:avLst/>
              <a:gdLst/>
              <a:ahLst/>
              <a:cxnLst/>
              <a:rect l="l" t="t" r="r" b="b"/>
              <a:pathLst>
                <a:path w="78207" h="79369" extrusionOk="0">
                  <a:moveTo>
                    <a:pt x="0" y="0"/>
                  </a:moveTo>
                  <a:lnTo>
                    <a:pt x="5214" y="16593"/>
                  </a:lnTo>
                  <a:lnTo>
                    <a:pt x="10428" y="32460"/>
                  </a:lnTo>
                  <a:lnTo>
                    <a:pt x="15642" y="46909"/>
                  </a:lnTo>
                  <a:lnTo>
                    <a:pt x="20855" y="59308"/>
                  </a:lnTo>
                  <a:lnTo>
                    <a:pt x="26069" y="69114"/>
                  </a:lnTo>
                  <a:lnTo>
                    <a:pt x="31283" y="75900"/>
                  </a:lnTo>
                  <a:lnTo>
                    <a:pt x="36497" y="79369"/>
                  </a:lnTo>
                  <a:lnTo>
                    <a:pt x="41710" y="79369"/>
                  </a:lnTo>
                  <a:lnTo>
                    <a:pt x="46924" y="75900"/>
                  </a:lnTo>
                  <a:lnTo>
                    <a:pt x="52138" y="69114"/>
                  </a:lnTo>
                  <a:lnTo>
                    <a:pt x="57352" y="59308"/>
                  </a:lnTo>
                  <a:lnTo>
                    <a:pt x="62565" y="46909"/>
                  </a:lnTo>
                  <a:lnTo>
                    <a:pt x="67779" y="32460"/>
                  </a:lnTo>
                  <a:lnTo>
                    <a:pt x="72993" y="16593"/>
                  </a:lnTo>
                  <a:lnTo>
                    <a:pt x="78207"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410" name="Google Shape;2743;g3f5188ffaf6_0_0">
              <a:extLst>
                <a:ext uri="{FF2B5EF4-FFF2-40B4-BE49-F238E27FC236}">
                  <a16:creationId xmlns:a16="http://schemas.microsoft.com/office/drawing/2014/main" id="{C6630625-A341-756D-7F97-0F1E123A048B}"/>
                </a:ext>
              </a:extLst>
            </p:cNvPr>
            <p:cNvSpPr/>
            <p:nvPr/>
          </p:nvSpPr>
          <p:spPr>
            <a:xfrm>
              <a:off x="10204017" y="4795357"/>
              <a:ext cx="78206" cy="42462"/>
            </a:xfrm>
            <a:custGeom>
              <a:avLst/>
              <a:gdLst/>
              <a:ahLst/>
              <a:cxnLst/>
              <a:rect l="l" t="t" r="r" b="b"/>
              <a:pathLst>
                <a:path w="78206" h="79369" extrusionOk="0">
                  <a:moveTo>
                    <a:pt x="0" y="0"/>
                  </a:moveTo>
                  <a:lnTo>
                    <a:pt x="5214" y="16593"/>
                  </a:lnTo>
                  <a:lnTo>
                    <a:pt x="10428" y="32460"/>
                  </a:lnTo>
                  <a:lnTo>
                    <a:pt x="15641" y="46909"/>
                  </a:lnTo>
                  <a:lnTo>
                    <a:pt x="20855" y="59308"/>
                  </a:lnTo>
                  <a:lnTo>
                    <a:pt x="26069" y="69114"/>
                  </a:lnTo>
                  <a:lnTo>
                    <a:pt x="31283" y="75900"/>
                  </a:lnTo>
                  <a:lnTo>
                    <a:pt x="36496" y="79369"/>
                  </a:lnTo>
                  <a:lnTo>
                    <a:pt x="41710" y="79369"/>
                  </a:lnTo>
                  <a:lnTo>
                    <a:pt x="46924" y="75900"/>
                  </a:lnTo>
                  <a:lnTo>
                    <a:pt x="52138" y="69114"/>
                  </a:lnTo>
                  <a:lnTo>
                    <a:pt x="57351" y="59308"/>
                  </a:lnTo>
                  <a:lnTo>
                    <a:pt x="62565" y="46909"/>
                  </a:lnTo>
                  <a:lnTo>
                    <a:pt x="67779" y="32460"/>
                  </a:lnTo>
                  <a:lnTo>
                    <a:pt x="72993" y="16593"/>
                  </a:lnTo>
                  <a:lnTo>
                    <a:pt x="78206"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411" name="Google Shape;2744;g3f5188ffaf6_0_0">
              <a:extLst>
                <a:ext uri="{FF2B5EF4-FFF2-40B4-BE49-F238E27FC236}">
                  <a16:creationId xmlns:a16="http://schemas.microsoft.com/office/drawing/2014/main" id="{74201D8C-4BD4-A909-CD45-07FADFB3CF7D}"/>
                </a:ext>
              </a:extLst>
            </p:cNvPr>
            <p:cNvSpPr/>
            <p:nvPr/>
          </p:nvSpPr>
          <p:spPr>
            <a:xfrm>
              <a:off x="10290912" y="4752787"/>
              <a:ext cx="78206" cy="42462"/>
            </a:xfrm>
            <a:custGeom>
              <a:avLst/>
              <a:gdLst/>
              <a:ahLst/>
              <a:cxnLst/>
              <a:rect l="l" t="t" r="r" b="b"/>
              <a:pathLst>
                <a:path w="78206" h="79368" extrusionOk="0">
                  <a:moveTo>
                    <a:pt x="0" y="79368"/>
                  </a:moveTo>
                  <a:lnTo>
                    <a:pt x="5214" y="62776"/>
                  </a:lnTo>
                  <a:lnTo>
                    <a:pt x="10427" y="46908"/>
                  </a:lnTo>
                  <a:lnTo>
                    <a:pt x="15641" y="32460"/>
                  </a:lnTo>
                  <a:lnTo>
                    <a:pt x="20855" y="20061"/>
                  </a:lnTo>
                  <a:lnTo>
                    <a:pt x="26069" y="10254"/>
                  </a:lnTo>
                  <a:lnTo>
                    <a:pt x="31282" y="3468"/>
                  </a:lnTo>
                  <a:lnTo>
                    <a:pt x="36496" y="0"/>
                  </a:lnTo>
                  <a:lnTo>
                    <a:pt x="41710" y="0"/>
                  </a:lnTo>
                  <a:lnTo>
                    <a:pt x="46924" y="3468"/>
                  </a:lnTo>
                  <a:lnTo>
                    <a:pt x="52137" y="10254"/>
                  </a:lnTo>
                  <a:lnTo>
                    <a:pt x="57351" y="20061"/>
                  </a:lnTo>
                  <a:lnTo>
                    <a:pt x="62565" y="32460"/>
                  </a:lnTo>
                  <a:lnTo>
                    <a:pt x="67778" y="46908"/>
                  </a:lnTo>
                  <a:lnTo>
                    <a:pt x="72992" y="62776"/>
                  </a:lnTo>
                  <a:lnTo>
                    <a:pt x="78206" y="79368"/>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412" name="Google Shape;2745;g3f5188ffaf6_0_0">
              <a:extLst>
                <a:ext uri="{FF2B5EF4-FFF2-40B4-BE49-F238E27FC236}">
                  <a16:creationId xmlns:a16="http://schemas.microsoft.com/office/drawing/2014/main" id="{64A02E41-3087-B93C-870F-D5405252E5A4}"/>
                </a:ext>
              </a:extLst>
            </p:cNvPr>
            <p:cNvSpPr/>
            <p:nvPr/>
          </p:nvSpPr>
          <p:spPr>
            <a:xfrm>
              <a:off x="10377807" y="4795357"/>
              <a:ext cx="78206" cy="42462"/>
            </a:xfrm>
            <a:custGeom>
              <a:avLst/>
              <a:gdLst/>
              <a:ahLst/>
              <a:cxnLst/>
              <a:rect l="l" t="t" r="r" b="b"/>
              <a:pathLst>
                <a:path w="78206" h="79369" extrusionOk="0">
                  <a:moveTo>
                    <a:pt x="0" y="0"/>
                  </a:moveTo>
                  <a:lnTo>
                    <a:pt x="5213" y="16593"/>
                  </a:lnTo>
                  <a:lnTo>
                    <a:pt x="10427" y="32460"/>
                  </a:lnTo>
                  <a:lnTo>
                    <a:pt x="15641" y="46909"/>
                  </a:lnTo>
                  <a:lnTo>
                    <a:pt x="20855" y="59308"/>
                  </a:lnTo>
                  <a:lnTo>
                    <a:pt x="26068" y="69114"/>
                  </a:lnTo>
                  <a:lnTo>
                    <a:pt x="31282" y="75900"/>
                  </a:lnTo>
                  <a:lnTo>
                    <a:pt x="36496" y="79369"/>
                  </a:lnTo>
                  <a:lnTo>
                    <a:pt x="41709" y="79369"/>
                  </a:lnTo>
                  <a:lnTo>
                    <a:pt x="46923" y="75900"/>
                  </a:lnTo>
                  <a:lnTo>
                    <a:pt x="52137" y="69114"/>
                  </a:lnTo>
                  <a:lnTo>
                    <a:pt x="57351" y="59308"/>
                  </a:lnTo>
                  <a:lnTo>
                    <a:pt x="62564" y="46909"/>
                  </a:lnTo>
                  <a:lnTo>
                    <a:pt x="67778" y="32460"/>
                  </a:lnTo>
                  <a:lnTo>
                    <a:pt x="72992" y="16593"/>
                  </a:lnTo>
                  <a:lnTo>
                    <a:pt x="78206"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413" name="Google Shape;2746;g3f5188ffaf6_0_0">
              <a:extLst>
                <a:ext uri="{FF2B5EF4-FFF2-40B4-BE49-F238E27FC236}">
                  <a16:creationId xmlns:a16="http://schemas.microsoft.com/office/drawing/2014/main" id="{E39BA3E1-786A-4245-BB97-3DFC595E7956}"/>
                </a:ext>
              </a:extLst>
            </p:cNvPr>
            <p:cNvSpPr/>
            <p:nvPr/>
          </p:nvSpPr>
          <p:spPr>
            <a:xfrm>
              <a:off x="10464701" y="4795357"/>
              <a:ext cx="78206" cy="42462"/>
            </a:xfrm>
            <a:custGeom>
              <a:avLst/>
              <a:gdLst/>
              <a:ahLst/>
              <a:cxnLst/>
              <a:rect l="l" t="t" r="r" b="b"/>
              <a:pathLst>
                <a:path w="78206" h="79369" extrusionOk="0">
                  <a:moveTo>
                    <a:pt x="0" y="0"/>
                  </a:moveTo>
                  <a:lnTo>
                    <a:pt x="5214" y="16593"/>
                  </a:lnTo>
                  <a:lnTo>
                    <a:pt x="10428" y="32460"/>
                  </a:lnTo>
                  <a:lnTo>
                    <a:pt x="15641" y="46909"/>
                  </a:lnTo>
                  <a:lnTo>
                    <a:pt x="20855" y="59308"/>
                  </a:lnTo>
                  <a:lnTo>
                    <a:pt x="26069" y="69114"/>
                  </a:lnTo>
                  <a:lnTo>
                    <a:pt x="31283" y="75900"/>
                  </a:lnTo>
                  <a:lnTo>
                    <a:pt x="36496" y="79369"/>
                  </a:lnTo>
                  <a:lnTo>
                    <a:pt x="41710" y="79369"/>
                  </a:lnTo>
                  <a:lnTo>
                    <a:pt x="46924" y="75900"/>
                  </a:lnTo>
                  <a:lnTo>
                    <a:pt x="52138" y="69114"/>
                  </a:lnTo>
                  <a:lnTo>
                    <a:pt x="57351" y="59308"/>
                  </a:lnTo>
                  <a:lnTo>
                    <a:pt x="62565" y="46909"/>
                  </a:lnTo>
                  <a:lnTo>
                    <a:pt x="67779" y="32460"/>
                  </a:lnTo>
                  <a:lnTo>
                    <a:pt x="72993" y="16593"/>
                  </a:lnTo>
                  <a:lnTo>
                    <a:pt x="78206" y="0"/>
                  </a:lnTo>
                </a:path>
              </a:pathLst>
            </a:custGeom>
            <a:noFill/>
            <a:ln w="1207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414" name="Google Shape;2747;g3f5188ffaf6_0_0">
              <a:extLst>
                <a:ext uri="{FF2B5EF4-FFF2-40B4-BE49-F238E27FC236}">
                  <a16:creationId xmlns:a16="http://schemas.microsoft.com/office/drawing/2014/main" id="{32A39441-236F-E7D6-3D68-C50F12DB0A38}"/>
                </a:ext>
              </a:extLst>
            </p:cNvPr>
            <p:cNvSpPr txBox="1"/>
            <p:nvPr/>
          </p:nvSpPr>
          <p:spPr>
            <a:xfrm>
              <a:off x="10588235" y="4728260"/>
              <a:ext cx="766200" cy="12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400" b="1">
                  <a:solidFill>
                    <a:srgbClr val="169A9A"/>
                  </a:solidFill>
                  <a:latin typeface="Courier New"/>
                  <a:ea typeface="Courier New"/>
                  <a:cs typeface="Courier New"/>
                  <a:sym typeface="Courier New"/>
                </a:rPr>
                <a:t>????????</a:t>
              </a:r>
              <a:endParaRPr sz="3200">
                <a:solidFill>
                  <a:srgbClr val="169A9A"/>
                </a:solidFill>
              </a:endParaRPr>
            </a:p>
          </p:txBody>
        </p:sp>
        <p:sp>
          <p:nvSpPr>
            <p:cNvPr id="415" name="Google Shape;2748;g3f5188ffaf6_0_0">
              <a:extLst>
                <a:ext uri="{FF2B5EF4-FFF2-40B4-BE49-F238E27FC236}">
                  <a16:creationId xmlns:a16="http://schemas.microsoft.com/office/drawing/2014/main" id="{068C454F-DE1F-9686-3280-D07553230470}"/>
                </a:ext>
              </a:extLst>
            </p:cNvPr>
            <p:cNvSpPr txBox="1"/>
            <p:nvPr/>
          </p:nvSpPr>
          <p:spPr>
            <a:xfrm>
              <a:off x="10147365" y="4498679"/>
              <a:ext cx="121800" cy="307777"/>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000" b="1" i="0" u="none" strike="noStrike" cap="none">
                  <a:solidFill>
                    <a:srgbClr val="999999"/>
                  </a:solidFill>
                </a:rPr>
                <a:t>⋮</a:t>
              </a:r>
              <a:endParaRPr sz="3200" b="1">
                <a:solidFill>
                  <a:srgbClr val="999999"/>
                </a:solidFill>
              </a:endParaRPr>
            </a:p>
          </p:txBody>
        </p:sp>
        <p:sp>
          <p:nvSpPr>
            <p:cNvPr id="416" name="Google Shape;2749;g3f5188ffaf6_0_0">
              <a:extLst>
                <a:ext uri="{FF2B5EF4-FFF2-40B4-BE49-F238E27FC236}">
                  <a16:creationId xmlns:a16="http://schemas.microsoft.com/office/drawing/2014/main" id="{929D80F0-0890-D15F-958B-9BD097EEF5A1}"/>
                </a:ext>
              </a:extLst>
            </p:cNvPr>
            <p:cNvSpPr txBox="1"/>
            <p:nvPr/>
          </p:nvSpPr>
          <p:spPr>
            <a:xfrm>
              <a:off x="10854847" y="4496329"/>
              <a:ext cx="121800" cy="307777"/>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000" b="1" i="0" u="none" strike="noStrike" cap="none">
                  <a:solidFill>
                    <a:srgbClr val="999999"/>
                  </a:solidFill>
                </a:rPr>
                <a:t>⋮</a:t>
              </a:r>
              <a:endParaRPr sz="3200" b="1">
                <a:solidFill>
                  <a:srgbClr val="999999"/>
                </a:solidFill>
              </a:endParaRPr>
            </a:p>
          </p:txBody>
        </p:sp>
      </p:grpSp>
      <p:sp>
        <p:nvSpPr>
          <p:cNvPr id="342" name="Google Shape;2750;g3f5188ffaf6_0_0">
            <a:extLst>
              <a:ext uri="{FF2B5EF4-FFF2-40B4-BE49-F238E27FC236}">
                <a16:creationId xmlns:a16="http://schemas.microsoft.com/office/drawing/2014/main" id="{584A2C5D-264C-3D74-7233-9B9002FCC80D}"/>
              </a:ext>
            </a:extLst>
          </p:cNvPr>
          <p:cNvSpPr txBox="1"/>
          <p:nvPr/>
        </p:nvSpPr>
        <p:spPr>
          <a:xfrm>
            <a:off x="7407840" y="4984000"/>
            <a:ext cx="163613" cy="39706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000" b="1" i="0" u="none" strike="noStrike" cap="none">
                <a:solidFill>
                  <a:srgbClr val="999999"/>
                </a:solidFill>
              </a:rPr>
              <a:t>⋮</a:t>
            </a:r>
            <a:endParaRPr sz="3200" b="1">
              <a:solidFill>
                <a:srgbClr val="999999"/>
              </a:solidFill>
            </a:endParaRPr>
          </a:p>
        </p:txBody>
      </p:sp>
      <p:sp>
        <p:nvSpPr>
          <p:cNvPr id="343" name="Google Shape;2751;g3f5188ffaf6_0_0">
            <a:extLst>
              <a:ext uri="{FF2B5EF4-FFF2-40B4-BE49-F238E27FC236}">
                <a16:creationId xmlns:a16="http://schemas.microsoft.com/office/drawing/2014/main" id="{5D692532-E143-77DB-D716-FB5377C0B35A}"/>
              </a:ext>
            </a:extLst>
          </p:cNvPr>
          <p:cNvSpPr txBox="1"/>
          <p:nvPr/>
        </p:nvSpPr>
        <p:spPr>
          <a:xfrm>
            <a:off x="5414090" y="4975091"/>
            <a:ext cx="163613" cy="39706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000" b="1" i="0" u="none" strike="noStrike" cap="none">
                <a:solidFill>
                  <a:srgbClr val="999999"/>
                </a:solidFill>
              </a:rPr>
              <a:t>⋮</a:t>
            </a:r>
            <a:endParaRPr sz="3200" b="1">
              <a:solidFill>
                <a:srgbClr val="999999"/>
              </a:solidFill>
            </a:endParaRPr>
          </a:p>
        </p:txBody>
      </p:sp>
      <p:sp>
        <p:nvSpPr>
          <p:cNvPr id="344" name="Google Shape;2752;g3f5188ffaf6_0_0">
            <a:extLst>
              <a:ext uri="{FF2B5EF4-FFF2-40B4-BE49-F238E27FC236}">
                <a16:creationId xmlns:a16="http://schemas.microsoft.com/office/drawing/2014/main" id="{AF378D6C-63F0-D067-2950-BAF4CEAC0946}"/>
              </a:ext>
            </a:extLst>
          </p:cNvPr>
          <p:cNvSpPr txBox="1"/>
          <p:nvPr/>
        </p:nvSpPr>
        <p:spPr>
          <a:xfrm>
            <a:off x="3465071" y="4987254"/>
            <a:ext cx="163613" cy="39706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000" b="1" i="0" u="none" strike="noStrike" cap="none">
                <a:solidFill>
                  <a:srgbClr val="999999"/>
                </a:solidFill>
              </a:rPr>
              <a:t>⋮</a:t>
            </a:r>
            <a:endParaRPr sz="3200" b="1">
              <a:solidFill>
                <a:srgbClr val="999999"/>
              </a:solidFill>
            </a:endParaRPr>
          </a:p>
        </p:txBody>
      </p:sp>
      <p:sp>
        <p:nvSpPr>
          <p:cNvPr id="351" name="Google Shape;2766;g3f5188ffaf6_0_0">
            <a:extLst>
              <a:ext uri="{FF2B5EF4-FFF2-40B4-BE49-F238E27FC236}">
                <a16:creationId xmlns:a16="http://schemas.microsoft.com/office/drawing/2014/main" id="{0ED9C9A6-75FB-F25A-226D-E00FCF8D170E}"/>
              </a:ext>
            </a:extLst>
          </p:cNvPr>
          <p:cNvSpPr txBox="1"/>
          <p:nvPr/>
        </p:nvSpPr>
        <p:spPr>
          <a:xfrm>
            <a:off x="6563679" y="2571498"/>
            <a:ext cx="934128" cy="1250741"/>
          </a:xfrm>
          <a:prstGeom prst="rect">
            <a:avLst/>
          </a:prstGeom>
          <a:noFill/>
          <a:ln>
            <a:noFill/>
          </a:ln>
        </p:spPr>
        <p:txBody>
          <a:bodyPr spcFirstLastPara="1" wrap="square" lIns="0" tIns="0" rIns="0" bIns="0" anchor="ctr" anchorCtr="0">
            <a:spAutoFit/>
          </a:bodyPr>
          <a:lstStyle/>
          <a:p>
            <a:pPr marL="0" marR="0" lvl="0" indent="0" algn="l" rtl="0">
              <a:lnSpc>
                <a:spcPct val="150000"/>
              </a:lnSpc>
              <a:spcBef>
                <a:spcPts val="0"/>
              </a:spcBef>
              <a:spcAft>
                <a:spcPts val="0"/>
              </a:spcAft>
              <a:buNone/>
            </a:pPr>
            <a:r>
              <a:rPr lang="en-US" sz="1400" b="1">
                <a:solidFill>
                  <a:srgbClr val="1A1A1A"/>
                </a:solidFill>
                <a:latin typeface="Courier New"/>
                <a:ea typeface="Courier New"/>
                <a:cs typeface="Courier New"/>
                <a:sym typeface="Courier New"/>
              </a:rPr>
              <a:t>  </a:t>
            </a:r>
            <a:r>
              <a:rPr lang="en-US" sz="1400" b="1" i="0" u="none" strike="noStrike" cap="none">
                <a:solidFill>
                  <a:srgbClr val="1A1A1A"/>
                </a:solidFill>
                <a:latin typeface="Courier New"/>
                <a:ea typeface="Courier New"/>
                <a:cs typeface="Courier New"/>
                <a:sym typeface="Courier New"/>
              </a:rPr>
              <a:t>0 </a:t>
            </a:r>
            <a:r>
              <a:rPr lang="en-US" sz="1400" b="1">
                <a:solidFill>
                  <a:schemeClr val="dk1"/>
                </a:solidFill>
                <a:latin typeface="Courier New"/>
                <a:ea typeface="Courier New"/>
                <a:cs typeface="Courier New"/>
                <a:sym typeface="Courier New"/>
              </a:rPr>
              <a:t>⇒ 6</a:t>
            </a:r>
            <a:endParaRPr sz="1400" b="1">
              <a:solidFill>
                <a:schemeClr val="dk1"/>
              </a:solidFill>
              <a:latin typeface="Courier New"/>
              <a:ea typeface="Courier New"/>
              <a:cs typeface="Courier New"/>
              <a:sym typeface="Courier New"/>
            </a:endParaRPr>
          </a:p>
          <a:p>
            <a:pPr marL="0" marR="0" lvl="0" indent="0" algn="l" rtl="0">
              <a:lnSpc>
                <a:spcPct val="150000"/>
              </a:lnSpc>
              <a:spcBef>
                <a:spcPts val="0"/>
              </a:spcBef>
              <a:spcAft>
                <a:spcPts val="0"/>
              </a:spcAft>
              <a:buNone/>
            </a:pPr>
            <a:r>
              <a:rPr lang="en-US" sz="1400" b="1">
                <a:solidFill>
                  <a:schemeClr val="dk1"/>
                </a:solidFill>
                <a:latin typeface="Courier New"/>
                <a:ea typeface="Courier New"/>
                <a:cs typeface="Courier New"/>
                <a:sym typeface="Courier New"/>
              </a:rPr>
              <a:t>  1 ⇒ 7</a:t>
            </a:r>
            <a:endParaRPr sz="1400" b="1">
              <a:solidFill>
                <a:schemeClr val="dk1"/>
              </a:solidFill>
              <a:latin typeface="Courier New"/>
              <a:ea typeface="Courier New"/>
              <a:cs typeface="Courier New"/>
              <a:sym typeface="Courier New"/>
            </a:endParaRPr>
          </a:p>
          <a:p>
            <a:pPr marL="0" marR="0" lvl="0" indent="0" algn="l" rtl="0">
              <a:lnSpc>
                <a:spcPct val="150000"/>
              </a:lnSpc>
              <a:spcBef>
                <a:spcPts val="0"/>
              </a:spcBef>
              <a:spcAft>
                <a:spcPts val="0"/>
              </a:spcAft>
              <a:buNone/>
            </a:pPr>
            <a:r>
              <a:rPr lang="en-US" sz="1400" b="1">
                <a:solidFill>
                  <a:schemeClr val="dk1"/>
                </a:solidFill>
                <a:highlight>
                  <a:srgbClr val="FFEEB0"/>
                </a:highlight>
                <a:latin typeface="Courier New"/>
                <a:ea typeface="Courier New"/>
                <a:cs typeface="Courier New"/>
                <a:sym typeface="Courier New"/>
              </a:rPr>
              <a:t>SEP</a:t>
            </a:r>
            <a:r>
              <a:rPr lang="en-US" sz="1400" b="1">
                <a:solidFill>
                  <a:schemeClr val="dk1"/>
                </a:solidFill>
                <a:latin typeface="Courier New"/>
                <a:ea typeface="Courier New"/>
                <a:cs typeface="Courier New"/>
                <a:sym typeface="Courier New"/>
              </a:rPr>
              <a:t> ⇒ </a:t>
            </a:r>
            <a:r>
              <a:rPr lang="en-US" sz="1400" b="1">
                <a:solidFill>
                  <a:schemeClr val="dk1"/>
                </a:solidFill>
                <a:highlight>
                  <a:srgbClr val="FFEEB0"/>
                </a:highlight>
                <a:latin typeface="Courier New"/>
                <a:ea typeface="Courier New"/>
                <a:cs typeface="Courier New"/>
                <a:sym typeface="Courier New"/>
              </a:rPr>
              <a:t>,</a:t>
            </a:r>
            <a:endParaRPr sz="1400" b="1">
              <a:solidFill>
                <a:schemeClr val="dk1"/>
              </a:solidFill>
              <a:highlight>
                <a:srgbClr val="FFEEB0"/>
              </a:highlight>
              <a:latin typeface="Courier New"/>
              <a:ea typeface="Courier New"/>
              <a:cs typeface="Courier New"/>
              <a:sym typeface="Courier New"/>
            </a:endParaRPr>
          </a:p>
        </p:txBody>
      </p:sp>
      <p:sp>
        <p:nvSpPr>
          <p:cNvPr id="352" name="Google Shape;2767;g3f5188ffaf6_0_0">
            <a:extLst>
              <a:ext uri="{FF2B5EF4-FFF2-40B4-BE49-F238E27FC236}">
                <a16:creationId xmlns:a16="http://schemas.microsoft.com/office/drawing/2014/main" id="{FD6B8A47-DE0E-2AD9-07B0-35FC5BE03597}"/>
              </a:ext>
            </a:extLst>
          </p:cNvPr>
          <p:cNvSpPr txBox="1"/>
          <p:nvPr/>
        </p:nvSpPr>
        <p:spPr>
          <a:xfrm>
            <a:off x="8517769" y="1955454"/>
            <a:ext cx="607304" cy="2501482"/>
          </a:xfrm>
          <a:prstGeom prst="rect">
            <a:avLst/>
          </a:prstGeom>
          <a:noFill/>
          <a:ln>
            <a:noFill/>
          </a:ln>
        </p:spPr>
        <p:txBody>
          <a:bodyPr spcFirstLastPara="1" wrap="square" lIns="0" tIns="0" rIns="0" bIns="0" anchor="ctr" anchorCtr="0">
            <a:spAutoFit/>
          </a:bodyPr>
          <a:lstStyle/>
          <a:p>
            <a:pPr marL="0" marR="0" lvl="0" indent="0" algn="l" rtl="0">
              <a:lnSpc>
                <a:spcPct val="150000"/>
              </a:lnSpc>
              <a:spcBef>
                <a:spcPts val="0"/>
              </a:spcBef>
              <a:spcAft>
                <a:spcPts val="0"/>
              </a:spcAft>
              <a:buNone/>
            </a:pPr>
            <a:r>
              <a:rPr lang="en-US" sz="1400" b="1" dirty="0">
                <a:solidFill>
                  <a:srgbClr val="1A1A1A"/>
                </a:solidFill>
                <a:latin typeface="Courier New"/>
                <a:ea typeface="Courier New"/>
                <a:cs typeface="Courier New"/>
                <a:sym typeface="Courier New"/>
              </a:rPr>
              <a:t>  </a:t>
            </a:r>
            <a:r>
              <a:rPr lang="en-US" sz="1400" b="1" i="0" u="none" strike="noStrike" cap="none" dirty="0">
                <a:solidFill>
                  <a:srgbClr val="1A1A1A"/>
                </a:solidFill>
                <a:latin typeface="Courier New"/>
                <a:ea typeface="Courier New"/>
                <a:cs typeface="Courier New"/>
                <a:sym typeface="Courier New"/>
              </a:rPr>
              <a:t>0 </a:t>
            </a:r>
            <a:r>
              <a:rPr lang="en-US" sz="1400" b="1" dirty="0">
                <a:solidFill>
                  <a:schemeClr val="dk1"/>
                </a:solidFill>
                <a:latin typeface="Courier New"/>
                <a:ea typeface="Courier New"/>
                <a:cs typeface="Courier New"/>
                <a:sym typeface="Courier New"/>
              </a:rPr>
              <a:t>⇒ </a:t>
            </a:r>
            <a:endParaRPr sz="1400" b="1" dirty="0">
              <a:solidFill>
                <a:schemeClr val="dk1"/>
              </a:solidFill>
              <a:latin typeface="Courier New"/>
              <a:ea typeface="Courier New"/>
              <a:cs typeface="Courier New"/>
              <a:sym typeface="Courier New"/>
            </a:endParaRPr>
          </a:p>
          <a:p>
            <a:pPr marL="0" marR="0" lvl="0" indent="0" algn="l" rtl="0">
              <a:lnSpc>
                <a:spcPct val="150000"/>
              </a:lnSpc>
              <a:spcBef>
                <a:spcPts val="0"/>
              </a:spcBef>
              <a:spcAft>
                <a:spcPts val="0"/>
              </a:spcAft>
              <a:buNone/>
            </a:pPr>
            <a:r>
              <a:rPr lang="en-US" sz="1400" b="1" dirty="0">
                <a:solidFill>
                  <a:schemeClr val="dk1"/>
                </a:solidFill>
                <a:latin typeface="Courier New"/>
                <a:ea typeface="Courier New"/>
                <a:cs typeface="Courier New"/>
                <a:sym typeface="Courier New"/>
              </a:rPr>
              <a:t>  1 ⇒ </a:t>
            </a:r>
            <a:endParaRPr sz="1400" b="1" dirty="0">
              <a:solidFill>
                <a:schemeClr val="dk1"/>
              </a:solidFill>
              <a:latin typeface="Courier New"/>
              <a:ea typeface="Courier New"/>
              <a:cs typeface="Courier New"/>
              <a:sym typeface="Courier New"/>
            </a:endParaRPr>
          </a:p>
          <a:p>
            <a:pPr marL="0" marR="0" lvl="0" indent="0" algn="l" rtl="0">
              <a:lnSpc>
                <a:spcPct val="150000"/>
              </a:lnSpc>
              <a:spcBef>
                <a:spcPts val="0"/>
              </a:spcBef>
              <a:spcAft>
                <a:spcPts val="0"/>
              </a:spcAft>
              <a:buNone/>
            </a:pPr>
            <a:r>
              <a:rPr lang="en-US" sz="1400" b="1" dirty="0">
                <a:solidFill>
                  <a:schemeClr val="dk1"/>
                </a:solidFill>
                <a:highlight>
                  <a:srgbClr val="FFEEB0"/>
                </a:highlight>
                <a:latin typeface="Courier New"/>
                <a:ea typeface="Courier New"/>
                <a:cs typeface="Courier New"/>
                <a:sym typeface="Courier New"/>
              </a:rPr>
              <a:t>SEP</a:t>
            </a:r>
            <a:r>
              <a:rPr lang="en-US" sz="1400" b="1" dirty="0">
                <a:solidFill>
                  <a:schemeClr val="dk1"/>
                </a:solidFill>
                <a:latin typeface="Courier New"/>
                <a:ea typeface="Courier New"/>
                <a:cs typeface="Courier New"/>
                <a:sym typeface="Courier New"/>
              </a:rPr>
              <a:t> ⇒ </a:t>
            </a:r>
            <a:endParaRPr sz="1400" b="1" dirty="0">
              <a:solidFill>
                <a:schemeClr val="dk1"/>
              </a:solidFill>
              <a:latin typeface="Courier New"/>
              <a:ea typeface="Courier New"/>
              <a:cs typeface="Courier New"/>
              <a:sym typeface="Courier New"/>
            </a:endParaRPr>
          </a:p>
        </p:txBody>
      </p:sp>
      <p:sp>
        <p:nvSpPr>
          <p:cNvPr id="353" name="Google Shape;2768;g3f5188ffaf6_0_0">
            <a:extLst>
              <a:ext uri="{FF2B5EF4-FFF2-40B4-BE49-F238E27FC236}">
                <a16:creationId xmlns:a16="http://schemas.microsoft.com/office/drawing/2014/main" id="{61911BFB-C217-36C6-A8DC-040ABCC61F29}"/>
              </a:ext>
            </a:extLst>
          </p:cNvPr>
          <p:cNvSpPr txBox="1"/>
          <p:nvPr/>
        </p:nvSpPr>
        <p:spPr>
          <a:xfrm>
            <a:off x="10428853" y="1923172"/>
            <a:ext cx="607304" cy="2501482"/>
          </a:xfrm>
          <a:prstGeom prst="rect">
            <a:avLst/>
          </a:prstGeom>
          <a:noFill/>
          <a:ln>
            <a:noFill/>
          </a:ln>
        </p:spPr>
        <p:txBody>
          <a:bodyPr spcFirstLastPara="1" wrap="square" lIns="0" tIns="0" rIns="0" bIns="0" anchor="ctr" anchorCtr="0">
            <a:spAutoFit/>
          </a:bodyPr>
          <a:lstStyle/>
          <a:p>
            <a:pPr marL="0" marR="0" lvl="0" indent="0" algn="l" rtl="0">
              <a:lnSpc>
                <a:spcPct val="150000"/>
              </a:lnSpc>
              <a:spcBef>
                <a:spcPts val="0"/>
              </a:spcBef>
              <a:spcAft>
                <a:spcPts val="0"/>
              </a:spcAft>
              <a:buNone/>
            </a:pPr>
            <a:r>
              <a:rPr lang="en-US" sz="1400" b="1" dirty="0">
                <a:solidFill>
                  <a:srgbClr val="1A1A1A"/>
                </a:solidFill>
                <a:latin typeface="Courier New"/>
                <a:ea typeface="Courier New"/>
                <a:cs typeface="Courier New"/>
                <a:sym typeface="Courier New"/>
              </a:rPr>
              <a:t>  </a:t>
            </a:r>
            <a:r>
              <a:rPr lang="en-US" sz="1400" b="1" i="0" u="none" strike="noStrike" cap="none" dirty="0">
                <a:solidFill>
                  <a:srgbClr val="1A1A1A"/>
                </a:solidFill>
                <a:latin typeface="Courier New"/>
                <a:ea typeface="Courier New"/>
                <a:cs typeface="Courier New"/>
                <a:sym typeface="Courier New"/>
              </a:rPr>
              <a:t>0 </a:t>
            </a:r>
            <a:r>
              <a:rPr lang="en-US" sz="1400" b="1" dirty="0">
                <a:solidFill>
                  <a:schemeClr val="dk1"/>
                </a:solidFill>
                <a:latin typeface="Courier New"/>
                <a:ea typeface="Courier New"/>
                <a:cs typeface="Courier New"/>
                <a:sym typeface="Courier New"/>
              </a:rPr>
              <a:t>⇒</a:t>
            </a:r>
            <a:endParaRPr sz="1400" b="1" dirty="0">
              <a:solidFill>
                <a:schemeClr val="dk1"/>
              </a:solidFill>
              <a:latin typeface="Courier New"/>
              <a:ea typeface="Courier New"/>
              <a:cs typeface="Courier New"/>
              <a:sym typeface="Courier New"/>
            </a:endParaRPr>
          </a:p>
          <a:p>
            <a:pPr marL="0" marR="0" lvl="0" indent="0" algn="l" rtl="0">
              <a:lnSpc>
                <a:spcPct val="150000"/>
              </a:lnSpc>
              <a:spcBef>
                <a:spcPts val="0"/>
              </a:spcBef>
              <a:spcAft>
                <a:spcPts val="0"/>
              </a:spcAft>
              <a:buNone/>
            </a:pPr>
            <a:r>
              <a:rPr lang="en-US" sz="1400" b="1" dirty="0">
                <a:solidFill>
                  <a:schemeClr val="dk1"/>
                </a:solidFill>
                <a:latin typeface="Courier New"/>
                <a:ea typeface="Courier New"/>
                <a:cs typeface="Courier New"/>
                <a:sym typeface="Courier New"/>
              </a:rPr>
              <a:t>  1 ⇒</a:t>
            </a:r>
            <a:endParaRPr sz="1400" b="1" dirty="0">
              <a:solidFill>
                <a:schemeClr val="dk1"/>
              </a:solidFill>
              <a:latin typeface="Courier New"/>
              <a:ea typeface="Courier New"/>
              <a:cs typeface="Courier New"/>
              <a:sym typeface="Courier New"/>
            </a:endParaRPr>
          </a:p>
          <a:p>
            <a:pPr marL="0" marR="0" lvl="0" indent="0" algn="l" rtl="0">
              <a:lnSpc>
                <a:spcPct val="150000"/>
              </a:lnSpc>
              <a:spcBef>
                <a:spcPts val="0"/>
              </a:spcBef>
              <a:spcAft>
                <a:spcPts val="0"/>
              </a:spcAft>
              <a:buNone/>
            </a:pPr>
            <a:r>
              <a:rPr lang="en-US" sz="1400" b="1" dirty="0">
                <a:solidFill>
                  <a:schemeClr val="dk1"/>
                </a:solidFill>
                <a:highlight>
                  <a:srgbClr val="FFEEB0"/>
                </a:highlight>
                <a:latin typeface="Courier New"/>
                <a:ea typeface="Courier New"/>
                <a:cs typeface="Courier New"/>
                <a:sym typeface="Courier New"/>
              </a:rPr>
              <a:t>SEP</a:t>
            </a:r>
            <a:r>
              <a:rPr lang="en-US" sz="1400" b="1" dirty="0">
                <a:solidFill>
                  <a:schemeClr val="dk1"/>
                </a:solidFill>
                <a:latin typeface="Courier New"/>
                <a:ea typeface="Courier New"/>
                <a:cs typeface="Courier New"/>
                <a:sym typeface="Courier New"/>
              </a:rPr>
              <a:t> ⇒</a:t>
            </a:r>
            <a:endParaRPr sz="1400" b="1" dirty="0">
              <a:solidFill>
                <a:schemeClr val="dk1"/>
              </a:solidFill>
              <a:latin typeface="Courier New"/>
              <a:ea typeface="Courier New"/>
              <a:cs typeface="Courier New"/>
              <a:sym typeface="Courier New"/>
            </a:endParaRPr>
          </a:p>
        </p:txBody>
      </p:sp>
      <p:sp>
        <p:nvSpPr>
          <p:cNvPr id="354" name="Google Shape;2769;g3f5188ffaf6_0_0">
            <a:extLst>
              <a:ext uri="{FF2B5EF4-FFF2-40B4-BE49-F238E27FC236}">
                <a16:creationId xmlns:a16="http://schemas.microsoft.com/office/drawing/2014/main" id="{A78572BF-862F-84C8-5679-609E8B3350D7}"/>
              </a:ext>
            </a:extLst>
          </p:cNvPr>
          <p:cNvSpPr/>
          <p:nvPr/>
        </p:nvSpPr>
        <p:spPr>
          <a:xfrm>
            <a:off x="1117020" y="3901058"/>
            <a:ext cx="270002" cy="270920"/>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355" name="Google Shape;2770;g3f5188ffaf6_0_0">
            <a:extLst>
              <a:ext uri="{FF2B5EF4-FFF2-40B4-BE49-F238E27FC236}">
                <a16:creationId xmlns:a16="http://schemas.microsoft.com/office/drawing/2014/main" id="{13306ABB-7FD4-0C54-3BA3-19EEE2DCD05B}"/>
              </a:ext>
            </a:extLst>
          </p:cNvPr>
          <p:cNvSpPr/>
          <p:nvPr/>
        </p:nvSpPr>
        <p:spPr>
          <a:xfrm>
            <a:off x="2987596" y="3896698"/>
            <a:ext cx="270002" cy="270920"/>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356" name="Google Shape;2771;g3f5188ffaf6_0_0">
            <a:extLst>
              <a:ext uri="{FF2B5EF4-FFF2-40B4-BE49-F238E27FC236}">
                <a16:creationId xmlns:a16="http://schemas.microsoft.com/office/drawing/2014/main" id="{78981054-32F0-7BD2-5729-0BF90A6258BA}"/>
              </a:ext>
            </a:extLst>
          </p:cNvPr>
          <p:cNvSpPr/>
          <p:nvPr/>
        </p:nvSpPr>
        <p:spPr>
          <a:xfrm>
            <a:off x="4929591" y="3884798"/>
            <a:ext cx="270002" cy="287562"/>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357" name="Google Shape;2772;g3f5188ffaf6_0_0">
            <a:extLst>
              <a:ext uri="{FF2B5EF4-FFF2-40B4-BE49-F238E27FC236}">
                <a16:creationId xmlns:a16="http://schemas.microsoft.com/office/drawing/2014/main" id="{0DCE928D-22B5-4323-7002-8B6FF5839C52}"/>
              </a:ext>
            </a:extLst>
          </p:cNvPr>
          <p:cNvSpPr/>
          <p:nvPr/>
        </p:nvSpPr>
        <p:spPr>
          <a:xfrm>
            <a:off x="6885201" y="3884766"/>
            <a:ext cx="270002" cy="287562"/>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358" name="Google Shape;2773;g3f5188ffaf6_0_0">
            <a:extLst>
              <a:ext uri="{FF2B5EF4-FFF2-40B4-BE49-F238E27FC236}">
                <a16:creationId xmlns:a16="http://schemas.microsoft.com/office/drawing/2014/main" id="{36A24FC2-C264-5290-792C-3C277868F1DD}"/>
              </a:ext>
            </a:extLst>
          </p:cNvPr>
          <p:cNvSpPr/>
          <p:nvPr/>
        </p:nvSpPr>
        <p:spPr>
          <a:xfrm>
            <a:off x="8868859" y="3880182"/>
            <a:ext cx="270002" cy="287562"/>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359" name="Google Shape;2774;g3f5188ffaf6_0_0">
            <a:extLst>
              <a:ext uri="{FF2B5EF4-FFF2-40B4-BE49-F238E27FC236}">
                <a16:creationId xmlns:a16="http://schemas.microsoft.com/office/drawing/2014/main" id="{9804D199-4CCD-4851-6767-21809D045BBD}"/>
              </a:ext>
            </a:extLst>
          </p:cNvPr>
          <p:cNvSpPr/>
          <p:nvPr/>
        </p:nvSpPr>
        <p:spPr>
          <a:xfrm>
            <a:off x="10788055" y="3884652"/>
            <a:ext cx="270002" cy="287562"/>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360" name="Google Shape;2775;g3f5188ffaf6_0_0">
            <a:extLst>
              <a:ext uri="{FF2B5EF4-FFF2-40B4-BE49-F238E27FC236}">
                <a16:creationId xmlns:a16="http://schemas.microsoft.com/office/drawing/2014/main" id="{24C7C15B-7482-DFFE-3BEF-A4989FDEB123}"/>
              </a:ext>
            </a:extLst>
          </p:cNvPr>
          <p:cNvSpPr/>
          <p:nvPr/>
        </p:nvSpPr>
        <p:spPr>
          <a:xfrm>
            <a:off x="2225598" y="2731848"/>
            <a:ext cx="1895256" cy="1013412"/>
          </a:xfrm>
          <a:prstGeom prst="roundRect">
            <a:avLst>
              <a:gd name="adj" fmla="val 6000"/>
            </a:avLst>
          </a:prstGeom>
          <a:solidFill>
            <a:schemeClr val="lt1"/>
          </a:solidFill>
          <a:ln w="12075" cap="flat" cmpd="sng">
            <a:solidFill>
              <a:srgbClr val="2E8B5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61" name="Google Shape;2776;g3f5188ffaf6_0_0">
            <a:extLst>
              <a:ext uri="{FF2B5EF4-FFF2-40B4-BE49-F238E27FC236}">
                <a16:creationId xmlns:a16="http://schemas.microsoft.com/office/drawing/2014/main" id="{5B3847F2-447B-2769-367F-53D8535E1430}"/>
              </a:ext>
            </a:extLst>
          </p:cNvPr>
          <p:cNvSpPr txBox="1"/>
          <p:nvPr/>
        </p:nvSpPr>
        <p:spPr>
          <a:xfrm>
            <a:off x="2655542" y="2572283"/>
            <a:ext cx="934128" cy="1250741"/>
          </a:xfrm>
          <a:prstGeom prst="rect">
            <a:avLst/>
          </a:prstGeom>
          <a:noFill/>
          <a:ln>
            <a:noFill/>
          </a:ln>
        </p:spPr>
        <p:txBody>
          <a:bodyPr spcFirstLastPara="1" wrap="square" lIns="0" tIns="0" rIns="0" bIns="0" anchor="ctr" anchorCtr="0">
            <a:spAutoFit/>
          </a:bodyPr>
          <a:lstStyle/>
          <a:p>
            <a:pPr marL="0" marR="0" lvl="0" indent="0" algn="l" rtl="0">
              <a:lnSpc>
                <a:spcPct val="150000"/>
              </a:lnSpc>
              <a:spcBef>
                <a:spcPts val="0"/>
              </a:spcBef>
              <a:spcAft>
                <a:spcPts val="0"/>
              </a:spcAft>
              <a:buNone/>
            </a:pPr>
            <a:r>
              <a:rPr lang="en-US" sz="1400" b="1">
                <a:solidFill>
                  <a:srgbClr val="1A1A1A"/>
                </a:solidFill>
                <a:latin typeface="Courier New"/>
                <a:ea typeface="Courier New"/>
                <a:cs typeface="Courier New"/>
                <a:sym typeface="Courier New"/>
              </a:rPr>
              <a:t>  </a:t>
            </a:r>
            <a:r>
              <a:rPr lang="en-US" sz="1400" b="1" i="0" u="none" strike="noStrike" cap="none">
                <a:solidFill>
                  <a:srgbClr val="1A1A1A"/>
                </a:solidFill>
                <a:latin typeface="Courier New"/>
                <a:ea typeface="Courier New"/>
                <a:cs typeface="Courier New"/>
                <a:sym typeface="Courier New"/>
              </a:rPr>
              <a:t>0 </a:t>
            </a:r>
            <a:r>
              <a:rPr lang="en-US" sz="1400" b="1">
                <a:solidFill>
                  <a:schemeClr val="dk1"/>
                </a:solidFill>
                <a:latin typeface="Courier New"/>
                <a:ea typeface="Courier New"/>
                <a:cs typeface="Courier New"/>
                <a:sym typeface="Courier New"/>
              </a:rPr>
              <a:t>⇒ T</a:t>
            </a:r>
            <a:endParaRPr sz="1400" b="1">
              <a:solidFill>
                <a:schemeClr val="dk1"/>
              </a:solidFill>
              <a:latin typeface="Courier New"/>
              <a:ea typeface="Courier New"/>
              <a:cs typeface="Courier New"/>
              <a:sym typeface="Courier New"/>
            </a:endParaRPr>
          </a:p>
          <a:p>
            <a:pPr marL="0" marR="0" lvl="0" indent="0" algn="l" rtl="0">
              <a:lnSpc>
                <a:spcPct val="150000"/>
              </a:lnSpc>
              <a:spcBef>
                <a:spcPts val="0"/>
              </a:spcBef>
              <a:spcAft>
                <a:spcPts val="0"/>
              </a:spcAft>
              <a:buNone/>
            </a:pPr>
            <a:r>
              <a:rPr lang="en-US" sz="1400" b="1">
                <a:solidFill>
                  <a:schemeClr val="dk1"/>
                </a:solidFill>
                <a:latin typeface="Courier New"/>
                <a:ea typeface="Courier New"/>
                <a:cs typeface="Courier New"/>
                <a:sym typeface="Courier New"/>
              </a:rPr>
              <a:t>  1 ⇒ G</a:t>
            </a:r>
            <a:endParaRPr sz="1400" b="1">
              <a:solidFill>
                <a:schemeClr val="dk1"/>
              </a:solidFill>
              <a:latin typeface="Courier New"/>
              <a:ea typeface="Courier New"/>
              <a:cs typeface="Courier New"/>
              <a:sym typeface="Courier New"/>
            </a:endParaRPr>
          </a:p>
          <a:p>
            <a:pPr marL="0" marR="0" lvl="0" indent="0" algn="l" rtl="0">
              <a:lnSpc>
                <a:spcPct val="150000"/>
              </a:lnSpc>
              <a:spcBef>
                <a:spcPts val="0"/>
              </a:spcBef>
              <a:spcAft>
                <a:spcPts val="0"/>
              </a:spcAft>
              <a:buNone/>
            </a:pPr>
            <a:r>
              <a:rPr lang="en-US" sz="1400" b="1">
                <a:solidFill>
                  <a:schemeClr val="dk1"/>
                </a:solidFill>
                <a:highlight>
                  <a:srgbClr val="FFEEB0"/>
                </a:highlight>
                <a:latin typeface="Courier New"/>
                <a:ea typeface="Courier New"/>
                <a:cs typeface="Courier New"/>
                <a:sym typeface="Courier New"/>
              </a:rPr>
              <a:t>SEP</a:t>
            </a:r>
            <a:r>
              <a:rPr lang="en-US" sz="1400" b="1">
                <a:solidFill>
                  <a:schemeClr val="dk1"/>
                </a:solidFill>
                <a:latin typeface="Courier New"/>
                <a:ea typeface="Courier New"/>
                <a:cs typeface="Courier New"/>
                <a:sym typeface="Courier New"/>
              </a:rPr>
              <a:t> ⇒ </a:t>
            </a:r>
            <a:r>
              <a:rPr lang="en-US" sz="1400" b="1">
                <a:solidFill>
                  <a:schemeClr val="dk1"/>
                </a:solidFill>
                <a:highlight>
                  <a:srgbClr val="FFEEB0"/>
                </a:highlight>
                <a:latin typeface="Courier New"/>
                <a:ea typeface="Courier New"/>
                <a:cs typeface="Courier New"/>
                <a:sym typeface="Courier New"/>
              </a:rPr>
              <a:t>C</a:t>
            </a:r>
            <a:endParaRPr sz="1400" b="1">
              <a:solidFill>
                <a:schemeClr val="dk1"/>
              </a:solidFill>
              <a:highlight>
                <a:srgbClr val="FFEEB0"/>
              </a:highlight>
              <a:latin typeface="Courier New"/>
              <a:ea typeface="Courier New"/>
              <a:cs typeface="Courier New"/>
              <a:sym typeface="Courier New"/>
            </a:endParaRPr>
          </a:p>
        </p:txBody>
      </p:sp>
      <p:sp>
        <p:nvSpPr>
          <p:cNvPr id="362" name="Google Shape;2777;g3f5188ffaf6_0_0">
            <a:extLst>
              <a:ext uri="{FF2B5EF4-FFF2-40B4-BE49-F238E27FC236}">
                <a16:creationId xmlns:a16="http://schemas.microsoft.com/office/drawing/2014/main" id="{8AA897DE-8EC6-9A73-5DE8-76AEEB69BCCD}"/>
              </a:ext>
            </a:extLst>
          </p:cNvPr>
          <p:cNvSpPr/>
          <p:nvPr/>
        </p:nvSpPr>
        <p:spPr>
          <a:xfrm>
            <a:off x="4162506" y="2726213"/>
            <a:ext cx="1898882" cy="1013412"/>
          </a:xfrm>
          <a:prstGeom prst="roundRect">
            <a:avLst>
              <a:gd name="adj" fmla="val 6000"/>
            </a:avLst>
          </a:prstGeom>
          <a:solidFill>
            <a:schemeClr val="lt1"/>
          </a:solidFill>
          <a:ln w="12075" cap="flat" cmpd="sng">
            <a:solidFill>
              <a:srgbClr val="7B3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363" name="Google Shape;2778;g3f5188ffaf6_0_0">
            <a:extLst>
              <a:ext uri="{FF2B5EF4-FFF2-40B4-BE49-F238E27FC236}">
                <a16:creationId xmlns:a16="http://schemas.microsoft.com/office/drawing/2014/main" id="{6BD0F235-74FB-CB64-43AB-B6CA93FA72E3}"/>
              </a:ext>
            </a:extLst>
          </p:cNvPr>
          <p:cNvSpPr txBox="1"/>
          <p:nvPr/>
        </p:nvSpPr>
        <p:spPr>
          <a:xfrm>
            <a:off x="4612889" y="2594299"/>
            <a:ext cx="934128" cy="1250741"/>
          </a:xfrm>
          <a:prstGeom prst="rect">
            <a:avLst/>
          </a:prstGeom>
          <a:noFill/>
          <a:ln>
            <a:noFill/>
          </a:ln>
        </p:spPr>
        <p:txBody>
          <a:bodyPr spcFirstLastPara="1" wrap="square" lIns="0" tIns="0" rIns="0" bIns="0" anchor="ctr" anchorCtr="0">
            <a:spAutoFit/>
          </a:bodyPr>
          <a:lstStyle/>
          <a:p>
            <a:pPr marL="0" marR="0" lvl="0" indent="0" algn="l" rtl="0">
              <a:lnSpc>
                <a:spcPct val="150000"/>
              </a:lnSpc>
              <a:spcBef>
                <a:spcPts val="0"/>
              </a:spcBef>
              <a:spcAft>
                <a:spcPts val="0"/>
              </a:spcAft>
              <a:buNone/>
            </a:pPr>
            <a:r>
              <a:rPr lang="en-US" sz="1400" b="1">
                <a:solidFill>
                  <a:srgbClr val="1A1A1A"/>
                </a:solidFill>
                <a:latin typeface="Courier New"/>
                <a:ea typeface="Courier New"/>
                <a:cs typeface="Courier New"/>
                <a:sym typeface="Courier New"/>
              </a:rPr>
              <a:t>  </a:t>
            </a:r>
            <a:r>
              <a:rPr lang="en-US" sz="1400" b="1" i="0" u="none" strike="noStrike" cap="none">
                <a:solidFill>
                  <a:srgbClr val="1A1A1A"/>
                </a:solidFill>
                <a:latin typeface="Courier New"/>
                <a:ea typeface="Courier New"/>
                <a:cs typeface="Courier New"/>
                <a:sym typeface="Courier New"/>
              </a:rPr>
              <a:t>0 </a:t>
            </a:r>
            <a:r>
              <a:rPr lang="en-US" sz="1400" b="1">
                <a:solidFill>
                  <a:schemeClr val="dk1"/>
                </a:solidFill>
                <a:latin typeface="Courier New"/>
                <a:ea typeface="Courier New"/>
                <a:cs typeface="Courier New"/>
                <a:sym typeface="Courier New"/>
              </a:rPr>
              <a:t>⇒ N</a:t>
            </a:r>
            <a:endParaRPr sz="1400" b="1">
              <a:solidFill>
                <a:schemeClr val="dk1"/>
              </a:solidFill>
              <a:latin typeface="Courier New"/>
              <a:ea typeface="Courier New"/>
              <a:cs typeface="Courier New"/>
              <a:sym typeface="Courier New"/>
            </a:endParaRPr>
          </a:p>
          <a:p>
            <a:pPr marL="0" marR="0" lvl="0" indent="0" algn="l" rtl="0">
              <a:lnSpc>
                <a:spcPct val="150000"/>
              </a:lnSpc>
              <a:spcBef>
                <a:spcPts val="0"/>
              </a:spcBef>
              <a:spcAft>
                <a:spcPts val="0"/>
              </a:spcAft>
              <a:buNone/>
            </a:pPr>
            <a:r>
              <a:rPr lang="en-US" sz="1400" b="1">
                <a:solidFill>
                  <a:schemeClr val="dk1"/>
                </a:solidFill>
                <a:latin typeface="Courier New"/>
                <a:ea typeface="Courier New"/>
                <a:cs typeface="Courier New"/>
                <a:sym typeface="Courier New"/>
              </a:rPr>
              <a:t>  1 ⇒ P</a:t>
            </a:r>
            <a:endParaRPr sz="1400" b="1">
              <a:solidFill>
                <a:schemeClr val="dk1"/>
              </a:solidFill>
              <a:latin typeface="Courier New"/>
              <a:ea typeface="Courier New"/>
              <a:cs typeface="Courier New"/>
              <a:sym typeface="Courier New"/>
            </a:endParaRPr>
          </a:p>
          <a:p>
            <a:pPr marL="0" marR="0" lvl="0" indent="0" algn="l" rtl="0">
              <a:lnSpc>
                <a:spcPct val="150000"/>
              </a:lnSpc>
              <a:spcBef>
                <a:spcPts val="0"/>
              </a:spcBef>
              <a:spcAft>
                <a:spcPts val="0"/>
              </a:spcAft>
              <a:buNone/>
            </a:pPr>
            <a:r>
              <a:rPr lang="en-US" sz="1400" b="1">
                <a:solidFill>
                  <a:schemeClr val="dk1"/>
                </a:solidFill>
                <a:highlight>
                  <a:srgbClr val="FFEEB0"/>
                </a:highlight>
                <a:latin typeface="Courier New"/>
                <a:ea typeface="Courier New"/>
                <a:cs typeface="Courier New"/>
                <a:sym typeface="Courier New"/>
              </a:rPr>
              <a:t>SEP</a:t>
            </a:r>
            <a:r>
              <a:rPr lang="en-US" sz="1400" b="1">
                <a:solidFill>
                  <a:schemeClr val="dk1"/>
                </a:solidFill>
                <a:latin typeface="Courier New"/>
                <a:ea typeface="Courier New"/>
                <a:cs typeface="Courier New"/>
                <a:sym typeface="Courier New"/>
              </a:rPr>
              <a:t> ⇒ </a:t>
            </a:r>
            <a:r>
              <a:rPr lang="en-US" sz="1400" b="1">
                <a:solidFill>
                  <a:schemeClr val="dk1"/>
                </a:solidFill>
                <a:highlight>
                  <a:srgbClr val="FFEEB0"/>
                </a:highlight>
                <a:latin typeface="Courier New"/>
                <a:ea typeface="Courier New"/>
                <a:cs typeface="Courier New"/>
                <a:sym typeface="Courier New"/>
              </a:rPr>
              <a:t>I</a:t>
            </a:r>
            <a:endParaRPr sz="1400" b="1">
              <a:solidFill>
                <a:schemeClr val="dk1"/>
              </a:solidFill>
              <a:highlight>
                <a:srgbClr val="FFEEB0"/>
              </a:highlight>
              <a:latin typeface="Courier New"/>
              <a:ea typeface="Courier New"/>
              <a:cs typeface="Courier New"/>
              <a:sym typeface="Courier New"/>
            </a:endParaRPr>
          </a:p>
        </p:txBody>
      </p:sp>
      <p:pic>
        <p:nvPicPr>
          <p:cNvPr id="364" name="Google Shape;2779;g3f5188ffaf6_0_0">
            <a:extLst>
              <a:ext uri="{FF2B5EF4-FFF2-40B4-BE49-F238E27FC236}">
                <a16:creationId xmlns:a16="http://schemas.microsoft.com/office/drawing/2014/main" id="{252B19DC-402E-105F-ED5C-1B98B51A31A7}"/>
              </a:ext>
            </a:extLst>
          </p:cNvPr>
          <p:cNvPicPr preferRelativeResize="0"/>
          <p:nvPr/>
        </p:nvPicPr>
        <p:blipFill rotWithShape="1">
          <a:blip r:embed="rId7">
            <a:alphaModFix/>
          </a:blip>
          <a:srcRect b="24053"/>
          <a:stretch/>
        </p:blipFill>
        <p:spPr>
          <a:xfrm rot="19623330">
            <a:off x="4256577" y="1580071"/>
            <a:ext cx="376794" cy="220993"/>
          </a:xfrm>
          <a:prstGeom prst="rect">
            <a:avLst/>
          </a:prstGeom>
          <a:noFill/>
          <a:ln>
            <a:noFill/>
          </a:ln>
        </p:spPr>
      </p:pic>
      <p:sp>
        <p:nvSpPr>
          <p:cNvPr id="365" name="Google Shape;2780;g3f5188ffaf6_0_0">
            <a:extLst>
              <a:ext uri="{FF2B5EF4-FFF2-40B4-BE49-F238E27FC236}">
                <a16:creationId xmlns:a16="http://schemas.microsoft.com/office/drawing/2014/main" id="{7F1367CB-57A7-F98A-359F-4196A2B31D94}"/>
              </a:ext>
            </a:extLst>
          </p:cNvPr>
          <p:cNvSpPr txBox="1"/>
          <p:nvPr/>
        </p:nvSpPr>
        <p:spPr>
          <a:xfrm>
            <a:off x="2249406" y="448590"/>
            <a:ext cx="2039525" cy="397091"/>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b="1" dirty="0">
                <a:solidFill>
                  <a:schemeClr val="dk1"/>
                </a:solidFill>
                <a:ea typeface="EB Garamond"/>
                <a:cs typeface="EB Garamond"/>
                <a:sym typeface="EB Garamond"/>
              </a:rPr>
              <a:t>① </a:t>
            </a:r>
            <a:r>
              <a:rPr lang="en-US" b="1" dirty="0">
                <a:solidFill>
                  <a:schemeClr val="dk1"/>
                </a:solidFill>
              </a:rPr>
              <a:t>Sample </a:t>
            </a:r>
            <a:br>
              <a:rPr lang="en-US" b="1" dirty="0">
                <a:solidFill>
                  <a:schemeClr val="dk1"/>
                </a:solidFill>
              </a:rPr>
            </a:br>
            <a:r>
              <a:rPr lang="en-US" b="1" dirty="0">
                <a:solidFill>
                  <a:schemeClr val="dk1"/>
                </a:solidFill>
              </a:rPr>
              <a:t>an abstract</a:t>
            </a:r>
            <a:endParaRPr b="1" dirty="0"/>
          </a:p>
        </p:txBody>
      </p:sp>
      <p:sp>
        <p:nvSpPr>
          <p:cNvPr id="366" name="Google Shape;2782;g3f5188ffaf6_0_0">
            <a:extLst>
              <a:ext uri="{FF2B5EF4-FFF2-40B4-BE49-F238E27FC236}">
                <a16:creationId xmlns:a16="http://schemas.microsoft.com/office/drawing/2014/main" id="{CD643AEB-5848-FAF1-80C2-48140AF74A58}"/>
              </a:ext>
            </a:extLst>
          </p:cNvPr>
          <p:cNvSpPr txBox="1"/>
          <p:nvPr/>
        </p:nvSpPr>
        <p:spPr>
          <a:xfrm>
            <a:off x="6988735" y="510733"/>
            <a:ext cx="163613" cy="39706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000" b="1" i="0" u="none" strike="noStrike" cap="none">
                <a:solidFill>
                  <a:srgbClr val="999999"/>
                </a:solidFill>
              </a:rPr>
              <a:t>⋮</a:t>
            </a:r>
            <a:endParaRPr sz="2000" b="1">
              <a:solidFill>
                <a:srgbClr val="999999"/>
              </a:solidFill>
            </a:endParaRPr>
          </a:p>
        </p:txBody>
      </p:sp>
      <p:sp>
        <p:nvSpPr>
          <p:cNvPr id="367" name="Google Shape;2783;g3f5188ffaf6_0_0">
            <a:extLst>
              <a:ext uri="{FF2B5EF4-FFF2-40B4-BE49-F238E27FC236}">
                <a16:creationId xmlns:a16="http://schemas.microsoft.com/office/drawing/2014/main" id="{81299014-A601-EE43-7E55-545293984802}"/>
              </a:ext>
            </a:extLst>
          </p:cNvPr>
          <p:cNvSpPr txBox="1"/>
          <p:nvPr/>
        </p:nvSpPr>
        <p:spPr>
          <a:xfrm>
            <a:off x="1541631" y="4986997"/>
            <a:ext cx="163613" cy="39706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000" b="1" i="0" u="none" strike="noStrike" cap="none">
                <a:solidFill>
                  <a:srgbClr val="999999"/>
                </a:solidFill>
              </a:rPr>
              <a:t>⋮</a:t>
            </a:r>
            <a:endParaRPr sz="3200" b="1">
              <a:solidFill>
                <a:srgbClr val="999999"/>
              </a:solidFill>
            </a:endParaRPr>
          </a:p>
        </p:txBody>
      </p:sp>
      <p:sp>
        <p:nvSpPr>
          <p:cNvPr id="368" name="Google Shape;2784;g3f5188ffaf6_0_0">
            <a:extLst>
              <a:ext uri="{FF2B5EF4-FFF2-40B4-BE49-F238E27FC236}">
                <a16:creationId xmlns:a16="http://schemas.microsoft.com/office/drawing/2014/main" id="{915CC7CC-926D-D7DE-496B-734634E30938}"/>
              </a:ext>
            </a:extLst>
          </p:cNvPr>
          <p:cNvSpPr/>
          <p:nvPr/>
        </p:nvSpPr>
        <p:spPr>
          <a:xfrm>
            <a:off x="5204282" y="195632"/>
            <a:ext cx="95911" cy="649820"/>
          </a:xfrm>
          <a:prstGeom prst="leftBrace">
            <a:avLst>
              <a:gd name="adj1" fmla="val 50000"/>
              <a:gd name="adj2" fmla="val 50000"/>
            </a:avLst>
          </a:prstGeom>
          <a:no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3200">
              <a:solidFill>
                <a:srgbClr val="BCBCBC"/>
              </a:solidFill>
              <a:latin typeface="Calibri"/>
              <a:ea typeface="Calibri"/>
              <a:cs typeface="Calibri"/>
              <a:sym typeface="Calibri"/>
            </a:endParaRPr>
          </a:p>
        </p:txBody>
      </p:sp>
      <p:sp>
        <p:nvSpPr>
          <p:cNvPr id="369" name="Google Shape;2785;g3f5188ffaf6_0_0">
            <a:extLst>
              <a:ext uri="{FF2B5EF4-FFF2-40B4-BE49-F238E27FC236}">
                <a16:creationId xmlns:a16="http://schemas.microsoft.com/office/drawing/2014/main" id="{FA3FAE31-0F4B-7586-7D11-60FA9E65B684}"/>
              </a:ext>
            </a:extLst>
          </p:cNvPr>
          <p:cNvSpPr/>
          <p:nvPr/>
        </p:nvSpPr>
        <p:spPr>
          <a:xfrm>
            <a:off x="5204284" y="869765"/>
            <a:ext cx="95911" cy="248085"/>
          </a:xfrm>
          <a:prstGeom prst="leftBrace">
            <a:avLst>
              <a:gd name="adj1" fmla="val 50000"/>
              <a:gd name="adj2" fmla="val 50000"/>
            </a:avLst>
          </a:prstGeom>
          <a:no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3200">
              <a:solidFill>
                <a:srgbClr val="BCBCBC"/>
              </a:solidFill>
              <a:latin typeface="Calibri"/>
              <a:ea typeface="Calibri"/>
              <a:cs typeface="Calibri"/>
              <a:sym typeface="Calibri"/>
            </a:endParaRPr>
          </a:p>
        </p:txBody>
      </p:sp>
      <p:sp>
        <p:nvSpPr>
          <p:cNvPr id="370" name="Google Shape;2789;g3f5188ffaf6_0_0">
            <a:extLst>
              <a:ext uri="{FF2B5EF4-FFF2-40B4-BE49-F238E27FC236}">
                <a16:creationId xmlns:a16="http://schemas.microsoft.com/office/drawing/2014/main" id="{F3CD4742-99CC-3480-D7D1-A7421467AD3C}"/>
              </a:ext>
            </a:extLst>
          </p:cNvPr>
          <p:cNvSpPr/>
          <p:nvPr/>
        </p:nvSpPr>
        <p:spPr>
          <a:xfrm>
            <a:off x="11094184" y="3399082"/>
            <a:ext cx="373167" cy="190805"/>
          </a:xfrm>
          <a:prstGeom prst="rect">
            <a:avLst/>
          </a:prstGeom>
          <a:solidFill>
            <a:srgbClr val="FFEE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371" name="Google Shape;2790;g3f5188ffaf6_0_0">
            <a:extLst>
              <a:ext uri="{FF2B5EF4-FFF2-40B4-BE49-F238E27FC236}">
                <a16:creationId xmlns:a16="http://schemas.microsoft.com/office/drawing/2014/main" id="{E1785B57-38AE-48AF-0951-8D80D6BDCD65}"/>
              </a:ext>
            </a:extLst>
          </p:cNvPr>
          <p:cNvSpPr/>
          <p:nvPr/>
        </p:nvSpPr>
        <p:spPr>
          <a:xfrm>
            <a:off x="11102058" y="3501920"/>
            <a:ext cx="377082" cy="0"/>
          </a:xfrm>
          <a:custGeom>
            <a:avLst/>
            <a:gdLst/>
            <a:ahLst/>
            <a:cxnLst/>
            <a:rect l="l" t="t" r="r" b="b"/>
            <a:pathLst>
              <a:path w="365751" h="120000" extrusionOk="0">
                <a:moveTo>
                  <a:pt x="0" y="0"/>
                </a:moveTo>
                <a:lnTo>
                  <a:pt x="365751" y="0"/>
                </a:lnTo>
              </a:path>
            </a:pathLst>
          </a:custGeom>
          <a:noFill/>
          <a:ln w="15300" cap="flat" cmpd="sng">
            <a:solidFill>
              <a:srgbClr val="A7AD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dk1"/>
              </a:solidFill>
              <a:latin typeface="Calibri"/>
              <a:ea typeface="Calibri"/>
              <a:cs typeface="Calibri"/>
              <a:sym typeface="Calibri"/>
            </a:endParaRPr>
          </a:p>
        </p:txBody>
      </p:sp>
      <p:sp>
        <p:nvSpPr>
          <p:cNvPr id="417" name="Google Shape;2646;g3f5188ffaf6_0_0">
            <a:extLst>
              <a:ext uri="{FF2B5EF4-FFF2-40B4-BE49-F238E27FC236}">
                <a16:creationId xmlns:a16="http://schemas.microsoft.com/office/drawing/2014/main" id="{A097619B-F550-1D40-3F00-F58F76519D85}"/>
              </a:ext>
            </a:extLst>
          </p:cNvPr>
          <p:cNvSpPr txBox="1"/>
          <p:nvPr/>
        </p:nvSpPr>
        <p:spPr>
          <a:xfrm>
            <a:off x="10295927" y="1492814"/>
            <a:ext cx="1772100" cy="430887"/>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400" b="1" i="0" u="none" strike="noStrike" cap="none" dirty="0">
                <a:solidFill>
                  <a:srgbClr val="159A9A"/>
                </a:solidFill>
                <a:latin typeface="Arial"/>
                <a:ea typeface="Arial"/>
                <a:cs typeface="Arial"/>
                <a:sym typeface="Arial"/>
              </a:rPr>
              <a:t>Time series </a:t>
            </a:r>
            <a:endParaRPr sz="1400" b="1" i="0" u="none" strike="noStrike" cap="none" dirty="0">
              <a:solidFill>
                <a:srgbClr val="159A9A"/>
              </a:solidFill>
              <a:latin typeface="Arial"/>
              <a:ea typeface="Arial"/>
              <a:cs typeface="Arial"/>
              <a:sym typeface="Arial"/>
            </a:endParaRPr>
          </a:p>
          <a:p>
            <a:pPr marL="0" marR="0" lvl="0" indent="0" algn="ctr" rtl="0">
              <a:spcBef>
                <a:spcPts val="0"/>
              </a:spcBef>
              <a:spcAft>
                <a:spcPts val="0"/>
              </a:spcAft>
              <a:buNone/>
            </a:pPr>
            <a:r>
              <a:rPr lang="en-US" sz="1400" b="1" i="0" u="none" strike="noStrike" cap="none" dirty="0">
                <a:solidFill>
                  <a:srgbClr val="159A9A"/>
                </a:solidFill>
                <a:latin typeface="Arial"/>
                <a:ea typeface="Arial"/>
                <a:cs typeface="Arial"/>
                <a:sym typeface="Arial"/>
              </a:rPr>
              <a:t>(half-sine lobes)</a:t>
            </a:r>
            <a:endParaRPr sz="1400" dirty="0"/>
          </a:p>
        </p:txBody>
      </p:sp>
      <p:sp>
        <p:nvSpPr>
          <p:cNvPr id="419" name="TextBox 418">
            <a:extLst>
              <a:ext uri="{FF2B5EF4-FFF2-40B4-BE49-F238E27FC236}">
                <a16:creationId xmlns:a16="http://schemas.microsoft.com/office/drawing/2014/main" id="{D1DB5110-025B-88EA-F4FB-529256EFAFFE}"/>
              </a:ext>
            </a:extLst>
          </p:cNvPr>
          <p:cNvSpPr txBox="1"/>
          <p:nvPr/>
        </p:nvSpPr>
        <p:spPr>
          <a:xfrm>
            <a:off x="-385397" y="2311809"/>
            <a:ext cx="3643942" cy="369332"/>
          </a:xfrm>
          <a:prstGeom prst="rect">
            <a:avLst/>
          </a:prstGeom>
          <a:noFill/>
        </p:spPr>
        <p:txBody>
          <a:bodyPr wrap="square">
            <a:spAutoFit/>
          </a:bodyPr>
          <a:lstStyle/>
          <a:p>
            <a:pPr marL="0" lvl="0" indent="0" algn="ctr" rtl="0">
              <a:spcBef>
                <a:spcPts val="0"/>
              </a:spcBef>
              <a:spcAft>
                <a:spcPts val="0"/>
              </a:spcAft>
              <a:buClr>
                <a:schemeClr val="dk1"/>
              </a:buClr>
              <a:buFont typeface="Arial"/>
              <a:buNone/>
            </a:pPr>
            <a:r>
              <a:rPr lang="en-US" b="1" dirty="0">
                <a:solidFill>
                  <a:schemeClr val="dk1"/>
                </a:solidFill>
                <a:ea typeface="EB Garamond"/>
                <a:cs typeface="EB Garamond"/>
                <a:sym typeface="EB Garamond"/>
              </a:rPr>
              <a:t>② </a:t>
            </a:r>
            <a:r>
              <a:rPr lang="en-US" b="1" dirty="0">
                <a:solidFill>
                  <a:srgbClr val="3F4653"/>
                </a:solidFill>
              </a:rPr>
              <a:t>Form encoding codebook</a:t>
            </a:r>
            <a:endParaRPr lang="en-US" b="1" dirty="0">
              <a:solidFill>
                <a:schemeClr val="dk1"/>
              </a:solidFill>
            </a:endParaRPr>
          </a:p>
        </p:txBody>
      </p:sp>
      <p:sp>
        <p:nvSpPr>
          <p:cNvPr id="420" name="Google Shape;2769;g3f5188ffaf6_0_0">
            <a:extLst>
              <a:ext uri="{FF2B5EF4-FFF2-40B4-BE49-F238E27FC236}">
                <a16:creationId xmlns:a16="http://schemas.microsoft.com/office/drawing/2014/main" id="{24E3AAC7-081A-D3C7-3801-49571C45E85C}"/>
              </a:ext>
            </a:extLst>
          </p:cNvPr>
          <p:cNvSpPr/>
          <p:nvPr/>
        </p:nvSpPr>
        <p:spPr>
          <a:xfrm>
            <a:off x="1106142" y="2097589"/>
            <a:ext cx="270002" cy="270920"/>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421" name="Google Shape;2770;g3f5188ffaf6_0_0">
            <a:extLst>
              <a:ext uri="{FF2B5EF4-FFF2-40B4-BE49-F238E27FC236}">
                <a16:creationId xmlns:a16="http://schemas.microsoft.com/office/drawing/2014/main" id="{1317134E-12A9-405B-C637-50CD84832670}"/>
              </a:ext>
            </a:extLst>
          </p:cNvPr>
          <p:cNvSpPr/>
          <p:nvPr/>
        </p:nvSpPr>
        <p:spPr>
          <a:xfrm>
            <a:off x="2976718" y="2093229"/>
            <a:ext cx="270002" cy="270920"/>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422" name="Google Shape;2771;g3f5188ffaf6_0_0">
            <a:extLst>
              <a:ext uri="{FF2B5EF4-FFF2-40B4-BE49-F238E27FC236}">
                <a16:creationId xmlns:a16="http://schemas.microsoft.com/office/drawing/2014/main" id="{FCBD270A-3CD0-2B68-EF23-5E5992D0224B}"/>
              </a:ext>
            </a:extLst>
          </p:cNvPr>
          <p:cNvSpPr/>
          <p:nvPr/>
        </p:nvSpPr>
        <p:spPr>
          <a:xfrm>
            <a:off x="4918713" y="2081329"/>
            <a:ext cx="270002" cy="287562"/>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423" name="Google Shape;2772;g3f5188ffaf6_0_0">
            <a:extLst>
              <a:ext uri="{FF2B5EF4-FFF2-40B4-BE49-F238E27FC236}">
                <a16:creationId xmlns:a16="http://schemas.microsoft.com/office/drawing/2014/main" id="{37A36A04-44F7-A96A-0DED-47C38E2D0443}"/>
              </a:ext>
            </a:extLst>
          </p:cNvPr>
          <p:cNvSpPr/>
          <p:nvPr/>
        </p:nvSpPr>
        <p:spPr>
          <a:xfrm>
            <a:off x="6874323" y="2081297"/>
            <a:ext cx="270002" cy="287562"/>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424" name="Google Shape;2773;g3f5188ffaf6_0_0">
            <a:extLst>
              <a:ext uri="{FF2B5EF4-FFF2-40B4-BE49-F238E27FC236}">
                <a16:creationId xmlns:a16="http://schemas.microsoft.com/office/drawing/2014/main" id="{3E954ED7-8A7D-0DC3-6735-1EE34C360AFB}"/>
              </a:ext>
            </a:extLst>
          </p:cNvPr>
          <p:cNvSpPr/>
          <p:nvPr/>
        </p:nvSpPr>
        <p:spPr>
          <a:xfrm>
            <a:off x="8857981" y="2076713"/>
            <a:ext cx="270002" cy="287562"/>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425" name="Google Shape;2774;g3f5188ffaf6_0_0">
            <a:extLst>
              <a:ext uri="{FF2B5EF4-FFF2-40B4-BE49-F238E27FC236}">
                <a16:creationId xmlns:a16="http://schemas.microsoft.com/office/drawing/2014/main" id="{BED0D391-656A-03E5-EA6B-065380719A16}"/>
              </a:ext>
            </a:extLst>
          </p:cNvPr>
          <p:cNvSpPr/>
          <p:nvPr/>
        </p:nvSpPr>
        <p:spPr>
          <a:xfrm>
            <a:off x="10777177" y="2081183"/>
            <a:ext cx="270002" cy="287562"/>
          </a:xfrm>
          <a:prstGeom prst="downArrow">
            <a:avLst>
              <a:gd name="adj1" fmla="val 50000"/>
              <a:gd name="adj2" fmla="val 50000"/>
            </a:avLst>
          </a:prstGeom>
          <a:solidFill>
            <a:srgbClr val="B7BC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200">
              <a:latin typeface="Calibri"/>
              <a:ea typeface="Calibri"/>
              <a:cs typeface="Calibri"/>
              <a:sym typeface="Calibri"/>
            </a:endParaRPr>
          </a:p>
        </p:txBody>
      </p:sp>
      <p:sp>
        <p:nvSpPr>
          <p:cNvPr id="427" name="TextBox 426">
            <a:extLst>
              <a:ext uri="{FF2B5EF4-FFF2-40B4-BE49-F238E27FC236}">
                <a16:creationId xmlns:a16="http://schemas.microsoft.com/office/drawing/2014/main" id="{5568F207-FFF8-4ACE-17A4-1F0F837A01DB}"/>
              </a:ext>
            </a:extLst>
          </p:cNvPr>
          <p:cNvSpPr txBox="1"/>
          <p:nvPr/>
        </p:nvSpPr>
        <p:spPr>
          <a:xfrm>
            <a:off x="-964447" y="4147735"/>
            <a:ext cx="6294966" cy="369332"/>
          </a:xfrm>
          <a:prstGeom prst="rect">
            <a:avLst/>
          </a:prstGeom>
          <a:noFill/>
        </p:spPr>
        <p:txBody>
          <a:bodyPr wrap="square">
            <a:spAutoFit/>
          </a:bodyPr>
          <a:lstStyle/>
          <a:p>
            <a:pPr marL="0" lvl="0" indent="0" algn="ctr" rtl="0">
              <a:spcBef>
                <a:spcPts val="0"/>
              </a:spcBef>
              <a:spcAft>
                <a:spcPts val="0"/>
              </a:spcAft>
              <a:buSzPts val="1100"/>
              <a:buNone/>
            </a:pPr>
            <a:r>
              <a:rPr lang="en-US" b="1" dirty="0">
                <a:solidFill>
                  <a:schemeClr val="dk1"/>
                </a:solidFill>
              </a:rPr>
              <a:t>③ Encoding ICL prompts for each modality</a:t>
            </a:r>
            <a:endParaRPr lang="en-US"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7814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3"/>
                                        </p:tgtEl>
                                        <p:attrNameLst>
                                          <p:attrName>style.visibility</p:attrName>
                                        </p:attrNameLst>
                                      </p:cBhvr>
                                      <p:to>
                                        <p:strVal val="visible"/>
                                      </p:to>
                                    </p:set>
                                    <p:animEffect transition="in" filter="fade">
                                      <p:cBhvr>
                                        <p:cTn id="7" dur="500"/>
                                        <p:tgtEl>
                                          <p:spTgt spid="24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6"/>
                                        </p:tgtEl>
                                        <p:attrNameLst>
                                          <p:attrName>style.visibility</p:attrName>
                                        </p:attrNameLst>
                                      </p:cBhvr>
                                      <p:to>
                                        <p:strVal val="visible"/>
                                      </p:to>
                                    </p:set>
                                    <p:animEffect transition="in" filter="fade">
                                      <p:cBhvr>
                                        <p:cTn id="10" dur="500"/>
                                        <p:tgtEl>
                                          <p:spTgt spid="24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0"/>
                                        </p:tgtEl>
                                        <p:attrNameLst>
                                          <p:attrName>style.visibility</p:attrName>
                                        </p:attrNameLst>
                                      </p:cBhvr>
                                      <p:to>
                                        <p:strVal val="visible"/>
                                      </p:to>
                                    </p:set>
                                    <p:animEffect transition="in" filter="fade">
                                      <p:cBhvr>
                                        <p:cTn id="13" dur="500"/>
                                        <p:tgtEl>
                                          <p:spTgt spid="25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4"/>
                                        </p:tgtEl>
                                        <p:attrNameLst>
                                          <p:attrName>style.visibility</p:attrName>
                                        </p:attrNameLst>
                                      </p:cBhvr>
                                      <p:to>
                                        <p:strVal val="visible"/>
                                      </p:to>
                                    </p:set>
                                    <p:animEffect transition="in" filter="fade">
                                      <p:cBhvr>
                                        <p:cTn id="16" dur="500"/>
                                        <p:tgtEl>
                                          <p:spTgt spid="25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58"/>
                                        </p:tgtEl>
                                        <p:attrNameLst>
                                          <p:attrName>style.visibility</p:attrName>
                                        </p:attrNameLst>
                                      </p:cBhvr>
                                      <p:to>
                                        <p:strVal val="visible"/>
                                      </p:to>
                                    </p:set>
                                    <p:animEffect transition="in" filter="fade">
                                      <p:cBhvr>
                                        <p:cTn id="19" dur="500"/>
                                        <p:tgtEl>
                                          <p:spTgt spid="258"/>
                                        </p:tgtEl>
                                      </p:cBhvr>
                                    </p:animEffect>
                                  </p:childTnLst>
                                </p:cTn>
                              </p:par>
                              <p:par>
                                <p:cTn id="20" presetID="10" presetClass="entr" presetSubtype="0" fill="hold" nodeType="withEffect">
                                  <p:stCondLst>
                                    <p:cond delay="0"/>
                                  </p:stCondLst>
                                  <p:childTnLst>
                                    <p:set>
                                      <p:cBhvr>
                                        <p:cTn id="21" dur="1" fill="hold">
                                          <p:stCondLst>
                                            <p:cond delay="0"/>
                                          </p:stCondLst>
                                        </p:cTn>
                                        <p:tgtEl>
                                          <p:spTgt spid="287"/>
                                        </p:tgtEl>
                                        <p:attrNameLst>
                                          <p:attrName>style.visibility</p:attrName>
                                        </p:attrNameLst>
                                      </p:cBhvr>
                                      <p:to>
                                        <p:strVal val="visible"/>
                                      </p:to>
                                    </p:set>
                                    <p:animEffect transition="in" filter="fade">
                                      <p:cBhvr>
                                        <p:cTn id="22" dur="500"/>
                                        <p:tgtEl>
                                          <p:spTgt spid="287"/>
                                        </p:tgtEl>
                                      </p:cBhvr>
                                    </p:animEffect>
                                  </p:childTnLst>
                                </p:cTn>
                              </p:par>
                              <p:par>
                                <p:cTn id="23" presetID="10" presetClass="entr" presetSubtype="0" fill="hold" nodeType="withEffect">
                                  <p:stCondLst>
                                    <p:cond delay="0"/>
                                  </p:stCondLst>
                                  <p:childTnLst>
                                    <p:set>
                                      <p:cBhvr>
                                        <p:cTn id="24" dur="1" fill="hold">
                                          <p:stCondLst>
                                            <p:cond delay="0"/>
                                          </p:stCondLst>
                                        </p:cTn>
                                        <p:tgtEl>
                                          <p:spTgt spid="288"/>
                                        </p:tgtEl>
                                        <p:attrNameLst>
                                          <p:attrName>style.visibility</p:attrName>
                                        </p:attrNameLst>
                                      </p:cBhvr>
                                      <p:to>
                                        <p:strVal val="visible"/>
                                      </p:to>
                                    </p:set>
                                    <p:animEffect transition="in" filter="fade">
                                      <p:cBhvr>
                                        <p:cTn id="25" dur="500"/>
                                        <p:tgtEl>
                                          <p:spTgt spid="288"/>
                                        </p:tgtEl>
                                      </p:cBhvr>
                                    </p:animEffect>
                                  </p:childTnLst>
                                </p:cTn>
                              </p:par>
                              <p:par>
                                <p:cTn id="26" presetID="10" presetClass="entr" presetSubtype="0" fill="hold" nodeType="withEffect">
                                  <p:stCondLst>
                                    <p:cond delay="0"/>
                                  </p:stCondLst>
                                  <p:childTnLst>
                                    <p:set>
                                      <p:cBhvr>
                                        <p:cTn id="27" dur="1" fill="hold">
                                          <p:stCondLst>
                                            <p:cond delay="0"/>
                                          </p:stCondLst>
                                        </p:cTn>
                                        <p:tgtEl>
                                          <p:spTgt spid="289"/>
                                        </p:tgtEl>
                                        <p:attrNameLst>
                                          <p:attrName>style.visibility</p:attrName>
                                        </p:attrNameLst>
                                      </p:cBhvr>
                                      <p:to>
                                        <p:strVal val="visible"/>
                                      </p:to>
                                    </p:set>
                                    <p:animEffect transition="in" filter="fade">
                                      <p:cBhvr>
                                        <p:cTn id="28" dur="500"/>
                                        <p:tgtEl>
                                          <p:spTgt spid="289"/>
                                        </p:tgtEl>
                                      </p:cBhvr>
                                    </p:animEffect>
                                  </p:childTnLst>
                                </p:cTn>
                              </p:par>
                              <p:par>
                                <p:cTn id="29" presetID="10" presetClass="entr" presetSubtype="0" fill="hold" nodeType="withEffect">
                                  <p:stCondLst>
                                    <p:cond delay="0"/>
                                  </p:stCondLst>
                                  <p:childTnLst>
                                    <p:set>
                                      <p:cBhvr>
                                        <p:cTn id="30" dur="1" fill="hold">
                                          <p:stCondLst>
                                            <p:cond delay="0"/>
                                          </p:stCondLst>
                                        </p:cTn>
                                        <p:tgtEl>
                                          <p:spTgt spid="290"/>
                                        </p:tgtEl>
                                        <p:attrNameLst>
                                          <p:attrName>style.visibility</p:attrName>
                                        </p:attrNameLst>
                                      </p:cBhvr>
                                      <p:to>
                                        <p:strVal val="visible"/>
                                      </p:to>
                                    </p:set>
                                    <p:animEffect transition="in" filter="fade">
                                      <p:cBhvr>
                                        <p:cTn id="31" dur="500"/>
                                        <p:tgtEl>
                                          <p:spTgt spid="290"/>
                                        </p:tgtEl>
                                      </p:cBhvr>
                                    </p:animEffect>
                                  </p:childTnLst>
                                </p:cTn>
                              </p:par>
                              <p:par>
                                <p:cTn id="32" presetID="10" presetClass="entr" presetSubtype="0" fill="hold" nodeType="withEffect">
                                  <p:stCondLst>
                                    <p:cond delay="0"/>
                                  </p:stCondLst>
                                  <p:childTnLst>
                                    <p:set>
                                      <p:cBhvr>
                                        <p:cTn id="33" dur="1" fill="hold">
                                          <p:stCondLst>
                                            <p:cond delay="0"/>
                                          </p:stCondLst>
                                        </p:cTn>
                                        <p:tgtEl>
                                          <p:spTgt spid="291"/>
                                        </p:tgtEl>
                                        <p:attrNameLst>
                                          <p:attrName>style.visibility</p:attrName>
                                        </p:attrNameLst>
                                      </p:cBhvr>
                                      <p:to>
                                        <p:strVal val="visible"/>
                                      </p:to>
                                    </p:set>
                                    <p:animEffect transition="in" filter="fade">
                                      <p:cBhvr>
                                        <p:cTn id="34" dur="500"/>
                                        <p:tgtEl>
                                          <p:spTgt spid="291"/>
                                        </p:tgtEl>
                                      </p:cBhvr>
                                    </p:animEffect>
                                  </p:childTnLst>
                                </p:cTn>
                              </p:par>
                              <p:par>
                                <p:cTn id="35" presetID="10" presetClass="entr" presetSubtype="0" fill="hold" nodeType="withEffect">
                                  <p:stCondLst>
                                    <p:cond delay="0"/>
                                  </p:stCondLst>
                                  <p:childTnLst>
                                    <p:set>
                                      <p:cBhvr>
                                        <p:cTn id="36" dur="1" fill="hold">
                                          <p:stCondLst>
                                            <p:cond delay="0"/>
                                          </p:stCondLst>
                                        </p:cTn>
                                        <p:tgtEl>
                                          <p:spTgt spid="364"/>
                                        </p:tgtEl>
                                        <p:attrNameLst>
                                          <p:attrName>style.visibility</p:attrName>
                                        </p:attrNameLst>
                                      </p:cBhvr>
                                      <p:to>
                                        <p:strVal val="visible"/>
                                      </p:to>
                                    </p:set>
                                    <p:animEffect transition="in" filter="fade">
                                      <p:cBhvr>
                                        <p:cTn id="37" dur="500"/>
                                        <p:tgtEl>
                                          <p:spTgt spid="36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17"/>
                                        </p:tgtEl>
                                        <p:attrNameLst>
                                          <p:attrName>style.visibility</p:attrName>
                                        </p:attrNameLst>
                                      </p:cBhvr>
                                      <p:to>
                                        <p:strVal val="visible"/>
                                      </p:to>
                                    </p:set>
                                    <p:animEffect transition="in" filter="fade">
                                      <p:cBhvr>
                                        <p:cTn id="40" dur="500"/>
                                        <p:tgtEl>
                                          <p:spTgt spid="4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20"/>
                                        </p:tgtEl>
                                        <p:attrNameLst>
                                          <p:attrName>style.visibility</p:attrName>
                                        </p:attrNameLst>
                                      </p:cBhvr>
                                      <p:to>
                                        <p:strVal val="visible"/>
                                      </p:to>
                                    </p:set>
                                    <p:animEffect transition="in" filter="fade">
                                      <p:cBhvr>
                                        <p:cTn id="43" dur="500"/>
                                        <p:tgtEl>
                                          <p:spTgt spid="4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21"/>
                                        </p:tgtEl>
                                        <p:attrNameLst>
                                          <p:attrName>style.visibility</p:attrName>
                                        </p:attrNameLst>
                                      </p:cBhvr>
                                      <p:to>
                                        <p:strVal val="visible"/>
                                      </p:to>
                                    </p:set>
                                    <p:animEffect transition="in" filter="fade">
                                      <p:cBhvr>
                                        <p:cTn id="46" dur="500"/>
                                        <p:tgtEl>
                                          <p:spTgt spid="4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22"/>
                                        </p:tgtEl>
                                        <p:attrNameLst>
                                          <p:attrName>style.visibility</p:attrName>
                                        </p:attrNameLst>
                                      </p:cBhvr>
                                      <p:to>
                                        <p:strVal val="visible"/>
                                      </p:to>
                                    </p:set>
                                    <p:animEffect transition="in" filter="fade">
                                      <p:cBhvr>
                                        <p:cTn id="49" dur="500"/>
                                        <p:tgtEl>
                                          <p:spTgt spid="4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23"/>
                                        </p:tgtEl>
                                        <p:attrNameLst>
                                          <p:attrName>style.visibility</p:attrName>
                                        </p:attrNameLst>
                                      </p:cBhvr>
                                      <p:to>
                                        <p:strVal val="visible"/>
                                      </p:to>
                                    </p:set>
                                    <p:animEffect transition="in" filter="fade">
                                      <p:cBhvr>
                                        <p:cTn id="52" dur="500"/>
                                        <p:tgtEl>
                                          <p:spTgt spid="4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24"/>
                                        </p:tgtEl>
                                        <p:attrNameLst>
                                          <p:attrName>style.visibility</p:attrName>
                                        </p:attrNameLst>
                                      </p:cBhvr>
                                      <p:to>
                                        <p:strVal val="visible"/>
                                      </p:to>
                                    </p:set>
                                    <p:animEffect transition="in" filter="fade">
                                      <p:cBhvr>
                                        <p:cTn id="55" dur="500"/>
                                        <p:tgtEl>
                                          <p:spTgt spid="42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5"/>
                                        </p:tgtEl>
                                        <p:attrNameLst>
                                          <p:attrName>style.visibility</p:attrName>
                                        </p:attrNameLst>
                                      </p:cBhvr>
                                      <p:to>
                                        <p:strVal val="visible"/>
                                      </p:to>
                                    </p:set>
                                    <p:animEffect transition="in" filter="fade">
                                      <p:cBhvr>
                                        <p:cTn id="58" dur="500"/>
                                        <p:tgtEl>
                                          <p:spTgt spid="42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8"/>
                                        </p:tgtEl>
                                        <p:attrNameLst>
                                          <p:attrName>style.visibility</p:attrName>
                                        </p:attrNameLst>
                                      </p:cBhvr>
                                      <p:to>
                                        <p:strVal val="visible"/>
                                      </p:to>
                                    </p:set>
                                    <p:animEffect transition="in" filter="fade">
                                      <p:cBhvr>
                                        <p:cTn id="63" dur="500"/>
                                        <p:tgtEl>
                                          <p:spTgt spid="21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19"/>
                                        </p:tgtEl>
                                        <p:attrNameLst>
                                          <p:attrName>style.visibility</p:attrName>
                                        </p:attrNameLst>
                                      </p:cBhvr>
                                      <p:to>
                                        <p:strVal val="visible"/>
                                      </p:to>
                                    </p:set>
                                    <p:animEffect transition="in" filter="fade">
                                      <p:cBhvr>
                                        <p:cTn id="66" dur="500"/>
                                        <p:tgtEl>
                                          <p:spTgt spid="21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0"/>
                                        </p:tgtEl>
                                        <p:attrNameLst>
                                          <p:attrName>style.visibility</p:attrName>
                                        </p:attrNameLst>
                                      </p:cBhvr>
                                      <p:to>
                                        <p:strVal val="visible"/>
                                      </p:to>
                                    </p:set>
                                    <p:animEffect transition="in" filter="fade">
                                      <p:cBhvr>
                                        <p:cTn id="69" dur="500"/>
                                        <p:tgtEl>
                                          <p:spTgt spid="22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21"/>
                                        </p:tgtEl>
                                        <p:attrNameLst>
                                          <p:attrName>style.visibility</p:attrName>
                                        </p:attrNameLst>
                                      </p:cBhvr>
                                      <p:to>
                                        <p:strVal val="visible"/>
                                      </p:to>
                                    </p:set>
                                    <p:animEffect transition="in" filter="fade">
                                      <p:cBhvr>
                                        <p:cTn id="72" dur="500"/>
                                        <p:tgtEl>
                                          <p:spTgt spid="22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22"/>
                                        </p:tgtEl>
                                        <p:attrNameLst>
                                          <p:attrName>style.visibility</p:attrName>
                                        </p:attrNameLst>
                                      </p:cBhvr>
                                      <p:to>
                                        <p:strVal val="visible"/>
                                      </p:to>
                                    </p:set>
                                    <p:animEffect transition="in" filter="fade">
                                      <p:cBhvr>
                                        <p:cTn id="75" dur="500"/>
                                        <p:tgtEl>
                                          <p:spTgt spid="22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37"/>
                                        </p:tgtEl>
                                        <p:attrNameLst>
                                          <p:attrName>style.visibility</p:attrName>
                                        </p:attrNameLst>
                                      </p:cBhvr>
                                      <p:to>
                                        <p:strVal val="visible"/>
                                      </p:to>
                                    </p:set>
                                    <p:animEffect transition="in" filter="fade">
                                      <p:cBhvr>
                                        <p:cTn id="78" dur="500"/>
                                        <p:tgtEl>
                                          <p:spTgt spid="23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38"/>
                                        </p:tgtEl>
                                        <p:attrNameLst>
                                          <p:attrName>style.visibility</p:attrName>
                                        </p:attrNameLst>
                                      </p:cBhvr>
                                      <p:to>
                                        <p:strVal val="visible"/>
                                      </p:to>
                                    </p:set>
                                    <p:animEffect transition="in" filter="fade">
                                      <p:cBhvr>
                                        <p:cTn id="81" dur="500"/>
                                        <p:tgtEl>
                                          <p:spTgt spid="23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39"/>
                                        </p:tgtEl>
                                        <p:attrNameLst>
                                          <p:attrName>style.visibility</p:attrName>
                                        </p:attrNameLst>
                                      </p:cBhvr>
                                      <p:to>
                                        <p:strVal val="visible"/>
                                      </p:to>
                                    </p:set>
                                    <p:animEffect transition="in" filter="fade">
                                      <p:cBhvr>
                                        <p:cTn id="84" dur="500"/>
                                        <p:tgtEl>
                                          <p:spTgt spid="23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40"/>
                                        </p:tgtEl>
                                        <p:attrNameLst>
                                          <p:attrName>style.visibility</p:attrName>
                                        </p:attrNameLst>
                                      </p:cBhvr>
                                      <p:to>
                                        <p:strVal val="visible"/>
                                      </p:to>
                                    </p:set>
                                    <p:animEffect transition="in" filter="fade">
                                      <p:cBhvr>
                                        <p:cTn id="87" dur="500"/>
                                        <p:tgtEl>
                                          <p:spTgt spid="24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41"/>
                                        </p:tgtEl>
                                        <p:attrNameLst>
                                          <p:attrName>style.visibility</p:attrName>
                                        </p:attrNameLst>
                                      </p:cBhvr>
                                      <p:to>
                                        <p:strVal val="visible"/>
                                      </p:to>
                                    </p:set>
                                    <p:animEffect transition="in" filter="fade">
                                      <p:cBhvr>
                                        <p:cTn id="90" dur="500"/>
                                        <p:tgtEl>
                                          <p:spTgt spid="24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42"/>
                                        </p:tgtEl>
                                        <p:attrNameLst>
                                          <p:attrName>style.visibility</p:attrName>
                                        </p:attrNameLst>
                                      </p:cBhvr>
                                      <p:to>
                                        <p:strVal val="visible"/>
                                      </p:to>
                                    </p:set>
                                    <p:animEffect transition="in" filter="fade">
                                      <p:cBhvr>
                                        <p:cTn id="93" dur="500"/>
                                        <p:tgtEl>
                                          <p:spTgt spid="24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51"/>
                                        </p:tgtEl>
                                        <p:attrNameLst>
                                          <p:attrName>style.visibility</p:attrName>
                                        </p:attrNameLst>
                                      </p:cBhvr>
                                      <p:to>
                                        <p:strVal val="visible"/>
                                      </p:to>
                                    </p:set>
                                    <p:animEffect transition="in" filter="fade">
                                      <p:cBhvr>
                                        <p:cTn id="96" dur="500"/>
                                        <p:tgtEl>
                                          <p:spTgt spid="351"/>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60"/>
                                        </p:tgtEl>
                                        <p:attrNameLst>
                                          <p:attrName>style.visibility</p:attrName>
                                        </p:attrNameLst>
                                      </p:cBhvr>
                                      <p:to>
                                        <p:strVal val="visible"/>
                                      </p:to>
                                    </p:set>
                                    <p:animEffect transition="in" filter="fade">
                                      <p:cBhvr>
                                        <p:cTn id="99" dur="500"/>
                                        <p:tgtEl>
                                          <p:spTgt spid="360"/>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61"/>
                                        </p:tgtEl>
                                        <p:attrNameLst>
                                          <p:attrName>style.visibility</p:attrName>
                                        </p:attrNameLst>
                                      </p:cBhvr>
                                      <p:to>
                                        <p:strVal val="visible"/>
                                      </p:to>
                                    </p:set>
                                    <p:animEffect transition="in" filter="fade">
                                      <p:cBhvr>
                                        <p:cTn id="102" dur="500"/>
                                        <p:tgtEl>
                                          <p:spTgt spid="361"/>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2"/>
                                        </p:tgtEl>
                                        <p:attrNameLst>
                                          <p:attrName>style.visibility</p:attrName>
                                        </p:attrNameLst>
                                      </p:cBhvr>
                                      <p:to>
                                        <p:strVal val="visible"/>
                                      </p:to>
                                    </p:set>
                                    <p:animEffect transition="in" filter="fade">
                                      <p:cBhvr>
                                        <p:cTn id="105" dur="500"/>
                                        <p:tgtEl>
                                          <p:spTgt spid="362"/>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63"/>
                                        </p:tgtEl>
                                        <p:attrNameLst>
                                          <p:attrName>style.visibility</p:attrName>
                                        </p:attrNameLst>
                                      </p:cBhvr>
                                      <p:to>
                                        <p:strVal val="visible"/>
                                      </p:to>
                                    </p:set>
                                    <p:animEffect transition="in" filter="fade">
                                      <p:cBhvr>
                                        <p:cTn id="108" dur="500"/>
                                        <p:tgtEl>
                                          <p:spTgt spid="363"/>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70"/>
                                        </p:tgtEl>
                                        <p:attrNameLst>
                                          <p:attrName>style.visibility</p:attrName>
                                        </p:attrNameLst>
                                      </p:cBhvr>
                                      <p:to>
                                        <p:strVal val="visible"/>
                                      </p:to>
                                    </p:set>
                                    <p:animEffect transition="in" filter="fade">
                                      <p:cBhvr>
                                        <p:cTn id="111" dur="500"/>
                                        <p:tgtEl>
                                          <p:spTgt spid="37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71"/>
                                        </p:tgtEl>
                                        <p:attrNameLst>
                                          <p:attrName>style.visibility</p:attrName>
                                        </p:attrNameLst>
                                      </p:cBhvr>
                                      <p:to>
                                        <p:strVal val="visible"/>
                                      </p:to>
                                    </p:set>
                                    <p:animEffect transition="in" filter="fade">
                                      <p:cBhvr>
                                        <p:cTn id="114" dur="500"/>
                                        <p:tgtEl>
                                          <p:spTgt spid="371"/>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53"/>
                                        </p:tgtEl>
                                        <p:attrNameLst>
                                          <p:attrName>style.visibility</p:attrName>
                                        </p:attrNameLst>
                                      </p:cBhvr>
                                      <p:to>
                                        <p:strVal val="visible"/>
                                      </p:to>
                                    </p:set>
                                    <p:animEffect transition="in" filter="fade">
                                      <p:cBhvr>
                                        <p:cTn id="117" dur="500"/>
                                        <p:tgtEl>
                                          <p:spTgt spid="35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52"/>
                                        </p:tgtEl>
                                        <p:attrNameLst>
                                          <p:attrName>style.visibility</p:attrName>
                                        </p:attrNameLst>
                                      </p:cBhvr>
                                      <p:to>
                                        <p:strVal val="visible"/>
                                      </p:to>
                                    </p:set>
                                    <p:animEffect transition="in" filter="fade">
                                      <p:cBhvr>
                                        <p:cTn id="120" dur="500"/>
                                        <p:tgtEl>
                                          <p:spTgt spid="352"/>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19"/>
                                        </p:tgtEl>
                                        <p:attrNameLst>
                                          <p:attrName>style.visibility</p:attrName>
                                        </p:attrNameLst>
                                      </p:cBhvr>
                                      <p:to>
                                        <p:strVal val="visible"/>
                                      </p:to>
                                    </p:set>
                                    <p:animEffect transition="in" filter="fade">
                                      <p:cBhvr>
                                        <p:cTn id="123" dur="500"/>
                                        <p:tgtEl>
                                          <p:spTgt spid="419"/>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213"/>
                                        </p:tgtEl>
                                        <p:attrNameLst>
                                          <p:attrName>style.visibility</p:attrName>
                                        </p:attrNameLst>
                                      </p:cBhvr>
                                      <p:to>
                                        <p:strVal val="visible"/>
                                      </p:to>
                                    </p:set>
                                    <p:animEffect transition="in" filter="fade">
                                      <p:cBhvr>
                                        <p:cTn id="128" dur="500"/>
                                        <p:tgtEl>
                                          <p:spTgt spid="213"/>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214"/>
                                        </p:tgtEl>
                                        <p:attrNameLst>
                                          <p:attrName>style.visibility</p:attrName>
                                        </p:attrNameLst>
                                      </p:cBhvr>
                                      <p:to>
                                        <p:strVal val="visible"/>
                                      </p:to>
                                    </p:set>
                                    <p:animEffect transition="in" filter="fade">
                                      <p:cBhvr>
                                        <p:cTn id="131" dur="500"/>
                                        <p:tgtEl>
                                          <p:spTgt spid="214"/>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215"/>
                                        </p:tgtEl>
                                        <p:attrNameLst>
                                          <p:attrName>style.visibility</p:attrName>
                                        </p:attrNameLst>
                                      </p:cBhvr>
                                      <p:to>
                                        <p:strVal val="visible"/>
                                      </p:to>
                                    </p:set>
                                    <p:animEffect transition="in" filter="fade">
                                      <p:cBhvr>
                                        <p:cTn id="134" dur="500"/>
                                        <p:tgtEl>
                                          <p:spTgt spid="215"/>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216"/>
                                        </p:tgtEl>
                                        <p:attrNameLst>
                                          <p:attrName>style.visibility</p:attrName>
                                        </p:attrNameLst>
                                      </p:cBhvr>
                                      <p:to>
                                        <p:strVal val="visible"/>
                                      </p:to>
                                    </p:set>
                                    <p:animEffect transition="in" filter="fade">
                                      <p:cBhvr>
                                        <p:cTn id="137" dur="500"/>
                                        <p:tgtEl>
                                          <p:spTgt spid="216"/>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223"/>
                                        </p:tgtEl>
                                        <p:attrNameLst>
                                          <p:attrName>style.visibility</p:attrName>
                                        </p:attrNameLst>
                                      </p:cBhvr>
                                      <p:to>
                                        <p:strVal val="visible"/>
                                      </p:to>
                                    </p:set>
                                    <p:animEffect transition="in" filter="fade">
                                      <p:cBhvr>
                                        <p:cTn id="140" dur="500"/>
                                        <p:tgtEl>
                                          <p:spTgt spid="223"/>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224"/>
                                        </p:tgtEl>
                                        <p:attrNameLst>
                                          <p:attrName>style.visibility</p:attrName>
                                        </p:attrNameLst>
                                      </p:cBhvr>
                                      <p:to>
                                        <p:strVal val="visible"/>
                                      </p:to>
                                    </p:set>
                                    <p:animEffect transition="in" filter="fade">
                                      <p:cBhvr>
                                        <p:cTn id="143" dur="500"/>
                                        <p:tgtEl>
                                          <p:spTgt spid="224"/>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244"/>
                                        </p:tgtEl>
                                        <p:attrNameLst>
                                          <p:attrName>style.visibility</p:attrName>
                                        </p:attrNameLst>
                                      </p:cBhvr>
                                      <p:to>
                                        <p:strVal val="visible"/>
                                      </p:to>
                                    </p:set>
                                    <p:animEffect transition="in" filter="fade">
                                      <p:cBhvr>
                                        <p:cTn id="146" dur="500"/>
                                        <p:tgtEl>
                                          <p:spTgt spid="244"/>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245"/>
                                        </p:tgtEl>
                                        <p:attrNameLst>
                                          <p:attrName>style.visibility</p:attrName>
                                        </p:attrNameLst>
                                      </p:cBhvr>
                                      <p:to>
                                        <p:strVal val="visible"/>
                                      </p:to>
                                    </p:set>
                                    <p:animEffect transition="in" filter="fade">
                                      <p:cBhvr>
                                        <p:cTn id="149" dur="500"/>
                                        <p:tgtEl>
                                          <p:spTgt spid="245"/>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247"/>
                                        </p:tgtEl>
                                        <p:attrNameLst>
                                          <p:attrName>style.visibility</p:attrName>
                                        </p:attrNameLst>
                                      </p:cBhvr>
                                      <p:to>
                                        <p:strVal val="visible"/>
                                      </p:to>
                                    </p:set>
                                    <p:animEffect transition="in" filter="fade">
                                      <p:cBhvr>
                                        <p:cTn id="152" dur="500"/>
                                        <p:tgtEl>
                                          <p:spTgt spid="247"/>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248"/>
                                        </p:tgtEl>
                                        <p:attrNameLst>
                                          <p:attrName>style.visibility</p:attrName>
                                        </p:attrNameLst>
                                      </p:cBhvr>
                                      <p:to>
                                        <p:strVal val="visible"/>
                                      </p:to>
                                    </p:set>
                                    <p:animEffect transition="in" filter="fade">
                                      <p:cBhvr>
                                        <p:cTn id="155" dur="500"/>
                                        <p:tgtEl>
                                          <p:spTgt spid="248"/>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249"/>
                                        </p:tgtEl>
                                        <p:attrNameLst>
                                          <p:attrName>style.visibility</p:attrName>
                                        </p:attrNameLst>
                                      </p:cBhvr>
                                      <p:to>
                                        <p:strVal val="visible"/>
                                      </p:to>
                                    </p:set>
                                    <p:animEffect transition="in" filter="fade">
                                      <p:cBhvr>
                                        <p:cTn id="158" dur="500"/>
                                        <p:tgtEl>
                                          <p:spTgt spid="249"/>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251"/>
                                        </p:tgtEl>
                                        <p:attrNameLst>
                                          <p:attrName>style.visibility</p:attrName>
                                        </p:attrNameLst>
                                      </p:cBhvr>
                                      <p:to>
                                        <p:strVal val="visible"/>
                                      </p:to>
                                    </p:set>
                                    <p:animEffect transition="in" filter="fade">
                                      <p:cBhvr>
                                        <p:cTn id="161" dur="500"/>
                                        <p:tgtEl>
                                          <p:spTgt spid="251"/>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252"/>
                                        </p:tgtEl>
                                        <p:attrNameLst>
                                          <p:attrName>style.visibility</p:attrName>
                                        </p:attrNameLst>
                                      </p:cBhvr>
                                      <p:to>
                                        <p:strVal val="visible"/>
                                      </p:to>
                                    </p:set>
                                    <p:animEffect transition="in" filter="fade">
                                      <p:cBhvr>
                                        <p:cTn id="164" dur="500"/>
                                        <p:tgtEl>
                                          <p:spTgt spid="252"/>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253"/>
                                        </p:tgtEl>
                                        <p:attrNameLst>
                                          <p:attrName>style.visibility</p:attrName>
                                        </p:attrNameLst>
                                      </p:cBhvr>
                                      <p:to>
                                        <p:strVal val="visible"/>
                                      </p:to>
                                    </p:set>
                                    <p:animEffect transition="in" filter="fade">
                                      <p:cBhvr>
                                        <p:cTn id="167" dur="500"/>
                                        <p:tgtEl>
                                          <p:spTgt spid="253"/>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255"/>
                                        </p:tgtEl>
                                        <p:attrNameLst>
                                          <p:attrName>style.visibility</p:attrName>
                                        </p:attrNameLst>
                                      </p:cBhvr>
                                      <p:to>
                                        <p:strVal val="visible"/>
                                      </p:to>
                                    </p:set>
                                    <p:animEffect transition="in" filter="fade">
                                      <p:cBhvr>
                                        <p:cTn id="170" dur="500"/>
                                        <p:tgtEl>
                                          <p:spTgt spid="255"/>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256"/>
                                        </p:tgtEl>
                                        <p:attrNameLst>
                                          <p:attrName>style.visibility</p:attrName>
                                        </p:attrNameLst>
                                      </p:cBhvr>
                                      <p:to>
                                        <p:strVal val="visible"/>
                                      </p:to>
                                    </p:set>
                                    <p:animEffect transition="in" filter="fade">
                                      <p:cBhvr>
                                        <p:cTn id="173" dur="500"/>
                                        <p:tgtEl>
                                          <p:spTgt spid="256"/>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257"/>
                                        </p:tgtEl>
                                        <p:attrNameLst>
                                          <p:attrName>style.visibility</p:attrName>
                                        </p:attrNameLst>
                                      </p:cBhvr>
                                      <p:to>
                                        <p:strVal val="visible"/>
                                      </p:to>
                                    </p:set>
                                    <p:animEffect transition="in" filter="fade">
                                      <p:cBhvr>
                                        <p:cTn id="176" dur="500"/>
                                        <p:tgtEl>
                                          <p:spTgt spid="257"/>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259"/>
                                        </p:tgtEl>
                                        <p:attrNameLst>
                                          <p:attrName>style.visibility</p:attrName>
                                        </p:attrNameLst>
                                      </p:cBhvr>
                                      <p:to>
                                        <p:strVal val="visible"/>
                                      </p:to>
                                    </p:set>
                                    <p:animEffect transition="in" filter="fade">
                                      <p:cBhvr>
                                        <p:cTn id="179" dur="500"/>
                                        <p:tgtEl>
                                          <p:spTgt spid="259"/>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260"/>
                                        </p:tgtEl>
                                        <p:attrNameLst>
                                          <p:attrName>style.visibility</p:attrName>
                                        </p:attrNameLst>
                                      </p:cBhvr>
                                      <p:to>
                                        <p:strVal val="visible"/>
                                      </p:to>
                                    </p:set>
                                    <p:animEffect transition="in" filter="fade">
                                      <p:cBhvr>
                                        <p:cTn id="182" dur="500"/>
                                        <p:tgtEl>
                                          <p:spTgt spid="260"/>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261"/>
                                        </p:tgtEl>
                                        <p:attrNameLst>
                                          <p:attrName>style.visibility</p:attrName>
                                        </p:attrNameLst>
                                      </p:cBhvr>
                                      <p:to>
                                        <p:strVal val="visible"/>
                                      </p:to>
                                    </p:set>
                                    <p:animEffect transition="in" filter="fade">
                                      <p:cBhvr>
                                        <p:cTn id="185" dur="500"/>
                                        <p:tgtEl>
                                          <p:spTgt spid="261"/>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262"/>
                                        </p:tgtEl>
                                        <p:attrNameLst>
                                          <p:attrName>style.visibility</p:attrName>
                                        </p:attrNameLst>
                                      </p:cBhvr>
                                      <p:to>
                                        <p:strVal val="visible"/>
                                      </p:to>
                                    </p:set>
                                    <p:animEffect transition="in" filter="fade">
                                      <p:cBhvr>
                                        <p:cTn id="188" dur="500"/>
                                        <p:tgtEl>
                                          <p:spTgt spid="262"/>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263"/>
                                        </p:tgtEl>
                                        <p:attrNameLst>
                                          <p:attrName>style.visibility</p:attrName>
                                        </p:attrNameLst>
                                      </p:cBhvr>
                                      <p:to>
                                        <p:strVal val="visible"/>
                                      </p:to>
                                    </p:set>
                                    <p:animEffect transition="in" filter="fade">
                                      <p:cBhvr>
                                        <p:cTn id="191" dur="500"/>
                                        <p:tgtEl>
                                          <p:spTgt spid="263"/>
                                        </p:tgtEl>
                                      </p:cBhvr>
                                    </p:animEffect>
                                  </p:childTnLst>
                                </p:cTn>
                              </p:par>
                              <p:par>
                                <p:cTn id="192" presetID="10" presetClass="entr" presetSubtype="0" fill="hold" grpId="0" nodeType="withEffect">
                                  <p:stCondLst>
                                    <p:cond delay="0"/>
                                  </p:stCondLst>
                                  <p:childTnLst>
                                    <p:set>
                                      <p:cBhvr>
                                        <p:cTn id="193" dur="1" fill="hold">
                                          <p:stCondLst>
                                            <p:cond delay="0"/>
                                          </p:stCondLst>
                                        </p:cTn>
                                        <p:tgtEl>
                                          <p:spTgt spid="264"/>
                                        </p:tgtEl>
                                        <p:attrNameLst>
                                          <p:attrName>style.visibility</p:attrName>
                                        </p:attrNameLst>
                                      </p:cBhvr>
                                      <p:to>
                                        <p:strVal val="visible"/>
                                      </p:to>
                                    </p:set>
                                    <p:animEffect transition="in" filter="fade">
                                      <p:cBhvr>
                                        <p:cTn id="194" dur="500"/>
                                        <p:tgtEl>
                                          <p:spTgt spid="264"/>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265"/>
                                        </p:tgtEl>
                                        <p:attrNameLst>
                                          <p:attrName>style.visibility</p:attrName>
                                        </p:attrNameLst>
                                      </p:cBhvr>
                                      <p:to>
                                        <p:strVal val="visible"/>
                                      </p:to>
                                    </p:set>
                                    <p:animEffect transition="in" filter="fade">
                                      <p:cBhvr>
                                        <p:cTn id="197" dur="500"/>
                                        <p:tgtEl>
                                          <p:spTgt spid="265"/>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266"/>
                                        </p:tgtEl>
                                        <p:attrNameLst>
                                          <p:attrName>style.visibility</p:attrName>
                                        </p:attrNameLst>
                                      </p:cBhvr>
                                      <p:to>
                                        <p:strVal val="visible"/>
                                      </p:to>
                                    </p:set>
                                    <p:animEffect transition="in" filter="fade">
                                      <p:cBhvr>
                                        <p:cTn id="200" dur="500"/>
                                        <p:tgtEl>
                                          <p:spTgt spid="266"/>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267"/>
                                        </p:tgtEl>
                                        <p:attrNameLst>
                                          <p:attrName>style.visibility</p:attrName>
                                        </p:attrNameLst>
                                      </p:cBhvr>
                                      <p:to>
                                        <p:strVal val="visible"/>
                                      </p:to>
                                    </p:set>
                                    <p:animEffect transition="in" filter="fade">
                                      <p:cBhvr>
                                        <p:cTn id="203" dur="500"/>
                                        <p:tgtEl>
                                          <p:spTgt spid="267"/>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268"/>
                                        </p:tgtEl>
                                        <p:attrNameLst>
                                          <p:attrName>style.visibility</p:attrName>
                                        </p:attrNameLst>
                                      </p:cBhvr>
                                      <p:to>
                                        <p:strVal val="visible"/>
                                      </p:to>
                                    </p:set>
                                    <p:animEffect transition="in" filter="fade">
                                      <p:cBhvr>
                                        <p:cTn id="206" dur="500"/>
                                        <p:tgtEl>
                                          <p:spTgt spid="268"/>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269"/>
                                        </p:tgtEl>
                                        <p:attrNameLst>
                                          <p:attrName>style.visibility</p:attrName>
                                        </p:attrNameLst>
                                      </p:cBhvr>
                                      <p:to>
                                        <p:strVal val="visible"/>
                                      </p:to>
                                    </p:set>
                                    <p:animEffect transition="in" filter="fade">
                                      <p:cBhvr>
                                        <p:cTn id="209" dur="500"/>
                                        <p:tgtEl>
                                          <p:spTgt spid="269"/>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270"/>
                                        </p:tgtEl>
                                        <p:attrNameLst>
                                          <p:attrName>style.visibility</p:attrName>
                                        </p:attrNameLst>
                                      </p:cBhvr>
                                      <p:to>
                                        <p:strVal val="visible"/>
                                      </p:to>
                                    </p:set>
                                    <p:animEffect transition="in" filter="fade">
                                      <p:cBhvr>
                                        <p:cTn id="212" dur="500"/>
                                        <p:tgtEl>
                                          <p:spTgt spid="270"/>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271"/>
                                        </p:tgtEl>
                                        <p:attrNameLst>
                                          <p:attrName>style.visibility</p:attrName>
                                        </p:attrNameLst>
                                      </p:cBhvr>
                                      <p:to>
                                        <p:strVal val="visible"/>
                                      </p:to>
                                    </p:set>
                                    <p:animEffect transition="in" filter="fade">
                                      <p:cBhvr>
                                        <p:cTn id="215" dur="500"/>
                                        <p:tgtEl>
                                          <p:spTgt spid="271"/>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272"/>
                                        </p:tgtEl>
                                        <p:attrNameLst>
                                          <p:attrName>style.visibility</p:attrName>
                                        </p:attrNameLst>
                                      </p:cBhvr>
                                      <p:to>
                                        <p:strVal val="visible"/>
                                      </p:to>
                                    </p:set>
                                    <p:animEffect transition="in" filter="fade">
                                      <p:cBhvr>
                                        <p:cTn id="218" dur="500"/>
                                        <p:tgtEl>
                                          <p:spTgt spid="272"/>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273"/>
                                        </p:tgtEl>
                                        <p:attrNameLst>
                                          <p:attrName>style.visibility</p:attrName>
                                        </p:attrNameLst>
                                      </p:cBhvr>
                                      <p:to>
                                        <p:strVal val="visible"/>
                                      </p:to>
                                    </p:set>
                                    <p:animEffect transition="in" filter="fade">
                                      <p:cBhvr>
                                        <p:cTn id="221" dur="500"/>
                                        <p:tgtEl>
                                          <p:spTgt spid="273"/>
                                        </p:tgtEl>
                                      </p:cBhvr>
                                    </p:animEffect>
                                  </p:childTnLst>
                                </p:cTn>
                              </p:par>
                              <p:par>
                                <p:cTn id="222" presetID="10" presetClass="entr" presetSubtype="0" fill="hold" grpId="0" nodeType="withEffect">
                                  <p:stCondLst>
                                    <p:cond delay="0"/>
                                  </p:stCondLst>
                                  <p:childTnLst>
                                    <p:set>
                                      <p:cBhvr>
                                        <p:cTn id="223" dur="1" fill="hold">
                                          <p:stCondLst>
                                            <p:cond delay="0"/>
                                          </p:stCondLst>
                                        </p:cTn>
                                        <p:tgtEl>
                                          <p:spTgt spid="274"/>
                                        </p:tgtEl>
                                        <p:attrNameLst>
                                          <p:attrName>style.visibility</p:attrName>
                                        </p:attrNameLst>
                                      </p:cBhvr>
                                      <p:to>
                                        <p:strVal val="visible"/>
                                      </p:to>
                                    </p:set>
                                    <p:animEffect transition="in" filter="fade">
                                      <p:cBhvr>
                                        <p:cTn id="224" dur="500"/>
                                        <p:tgtEl>
                                          <p:spTgt spid="274"/>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275"/>
                                        </p:tgtEl>
                                        <p:attrNameLst>
                                          <p:attrName>style.visibility</p:attrName>
                                        </p:attrNameLst>
                                      </p:cBhvr>
                                      <p:to>
                                        <p:strVal val="visible"/>
                                      </p:to>
                                    </p:set>
                                    <p:animEffect transition="in" filter="fade">
                                      <p:cBhvr>
                                        <p:cTn id="227" dur="500"/>
                                        <p:tgtEl>
                                          <p:spTgt spid="275"/>
                                        </p:tgtEl>
                                      </p:cBhvr>
                                    </p:animEffect>
                                  </p:childTnLst>
                                </p:cTn>
                              </p:par>
                              <p:par>
                                <p:cTn id="228" presetID="10" presetClass="entr" presetSubtype="0" fill="hold" grpId="0" nodeType="withEffect">
                                  <p:stCondLst>
                                    <p:cond delay="0"/>
                                  </p:stCondLst>
                                  <p:childTnLst>
                                    <p:set>
                                      <p:cBhvr>
                                        <p:cTn id="229" dur="1" fill="hold">
                                          <p:stCondLst>
                                            <p:cond delay="0"/>
                                          </p:stCondLst>
                                        </p:cTn>
                                        <p:tgtEl>
                                          <p:spTgt spid="276"/>
                                        </p:tgtEl>
                                        <p:attrNameLst>
                                          <p:attrName>style.visibility</p:attrName>
                                        </p:attrNameLst>
                                      </p:cBhvr>
                                      <p:to>
                                        <p:strVal val="visible"/>
                                      </p:to>
                                    </p:set>
                                    <p:animEffect transition="in" filter="fade">
                                      <p:cBhvr>
                                        <p:cTn id="230" dur="500"/>
                                        <p:tgtEl>
                                          <p:spTgt spid="276"/>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277"/>
                                        </p:tgtEl>
                                        <p:attrNameLst>
                                          <p:attrName>style.visibility</p:attrName>
                                        </p:attrNameLst>
                                      </p:cBhvr>
                                      <p:to>
                                        <p:strVal val="visible"/>
                                      </p:to>
                                    </p:set>
                                    <p:animEffect transition="in" filter="fade">
                                      <p:cBhvr>
                                        <p:cTn id="233" dur="500"/>
                                        <p:tgtEl>
                                          <p:spTgt spid="277"/>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278"/>
                                        </p:tgtEl>
                                        <p:attrNameLst>
                                          <p:attrName>style.visibility</p:attrName>
                                        </p:attrNameLst>
                                      </p:cBhvr>
                                      <p:to>
                                        <p:strVal val="visible"/>
                                      </p:to>
                                    </p:set>
                                    <p:animEffect transition="in" filter="fade">
                                      <p:cBhvr>
                                        <p:cTn id="236" dur="500"/>
                                        <p:tgtEl>
                                          <p:spTgt spid="278"/>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279"/>
                                        </p:tgtEl>
                                        <p:attrNameLst>
                                          <p:attrName>style.visibility</p:attrName>
                                        </p:attrNameLst>
                                      </p:cBhvr>
                                      <p:to>
                                        <p:strVal val="visible"/>
                                      </p:to>
                                    </p:set>
                                    <p:animEffect transition="in" filter="fade">
                                      <p:cBhvr>
                                        <p:cTn id="239" dur="500"/>
                                        <p:tgtEl>
                                          <p:spTgt spid="279"/>
                                        </p:tgtEl>
                                      </p:cBhvr>
                                    </p:animEffect>
                                  </p:childTnLst>
                                </p:cTn>
                              </p:par>
                              <p:par>
                                <p:cTn id="240" presetID="10" presetClass="entr" presetSubtype="0" fill="hold" grpId="0" nodeType="withEffect">
                                  <p:stCondLst>
                                    <p:cond delay="0"/>
                                  </p:stCondLst>
                                  <p:childTnLst>
                                    <p:set>
                                      <p:cBhvr>
                                        <p:cTn id="241" dur="1" fill="hold">
                                          <p:stCondLst>
                                            <p:cond delay="0"/>
                                          </p:stCondLst>
                                        </p:cTn>
                                        <p:tgtEl>
                                          <p:spTgt spid="280"/>
                                        </p:tgtEl>
                                        <p:attrNameLst>
                                          <p:attrName>style.visibility</p:attrName>
                                        </p:attrNameLst>
                                      </p:cBhvr>
                                      <p:to>
                                        <p:strVal val="visible"/>
                                      </p:to>
                                    </p:set>
                                    <p:animEffect transition="in" filter="fade">
                                      <p:cBhvr>
                                        <p:cTn id="242" dur="500"/>
                                        <p:tgtEl>
                                          <p:spTgt spid="280"/>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281"/>
                                        </p:tgtEl>
                                        <p:attrNameLst>
                                          <p:attrName>style.visibility</p:attrName>
                                        </p:attrNameLst>
                                      </p:cBhvr>
                                      <p:to>
                                        <p:strVal val="visible"/>
                                      </p:to>
                                    </p:set>
                                    <p:animEffect transition="in" filter="fade">
                                      <p:cBhvr>
                                        <p:cTn id="245" dur="500"/>
                                        <p:tgtEl>
                                          <p:spTgt spid="281"/>
                                        </p:tgtEl>
                                      </p:cBhvr>
                                    </p:animEffect>
                                  </p:childTnLst>
                                </p:cTn>
                              </p:par>
                              <p:par>
                                <p:cTn id="246" presetID="10" presetClass="entr" presetSubtype="0" fill="hold" grpId="0" nodeType="withEffect">
                                  <p:stCondLst>
                                    <p:cond delay="0"/>
                                  </p:stCondLst>
                                  <p:childTnLst>
                                    <p:set>
                                      <p:cBhvr>
                                        <p:cTn id="247" dur="1" fill="hold">
                                          <p:stCondLst>
                                            <p:cond delay="0"/>
                                          </p:stCondLst>
                                        </p:cTn>
                                        <p:tgtEl>
                                          <p:spTgt spid="282"/>
                                        </p:tgtEl>
                                        <p:attrNameLst>
                                          <p:attrName>style.visibility</p:attrName>
                                        </p:attrNameLst>
                                      </p:cBhvr>
                                      <p:to>
                                        <p:strVal val="visible"/>
                                      </p:to>
                                    </p:set>
                                    <p:animEffect transition="in" filter="fade">
                                      <p:cBhvr>
                                        <p:cTn id="248" dur="500"/>
                                        <p:tgtEl>
                                          <p:spTgt spid="282"/>
                                        </p:tgtEl>
                                      </p:cBhvr>
                                    </p:animEffect>
                                  </p:childTnLst>
                                </p:cTn>
                              </p:par>
                              <p:par>
                                <p:cTn id="249" presetID="10" presetClass="entr" presetSubtype="0" fill="hold" grpId="0" nodeType="withEffect">
                                  <p:stCondLst>
                                    <p:cond delay="0"/>
                                  </p:stCondLst>
                                  <p:childTnLst>
                                    <p:set>
                                      <p:cBhvr>
                                        <p:cTn id="250" dur="1" fill="hold">
                                          <p:stCondLst>
                                            <p:cond delay="0"/>
                                          </p:stCondLst>
                                        </p:cTn>
                                        <p:tgtEl>
                                          <p:spTgt spid="283"/>
                                        </p:tgtEl>
                                        <p:attrNameLst>
                                          <p:attrName>style.visibility</p:attrName>
                                        </p:attrNameLst>
                                      </p:cBhvr>
                                      <p:to>
                                        <p:strVal val="visible"/>
                                      </p:to>
                                    </p:set>
                                    <p:animEffect transition="in" filter="fade">
                                      <p:cBhvr>
                                        <p:cTn id="251" dur="500"/>
                                        <p:tgtEl>
                                          <p:spTgt spid="283"/>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284"/>
                                        </p:tgtEl>
                                        <p:attrNameLst>
                                          <p:attrName>style.visibility</p:attrName>
                                        </p:attrNameLst>
                                      </p:cBhvr>
                                      <p:to>
                                        <p:strVal val="visible"/>
                                      </p:to>
                                    </p:set>
                                    <p:animEffect transition="in" filter="fade">
                                      <p:cBhvr>
                                        <p:cTn id="254" dur="500"/>
                                        <p:tgtEl>
                                          <p:spTgt spid="284"/>
                                        </p:tgtEl>
                                      </p:cBhvr>
                                    </p:animEffect>
                                  </p:childTnLst>
                                </p:cTn>
                              </p:par>
                              <p:par>
                                <p:cTn id="255" presetID="10" presetClass="entr" presetSubtype="0" fill="hold" grpId="0" nodeType="withEffect">
                                  <p:stCondLst>
                                    <p:cond delay="0"/>
                                  </p:stCondLst>
                                  <p:childTnLst>
                                    <p:set>
                                      <p:cBhvr>
                                        <p:cTn id="256" dur="1" fill="hold">
                                          <p:stCondLst>
                                            <p:cond delay="0"/>
                                          </p:stCondLst>
                                        </p:cTn>
                                        <p:tgtEl>
                                          <p:spTgt spid="285"/>
                                        </p:tgtEl>
                                        <p:attrNameLst>
                                          <p:attrName>style.visibility</p:attrName>
                                        </p:attrNameLst>
                                      </p:cBhvr>
                                      <p:to>
                                        <p:strVal val="visible"/>
                                      </p:to>
                                    </p:set>
                                    <p:animEffect transition="in" filter="fade">
                                      <p:cBhvr>
                                        <p:cTn id="257" dur="500"/>
                                        <p:tgtEl>
                                          <p:spTgt spid="285"/>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286"/>
                                        </p:tgtEl>
                                        <p:attrNameLst>
                                          <p:attrName>style.visibility</p:attrName>
                                        </p:attrNameLst>
                                      </p:cBhvr>
                                      <p:to>
                                        <p:strVal val="visible"/>
                                      </p:to>
                                    </p:set>
                                    <p:animEffect transition="in" filter="fade">
                                      <p:cBhvr>
                                        <p:cTn id="260" dur="500"/>
                                        <p:tgtEl>
                                          <p:spTgt spid="286"/>
                                        </p:tgtEl>
                                      </p:cBhvr>
                                    </p:animEffect>
                                  </p:childTnLst>
                                </p:cTn>
                              </p:par>
                              <p:par>
                                <p:cTn id="261" presetID="10" presetClass="entr" presetSubtype="0" fill="hold" grpId="0" nodeType="withEffect">
                                  <p:stCondLst>
                                    <p:cond delay="0"/>
                                  </p:stCondLst>
                                  <p:childTnLst>
                                    <p:set>
                                      <p:cBhvr>
                                        <p:cTn id="262" dur="1" fill="hold">
                                          <p:stCondLst>
                                            <p:cond delay="0"/>
                                          </p:stCondLst>
                                        </p:cTn>
                                        <p:tgtEl>
                                          <p:spTgt spid="292"/>
                                        </p:tgtEl>
                                        <p:attrNameLst>
                                          <p:attrName>style.visibility</p:attrName>
                                        </p:attrNameLst>
                                      </p:cBhvr>
                                      <p:to>
                                        <p:strVal val="visible"/>
                                      </p:to>
                                    </p:set>
                                    <p:animEffect transition="in" filter="fade">
                                      <p:cBhvr>
                                        <p:cTn id="263" dur="500"/>
                                        <p:tgtEl>
                                          <p:spTgt spid="292"/>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293"/>
                                        </p:tgtEl>
                                        <p:attrNameLst>
                                          <p:attrName>style.visibility</p:attrName>
                                        </p:attrNameLst>
                                      </p:cBhvr>
                                      <p:to>
                                        <p:strVal val="visible"/>
                                      </p:to>
                                    </p:set>
                                    <p:animEffect transition="in" filter="fade">
                                      <p:cBhvr>
                                        <p:cTn id="266" dur="500"/>
                                        <p:tgtEl>
                                          <p:spTgt spid="293"/>
                                        </p:tgtEl>
                                      </p:cBhvr>
                                    </p:animEffect>
                                  </p:childTnLst>
                                </p:cTn>
                              </p:par>
                              <p:par>
                                <p:cTn id="267" presetID="10" presetClass="entr" presetSubtype="0" fill="hold" grpId="0" nodeType="withEffect">
                                  <p:stCondLst>
                                    <p:cond delay="0"/>
                                  </p:stCondLst>
                                  <p:childTnLst>
                                    <p:set>
                                      <p:cBhvr>
                                        <p:cTn id="268" dur="1" fill="hold">
                                          <p:stCondLst>
                                            <p:cond delay="0"/>
                                          </p:stCondLst>
                                        </p:cTn>
                                        <p:tgtEl>
                                          <p:spTgt spid="294"/>
                                        </p:tgtEl>
                                        <p:attrNameLst>
                                          <p:attrName>style.visibility</p:attrName>
                                        </p:attrNameLst>
                                      </p:cBhvr>
                                      <p:to>
                                        <p:strVal val="visible"/>
                                      </p:to>
                                    </p:set>
                                    <p:animEffect transition="in" filter="fade">
                                      <p:cBhvr>
                                        <p:cTn id="269" dur="500"/>
                                        <p:tgtEl>
                                          <p:spTgt spid="294"/>
                                        </p:tgtEl>
                                      </p:cBhvr>
                                    </p:animEffect>
                                  </p:childTnLst>
                                </p:cTn>
                              </p:par>
                              <p:par>
                                <p:cTn id="270" presetID="10" presetClass="entr" presetSubtype="0" fill="hold" grpId="0" nodeType="withEffect">
                                  <p:stCondLst>
                                    <p:cond delay="0"/>
                                  </p:stCondLst>
                                  <p:childTnLst>
                                    <p:set>
                                      <p:cBhvr>
                                        <p:cTn id="271" dur="1" fill="hold">
                                          <p:stCondLst>
                                            <p:cond delay="0"/>
                                          </p:stCondLst>
                                        </p:cTn>
                                        <p:tgtEl>
                                          <p:spTgt spid="295"/>
                                        </p:tgtEl>
                                        <p:attrNameLst>
                                          <p:attrName>style.visibility</p:attrName>
                                        </p:attrNameLst>
                                      </p:cBhvr>
                                      <p:to>
                                        <p:strVal val="visible"/>
                                      </p:to>
                                    </p:set>
                                    <p:animEffect transition="in" filter="fade">
                                      <p:cBhvr>
                                        <p:cTn id="272" dur="500"/>
                                        <p:tgtEl>
                                          <p:spTgt spid="295"/>
                                        </p:tgtEl>
                                      </p:cBhvr>
                                    </p:animEffect>
                                  </p:childTnLst>
                                </p:cTn>
                              </p:par>
                              <p:par>
                                <p:cTn id="273" presetID="10" presetClass="entr" presetSubtype="0" fill="hold" grpId="0" nodeType="withEffect">
                                  <p:stCondLst>
                                    <p:cond delay="0"/>
                                  </p:stCondLst>
                                  <p:childTnLst>
                                    <p:set>
                                      <p:cBhvr>
                                        <p:cTn id="274" dur="1" fill="hold">
                                          <p:stCondLst>
                                            <p:cond delay="0"/>
                                          </p:stCondLst>
                                        </p:cTn>
                                        <p:tgtEl>
                                          <p:spTgt spid="296"/>
                                        </p:tgtEl>
                                        <p:attrNameLst>
                                          <p:attrName>style.visibility</p:attrName>
                                        </p:attrNameLst>
                                      </p:cBhvr>
                                      <p:to>
                                        <p:strVal val="visible"/>
                                      </p:to>
                                    </p:set>
                                    <p:animEffect transition="in" filter="fade">
                                      <p:cBhvr>
                                        <p:cTn id="275" dur="500"/>
                                        <p:tgtEl>
                                          <p:spTgt spid="296"/>
                                        </p:tgtEl>
                                      </p:cBhvr>
                                    </p:animEffect>
                                  </p:childTnLst>
                                </p:cTn>
                              </p:par>
                              <p:par>
                                <p:cTn id="276" presetID="10" presetClass="entr" presetSubtype="0" fill="hold" grpId="0" nodeType="withEffect">
                                  <p:stCondLst>
                                    <p:cond delay="0"/>
                                  </p:stCondLst>
                                  <p:childTnLst>
                                    <p:set>
                                      <p:cBhvr>
                                        <p:cTn id="277" dur="1" fill="hold">
                                          <p:stCondLst>
                                            <p:cond delay="0"/>
                                          </p:stCondLst>
                                        </p:cTn>
                                        <p:tgtEl>
                                          <p:spTgt spid="297"/>
                                        </p:tgtEl>
                                        <p:attrNameLst>
                                          <p:attrName>style.visibility</p:attrName>
                                        </p:attrNameLst>
                                      </p:cBhvr>
                                      <p:to>
                                        <p:strVal val="visible"/>
                                      </p:to>
                                    </p:set>
                                    <p:animEffect transition="in" filter="fade">
                                      <p:cBhvr>
                                        <p:cTn id="278" dur="500"/>
                                        <p:tgtEl>
                                          <p:spTgt spid="297"/>
                                        </p:tgtEl>
                                      </p:cBhvr>
                                    </p:animEffect>
                                  </p:childTnLst>
                                </p:cTn>
                              </p:par>
                              <p:par>
                                <p:cTn id="279" presetID="10" presetClass="entr" presetSubtype="0" fill="hold" grpId="0" nodeType="withEffect">
                                  <p:stCondLst>
                                    <p:cond delay="0"/>
                                  </p:stCondLst>
                                  <p:childTnLst>
                                    <p:set>
                                      <p:cBhvr>
                                        <p:cTn id="280" dur="1" fill="hold">
                                          <p:stCondLst>
                                            <p:cond delay="0"/>
                                          </p:stCondLst>
                                        </p:cTn>
                                        <p:tgtEl>
                                          <p:spTgt spid="298"/>
                                        </p:tgtEl>
                                        <p:attrNameLst>
                                          <p:attrName>style.visibility</p:attrName>
                                        </p:attrNameLst>
                                      </p:cBhvr>
                                      <p:to>
                                        <p:strVal val="visible"/>
                                      </p:to>
                                    </p:set>
                                    <p:animEffect transition="in" filter="fade">
                                      <p:cBhvr>
                                        <p:cTn id="281" dur="500"/>
                                        <p:tgtEl>
                                          <p:spTgt spid="298"/>
                                        </p:tgtEl>
                                      </p:cBhvr>
                                    </p:animEffect>
                                  </p:childTnLst>
                                </p:cTn>
                              </p:par>
                              <p:par>
                                <p:cTn id="282" presetID="10" presetClass="entr" presetSubtype="0" fill="hold" grpId="0" nodeType="withEffect">
                                  <p:stCondLst>
                                    <p:cond delay="0"/>
                                  </p:stCondLst>
                                  <p:childTnLst>
                                    <p:set>
                                      <p:cBhvr>
                                        <p:cTn id="283" dur="1" fill="hold">
                                          <p:stCondLst>
                                            <p:cond delay="0"/>
                                          </p:stCondLst>
                                        </p:cTn>
                                        <p:tgtEl>
                                          <p:spTgt spid="299"/>
                                        </p:tgtEl>
                                        <p:attrNameLst>
                                          <p:attrName>style.visibility</p:attrName>
                                        </p:attrNameLst>
                                      </p:cBhvr>
                                      <p:to>
                                        <p:strVal val="visible"/>
                                      </p:to>
                                    </p:set>
                                    <p:animEffect transition="in" filter="fade">
                                      <p:cBhvr>
                                        <p:cTn id="284" dur="500"/>
                                        <p:tgtEl>
                                          <p:spTgt spid="299"/>
                                        </p:tgtEl>
                                      </p:cBhvr>
                                    </p:animEffect>
                                  </p:childTnLst>
                                </p:cTn>
                              </p:par>
                              <p:par>
                                <p:cTn id="285" presetID="10" presetClass="entr" presetSubtype="0" fill="hold" grpId="0" nodeType="withEffect">
                                  <p:stCondLst>
                                    <p:cond delay="0"/>
                                  </p:stCondLst>
                                  <p:childTnLst>
                                    <p:set>
                                      <p:cBhvr>
                                        <p:cTn id="286" dur="1" fill="hold">
                                          <p:stCondLst>
                                            <p:cond delay="0"/>
                                          </p:stCondLst>
                                        </p:cTn>
                                        <p:tgtEl>
                                          <p:spTgt spid="300"/>
                                        </p:tgtEl>
                                        <p:attrNameLst>
                                          <p:attrName>style.visibility</p:attrName>
                                        </p:attrNameLst>
                                      </p:cBhvr>
                                      <p:to>
                                        <p:strVal val="visible"/>
                                      </p:to>
                                    </p:set>
                                    <p:animEffect transition="in" filter="fade">
                                      <p:cBhvr>
                                        <p:cTn id="287" dur="500"/>
                                        <p:tgtEl>
                                          <p:spTgt spid="300"/>
                                        </p:tgtEl>
                                      </p:cBhvr>
                                    </p:animEffect>
                                  </p:childTnLst>
                                </p:cTn>
                              </p:par>
                              <p:par>
                                <p:cTn id="288" presetID="10" presetClass="entr" presetSubtype="0" fill="hold" grpId="0" nodeType="withEffect">
                                  <p:stCondLst>
                                    <p:cond delay="0"/>
                                  </p:stCondLst>
                                  <p:childTnLst>
                                    <p:set>
                                      <p:cBhvr>
                                        <p:cTn id="289" dur="1" fill="hold">
                                          <p:stCondLst>
                                            <p:cond delay="0"/>
                                          </p:stCondLst>
                                        </p:cTn>
                                        <p:tgtEl>
                                          <p:spTgt spid="301"/>
                                        </p:tgtEl>
                                        <p:attrNameLst>
                                          <p:attrName>style.visibility</p:attrName>
                                        </p:attrNameLst>
                                      </p:cBhvr>
                                      <p:to>
                                        <p:strVal val="visible"/>
                                      </p:to>
                                    </p:set>
                                    <p:animEffect transition="in" filter="fade">
                                      <p:cBhvr>
                                        <p:cTn id="290" dur="500"/>
                                        <p:tgtEl>
                                          <p:spTgt spid="301"/>
                                        </p:tgtEl>
                                      </p:cBhvr>
                                    </p:animEffect>
                                  </p:childTnLst>
                                </p:cTn>
                              </p:par>
                              <p:par>
                                <p:cTn id="291" presetID="10" presetClass="entr" presetSubtype="0" fill="hold" grpId="0" nodeType="withEffect">
                                  <p:stCondLst>
                                    <p:cond delay="0"/>
                                  </p:stCondLst>
                                  <p:childTnLst>
                                    <p:set>
                                      <p:cBhvr>
                                        <p:cTn id="292" dur="1" fill="hold">
                                          <p:stCondLst>
                                            <p:cond delay="0"/>
                                          </p:stCondLst>
                                        </p:cTn>
                                        <p:tgtEl>
                                          <p:spTgt spid="302"/>
                                        </p:tgtEl>
                                        <p:attrNameLst>
                                          <p:attrName>style.visibility</p:attrName>
                                        </p:attrNameLst>
                                      </p:cBhvr>
                                      <p:to>
                                        <p:strVal val="visible"/>
                                      </p:to>
                                    </p:set>
                                    <p:animEffect transition="in" filter="fade">
                                      <p:cBhvr>
                                        <p:cTn id="293" dur="500"/>
                                        <p:tgtEl>
                                          <p:spTgt spid="302"/>
                                        </p:tgtEl>
                                      </p:cBhvr>
                                    </p:animEffect>
                                  </p:childTnLst>
                                </p:cTn>
                              </p:par>
                              <p:par>
                                <p:cTn id="294" presetID="10" presetClass="entr" presetSubtype="0" fill="hold" grpId="0" nodeType="withEffect">
                                  <p:stCondLst>
                                    <p:cond delay="0"/>
                                  </p:stCondLst>
                                  <p:childTnLst>
                                    <p:set>
                                      <p:cBhvr>
                                        <p:cTn id="295" dur="1" fill="hold">
                                          <p:stCondLst>
                                            <p:cond delay="0"/>
                                          </p:stCondLst>
                                        </p:cTn>
                                        <p:tgtEl>
                                          <p:spTgt spid="303"/>
                                        </p:tgtEl>
                                        <p:attrNameLst>
                                          <p:attrName>style.visibility</p:attrName>
                                        </p:attrNameLst>
                                      </p:cBhvr>
                                      <p:to>
                                        <p:strVal val="visible"/>
                                      </p:to>
                                    </p:set>
                                    <p:animEffect transition="in" filter="fade">
                                      <p:cBhvr>
                                        <p:cTn id="296" dur="500"/>
                                        <p:tgtEl>
                                          <p:spTgt spid="303"/>
                                        </p:tgtEl>
                                      </p:cBhvr>
                                    </p:animEffect>
                                  </p:childTnLst>
                                </p:cTn>
                              </p:par>
                              <p:par>
                                <p:cTn id="297" presetID="10" presetClass="entr" presetSubtype="0" fill="hold" grpId="0" nodeType="withEffect">
                                  <p:stCondLst>
                                    <p:cond delay="0"/>
                                  </p:stCondLst>
                                  <p:childTnLst>
                                    <p:set>
                                      <p:cBhvr>
                                        <p:cTn id="298" dur="1" fill="hold">
                                          <p:stCondLst>
                                            <p:cond delay="0"/>
                                          </p:stCondLst>
                                        </p:cTn>
                                        <p:tgtEl>
                                          <p:spTgt spid="304"/>
                                        </p:tgtEl>
                                        <p:attrNameLst>
                                          <p:attrName>style.visibility</p:attrName>
                                        </p:attrNameLst>
                                      </p:cBhvr>
                                      <p:to>
                                        <p:strVal val="visible"/>
                                      </p:to>
                                    </p:set>
                                    <p:animEffect transition="in" filter="fade">
                                      <p:cBhvr>
                                        <p:cTn id="299" dur="500"/>
                                        <p:tgtEl>
                                          <p:spTgt spid="304"/>
                                        </p:tgtEl>
                                      </p:cBhvr>
                                    </p:animEffect>
                                  </p:childTnLst>
                                </p:cTn>
                              </p:par>
                              <p:par>
                                <p:cTn id="300" presetID="10" presetClass="entr" presetSubtype="0" fill="hold" grpId="0" nodeType="withEffect">
                                  <p:stCondLst>
                                    <p:cond delay="0"/>
                                  </p:stCondLst>
                                  <p:childTnLst>
                                    <p:set>
                                      <p:cBhvr>
                                        <p:cTn id="301" dur="1" fill="hold">
                                          <p:stCondLst>
                                            <p:cond delay="0"/>
                                          </p:stCondLst>
                                        </p:cTn>
                                        <p:tgtEl>
                                          <p:spTgt spid="305"/>
                                        </p:tgtEl>
                                        <p:attrNameLst>
                                          <p:attrName>style.visibility</p:attrName>
                                        </p:attrNameLst>
                                      </p:cBhvr>
                                      <p:to>
                                        <p:strVal val="visible"/>
                                      </p:to>
                                    </p:set>
                                    <p:animEffect transition="in" filter="fade">
                                      <p:cBhvr>
                                        <p:cTn id="302" dur="500"/>
                                        <p:tgtEl>
                                          <p:spTgt spid="305"/>
                                        </p:tgtEl>
                                      </p:cBhvr>
                                    </p:animEffect>
                                  </p:childTnLst>
                                </p:cTn>
                              </p:par>
                              <p:par>
                                <p:cTn id="303" presetID="10" presetClass="entr" presetSubtype="0" fill="hold" grpId="0" nodeType="withEffect">
                                  <p:stCondLst>
                                    <p:cond delay="0"/>
                                  </p:stCondLst>
                                  <p:childTnLst>
                                    <p:set>
                                      <p:cBhvr>
                                        <p:cTn id="304" dur="1" fill="hold">
                                          <p:stCondLst>
                                            <p:cond delay="0"/>
                                          </p:stCondLst>
                                        </p:cTn>
                                        <p:tgtEl>
                                          <p:spTgt spid="306"/>
                                        </p:tgtEl>
                                        <p:attrNameLst>
                                          <p:attrName>style.visibility</p:attrName>
                                        </p:attrNameLst>
                                      </p:cBhvr>
                                      <p:to>
                                        <p:strVal val="visible"/>
                                      </p:to>
                                    </p:set>
                                    <p:animEffect transition="in" filter="fade">
                                      <p:cBhvr>
                                        <p:cTn id="305" dur="500"/>
                                        <p:tgtEl>
                                          <p:spTgt spid="306"/>
                                        </p:tgtEl>
                                      </p:cBhvr>
                                    </p:animEffect>
                                  </p:childTnLst>
                                </p:cTn>
                              </p:par>
                              <p:par>
                                <p:cTn id="306" presetID="10" presetClass="entr" presetSubtype="0" fill="hold" grpId="0" nodeType="withEffect">
                                  <p:stCondLst>
                                    <p:cond delay="0"/>
                                  </p:stCondLst>
                                  <p:childTnLst>
                                    <p:set>
                                      <p:cBhvr>
                                        <p:cTn id="307" dur="1" fill="hold">
                                          <p:stCondLst>
                                            <p:cond delay="0"/>
                                          </p:stCondLst>
                                        </p:cTn>
                                        <p:tgtEl>
                                          <p:spTgt spid="307"/>
                                        </p:tgtEl>
                                        <p:attrNameLst>
                                          <p:attrName>style.visibility</p:attrName>
                                        </p:attrNameLst>
                                      </p:cBhvr>
                                      <p:to>
                                        <p:strVal val="visible"/>
                                      </p:to>
                                    </p:set>
                                    <p:animEffect transition="in" filter="fade">
                                      <p:cBhvr>
                                        <p:cTn id="308" dur="500"/>
                                        <p:tgtEl>
                                          <p:spTgt spid="307"/>
                                        </p:tgtEl>
                                      </p:cBhvr>
                                    </p:animEffect>
                                  </p:childTnLst>
                                </p:cTn>
                              </p:par>
                              <p:par>
                                <p:cTn id="309" presetID="10" presetClass="entr" presetSubtype="0" fill="hold" grpId="0" nodeType="withEffect">
                                  <p:stCondLst>
                                    <p:cond delay="0"/>
                                  </p:stCondLst>
                                  <p:childTnLst>
                                    <p:set>
                                      <p:cBhvr>
                                        <p:cTn id="310" dur="1" fill="hold">
                                          <p:stCondLst>
                                            <p:cond delay="0"/>
                                          </p:stCondLst>
                                        </p:cTn>
                                        <p:tgtEl>
                                          <p:spTgt spid="308"/>
                                        </p:tgtEl>
                                        <p:attrNameLst>
                                          <p:attrName>style.visibility</p:attrName>
                                        </p:attrNameLst>
                                      </p:cBhvr>
                                      <p:to>
                                        <p:strVal val="visible"/>
                                      </p:to>
                                    </p:set>
                                    <p:animEffect transition="in" filter="fade">
                                      <p:cBhvr>
                                        <p:cTn id="311" dur="500"/>
                                        <p:tgtEl>
                                          <p:spTgt spid="308"/>
                                        </p:tgtEl>
                                      </p:cBhvr>
                                    </p:animEffect>
                                  </p:childTnLst>
                                </p:cTn>
                              </p:par>
                              <p:par>
                                <p:cTn id="312" presetID="10" presetClass="entr" presetSubtype="0" fill="hold" grpId="0" nodeType="withEffect">
                                  <p:stCondLst>
                                    <p:cond delay="0"/>
                                  </p:stCondLst>
                                  <p:childTnLst>
                                    <p:set>
                                      <p:cBhvr>
                                        <p:cTn id="313" dur="1" fill="hold">
                                          <p:stCondLst>
                                            <p:cond delay="0"/>
                                          </p:stCondLst>
                                        </p:cTn>
                                        <p:tgtEl>
                                          <p:spTgt spid="309"/>
                                        </p:tgtEl>
                                        <p:attrNameLst>
                                          <p:attrName>style.visibility</p:attrName>
                                        </p:attrNameLst>
                                      </p:cBhvr>
                                      <p:to>
                                        <p:strVal val="visible"/>
                                      </p:to>
                                    </p:set>
                                    <p:animEffect transition="in" filter="fade">
                                      <p:cBhvr>
                                        <p:cTn id="314" dur="500"/>
                                        <p:tgtEl>
                                          <p:spTgt spid="309"/>
                                        </p:tgtEl>
                                      </p:cBhvr>
                                    </p:animEffect>
                                  </p:childTnLst>
                                </p:cTn>
                              </p:par>
                              <p:par>
                                <p:cTn id="315" presetID="10" presetClass="entr" presetSubtype="0" fill="hold" grpId="0" nodeType="withEffect">
                                  <p:stCondLst>
                                    <p:cond delay="0"/>
                                  </p:stCondLst>
                                  <p:childTnLst>
                                    <p:set>
                                      <p:cBhvr>
                                        <p:cTn id="316" dur="1" fill="hold">
                                          <p:stCondLst>
                                            <p:cond delay="0"/>
                                          </p:stCondLst>
                                        </p:cTn>
                                        <p:tgtEl>
                                          <p:spTgt spid="310"/>
                                        </p:tgtEl>
                                        <p:attrNameLst>
                                          <p:attrName>style.visibility</p:attrName>
                                        </p:attrNameLst>
                                      </p:cBhvr>
                                      <p:to>
                                        <p:strVal val="visible"/>
                                      </p:to>
                                    </p:set>
                                    <p:animEffect transition="in" filter="fade">
                                      <p:cBhvr>
                                        <p:cTn id="317" dur="500"/>
                                        <p:tgtEl>
                                          <p:spTgt spid="310"/>
                                        </p:tgtEl>
                                      </p:cBhvr>
                                    </p:animEffect>
                                  </p:childTnLst>
                                </p:cTn>
                              </p:par>
                              <p:par>
                                <p:cTn id="318" presetID="10" presetClass="entr" presetSubtype="0" fill="hold" grpId="0" nodeType="withEffect">
                                  <p:stCondLst>
                                    <p:cond delay="0"/>
                                  </p:stCondLst>
                                  <p:childTnLst>
                                    <p:set>
                                      <p:cBhvr>
                                        <p:cTn id="319" dur="1" fill="hold">
                                          <p:stCondLst>
                                            <p:cond delay="0"/>
                                          </p:stCondLst>
                                        </p:cTn>
                                        <p:tgtEl>
                                          <p:spTgt spid="311"/>
                                        </p:tgtEl>
                                        <p:attrNameLst>
                                          <p:attrName>style.visibility</p:attrName>
                                        </p:attrNameLst>
                                      </p:cBhvr>
                                      <p:to>
                                        <p:strVal val="visible"/>
                                      </p:to>
                                    </p:set>
                                    <p:animEffect transition="in" filter="fade">
                                      <p:cBhvr>
                                        <p:cTn id="320" dur="500"/>
                                        <p:tgtEl>
                                          <p:spTgt spid="311"/>
                                        </p:tgtEl>
                                      </p:cBhvr>
                                    </p:animEffect>
                                  </p:childTnLst>
                                </p:cTn>
                              </p:par>
                              <p:par>
                                <p:cTn id="321" presetID="10" presetClass="entr" presetSubtype="0" fill="hold" grpId="0" nodeType="withEffect">
                                  <p:stCondLst>
                                    <p:cond delay="0"/>
                                  </p:stCondLst>
                                  <p:childTnLst>
                                    <p:set>
                                      <p:cBhvr>
                                        <p:cTn id="322" dur="1" fill="hold">
                                          <p:stCondLst>
                                            <p:cond delay="0"/>
                                          </p:stCondLst>
                                        </p:cTn>
                                        <p:tgtEl>
                                          <p:spTgt spid="312"/>
                                        </p:tgtEl>
                                        <p:attrNameLst>
                                          <p:attrName>style.visibility</p:attrName>
                                        </p:attrNameLst>
                                      </p:cBhvr>
                                      <p:to>
                                        <p:strVal val="visible"/>
                                      </p:to>
                                    </p:set>
                                    <p:animEffect transition="in" filter="fade">
                                      <p:cBhvr>
                                        <p:cTn id="323" dur="500"/>
                                        <p:tgtEl>
                                          <p:spTgt spid="312"/>
                                        </p:tgtEl>
                                      </p:cBhvr>
                                    </p:animEffect>
                                  </p:childTnLst>
                                </p:cTn>
                              </p:par>
                              <p:par>
                                <p:cTn id="324" presetID="10" presetClass="entr" presetSubtype="0" fill="hold" grpId="0" nodeType="withEffect">
                                  <p:stCondLst>
                                    <p:cond delay="0"/>
                                  </p:stCondLst>
                                  <p:childTnLst>
                                    <p:set>
                                      <p:cBhvr>
                                        <p:cTn id="325" dur="1" fill="hold">
                                          <p:stCondLst>
                                            <p:cond delay="0"/>
                                          </p:stCondLst>
                                        </p:cTn>
                                        <p:tgtEl>
                                          <p:spTgt spid="313"/>
                                        </p:tgtEl>
                                        <p:attrNameLst>
                                          <p:attrName>style.visibility</p:attrName>
                                        </p:attrNameLst>
                                      </p:cBhvr>
                                      <p:to>
                                        <p:strVal val="visible"/>
                                      </p:to>
                                    </p:set>
                                    <p:animEffect transition="in" filter="fade">
                                      <p:cBhvr>
                                        <p:cTn id="326" dur="500"/>
                                        <p:tgtEl>
                                          <p:spTgt spid="313"/>
                                        </p:tgtEl>
                                      </p:cBhvr>
                                    </p:animEffect>
                                  </p:childTnLst>
                                </p:cTn>
                              </p:par>
                              <p:par>
                                <p:cTn id="327" presetID="10" presetClass="entr" presetSubtype="0" fill="hold" grpId="0" nodeType="withEffect">
                                  <p:stCondLst>
                                    <p:cond delay="0"/>
                                  </p:stCondLst>
                                  <p:childTnLst>
                                    <p:set>
                                      <p:cBhvr>
                                        <p:cTn id="328" dur="1" fill="hold">
                                          <p:stCondLst>
                                            <p:cond delay="0"/>
                                          </p:stCondLst>
                                        </p:cTn>
                                        <p:tgtEl>
                                          <p:spTgt spid="314"/>
                                        </p:tgtEl>
                                        <p:attrNameLst>
                                          <p:attrName>style.visibility</p:attrName>
                                        </p:attrNameLst>
                                      </p:cBhvr>
                                      <p:to>
                                        <p:strVal val="visible"/>
                                      </p:to>
                                    </p:set>
                                    <p:animEffect transition="in" filter="fade">
                                      <p:cBhvr>
                                        <p:cTn id="329" dur="500"/>
                                        <p:tgtEl>
                                          <p:spTgt spid="314"/>
                                        </p:tgtEl>
                                      </p:cBhvr>
                                    </p:animEffect>
                                  </p:childTnLst>
                                </p:cTn>
                              </p:par>
                              <p:par>
                                <p:cTn id="330" presetID="10" presetClass="entr" presetSubtype="0" fill="hold" grpId="0" nodeType="withEffect">
                                  <p:stCondLst>
                                    <p:cond delay="0"/>
                                  </p:stCondLst>
                                  <p:childTnLst>
                                    <p:set>
                                      <p:cBhvr>
                                        <p:cTn id="331" dur="1" fill="hold">
                                          <p:stCondLst>
                                            <p:cond delay="0"/>
                                          </p:stCondLst>
                                        </p:cTn>
                                        <p:tgtEl>
                                          <p:spTgt spid="315"/>
                                        </p:tgtEl>
                                        <p:attrNameLst>
                                          <p:attrName>style.visibility</p:attrName>
                                        </p:attrNameLst>
                                      </p:cBhvr>
                                      <p:to>
                                        <p:strVal val="visible"/>
                                      </p:to>
                                    </p:set>
                                    <p:animEffect transition="in" filter="fade">
                                      <p:cBhvr>
                                        <p:cTn id="332" dur="500"/>
                                        <p:tgtEl>
                                          <p:spTgt spid="315"/>
                                        </p:tgtEl>
                                      </p:cBhvr>
                                    </p:animEffect>
                                  </p:childTnLst>
                                </p:cTn>
                              </p:par>
                              <p:par>
                                <p:cTn id="333" presetID="10" presetClass="entr" presetSubtype="0" fill="hold" grpId="0" nodeType="withEffect">
                                  <p:stCondLst>
                                    <p:cond delay="0"/>
                                  </p:stCondLst>
                                  <p:childTnLst>
                                    <p:set>
                                      <p:cBhvr>
                                        <p:cTn id="334" dur="1" fill="hold">
                                          <p:stCondLst>
                                            <p:cond delay="0"/>
                                          </p:stCondLst>
                                        </p:cTn>
                                        <p:tgtEl>
                                          <p:spTgt spid="316"/>
                                        </p:tgtEl>
                                        <p:attrNameLst>
                                          <p:attrName>style.visibility</p:attrName>
                                        </p:attrNameLst>
                                      </p:cBhvr>
                                      <p:to>
                                        <p:strVal val="visible"/>
                                      </p:to>
                                    </p:set>
                                    <p:animEffect transition="in" filter="fade">
                                      <p:cBhvr>
                                        <p:cTn id="335" dur="500"/>
                                        <p:tgtEl>
                                          <p:spTgt spid="316"/>
                                        </p:tgtEl>
                                      </p:cBhvr>
                                    </p:animEffect>
                                  </p:childTnLst>
                                </p:cTn>
                              </p:par>
                              <p:par>
                                <p:cTn id="336" presetID="10" presetClass="entr" presetSubtype="0" fill="hold" grpId="0" nodeType="withEffect">
                                  <p:stCondLst>
                                    <p:cond delay="0"/>
                                  </p:stCondLst>
                                  <p:childTnLst>
                                    <p:set>
                                      <p:cBhvr>
                                        <p:cTn id="337" dur="1" fill="hold">
                                          <p:stCondLst>
                                            <p:cond delay="0"/>
                                          </p:stCondLst>
                                        </p:cTn>
                                        <p:tgtEl>
                                          <p:spTgt spid="317"/>
                                        </p:tgtEl>
                                        <p:attrNameLst>
                                          <p:attrName>style.visibility</p:attrName>
                                        </p:attrNameLst>
                                      </p:cBhvr>
                                      <p:to>
                                        <p:strVal val="visible"/>
                                      </p:to>
                                    </p:set>
                                    <p:animEffect transition="in" filter="fade">
                                      <p:cBhvr>
                                        <p:cTn id="338" dur="500"/>
                                        <p:tgtEl>
                                          <p:spTgt spid="317"/>
                                        </p:tgtEl>
                                      </p:cBhvr>
                                    </p:animEffect>
                                  </p:childTnLst>
                                </p:cTn>
                              </p:par>
                              <p:par>
                                <p:cTn id="339" presetID="10" presetClass="entr" presetSubtype="0" fill="hold" grpId="0" nodeType="withEffect">
                                  <p:stCondLst>
                                    <p:cond delay="0"/>
                                  </p:stCondLst>
                                  <p:childTnLst>
                                    <p:set>
                                      <p:cBhvr>
                                        <p:cTn id="340" dur="1" fill="hold">
                                          <p:stCondLst>
                                            <p:cond delay="0"/>
                                          </p:stCondLst>
                                        </p:cTn>
                                        <p:tgtEl>
                                          <p:spTgt spid="318"/>
                                        </p:tgtEl>
                                        <p:attrNameLst>
                                          <p:attrName>style.visibility</p:attrName>
                                        </p:attrNameLst>
                                      </p:cBhvr>
                                      <p:to>
                                        <p:strVal val="visible"/>
                                      </p:to>
                                    </p:set>
                                    <p:animEffect transition="in" filter="fade">
                                      <p:cBhvr>
                                        <p:cTn id="341" dur="500"/>
                                        <p:tgtEl>
                                          <p:spTgt spid="318"/>
                                        </p:tgtEl>
                                      </p:cBhvr>
                                    </p:animEffect>
                                  </p:childTnLst>
                                </p:cTn>
                              </p:par>
                              <p:par>
                                <p:cTn id="342" presetID="10" presetClass="entr" presetSubtype="0" fill="hold" grpId="0" nodeType="withEffect">
                                  <p:stCondLst>
                                    <p:cond delay="0"/>
                                  </p:stCondLst>
                                  <p:childTnLst>
                                    <p:set>
                                      <p:cBhvr>
                                        <p:cTn id="343" dur="1" fill="hold">
                                          <p:stCondLst>
                                            <p:cond delay="0"/>
                                          </p:stCondLst>
                                        </p:cTn>
                                        <p:tgtEl>
                                          <p:spTgt spid="319"/>
                                        </p:tgtEl>
                                        <p:attrNameLst>
                                          <p:attrName>style.visibility</p:attrName>
                                        </p:attrNameLst>
                                      </p:cBhvr>
                                      <p:to>
                                        <p:strVal val="visible"/>
                                      </p:to>
                                    </p:set>
                                    <p:animEffect transition="in" filter="fade">
                                      <p:cBhvr>
                                        <p:cTn id="344" dur="500"/>
                                        <p:tgtEl>
                                          <p:spTgt spid="319"/>
                                        </p:tgtEl>
                                      </p:cBhvr>
                                    </p:animEffect>
                                  </p:childTnLst>
                                </p:cTn>
                              </p:par>
                              <p:par>
                                <p:cTn id="345" presetID="10" presetClass="entr" presetSubtype="0" fill="hold" grpId="0" nodeType="withEffect">
                                  <p:stCondLst>
                                    <p:cond delay="0"/>
                                  </p:stCondLst>
                                  <p:childTnLst>
                                    <p:set>
                                      <p:cBhvr>
                                        <p:cTn id="346" dur="1" fill="hold">
                                          <p:stCondLst>
                                            <p:cond delay="0"/>
                                          </p:stCondLst>
                                        </p:cTn>
                                        <p:tgtEl>
                                          <p:spTgt spid="320"/>
                                        </p:tgtEl>
                                        <p:attrNameLst>
                                          <p:attrName>style.visibility</p:attrName>
                                        </p:attrNameLst>
                                      </p:cBhvr>
                                      <p:to>
                                        <p:strVal val="visible"/>
                                      </p:to>
                                    </p:set>
                                    <p:animEffect transition="in" filter="fade">
                                      <p:cBhvr>
                                        <p:cTn id="347" dur="500"/>
                                        <p:tgtEl>
                                          <p:spTgt spid="320"/>
                                        </p:tgtEl>
                                      </p:cBhvr>
                                    </p:animEffect>
                                  </p:childTnLst>
                                </p:cTn>
                              </p:par>
                              <p:par>
                                <p:cTn id="348" presetID="10" presetClass="entr" presetSubtype="0" fill="hold" grpId="0" nodeType="withEffect">
                                  <p:stCondLst>
                                    <p:cond delay="0"/>
                                  </p:stCondLst>
                                  <p:childTnLst>
                                    <p:set>
                                      <p:cBhvr>
                                        <p:cTn id="349" dur="1" fill="hold">
                                          <p:stCondLst>
                                            <p:cond delay="0"/>
                                          </p:stCondLst>
                                        </p:cTn>
                                        <p:tgtEl>
                                          <p:spTgt spid="321"/>
                                        </p:tgtEl>
                                        <p:attrNameLst>
                                          <p:attrName>style.visibility</p:attrName>
                                        </p:attrNameLst>
                                      </p:cBhvr>
                                      <p:to>
                                        <p:strVal val="visible"/>
                                      </p:to>
                                    </p:set>
                                    <p:animEffect transition="in" filter="fade">
                                      <p:cBhvr>
                                        <p:cTn id="350" dur="500"/>
                                        <p:tgtEl>
                                          <p:spTgt spid="321"/>
                                        </p:tgtEl>
                                      </p:cBhvr>
                                    </p:animEffect>
                                  </p:childTnLst>
                                </p:cTn>
                              </p:par>
                              <p:par>
                                <p:cTn id="351" presetID="10" presetClass="entr" presetSubtype="0" fill="hold" grpId="0" nodeType="withEffect">
                                  <p:stCondLst>
                                    <p:cond delay="0"/>
                                  </p:stCondLst>
                                  <p:childTnLst>
                                    <p:set>
                                      <p:cBhvr>
                                        <p:cTn id="352" dur="1" fill="hold">
                                          <p:stCondLst>
                                            <p:cond delay="0"/>
                                          </p:stCondLst>
                                        </p:cTn>
                                        <p:tgtEl>
                                          <p:spTgt spid="322"/>
                                        </p:tgtEl>
                                        <p:attrNameLst>
                                          <p:attrName>style.visibility</p:attrName>
                                        </p:attrNameLst>
                                      </p:cBhvr>
                                      <p:to>
                                        <p:strVal val="visible"/>
                                      </p:to>
                                    </p:set>
                                    <p:animEffect transition="in" filter="fade">
                                      <p:cBhvr>
                                        <p:cTn id="353" dur="500"/>
                                        <p:tgtEl>
                                          <p:spTgt spid="322"/>
                                        </p:tgtEl>
                                      </p:cBhvr>
                                    </p:animEffect>
                                  </p:childTnLst>
                                </p:cTn>
                              </p:par>
                              <p:par>
                                <p:cTn id="354" presetID="10" presetClass="entr" presetSubtype="0" fill="hold" grpId="0" nodeType="withEffect">
                                  <p:stCondLst>
                                    <p:cond delay="0"/>
                                  </p:stCondLst>
                                  <p:childTnLst>
                                    <p:set>
                                      <p:cBhvr>
                                        <p:cTn id="355" dur="1" fill="hold">
                                          <p:stCondLst>
                                            <p:cond delay="0"/>
                                          </p:stCondLst>
                                        </p:cTn>
                                        <p:tgtEl>
                                          <p:spTgt spid="323"/>
                                        </p:tgtEl>
                                        <p:attrNameLst>
                                          <p:attrName>style.visibility</p:attrName>
                                        </p:attrNameLst>
                                      </p:cBhvr>
                                      <p:to>
                                        <p:strVal val="visible"/>
                                      </p:to>
                                    </p:set>
                                    <p:animEffect transition="in" filter="fade">
                                      <p:cBhvr>
                                        <p:cTn id="356" dur="500"/>
                                        <p:tgtEl>
                                          <p:spTgt spid="323"/>
                                        </p:tgtEl>
                                      </p:cBhvr>
                                    </p:animEffect>
                                  </p:childTnLst>
                                </p:cTn>
                              </p:par>
                              <p:par>
                                <p:cTn id="357" presetID="10" presetClass="entr" presetSubtype="0" fill="hold" grpId="0" nodeType="withEffect">
                                  <p:stCondLst>
                                    <p:cond delay="0"/>
                                  </p:stCondLst>
                                  <p:childTnLst>
                                    <p:set>
                                      <p:cBhvr>
                                        <p:cTn id="358" dur="1" fill="hold">
                                          <p:stCondLst>
                                            <p:cond delay="0"/>
                                          </p:stCondLst>
                                        </p:cTn>
                                        <p:tgtEl>
                                          <p:spTgt spid="324"/>
                                        </p:tgtEl>
                                        <p:attrNameLst>
                                          <p:attrName>style.visibility</p:attrName>
                                        </p:attrNameLst>
                                      </p:cBhvr>
                                      <p:to>
                                        <p:strVal val="visible"/>
                                      </p:to>
                                    </p:set>
                                    <p:animEffect transition="in" filter="fade">
                                      <p:cBhvr>
                                        <p:cTn id="359" dur="500"/>
                                        <p:tgtEl>
                                          <p:spTgt spid="324"/>
                                        </p:tgtEl>
                                      </p:cBhvr>
                                    </p:animEffect>
                                  </p:childTnLst>
                                </p:cTn>
                              </p:par>
                              <p:par>
                                <p:cTn id="360" presetID="10" presetClass="entr" presetSubtype="0" fill="hold" grpId="0" nodeType="withEffect">
                                  <p:stCondLst>
                                    <p:cond delay="0"/>
                                  </p:stCondLst>
                                  <p:childTnLst>
                                    <p:set>
                                      <p:cBhvr>
                                        <p:cTn id="361" dur="1" fill="hold">
                                          <p:stCondLst>
                                            <p:cond delay="0"/>
                                          </p:stCondLst>
                                        </p:cTn>
                                        <p:tgtEl>
                                          <p:spTgt spid="325"/>
                                        </p:tgtEl>
                                        <p:attrNameLst>
                                          <p:attrName>style.visibility</p:attrName>
                                        </p:attrNameLst>
                                      </p:cBhvr>
                                      <p:to>
                                        <p:strVal val="visible"/>
                                      </p:to>
                                    </p:set>
                                    <p:animEffect transition="in" filter="fade">
                                      <p:cBhvr>
                                        <p:cTn id="362" dur="500"/>
                                        <p:tgtEl>
                                          <p:spTgt spid="325"/>
                                        </p:tgtEl>
                                      </p:cBhvr>
                                    </p:animEffect>
                                  </p:childTnLst>
                                </p:cTn>
                              </p:par>
                              <p:par>
                                <p:cTn id="363" presetID="10" presetClass="entr" presetSubtype="0" fill="hold" grpId="0" nodeType="withEffect">
                                  <p:stCondLst>
                                    <p:cond delay="0"/>
                                  </p:stCondLst>
                                  <p:childTnLst>
                                    <p:set>
                                      <p:cBhvr>
                                        <p:cTn id="364" dur="1" fill="hold">
                                          <p:stCondLst>
                                            <p:cond delay="0"/>
                                          </p:stCondLst>
                                        </p:cTn>
                                        <p:tgtEl>
                                          <p:spTgt spid="326"/>
                                        </p:tgtEl>
                                        <p:attrNameLst>
                                          <p:attrName>style.visibility</p:attrName>
                                        </p:attrNameLst>
                                      </p:cBhvr>
                                      <p:to>
                                        <p:strVal val="visible"/>
                                      </p:to>
                                    </p:set>
                                    <p:animEffect transition="in" filter="fade">
                                      <p:cBhvr>
                                        <p:cTn id="365" dur="500"/>
                                        <p:tgtEl>
                                          <p:spTgt spid="326"/>
                                        </p:tgtEl>
                                      </p:cBhvr>
                                    </p:animEffect>
                                  </p:childTnLst>
                                </p:cTn>
                              </p:par>
                              <p:par>
                                <p:cTn id="366" presetID="10" presetClass="entr" presetSubtype="0" fill="hold" grpId="0" nodeType="withEffect">
                                  <p:stCondLst>
                                    <p:cond delay="0"/>
                                  </p:stCondLst>
                                  <p:childTnLst>
                                    <p:set>
                                      <p:cBhvr>
                                        <p:cTn id="367" dur="1" fill="hold">
                                          <p:stCondLst>
                                            <p:cond delay="0"/>
                                          </p:stCondLst>
                                        </p:cTn>
                                        <p:tgtEl>
                                          <p:spTgt spid="327"/>
                                        </p:tgtEl>
                                        <p:attrNameLst>
                                          <p:attrName>style.visibility</p:attrName>
                                        </p:attrNameLst>
                                      </p:cBhvr>
                                      <p:to>
                                        <p:strVal val="visible"/>
                                      </p:to>
                                    </p:set>
                                    <p:animEffect transition="in" filter="fade">
                                      <p:cBhvr>
                                        <p:cTn id="368" dur="500"/>
                                        <p:tgtEl>
                                          <p:spTgt spid="327"/>
                                        </p:tgtEl>
                                      </p:cBhvr>
                                    </p:animEffect>
                                  </p:childTnLst>
                                </p:cTn>
                              </p:par>
                              <p:par>
                                <p:cTn id="369" presetID="10" presetClass="entr" presetSubtype="0" fill="hold" grpId="0" nodeType="withEffect">
                                  <p:stCondLst>
                                    <p:cond delay="0"/>
                                  </p:stCondLst>
                                  <p:childTnLst>
                                    <p:set>
                                      <p:cBhvr>
                                        <p:cTn id="370" dur="1" fill="hold">
                                          <p:stCondLst>
                                            <p:cond delay="0"/>
                                          </p:stCondLst>
                                        </p:cTn>
                                        <p:tgtEl>
                                          <p:spTgt spid="328"/>
                                        </p:tgtEl>
                                        <p:attrNameLst>
                                          <p:attrName>style.visibility</p:attrName>
                                        </p:attrNameLst>
                                      </p:cBhvr>
                                      <p:to>
                                        <p:strVal val="visible"/>
                                      </p:to>
                                    </p:set>
                                    <p:animEffect transition="in" filter="fade">
                                      <p:cBhvr>
                                        <p:cTn id="371" dur="500"/>
                                        <p:tgtEl>
                                          <p:spTgt spid="328"/>
                                        </p:tgtEl>
                                      </p:cBhvr>
                                    </p:animEffect>
                                  </p:childTnLst>
                                </p:cTn>
                              </p:par>
                              <p:par>
                                <p:cTn id="372" presetID="10" presetClass="entr" presetSubtype="0" fill="hold" grpId="0" nodeType="withEffect">
                                  <p:stCondLst>
                                    <p:cond delay="0"/>
                                  </p:stCondLst>
                                  <p:childTnLst>
                                    <p:set>
                                      <p:cBhvr>
                                        <p:cTn id="373" dur="1" fill="hold">
                                          <p:stCondLst>
                                            <p:cond delay="0"/>
                                          </p:stCondLst>
                                        </p:cTn>
                                        <p:tgtEl>
                                          <p:spTgt spid="329"/>
                                        </p:tgtEl>
                                        <p:attrNameLst>
                                          <p:attrName>style.visibility</p:attrName>
                                        </p:attrNameLst>
                                      </p:cBhvr>
                                      <p:to>
                                        <p:strVal val="visible"/>
                                      </p:to>
                                    </p:set>
                                    <p:animEffect transition="in" filter="fade">
                                      <p:cBhvr>
                                        <p:cTn id="374" dur="500"/>
                                        <p:tgtEl>
                                          <p:spTgt spid="329"/>
                                        </p:tgtEl>
                                      </p:cBhvr>
                                    </p:animEffect>
                                  </p:childTnLst>
                                </p:cTn>
                              </p:par>
                              <p:par>
                                <p:cTn id="375" presetID="10" presetClass="entr" presetSubtype="0" fill="hold" grpId="0" nodeType="withEffect">
                                  <p:stCondLst>
                                    <p:cond delay="0"/>
                                  </p:stCondLst>
                                  <p:childTnLst>
                                    <p:set>
                                      <p:cBhvr>
                                        <p:cTn id="376" dur="1" fill="hold">
                                          <p:stCondLst>
                                            <p:cond delay="0"/>
                                          </p:stCondLst>
                                        </p:cTn>
                                        <p:tgtEl>
                                          <p:spTgt spid="330"/>
                                        </p:tgtEl>
                                        <p:attrNameLst>
                                          <p:attrName>style.visibility</p:attrName>
                                        </p:attrNameLst>
                                      </p:cBhvr>
                                      <p:to>
                                        <p:strVal val="visible"/>
                                      </p:to>
                                    </p:set>
                                    <p:animEffect transition="in" filter="fade">
                                      <p:cBhvr>
                                        <p:cTn id="377" dur="500"/>
                                        <p:tgtEl>
                                          <p:spTgt spid="330"/>
                                        </p:tgtEl>
                                      </p:cBhvr>
                                    </p:animEffect>
                                  </p:childTnLst>
                                </p:cTn>
                              </p:par>
                              <p:par>
                                <p:cTn id="378" presetID="10" presetClass="entr" presetSubtype="0" fill="hold" grpId="0" nodeType="withEffect">
                                  <p:stCondLst>
                                    <p:cond delay="0"/>
                                  </p:stCondLst>
                                  <p:childTnLst>
                                    <p:set>
                                      <p:cBhvr>
                                        <p:cTn id="379" dur="1" fill="hold">
                                          <p:stCondLst>
                                            <p:cond delay="0"/>
                                          </p:stCondLst>
                                        </p:cTn>
                                        <p:tgtEl>
                                          <p:spTgt spid="331"/>
                                        </p:tgtEl>
                                        <p:attrNameLst>
                                          <p:attrName>style.visibility</p:attrName>
                                        </p:attrNameLst>
                                      </p:cBhvr>
                                      <p:to>
                                        <p:strVal val="visible"/>
                                      </p:to>
                                    </p:set>
                                    <p:animEffect transition="in" filter="fade">
                                      <p:cBhvr>
                                        <p:cTn id="380" dur="500"/>
                                        <p:tgtEl>
                                          <p:spTgt spid="331"/>
                                        </p:tgtEl>
                                      </p:cBhvr>
                                    </p:animEffect>
                                  </p:childTnLst>
                                </p:cTn>
                              </p:par>
                              <p:par>
                                <p:cTn id="381" presetID="10" presetClass="entr" presetSubtype="0" fill="hold" grpId="0" nodeType="withEffect">
                                  <p:stCondLst>
                                    <p:cond delay="0"/>
                                  </p:stCondLst>
                                  <p:childTnLst>
                                    <p:set>
                                      <p:cBhvr>
                                        <p:cTn id="382" dur="1" fill="hold">
                                          <p:stCondLst>
                                            <p:cond delay="0"/>
                                          </p:stCondLst>
                                        </p:cTn>
                                        <p:tgtEl>
                                          <p:spTgt spid="332"/>
                                        </p:tgtEl>
                                        <p:attrNameLst>
                                          <p:attrName>style.visibility</p:attrName>
                                        </p:attrNameLst>
                                      </p:cBhvr>
                                      <p:to>
                                        <p:strVal val="visible"/>
                                      </p:to>
                                    </p:set>
                                    <p:animEffect transition="in" filter="fade">
                                      <p:cBhvr>
                                        <p:cTn id="383" dur="500"/>
                                        <p:tgtEl>
                                          <p:spTgt spid="332"/>
                                        </p:tgtEl>
                                      </p:cBhvr>
                                    </p:animEffect>
                                  </p:childTnLst>
                                </p:cTn>
                              </p:par>
                              <p:par>
                                <p:cTn id="384" presetID="10" presetClass="entr" presetSubtype="0" fill="hold" grpId="0" nodeType="withEffect">
                                  <p:stCondLst>
                                    <p:cond delay="0"/>
                                  </p:stCondLst>
                                  <p:childTnLst>
                                    <p:set>
                                      <p:cBhvr>
                                        <p:cTn id="385" dur="1" fill="hold">
                                          <p:stCondLst>
                                            <p:cond delay="0"/>
                                          </p:stCondLst>
                                        </p:cTn>
                                        <p:tgtEl>
                                          <p:spTgt spid="333"/>
                                        </p:tgtEl>
                                        <p:attrNameLst>
                                          <p:attrName>style.visibility</p:attrName>
                                        </p:attrNameLst>
                                      </p:cBhvr>
                                      <p:to>
                                        <p:strVal val="visible"/>
                                      </p:to>
                                    </p:set>
                                    <p:animEffect transition="in" filter="fade">
                                      <p:cBhvr>
                                        <p:cTn id="386" dur="500"/>
                                        <p:tgtEl>
                                          <p:spTgt spid="333"/>
                                        </p:tgtEl>
                                      </p:cBhvr>
                                    </p:animEffect>
                                  </p:childTnLst>
                                </p:cTn>
                              </p:par>
                              <p:par>
                                <p:cTn id="387" presetID="10" presetClass="entr" presetSubtype="0" fill="hold" grpId="0" nodeType="withEffect">
                                  <p:stCondLst>
                                    <p:cond delay="0"/>
                                  </p:stCondLst>
                                  <p:childTnLst>
                                    <p:set>
                                      <p:cBhvr>
                                        <p:cTn id="388" dur="1" fill="hold">
                                          <p:stCondLst>
                                            <p:cond delay="0"/>
                                          </p:stCondLst>
                                        </p:cTn>
                                        <p:tgtEl>
                                          <p:spTgt spid="334"/>
                                        </p:tgtEl>
                                        <p:attrNameLst>
                                          <p:attrName>style.visibility</p:attrName>
                                        </p:attrNameLst>
                                      </p:cBhvr>
                                      <p:to>
                                        <p:strVal val="visible"/>
                                      </p:to>
                                    </p:set>
                                    <p:animEffect transition="in" filter="fade">
                                      <p:cBhvr>
                                        <p:cTn id="389" dur="500"/>
                                        <p:tgtEl>
                                          <p:spTgt spid="334"/>
                                        </p:tgtEl>
                                      </p:cBhvr>
                                    </p:animEffect>
                                  </p:childTnLst>
                                </p:cTn>
                              </p:par>
                              <p:par>
                                <p:cTn id="390" presetID="10" presetClass="entr" presetSubtype="0" fill="hold" grpId="0" nodeType="withEffect">
                                  <p:stCondLst>
                                    <p:cond delay="0"/>
                                  </p:stCondLst>
                                  <p:childTnLst>
                                    <p:set>
                                      <p:cBhvr>
                                        <p:cTn id="391" dur="1" fill="hold">
                                          <p:stCondLst>
                                            <p:cond delay="0"/>
                                          </p:stCondLst>
                                        </p:cTn>
                                        <p:tgtEl>
                                          <p:spTgt spid="335"/>
                                        </p:tgtEl>
                                        <p:attrNameLst>
                                          <p:attrName>style.visibility</p:attrName>
                                        </p:attrNameLst>
                                      </p:cBhvr>
                                      <p:to>
                                        <p:strVal val="visible"/>
                                      </p:to>
                                    </p:set>
                                    <p:animEffect transition="in" filter="fade">
                                      <p:cBhvr>
                                        <p:cTn id="392" dur="500"/>
                                        <p:tgtEl>
                                          <p:spTgt spid="335"/>
                                        </p:tgtEl>
                                      </p:cBhvr>
                                    </p:animEffect>
                                  </p:childTnLst>
                                </p:cTn>
                              </p:par>
                              <p:par>
                                <p:cTn id="393" presetID="10" presetClass="entr" presetSubtype="0" fill="hold" grpId="0" nodeType="withEffect">
                                  <p:stCondLst>
                                    <p:cond delay="0"/>
                                  </p:stCondLst>
                                  <p:childTnLst>
                                    <p:set>
                                      <p:cBhvr>
                                        <p:cTn id="394" dur="1" fill="hold">
                                          <p:stCondLst>
                                            <p:cond delay="0"/>
                                          </p:stCondLst>
                                        </p:cTn>
                                        <p:tgtEl>
                                          <p:spTgt spid="336"/>
                                        </p:tgtEl>
                                        <p:attrNameLst>
                                          <p:attrName>style.visibility</p:attrName>
                                        </p:attrNameLst>
                                      </p:cBhvr>
                                      <p:to>
                                        <p:strVal val="visible"/>
                                      </p:to>
                                    </p:set>
                                    <p:animEffect transition="in" filter="fade">
                                      <p:cBhvr>
                                        <p:cTn id="395" dur="500"/>
                                        <p:tgtEl>
                                          <p:spTgt spid="336"/>
                                        </p:tgtEl>
                                      </p:cBhvr>
                                    </p:animEffect>
                                  </p:childTnLst>
                                </p:cTn>
                              </p:par>
                              <p:par>
                                <p:cTn id="396" presetID="10" presetClass="entr" presetSubtype="0" fill="hold" grpId="0" nodeType="withEffect">
                                  <p:stCondLst>
                                    <p:cond delay="0"/>
                                  </p:stCondLst>
                                  <p:childTnLst>
                                    <p:set>
                                      <p:cBhvr>
                                        <p:cTn id="397" dur="1" fill="hold">
                                          <p:stCondLst>
                                            <p:cond delay="0"/>
                                          </p:stCondLst>
                                        </p:cTn>
                                        <p:tgtEl>
                                          <p:spTgt spid="337"/>
                                        </p:tgtEl>
                                        <p:attrNameLst>
                                          <p:attrName>style.visibility</p:attrName>
                                        </p:attrNameLst>
                                      </p:cBhvr>
                                      <p:to>
                                        <p:strVal val="visible"/>
                                      </p:to>
                                    </p:set>
                                    <p:animEffect transition="in" filter="fade">
                                      <p:cBhvr>
                                        <p:cTn id="398" dur="500"/>
                                        <p:tgtEl>
                                          <p:spTgt spid="337"/>
                                        </p:tgtEl>
                                      </p:cBhvr>
                                    </p:animEffect>
                                  </p:childTnLst>
                                </p:cTn>
                              </p:par>
                              <p:par>
                                <p:cTn id="399" presetID="10" presetClass="entr" presetSubtype="0" fill="hold" grpId="0" nodeType="withEffect">
                                  <p:stCondLst>
                                    <p:cond delay="0"/>
                                  </p:stCondLst>
                                  <p:childTnLst>
                                    <p:set>
                                      <p:cBhvr>
                                        <p:cTn id="400" dur="1" fill="hold">
                                          <p:stCondLst>
                                            <p:cond delay="0"/>
                                          </p:stCondLst>
                                        </p:cTn>
                                        <p:tgtEl>
                                          <p:spTgt spid="338"/>
                                        </p:tgtEl>
                                        <p:attrNameLst>
                                          <p:attrName>style.visibility</p:attrName>
                                        </p:attrNameLst>
                                      </p:cBhvr>
                                      <p:to>
                                        <p:strVal val="visible"/>
                                      </p:to>
                                    </p:set>
                                    <p:animEffect transition="in" filter="fade">
                                      <p:cBhvr>
                                        <p:cTn id="401" dur="500"/>
                                        <p:tgtEl>
                                          <p:spTgt spid="338"/>
                                        </p:tgtEl>
                                      </p:cBhvr>
                                    </p:animEffect>
                                  </p:childTnLst>
                                </p:cTn>
                              </p:par>
                              <p:par>
                                <p:cTn id="402" presetID="10" presetClass="entr" presetSubtype="0" fill="hold" grpId="0" nodeType="withEffect">
                                  <p:stCondLst>
                                    <p:cond delay="0"/>
                                  </p:stCondLst>
                                  <p:childTnLst>
                                    <p:set>
                                      <p:cBhvr>
                                        <p:cTn id="403" dur="1" fill="hold">
                                          <p:stCondLst>
                                            <p:cond delay="0"/>
                                          </p:stCondLst>
                                        </p:cTn>
                                        <p:tgtEl>
                                          <p:spTgt spid="339"/>
                                        </p:tgtEl>
                                        <p:attrNameLst>
                                          <p:attrName>style.visibility</p:attrName>
                                        </p:attrNameLst>
                                      </p:cBhvr>
                                      <p:to>
                                        <p:strVal val="visible"/>
                                      </p:to>
                                    </p:set>
                                    <p:animEffect transition="in" filter="fade">
                                      <p:cBhvr>
                                        <p:cTn id="404" dur="500"/>
                                        <p:tgtEl>
                                          <p:spTgt spid="339"/>
                                        </p:tgtEl>
                                      </p:cBhvr>
                                    </p:animEffect>
                                  </p:childTnLst>
                                </p:cTn>
                              </p:par>
                              <p:par>
                                <p:cTn id="405" presetID="10" presetClass="entr" presetSubtype="0" fill="hold" grpId="0" nodeType="withEffect">
                                  <p:stCondLst>
                                    <p:cond delay="0"/>
                                  </p:stCondLst>
                                  <p:childTnLst>
                                    <p:set>
                                      <p:cBhvr>
                                        <p:cTn id="406" dur="1" fill="hold">
                                          <p:stCondLst>
                                            <p:cond delay="0"/>
                                          </p:stCondLst>
                                        </p:cTn>
                                        <p:tgtEl>
                                          <p:spTgt spid="340"/>
                                        </p:tgtEl>
                                        <p:attrNameLst>
                                          <p:attrName>style.visibility</p:attrName>
                                        </p:attrNameLst>
                                      </p:cBhvr>
                                      <p:to>
                                        <p:strVal val="visible"/>
                                      </p:to>
                                    </p:set>
                                    <p:animEffect transition="in" filter="fade">
                                      <p:cBhvr>
                                        <p:cTn id="407" dur="500"/>
                                        <p:tgtEl>
                                          <p:spTgt spid="340"/>
                                        </p:tgtEl>
                                      </p:cBhvr>
                                    </p:animEffect>
                                  </p:childTnLst>
                                </p:cTn>
                              </p:par>
                              <p:par>
                                <p:cTn id="408" presetID="10" presetClass="entr" presetSubtype="0" fill="hold" nodeType="withEffect">
                                  <p:stCondLst>
                                    <p:cond delay="0"/>
                                  </p:stCondLst>
                                  <p:childTnLst>
                                    <p:set>
                                      <p:cBhvr>
                                        <p:cTn id="409" dur="1" fill="hold">
                                          <p:stCondLst>
                                            <p:cond delay="0"/>
                                          </p:stCondLst>
                                        </p:cTn>
                                        <p:tgtEl>
                                          <p:spTgt spid="341"/>
                                        </p:tgtEl>
                                        <p:attrNameLst>
                                          <p:attrName>style.visibility</p:attrName>
                                        </p:attrNameLst>
                                      </p:cBhvr>
                                      <p:to>
                                        <p:strVal val="visible"/>
                                      </p:to>
                                    </p:set>
                                    <p:animEffect transition="in" filter="fade">
                                      <p:cBhvr>
                                        <p:cTn id="410" dur="500"/>
                                        <p:tgtEl>
                                          <p:spTgt spid="341"/>
                                        </p:tgtEl>
                                      </p:cBhvr>
                                    </p:animEffect>
                                  </p:childTnLst>
                                </p:cTn>
                              </p:par>
                              <p:par>
                                <p:cTn id="411" presetID="10" presetClass="entr" presetSubtype="0" fill="hold" grpId="0" nodeType="withEffect">
                                  <p:stCondLst>
                                    <p:cond delay="0"/>
                                  </p:stCondLst>
                                  <p:childTnLst>
                                    <p:set>
                                      <p:cBhvr>
                                        <p:cTn id="412" dur="1" fill="hold">
                                          <p:stCondLst>
                                            <p:cond delay="0"/>
                                          </p:stCondLst>
                                        </p:cTn>
                                        <p:tgtEl>
                                          <p:spTgt spid="342"/>
                                        </p:tgtEl>
                                        <p:attrNameLst>
                                          <p:attrName>style.visibility</p:attrName>
                                        </p:attrNameLst>
                                      </p:cBhvr>
                                      <p:to>
                                        <p:strVal val="visible"/>
                                      </p:to>
                                    </p:set>
                                    <p:animEffect transition="in" filter="fade">
                                      <p:cBhvr>
                                        <p:cTn id="413" dur="500"/>
                                        <p:tgtEl>
                                          <p:spTgt spid="342"/>
                                        </p:tgtEl>
                                      </p:cBhvr>
                                    </p:animEffect>
                                  </p:childTnLst>
                                </p:cTn>
                              </p:par>
                              <p:par>
                                <p:cTn id="414" presetID="10" presetClass="entr" presetSubtype="0" fill="hold" grpId="0" nodeType="withEffect">
                                  <p:stCondLst>
                                    <p:cond delay="0"/>
                                  </p:stCondLst>
                                  <p:childTnLst>
                                    <p:set>
                                      <p:cBhvr>
                                        <p:cTn id="415" dur="1" fill="hold">
                                          <p:stCondLst>
                                            <p:cond delay="0"/>
                                          </p:stCondLst>
                                        </p:cTn>
                                        <p:tgtEl>
                                          <p:spTgt spid="343"/>
                                        </p:tgtEl>
                                        <p:attrNameLst>
                                          <p:attrName>style.visibility</p:attrName>
                                        </p:attrNameLst>
                                      </p:cBhvr>
                                      <p:to>
                                        <p:strVal val="visible"/>
                                      </p:to>
                                    </p:set>
                                    <p:animEffect transition="in" filter="fade">
                                      <p:cBhvr>
                                        <p:cTn id="416" dur="500"/>
                                        <p:tgtEl>
                                          <p:spTgt spid="343"/>
                                        </p:tgtEl>
                                      </p:cBhvr>
                                    </p:animEffect>
                                  </p:childTnLst>
                                </p:cTn>
                              </p:par>
                              <p:par>
                                <p:cTn id="417" presetID="10" presetClass="entr" presetSubtype="0" fill="hold" grpId="0" nodeType="withEffect">
                                  <p:stCondLst>
                                    <p:cond delay="0"/>
                                  </p:stCondLst>
                                  <p:childTnLst>
                                    <p:set>
                                      <p:cBhvr>
                                        <p:cTn id="418" dur="1" fill="hold">
                                          <p:stCondLst>
                                            <p:cond delay="0"/>
                                          </p:stCondLst>
                                        </p:cTn>
                                        <p:tgtEl>
                                          <p:spTgt spid="344"/>
                                        </p:tgtEl>
                                        <p:attrNameLst>
                                          <p:attrName>style.visibility</p:attrName>
                                        </p:attrNameLst>
                                      </p:cBhvr>
                                      <p:to>
                                        <p:strVal val="visible"/>
                                      </p:to>
                                    </p:set>
                                    <p:animEffect transition="in" filter="fade">
                                      <p:cBhvr>
                                        <p:cTn id="419" dur="500"/>
                                        <p:tgtEl>
                                          <p:spTgt spid="344"/>
                                        </p:tgtEl>
                                      </p:cBhvr>
                                    </p:animEffect>
                                  </p:childTnLst>
                                </p:cTn>
                              </p:par>
                              <p:par>
                                <p:cTn id="420" presetID="10" presetClass="entr" presetSubtype="0" fill="hold" grpId="0" nodeType="withEffect">
                                  <p:stCondLst>
                                    <p:cond delay="0"/>
                                  </p:stCondLst>
                                  <p:childTnLst>
                                    <p:set>
                                      <p:cBhvr>
                                        <p:cTn id="421" dur="1" fill="hold">
                                          <p:stCondLst>
                                            <p:cond delay="0"/>
                                          </p:stCondLst>
                                        </p:cTn>
                                        <p:tgtEl>
                                          <p:spTgt spid="354"/>
                                        </p:tgtEl>
                                        <p:attrNameLst>
                                          <p:attrName>style.visibility</p:attrName>
                                        </p:attrNameLst>
                                      </p:cBhvr>
                                      <p:to>
                                        <p:strVal val="visible"/>
                                      </p:to>
                                    </p:set>
                                    <p:animEffect transition="in" filter="fade">
                                      <p:cBhvr>
                                        <p:cTn id="422" dur="500"/>
                                        <p:tgtEl>
                                          <p:spTgt spid="354"/>
                                        </p:tgtEl>
                                      </p:cBhvr>
                                    </p:animEffect>
                                  </p:childTnLst>
                                </p:cTn>
                              </p:par>
                              <p:par>
                                <p:cTn id="423" presetID="10" presetClass="entr" presetSubtype="0" fill="hold" grpId="0" nodeType="withEffect">
                                  <p:stCondLst>
                                    <p:cond delay="0"/>
                                  </p:stCondLst>
                                  <p:childTnLst>
                                    <p:set>
                                      <p:cBhvr>
                                        <p:cTn id="424" dur="1" fill="hold">
                                          <p:stCondLst>
                                            <p:cond delay="0"/>
                                          </p:stCondLst>
                                        </p:cTn>
                                        <p:tgtEl>
                                          <p:spTgt spid="355"/>
                                        </p:tgtEl>
                                        <p:attrNameLst>
                                          <p:attrName>style.visibility</p:attrName>
                                        </p:attrNameLst>
                                      </p:cBhvr>
                                      <p:to>
                                        <p:strVal val="visible"/>
                                      </p:to>
                                    </p:set>
                                    <p:animEffect transition="in" filter="fade">
                                      <p:cBhvr>
                                        <p:cTn id="425" dur="500"/>
                                        <p:tgtEl>
                                          <p:spTgt spid="355"/>
                                        </p:tgtEl>
                                      </p:cBhvr>
                                    </p:animEffect>
                                  </p:childTnLst>
                                </p:cTn>
                              </p:par>
                              <p:par>
                                <p:cTn id="426" presetID="10" presetClass="entr" presetSubtype="0" fill="hold" grpId="0" nodeType="withEffect">
                                  <p:stCondLst>
                                    <p:cond delay="0"/>
                                  </p:stCondLst>
                                  <p:childTnLst>
                                    <p:set>
                                      <p:cBhvr>
                                        <p:cTn id="427" dur="1" fill="hold">
                                          <p:stCondLst>
                                            <p:cond delay="0"/>
                                          </p:stCondLst>
                                        </p:cTn>
                                        <p:tgtEl>
                                          <p:spTgt spid="356"/>
                                        </p:tgtEl>
                                        <p:attrNameLst>
                                          <p:attrName>style.visibility</p:attrName>
                                        </p:attrNameLst>
                                      </p:cBhvr>
                                      <p:to>
                                        <p:strVal val="visible"/>
                                      </p:to>
                                    </p:set>
                                    <p:animEffect transition="in" filter="fade">
                                      <p:cBhvr>
                                        <p:cTn id="428" dur="500"/>
                                        <p:tgtEl>
                                          <p:spTgt spid="356"/>
                                        </p:tgtEl>
                                      </p:cBhvr>
                                    </p:animEffect>
                                  </p:childTnLst>
                                </p:cTn>
                              </p:par>
                              <p:par>
                                <p:cTn id="429" presetID="10" presetClass="entr" presetSubtype="0" fill="hold" grpId="0" nodeType="withEffect">
                                  <p:stCondLst>
                                    <p:cond delay="0"/>
                                  </p:stCondLst>
                                  <p:childTnLst>
                                    <p:set>
                                      <p:cBhvr>
                                        <p:cTn id="430" dur="1" fill="hold">
                                          <p:stCondLst>
                                            <p:cond delay="0"/>
                                          </p:stCondLst>
                                        </p:cTn>
                                        <p:tgtEl>
                                          <p:spTgt spid="357"/>
                                        </p:tgtEl>
                                        <p:attrNameLst>
                                          <p:attrName>style.visibility</p:attrName>
                                        </p:attrNameLst>
                                      </p:cBhvr>
                                      <p:to>
                                        <p:strVal val="visible"/>
                                      </p:to>
                                    </p:set>
                                    <p:animEffect transition="in" filter="fade">
                                      <p:cBhvr>
                                        <p:cTn id="431" dur="500"/>
                                        <p:tgtEl>
                                          <p:spTgt spid="357"/>
                                        </p:tgtEl>
                                      </p:cBhvr>
                                    </p:animEffect>
                                  </p:childTnLst>
                                </p:cTn>
                              </p:par>
                              <p:par>
                                <p:cTn id="432" presetID="10" presetClass="entr" presetSubtype="0" fill="hold" grpId="0" nodeType="withEffect">
                                  <p:stCondLst>
                                    <p:cond delay="0"/>
                                  </p:stCondLst>
                                  <p:childTnLst>
                                    <p:set>
                                      <p:cBhvr>
                                        <p:cTn id="433" dur="1" fill="hold">
                                          <p:stCondLst>
                                            <p:cond delay="0"/>
                                          </p:stCondLst>
                                        </p:cTn>
                                        <p:tgtEl>
                                          <p:spTgt spid="358"/>
                                        </p:tgtEl>
                                        <p:attrNameLst>
                                          <p:attrName>style.visibility</p:attrName>
                                        </p:attrNameLst>
                                      </p:cBhvr>
                                      <p:to>
                                        <p:strVal val="visible"/>
                                      </p:to>
                                    </p:set>
                                    <p:animEffect transition="in" filter="fade">
                                      <p:cBhvr>
                                        <p:cTn id="434" dur="500"/>
                                        <p:tgtEl>
                                          <p:spTgt spid="358"/>
                                        </p:tgtEl>
                                      </p:cBhvr>
                                    </p:animEffect>
                                  </p:childTnLst>
                                </p:cTn>
                              </p:par>
                              <p:par>
                                <p:cTn id="435" presetID="10" presetClass="entr" presetSubtype="0" fill="hold" grpId="0" nodeType="withEffect">
                                  <p:stCondLst>
                                    <p:cond delay="0"/>
                                  </p:stCondLst>
                                  <p:childTnLst>
                                    <p:set>
                                      <p:cBhvr>
                                        <p:cTn id="436" dur="1" fill="hold">
                                          <p:stCondLst>
                                            <p:cond delay="0"/>
                                          </p:stCondLst>
                                        </p:cTn>
                                        <p:tgtEl>
                                          <p:spTgt spid="359"/>
                                        </p:tgtEl>
                                        <p:attrNameLst>
                                          <p:attrName>style.visibility</p:attrName>
                                        </p:attrNameLst>
                                      </p:cBhvr>
                                      <p:to>
                                        <p:strVal val="visible"/>
                                      </p:to>
                                    </p:set>
                                    <p:animEffect transition="in" filter="fade">
                                      <p:cBhvr>
                                        <p:cTn id="437" dur="500"/>
                                        <p:tgtEl>
                                          <p:spTgt spid="359"/>
                                        </p:tgtEl>
                                      </p:cBhvr>
                                    </p:animEffect>
                                  </p:childTnLst>
                                </p:cTn>
                              </p:par>
                              <p:par>
                                <p:cTn id="438" presetID="10" presetClass="entr" presetSubtype="0" fill="hold" grpId="0" nodeType="withEffect">
                                  <p:stCondLst>
                                    <p:cond delay="0"/>
                                  </p:stCondLst>
                                  <p:childTnLst>
                                    <p:set>
                                      <p:cBhvr>
                                        <p:cTn id="439" dur="1" fill="hold">
                                          <p:stCondLst>
                                            <p:cond delay="0"/>
                                          </p:stCondLst>
                                        </p:cTn>
                                        <p:tgtEl>
                                          <p:spTgt spid="367"/>
                                        </p:tgtEl>
                                        <p:attrNameLst>
                                          <p:attrName>style.visibility</p:attrName>
                                        </p:attrNameLst>
                                      </p:cBhvr>
                                      <p:to>
                                        <p:strVal val="visible"/>
                                      </p:to>
                                    </p:set>
                                    <p:animEffect transition="in" filter="fade">
                                      <p:cBhvr>
                                        <p:cTn id="440" dur="500"/>
                                        <p:tgtEl>
                                          <p:spTgt spid="367"/>
                                        </p:tgtEl>
                                      </p:cBhvr>
                                    </p:animEffect>
                                  </p:childTnLst>
                                </p:cTn>
                              </p:par>
                              <p:par>
                                <p:cTn id="441" presetID="10" presetClass="entr" presetSubtype="0" fill="hold" grpId="0" nodeType="withEffect">
                                  <p:stCondLst>
                                    <p:cond delay="0"/>
                                  </p:stCondLst>
                                  <p:childTnLst>
                                    <p:set>
                                      <p:cBhvr>
                                        <p:cTn id="442" dur="1" fill="hold">
                                          <p:stCondLst>
                                            <p:cond delay="0"/>
                                          </p:stCondLst>
                                        </p:cTn>
                                        <p:tgtEl>
                                          <p:spTgt spid="427"/>
                                        </p:tgtEl>
                                        <p:attrNameLst>
                                          <p:attrName>style.visibility</p:attrName>
                                        </p:attrNameLst>
                                      </p:cBhvr>
                                      <p:to>
                                        <p:strVal val="visible"/>
                                      </p:to>
                                    </p:set>
                                    <p:animEffect transition="in" filter="fade">
                                      <p:cBhvr>
                                        <p:cTn id="443" dur="500"/>
                                        <p:tgtEl>
                                          <p:spTgt spid="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 grpId="0" animBg="1"/>
      <p:bldP spid="214" grpId="0" animBg="1"/>
      <p:bldP spid="215" grpId="0" animBg="1"/>
      <p:bldP spid="216" grpId="0"/>
      <p:bldP spid="218" grpId="0" animBg="1"/>
      <p:bldP spid="219" grpId="0" animBg="1"/>
      <p:bldP spid="220" grpId="0" animBg="1"/>
      <p:bldP spid="221" grpId="0" animBg="1"/>
      <p:bldP spid="222" grpId="0" animBg="1"/>
      <p:bldP spid="223" grpId="0"/>
      <p:bldP spid="224" grpId="0" animBg="1"/>
      <p:bldP spid="237" grpId="0"/>
      <p:bldP spid="238" grpId="0" animBg="1"/>
      <p:bldP spid="239" grpId="0" animBg="1"/>
      <p:bldP spid="240" grpId="0" animBg="1"/>
      <p:bldP spid="241" grpId="0" animBg="1"/>
      <p:bldP spid="242" grpId="0" animBg="1"/>
      <p:bldP spid="243" grpId="0"/>
      <p:bldP spid="244" grpId="0" animBg="1"/>
      <p:bldP spid="245" grpId="0"/>
      <p:bldP spid="246" grpId="0"/>
      <p:bldP spid="247" grpId="0" animBg="1"/>
      <p:bldP spid="248" grpId="0" animBg="1"/>
      <p:bldP spid="249" grpId="0"/>
      <p:bldP spid="250" grpId="0"/>
      <p:bldP spid="251" grpId="0" animBg="1"/>
      <p:bldP spid="252" grpId="0" animBg="1"/>
      <p:bldP spid="253" grpId="0"/>
      <p:bldP spid="254" grpId="0"/>
      <p:bldP spid="255" grpId="0" animBg="1"/>
      <p:bldP spid="256" grpId="0" animBg="1"/>
      <p:bldP spid="257" grpId="0"/>
      <p:bldP spid="258" grpId="0"/>
      <p:bldP spid="259" grpId="0" animBg="1"/>
      <p:bldP spid="260" grpId="0" animBg="1"/>
      <p:bldP spid="261" grpId="0" animBg="1"/>
      <p:bldP spid="262" grpId="0" animBg="1"/>
      <p:bldP spid="263" grpId="0" animBg="1"/>
      <p:bldP spid="264" grpId="0" animBg="1"/>
      <p:bldP spid="265" grpId="0" animBg="1"/>
      <p:bldP spid="266" grpId="0" animBg="1"/>
      <p:bldP spid="267" grpId="0" animBg="1"/>
      <p:bldP spid="268" grpId="0" animBg="1"/>
      <p:bldP spid="269" grpId="0" animBg="1"/>
      <p:bldP spid="270" grpId="0" animBg="1"/>
      <p:bldP spid="271" grpId="0" animBg="1"/>
      <p:bldP spid="272" grpId="0" animBg="1"/>
      <p:bldP spid="273" grpId="0" animBg="1"/>
      <p:bldP spid="274" grpId="0" animBg="1"/>
      <p:bldP spid="275" grpId="0" animBg="1"/>
      <p:bldP spid="276" grpId="0" animBg="1"/>
      <p:bldP spid="277" grpId="0" animBg="1"/>
      <p:bldP spid="278" grpId="0" animBg="1"/>
      <p:bldP spid="279" grpId="0" animBg="1"/>
      <p:bldP spid="280" grpId="0" animBg="1"/>
      <p:bldP spid="281" grpId="0" animBg="1"/>
      <p:bldP spid="282" grpId="0" animBg="1"/>
      <p:bldP spid="283" grpId="0" animBg="1"/>
      <p:bldP spid="284" grpId="0"/>
      <p:bldP spid="285" grpId="0" animBg="1"/>
      <p:bldP spid="286" grpId="0"/>
      <p:bldP spid="292" grpId="0" animBg="1"/>
      <p:bldP spid="293" grpId="0" animBg="1"/>
      <p:bldP spid="294" grpId="0" animBg="1"/>
      <p:bldP spid="295" grpId="0" animBg="1"/>
      <p:bldP spid="296" grpId="0" animBg="1"/>
      <p:bldP spid="297" grpId="0" animBg="1"/>
      <p:bldP spid="298" grpId="0"/>
      <p:bldP spid="299" grpId="0"/>
      <p:bldP spid="300" grpId="0"/>
      <p:bldP spid="301" grpId="0"/>
      <p:bldP spid="302" grpId="0"/>
      <p:bldP spid="303" grpId="0"/>
      <p:bldP spid="304" grpId="0"/>
      <p:bldP spid="305" grpId="0"/>
      <p:bldP spid="306" grpId="0"/>
      <p:bldP spid="307" grpId="0"/>
      <p:bldP spid="308" grpId="0"/>
      <p:bldP spid="309" grpId="0"/>
      <p:bldP spid="310" grpId="0"/>
      <p:bldP spid="311" grpId="0"/>
      <p:bldP spid="312" grpId="0"/>
      <p:bldP spid="313" grpId="0"/>
      <p:bldP spid="314" grpId="0"/>
      <p:bldP spid="315" grpId="0" animBg="1"/>
      <p:bldP spid="316" grpId="0" animBg="1"/>
      <p:bldP spid="317" grpId="0" animBg="1"/>
      <p:bldP spid="318" grpId="0" animBg="1"/>
      <p:bldP spid="319" grpId="0" animBg="1"/>
      <p:bldP spid="320" grpId="0" animBg="1"/>
      <p:bldP spid="321" grpId="0" animBg="1"/>
      <p:bldP spid="322" grpId="0" animBg="1"/>
      <p:bldP spid="323" grpId="0" animBg="1"/>
      <p:bldP spid="324" grpId="0" animBg="1"/>
      <p:bldP spid="325" grpId="0" animBg="1"/>
      <p:bldP spid="326" grpId="0" animBg="1"/>
      <p:bldP spid="327" grpId="0" animBg="1"/>
      <p:bldP spid="328" grpId="0" animBg="1"/>
      <p:bldP spid="329" grpId="0" animBg="1"/>
      <p:bldP spid="330" grpId="0" animBg="1"/>
      <p:bldP spid="331" grpId="0" animBg="1"/>
      <p:bldP spid="332" grpId="0" animBg="1"/>
      <p:bldP spid="333" grpId="0" animBg="1"/>
      <p:bldP spid="334" grpId="0" animBg="1"/>
      <p:bldP spid="335" grpId="0" animBg="1"/>
      <p:bldP spid="336" grpId="0" animBg="1"/>
      <p:bldP spid="337" grpId="0" animBg="1"/>
      <p:bldP spid="338" grpId="0" animBg="1"/>
      <p:bldP spid="339" grpId="0"/>
      <p:bldP spid="340" grpId="0"/>
      <p:bldP spid="342" grpId="0"/>
      <p:bldP spid="343" grpId="0"/>
      <p:bldP spid="344" grpId="0"/>
      <p:bldP spid="351" grpId="0"/>
      <p:bldP spid="352" grpId="0"/>
      <p:bldP spid="353" grpId="0"/>
      <p:bldP spid="354" grpId="0" animBg="1"/>
      <p:bldP spid="355" grpId="0" animBg="1"/>
      <p:bldP spid="356" grpId="0" animBg="1"/>
      <p:bldP spid="357" grpId="0" animBg="1"/>
      <p:bldP spid="358" grpId="0" animBg="1"/>
      <p:bldP spid="359" grpId="0" animBg="1"/>
      <p:bldP spid="360" grpId="0" animBg="1"/>
      <p:bldP spid="361" grpId="0"/>
      <p:bldP spid="362" grpId="0" animBg="1"/>
      <p:bldP spid="363" grpId="0"/>
      <p:bldP spid="367" grpId="0"/>
      <p:bldP spid="370" grpId="0" animBg="1"/>
      <p:bldP spid="371" grpId="0" animBg="1"/>
      <p:bldP spid="417" grpId="0"/>
      <p:bldP spid="419" grpId="0"/>
      <p:bldP spid="420" grpId="0" animBg="1"/>
      <p:bldP spid="421" grpId="0" animBg="1"/>
      <p:bldP spid="422" grpId="0" animBg="1"/>
      <p:bldP spid="423" grpId="0" animBg="1"/>
      <p:bldP spid="424" grpId="0" animBg="1"/>
      <p:bldP spid="425" grpId="0" animBg="1"/>
      <p:bldP spid="42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A7564-5ABF-280E-7692-E54776FE3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C3A4C-4736-C6A2-8B32-B934F8F6459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B46460D-3E08-8197-44A5-D631F913F51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AFB8104-40A4-8DD7-66C4-D84433A30DD4}"/>
              </a:ext>
            </a:extLst>
          </p:cNvPr>
          <p:cNvSpPr>
            <a:spLocks noGrp="1"/>
          </p:cNvSpPr>
          <p:nvPr>
            <p:ph type="sldNum" sz="quarter" idx="10"/>
          </p:nvPr>
        </p:nvSpPr>
        <p:spPr/>
        <p:txBody>
          <a:bodyPr/>
          <a:lstStyle/>
          <a:p>
            <a:pPr>
              <a:defRPr/>
            </a:pPr>
            <a:fld id="{0121240C-47AF-2F4D-83B3-CC3EDF50F794}" type="slidenum">
              <a:rPr lang="en-US" smtClean="0"/>
              <a:pPr>
                <a:defRPr/>
              </a:pPr>
              <a:t>56</a:t>
            </a:fld>
            <a:endParaRPr lang="en-US"/>
          </a:p>
        </p:txBody>
      </p:sp>
      <p:pic>
        <p:nvPicPr>
          <p:cNvPr id="5" name="Picture 4">
            <a:extLst>
              <a:ext uri="{FF2B5EF4-FFF2-40B4-BE49-F238E27FC236}">
                <a16:creationId xmlns:a16="http://schemas.microsoft.com/office/drawing/2014/main" id="{6954CC16-46D0-51E4-C05A-FF2359433A61}"/>
              </a:ext>
            </a:extLst>
          </p:cNvPr>
          <p:cNvPicPr>
            <a:picLocks noChangeAspect="1"/>
          </p:cNvPicPr>
          <p:nvPr/>
        </p:nvPicPr>
        <p:blipFill>
          <a:blip r:embed="rId2"/>
          <a:stretch>
            <a:fillRect/>
          </a:stretch>
        </p:blipFill>
        <p:spPr>
          <a:xfrm>
            <a:off x="491052" y="322492"/>
            <a:ext cx="11192962" cy="5983726"/>
          </a:xfrm>
          <a:prstGeom prst="rect">
            <a:avLst/>
          </a:prstGeom>
        </p:spPr>
      </p:pic>
      <p:sp>
        <p:nvSpPr>
          <p:cNvPr id="6" name="TextBox 5">
            <a:extLst>
              <a:ext uri="{FF2B5EF4-FFF2-40B4-BE49-F238E27FC236}">
                <a16:creationId xmlns:a16="http://schemas.microsoft.com/office/drawing/2014/main" id="{A1472C98-E611-8455-8041-AEDBB91F9E6C}"/>
              </a:ext>
            </a:extLst>
          </p:cNvPr>
          <p:cNvSpPr txBox="1"/>
          <p:nvPr/>
        </p:nvSpPr>
        <p:spPr>
          <a:xfrm>
            <a:off x="310888" y="6525672"/>
            <a:ext cx="11884077" cy="307777"/>
          </a:xfrm>
          <a:prstGeom prst="rect">
            <a:avLst/>
          </a:prstGeom>
          <a:noFill/>
        </p:spPr>
        <p:txBody>
          <a:bodyPr wrap="square">
            <a:spAutoFit/>
          </a:bodyPr>
          <a:lstStyle/>
          <a:p>
            <a:pPr algn="ctr"/>
            <a:r>
              <a:rPr lang="en-US" sz="1400" dirty="0">
                <a:solidFill>
                  <a:schemeClr val="bg1">
                    <a:lumMod val="50000"/>
                  </a:schemeClr>
                </a:solidFill>
                <a:latin typeface="Arial" panose="020B0604020202020204" pitchFamily="34" charset="0"/>
                <a:cs typeface="Arial" panose="020B0604020202020204" pitchFamily="34" charset="0"/>
              </a:rPr>
              <a:t>Convergent Emergence of In-Context Learning Across Modalities. Beslow et al. </a:t>
            </a:r>
            <a:r>
              <a:rPr lang="en-US" sz="1400" dirty="0" err="1">
                <a:solidFill>
                  <a:schemeClr val="bg1">
                    <a:lumMod val="50000"/>
                  </a:schemeClr>
                </a:solidFill>
                <a:latin typeface="Arial" panose="020B0604020202020204" pitchFamily="34" charset="0"/>
                <a:cs typeface="Arial" panose="020B0604020202020204" pitchFamily="34" charset="0"/>
              </a:rPr>
              <a:t>arXiv</a:t>
            </a:r>
            <a:r>
              <a:rPr lang="en-US" sz="1400" dirty="0">
                <a:solidFill>
                  <a:schemeClr val="bg1">
                    <a:lumMod val="50000"/>
                  </a:schemeClr>
                </a:solidFill>
                <a:latin typeface="Arial" panose="020B0604020202020204" pitchFamily="34" charset="0"/>
                <a:cs typeface="Arial" panose="020B0604020202020204" pitchFamily="34" charset="0"/>
              </a:rPr>
              <a:t> 2026. </a:t>
            </a:r>
          </a:p>
        </p:txBody>
      </p:sp>
    </p:spTree>
    <p:extLst>
      <p:ext uri="{BB962C8B-B14F-4D97-AF65-F5344CB8AC3E}">
        <p14:creationId xmlns:p14="http://schemas.microsoft.com/office/powerpoint/2010/main" val="6856952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AF649-338A-18A5-A0D4-4914BE8770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4FD7E-B3FD-DBE5-C606-DB05754D61CC}"/>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A3281DEB-563B-9798-B623-DA479339A241}"/>
              </a:ext>
            </a:extLst>
          </p:cNvPr>
          <p:cNvSpPr>
            <a:spLocks noGrp="1"/>
          </p:cNvSpPr>
          <p:nvPr>
            <p:ph idx="1"/>
          </p:nvPr>
        </p:nvSpPr>
        <p:spPr>
          <a:xfrm>
            <a:off x="565911" y="2109087"/>
            <a:ext cx="11118088" cy="4662488"/>
          </a:xfrm>
        </p:spPr>
        <p:txBody>
          <a:bodyPr/>
          <a:lstStyle/>
          <a:p>
            <a:r>
              <a:rPr lang="en-US" dirty="0"/>
              <a:t>Most next-token predictors trained on natural data </a:t>
            </a:r>
            <a:br>
              <a:rPr lang="en-US" dirty="0"/>
            </a:br>
            <a:r>
              <a:rPr lang="en-US" dirty="0"/>
              <a:t> are in-context learners.. </a:t>
            </a:r>
            <a:br>
              <a:rPr lang="en-US" dirty="0"/>
            </a:br>
            <a:endParaRPr lang="en-US" dirty="0"/>
          </a:p>
          <a:p>
            <a:endParaRPr lang="en-US" dirty="0"/>
          </a:p>
          <a:p>
            <a:r>
              <a:rPr lang="en-US" b="1" i="1" dirty="0"/>
              <a:t>Convergent In-Context Induction</a:t>
            </a:r>
            <a:r>
              <a:rPr lang="en-US" i="1" dirty="0"/>
              <a:t> </a:t>
            </a:r>
            <a:r>
              <a:rPr lang="en-US" dirty="0"/>
              <a:t>Hypothesis: </a:t>
            </a:r>
          </a:p>
          <a:p>
            <a:pPr marL="914400" lvl="1" indent="-457200">
              <a:buFont typeface="+mj-lt"/>
              <a:buAutoNum type="arabicPeriod"/>
            </a:pPr>
            <a:r>
              <a:rPr lang="en-US" dirty="0"/>
              <a:t>ICL is a consequence of next-token prediction: </a:t>
            </a:r>
            <a:br>
              <a:rPr lang="en-US" dirty="0"/>
            </a:br>
            <a:r>
              <a:rPr lang="en-US" dirty="0"/>
              <a:t>it organically emerges in any modality with rich data, and </a:t>
            </a:r>
          </a:p>
          <a:p>
            <a:pPr marL="914400" lvl="1" indent="-457200">
              <a:buFont typeface="+mj-lt"/>
              <a:buAutoNum type="arabicPeriod"/>
            </a:pPr>
            <a:r>
              <a:rPr lang="en-US" dirty="0"/>
              <a:t>its realizations share a </a:t>
            </a:r>
            <a:r>
              <a:rPr lang="en-US" b="1" dirty="0"/>
              <a:t>common</a:t>
            </a:r>
            <a:r>
              <a:rPr lang="en-US" dirty="0"/>
              <a:t> substrate across modalities </a:t>
            </a:r>
          </a:p>
          <a:p>
            <a:pPr marL="0" indent="0">
              <a:buNone/>
            </a:pPr>
            <a:endParaRPr lang="en-US" b="1" dirty="0"/>
          </a:p>
          <a:p>
            <a:endParaRPr lang="en-US" dirty="0"/>
          </a:p>
        </p:txBody>
      </p:sp>
      <p:sp>
        <p:nvSpPr>
          <p:cNvPr id="4" name="Slide Number Placeholder 3">
            <a:extLst>
              <a:ext uri="{FF2B5EF4-FFF2-40B4-BE49-F238E27FC236}">
                <a16:creationId xmlns:a16="http://schemas.microsoft.com/office/drawing/2014/main" id="{334072FD-8F5E-6752-C6A3-A9FC76EC9A88}"/>
              </a:ext>
            </a:extLst>
          </p:cNvPr>
          <p:cNvSpPr>
            <a:spLocks noGrp="1"/>
          </p:cNvSpPr>
          <p:nvPr>
            <p:ph type="sldNum" sz="quarter" idx="10"/>
          </p:nvPr>
        </p:nvSpPr>
        <p:spPr>
          <a:xfrm>
            <a:off x="11656084" y="6116504"/>
            <a:ext cx="530225" cy="365125"/>
          </a:xfrm>
        </p:spPr>
        <p:txBody>
          <a:bodyPr/>
          <a:lstStyle/>
          <a:p>
            <a:pPr>
              <a:defRPr/>
            </a:pPr>
            <a:fld id="{0121240C-47AF-2F4D-83B3-CC3EDF50F794}" type="slidenum">
              <a:rPr lang="en-US" smtClean="0"/>
              <a:pPr>
                <a:defRPr/>
              </a:pPr>
              <a:t>57</a:t>
            </a:fld>
            <a:endParaRPr lang="en-US"/>
          </a:p>
        </p:txBody>
      </p:sp>
      <p:sp>
        <p:nvSpPr>
          <p:cNvPr id="16" name="Oval 15">
            <a:extLst>
              <a:ext uri="{FF2B5EF4-FFF2-40B4-BE49-F238E27FC236}">
                <a16:creationId xmlns:a16="http://schemas.microsoft.com/office/drawing/2014/main" id="{95E4283C-CFD2-9AC7-D5DB-A43BE1A563C0}"/>
              </a:ext>
            </a:extLst>
          </p:cNvPr>
          <p:cNvSpPr/>
          <p:nvPr/>
        </p:nvSpPr>
        <p:spPr>
          <a:xfrm rot="18011354">
            <a:off x="10389413" y="3000174"/>
            <a:ext cx="1800849" cy="1771048"/>
          </a:xfrm>
          <a:prstGeom prst="ellipse">
            <a:avLst/>
          </a:prstGeom>
          <a:solidFill>
            <a:srgbClr val="FF0000">
              <a:alpha val="1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EC923835-4D3C-7326-4C12-F3EB0DD1B294}"/>
              </a:ext>
            </a:extLst>
          </p:cNvPr>
          <p:cNvSpPr txBox="1"/>
          <p:nvPr/>
        </p:nvSpPr>
        <p:spPr>
          <a:xfrm>
            <a:off x="10442628" y="3434349"/>
            <a:ext cx="1953490" cy="707886"/>
          </a:xfrm>
          <a:prstGeom prst="rect">
            <a:avLst/>
          </a:prstGeom>
          <a:noFill/>
        </p:spPr>
        <p:txBody>
          <a:bodyPr wrap="square">
            <a:spAutoFit/>
          </a:bodyPr>
          <a:lstStyle/>
          <a:p>
            <a:pPr algn="ctr"/>
            <a:r>
              <a:rPr lang="en-US" sz="2000" dirty="0">
                <a:solidFill>
                  <a:srgbClr val="000000"/>
                </a:solidFill>
                <a:latin typeface="Arial" panose="020B0604020202020204" pitchFamily="34" charset="0"/>
                <a:cs typeface="Arial" panose="020B0604020202020204" pitchFamily="34" charset="0"/>
              </a:rPr>
              <a:t>ICL in </a:t>
            </a:r>
            <a:br>
              <a:rPr lang="en-US" sz="2000" dirty="0">
                <a:solidFill>
                  <a:srgbClr val="000000"/>
                </a:solidFill>
                <a:latin typeface="Arial" panose="020B0604020202020204" pitchFamily="34" charset="0"/>
                <a:cs typeface="Arial" panose="020B0604020202020204" pitchFamily="34" charset="0"/>
              </a:rPr>
            </a:br>
            <a:r>
              <a:rPr lang="en-US" sz="2000" dirty="0">
                <a:solidFill>
                  <a:srgbClr val="000000"/>
                </a:solidFill>
                <a:latin typeface="Arial" panose="020B0604020202020204" pitchFamily="34" charset="0"/>
                <a:cs typeface="Arial" panose="020B0604020202020204" pitchFamily="34" charset="0"/>
              </a:rPr>
              <a:t>Modality B</a:t>
            </a:r>
          </a:p>
        </p:txBody>
      </p:sp>
      <p:sp>
        <p:nvSpPr>
          <p:cNvPr id="15" name="Oval 14">
            <a:extLst>
              <a:ext uri="{FF2B5EF4-FFF2-40B4-BE49-F238E27FC236}">
                <a16:creationId xmlns:a16="http://schemas.microsoft.com/office/drawing/2014/main" id="{DFAEDE84-824C-E80B-1721-48BE754981FA}"/>
              </a:ext>
            </a:extLst>
          </p:cNvPr>
          <p:cNvSpPr/>
          <p:nvPr/>
        </p:nvSpPr>
        <p:spPr>
          <a:xfrm rot="3364394">
            <a:off x="8937116" y="3034099"/>
            <a:ext cx="1766779" cy="1786852"/>
          </a:xfrm>
          <a:prstGeom prst="ellipse">
            <a:avLst/>
          </a:prstGeom>
          <a:solidFill>
            <a:srgbClr val="255ED3">
              <a:alpha val="1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D06197A-5CA3-2B0F-58E1-3EBD09250398}"/>
              </a:ext>
            </a:extLst>
          </p:cNvPr>
          <p:cNvSpPr txBox="1"/>
          <p:nvPr/>
        </p:nvSpPr>
        <p:spPr>
          <a:xfrm>
            <a:off x="8790394" y="3396520"/>
            <a:ext cx="1953490" cy="707886"/>
          </a:xfrm>
          <a:prstGeom prst="rect">
            <a:avLst/>
          </a:prstGeom>
          <a:noFill/>
        </p:spPr>
        <p:txBody>
          <a:bodyPr wrap="square">
            <a:spAutoFit/>
          </a:bodyPr>
          <a:lstStyle/>
          <a:p>
            <a:pPr algn="ctr"/>
            <a:r>
              <a:rPr lang="en-US" sz="2000" dirty="0">
                <a:solidFill>
                  <a:srgbClr val="000000"/>
                </a:solidFill>
                <a:latin typeface="Arial" panose="020B0604020202020204" pitchFamily="34" charset="0"/>
                <a:cs typeface="Arial" panose="020B0604020202020204" pitchFamily="34" charset="0"/>
              </a:rPr>
              <a:t>ICL in </a:t>
            </a:r>
            <a:br>
              <a:rPr lang="en-US" sz="2000">
                <a:solidFill>
                  <a:srgbClr val="000000"/>
                </a:solidFill>
                <a:latin typeface="Arial" panose="020B0604020202020204" pitchFamily="34" charset="0"/>
                <a:cs typeface="Arial" panose="020B0604020202020204" pitchFamily="34" charset="0"/>
              </a:rPr>
            </a:br>
            <a:r>
              <a:rPr lang="en-US" sz="2000">
                <a:solidFill>
                  <a:srgbClr val="000000"/>
                </a:solidFill>
                <a:latin typeface="Arial" panose="020B0604020202020204" pitchFamily="34" charset="0"/>
                <a:cs typeface="Arial" panose="020B0604020202020204" pitchFamily="34" charset="0"/>
              </a:rPr>
              <a:t>Modality A</a:t>
            </a:r>
            <a:endParaRPr lang="en-US" sz="2000" dirty="0">
              <a:solidFill>
                <a:srgbClr val="000000"/>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CAF9A4EC-D9CE-2108-AD8A-47EFDE56CFEB}"/>
              </a:ext>
            </a:extLst>
          </p:cNvPr>
          <p:cNvSpPr/>
          <p:nvPr/>
        </p:nvSpPr>
        <p:spPr>
          <a:xfrm>
            <a:off x="523577" y="2014902"/>
            <a:ext cx="8552690" cy="1410940"/>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x</a:t>
            </a:r>
          </a:p>
        </p:txBody>
      </p:sp>
      <p:sp>
        <p:nvSpPr>
          <p:cNvPr id="6" name="Oval 5">
            <a:extLst>
              <a:ext uri="{FF2B5EF4-FFF2-40B4-BE49-F238E27FC236}">
                <a16:creationId xmlns:a16="http://schemas.microsoft.com/office/drawing/2014/main" id="{C22E93D4-0D99-5886-A9A7-0F1CD3DB6330}"/>
              </a:ext>
            </a:extLst>
          </p:cNvPr>
          <p:cNvSpPr/>
          <p:nvPr/>
        </p:nvSpPr>
        <p:spPr>
          <a:xfrm rot="18011354">
            <a:off x="9673194" y="4007388"/>
            <a:ext cx="1800849" cy="1771048"/>
          </a:xfrm>
          <a:prstGeom prst="ellipse">
            <a:avLst/>
          </a:prstGeom>
          <a:solidFill>
            <a:srgbClr val="92D050">
              <a:alpha val="1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76B791AB-E347-CB0A-046F-C2D862447585}"/>
              </a:ext>
            </a:extLst>
          </p:cNvPr>
          <p:cNvSpPr txBox="1"/>
          <p:nvPr/>
        </p:nvSpPr>
        <p:spPr>
          <a:xfrm>
            <a:off x="9653712" y="4744417"/>
            <a:ext cx="1953490" cy="707886"/>
          </a:xfrm>
          <a:prstGeom prst="rect">
            <a:avLst/>
          </a:prstGeom>
          <a:noFill/>
        </p:spPr>
        <p:txBody>
          <a:bodyPr wrap="square">
            <a:spAutoFit/>
          </a:bodyPr>
          <a:lstStyle/>
          <a:p>
            <a:pPr algn="ctr"/>
            <a:r>
              <a:rPr lang="en-US" sz="2000" dirty="0">
                <a:solidFill>
                  <a:srgbClr val="000000"/>
                </a:solidFill>
                <a:latin typeface="Arial" panose="020B0604020202020204" pitchFamily="34" charset="0"/>
                <a:cs typeface="Arial" panose="020B0604020202020204" pitchFamily="34" charset="0"/>
              </a:rPr>
              <a:t>ICL in </a:t>
            </a:r>
            <a:br>
              <a:rPr lang="en-US" sz="2000" dirty="0">
                <a:solidFill>
                  <a:srgbClr val="000000"/>
                </a:solidFill>
                <a:latin typeface="Arial" panose="020B0604020202020204" pitchFamily="34" charset="0"/>
                <a:cs typeface="Arial" panose="020B0604020202020204" pitchFamily="34" charset="0"/>
              </a:rPr>
            </a:br>
            <a:r>
              <a:rPr lang="en-US" sz="2000" dirty="0">
                <a:solidFill>
                  <a:srgbClr val="000000"/>
                </a:solidFill>
                <a:latin typeface="Arial" panose="020B0604020202020204" pitchFamily="34" charset="0"/>
                <a:cs typeface="Arial" panose="020B0604020202020204" pitchFamily="34" charset="0"/>
              </a:rPr>
              <a:t>Modality C</a:t>
            </a:r>
          </a:p>
        </p:txBody>
      </p:sp>
      <p:sp>
        <p:nvSpPr>
          <p:cNvPr id="9" name="Rectangle 8">
            <a:extLst>
              <a:ext uri="{FF2B5EF4-FFF2-40B4-BE49-F238E27FC236}">
                <a16:creationId xmlns:a16="http://schemas.microsoft.com/office/drawing/2014/main" id="{B8A50C69-2391-F6DD-71A5-DA2876D691AF}"/>
              </a:ext>
            </a:extLst>
          </p:cNvPr>
          <p:cNvSpPr/>
          <p:nvPr/>
        </p:nvSpPr>
        <p:spPr>
          <a:xfrm>
            <a:off x="643648" y="4041363"/>
            <a:ext cx="9296670" cy="1893770"/>
          </a:xfrm>
          <a:prstGeom prst="rect">
            <a:avLst/>
          </a:prstGeom>
          <a:solidFill>
            <a:srgbClr val="FFFFFF">
              <a:alpha val="8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x</a:t>
            </a:r>
          </a:p>
        </p:txBody>
      </p:sp>
    </p:spTree>
    <p:extLst>
      <p:ext uri="{BB962C8B-B14F-4D97-AF65-F5344CB8AC3E}">
        <p14:creationId xmlns:p14="http://schemas.microsoft.com/office/powerpoint/2010/main" val="258719901"/>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4" grpId="0"/>
      <p:bldP spid="15" grpId="0" animBg="1"/>
      <p:bldP spid="17" grpId="0"/>
      <p:bldP spid="7" grpId="0" animBg="1"/>
      <p:bldP spid="6" grpId="0" animBg="1"/>
      <p:bldP spid="8" grpId="0"/>
      <p:bldP spid="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8FF1F-97EF-FF2B-FCAA-4A741AC1EC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C0096-42DB-F1E0-CBF9-9ECB98B977DC}"/>
              </a:ext>
            </a:extLst>
          </p:cNvPr>
          <p:cNvSpPr>
            <a:spLocks noGrp="1"/>
          </p:cNvSpPr>
          <p:nvPr>
            <p:ph type="title"/>
          </p:nvPr>
        </p:nvSpPr>
        <p:spPr/>
        <p:txBody>
          <a:bodyPr/>
          <a:lstStyle/>
          <a:p>
            <a:r>
              <a:rPr lang="en-US" dirty="0"/>
              <a:t>Open Questions </a:t>
            </a:r>
          </a:p>
        </p:txBody>
      </p:sp>
      <p:sp>
        <p:nvSpPr>
          <p:cNvPr id="3" name="Content Placeholder 2">
            <a:extLst>
              <a:ext uri="{FF2B5EF4-FFF2-40B4-BE49-F238E27FC236}">
                <a16:creationId xmlns:a16="http://schemas.microsoft.com/office/drawing/2014/main" id="{54FE24B2-4336-0E7A-1165-304C290C1293}"/>
              </a:ext>
            </a:extLst>
          </p:cNvPr>
          <p:cNvSpPr>
            <a:spLocks noGrp="1"/>
          </p:cNvSpPr>
          <p:nvPr>
            <p:ph idx="1"/>
          </p:nvPr>
        </p:nvSpPr>
        <p:spPr>
          <a:xfrm>
            <a:off x="838200" y="1597023"/>
            <a:ext cx="10515600" cy="4662488"/>
          </a:xfrm>
        </p:spPr>
        <p:txBody>
          <a:bodyPr/>
          <a:lstStyle/>
          <a:p>
            <a:r>
              <a:rPr lang="en-US" dirty="0"/>
              <a:t>If reasoning arises without human-interpretable tokens, what does that say about the nature of “reasoning”?</a:t>
            </a:r>
            <a:br>
              <a:rPr lang="en-US" dirty="0"/>
            </a:br>
            <a:endParaRPr lang="en-US" dirty="0"/>
          </a:p>
          <a:p>
            <a:r>
              <a:rPr lang="en-US" dirty="0"/>
              <a:t>Is it possible one can learn to reason (say in human lang) by </a:t>
            </a:r>
            <a:br>
              <a:rPr lang="en-US" dirty="0"/>
            </a:br>
            <a:r>
              <a:rPr lang="en-US" dirty="0"/>
              <a:t>learning from </a:t>
            </a:r>
            <a:r>
              <a:rPr lang="en-US" i="1" dirty="0"/>
              <a:t>other </a:t>
            </a:r>
            <a:r>
              <a:rPr lang="en-US" dirty="0"/>
              <a:t>modalities? </a:t>
            </a:r>
          </a:p>
          <a:p>
            <a:endParaRPr lang="en-US" dirty="0"/>
          </a:p>
        </p:txBody>
      </p:sp>
      <p:sp>
        <p:nvSpPr>
          <p:cNvPr id="4" name="Slide Number Placeholder 3">
            <a:extLst>
              <a:ext uri="{FF2B5EF4-FFF2-40B4-BE49-F238E27FC236}">
                <a16:creationId xmlns:a16="http://schemas.microsoft.com/office/drawing/2014/main" id="{755B26A0-97F3-80C6-6C20-7A383DB34BD9}"/>
              </a:ext>
            </a:extLst>
          </p:cNvPr>
          <p:cNvSpPr>
            <a:spLocks noGrp="1"/>
          </p:cNvSpPr>
          <p:nvPr>
            <p:ph type="sldNum" sz="quarter" idx="10"/>
          </p:nvPr>
        </p:nvSpPr>
        <p:spPr/>
        <p:txBody>
          <a:bodyPr/>
          <a:lstStyle/>
          <a:p>
            <a:pPr>
              <a:defRPr/>
            </a:pPr>
            <a:fld id="{0121240C-47AF-2F4D-83B3-CC3EDF50F794}" type="slidenum">
              <a:rPr lang="en-US" smtClean="0"/>
              <a:pPr>
                <a:defRPr/>
              </a:pPr>
              <a:t>58</a:t>
            </a:fld>
            <a:endParaRPr lang="en-US"/>
          </a:p>
        </p:txBody>
      </p:sp>
    </p:spTree>
    <p:extLst>
      <p:ext uri="{BB962C8B-B14F-4D97-AF65-F5344CB8AC3E}">
        <p14:creationId xmlns:p14="http://schemas.microsoft.com/office/powerpoint/2010/main" val="4224725699"/>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43848-9895-F6C3-0AC0-C37E4C8711A6}"/>
              </a:ext>
            </a:extLst>
          </p:cNvPr>
          <p:cNvSpPr>
            <a:spLocks noGrp="1"/>
          </p:cNvSpPr>
          <p:nvPr>
            <p:ph type="title"/>
          </p:nvPr>
        </p:nvSpPr>
        <p:spPr/>
        <p:txBody>
          <a:bodyPr/>
          <a:lstStyle/>
          <a:p>
            <a:r>
              <a:rPr lang="en-US" dirty="0"/>
              <a:t>Other emergent phenomena we didn’t cover </a:t>
            </a:r>
          </a:p>
        </p:txBody>
      </p:sp>
      <p:sp>
        <p:nvSpPr>
          <p:cNvPr id="3" name="Content Placeholder 2">
            <a:extLst>
              <a:ext uri="{FF2B5EF4-FFF2-40B4-BE49-F238E27FC236}">
                <a16:creationId xmlns:a16="http://schemas.microsoft.com/office/drawing/2014/main" id="{D6C7A55F-60F7-19BB-F6B5-450757A33A13}"/>
              </a:ext>
            </a:extLst>
          </p:cNvPr>
          <p:cNvSpPr>
            <a:spLocks noGrp="1"/>
          </p:cNvSpPr>
          <p:nvPr>
            <p:ph idx="1"/>
          </p:nvPr>
        </p:nvSpPr>
        <p:spPr/>
        <p:txBody>
          <a:bodyPr/>
          <a:lstStyle/>
          <a:p>
            <a:r>
              <a:rPr lang="en-US" b="1" dirty="0"/>
              <a:t>Generalization to unseen task instructions </a:t>
            </a:r>
            <a:br>
              <a:rPr lang="en-US" dirty="0"/>
            </a:br>
            <a:r>
              <a:rPr lang="en-US" dirty="0"/>
              <a:t>	</a:t>
            </a:r>
            <a:r>
              <a:rPr lang="en-US" sz="2000" dirty="0"/>
              <a:t>[Mishra et al. 2021 among others] </a:t>
            </a:r>
          </a:p>
          <a:p>
            <a:endParaRPr lang="en-US" dirty="0"/>
          </a:p>
          <a:p>
            <a:r>
              <a:rPr lang="en-US" b="1" dirty="0"/>
              <a:t>Inference-time reasoning</a:t>
            </a:r>
            <a:r>
              <a:rPr lang="en-US" dirty="0"/>
              <a:t>: models improving their responses with more inference-time thinking</a:t>
            </a:r>
          </a:p>
          <a:p>
            <a:pPr marL="457200" lvl="1" indent="0">
              <a:buNone/>
            </a:pPr>
            <a:r>
              <a:rPr lang="en-US" sz="2000" dirty="0"/>
              <a:t>      [DeepSeek-R1, among others] </a:t>
            </a:r>
          </a:p>
          <a:p>
            <a:endParaRPr lang="en-US" dirty="0"/>
          </a:p>
          <a:p>
            <a:r>
              <a:rPr lang="en-US" b="1" dirty="0"/>
              <a:t>Cross-lingual transfer: </a:t>
            </a:r>
            <a:r>
              <a:rPr lang="en-US" dirty="0"/>
              <a:t>capabilities learned in English appear in low-resource languages</a:t>
            </a:r>
          </a:p>
        </p:txBody>
      </p:sp>
      <p:sp>
        <p:nvSpPr>
          <p:cNvPr id="4" name="Slide Number Placeholder 3">
            <a:extLst>
              <a:ext uri="{FF2B5EF4-FFF2-40B4-BE49-F238E27FC236}">
                <a16:creationId xmlns:a16="http://schemas.microsoft.com/office/drawing/2014/main" id="{194D8718-68D1-8BC7-8409-65290B872658}"/>
              </a:ext>
            </a:extLst>
          </p:cNvPr>
          <p:cNvSpPr>
            <a:spLocks noGrp="1"/>
          </p:cNvSpPr>
          <p:nvPr>
            <p:ph type="sldNum" sz="quarter" idx="10"/>
          </p:nvPr>
        </p:nvSpPr>
        <p:spPr/>
        <p:txBody>
          <a:bodyPr/>
          <a:lstStyle/>
          <a:p>
            <a:pPr>
              <a:defRPr/>
            </a:pPr>
            <a:fld id="{0121240C-47AF-2F4D-83B3-CC3EDF50F794}" type="slidenum">
              <a:rPr lang="en-US" smtClean="0"/>
              <a:pPr>
                <a:defRPr/>
              </a:pPr>
              <a:t>59</a:t>
            </a:fld>
            <a:endParaRPr lang="en-US"/>
          </a:p>
        </p:txBody>
      </p:sp>
    </p:spTree>
    <p:extLst>
      <p:ext uri="{BB962C8B-B14F-4D97-AF65-F5344CB8AC3E}">
        <p14:creationId xmlns:p14="http://schemas.microsoft.com/office/powerpoint/2010/main" val="3731397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B7F21-2453-DBE1-5BC4-24DE1464A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953CF-1C5E-5E9F-4B03-4A690341EA60}"/>
              </a:ext>
            </a:extLst>
          </p:cNvPr>
          <p:cNvSpPr>
            <a:spLocks noGrp="1"/>
          </p:cNvSpPr>
          <p:nvPr>
            <p:ph type="title"/>
          </p:nvPr>
        </p:nvSpPr>
        <p:spPr/>
        <p:txBody>
          <a:bodyPr/>
          <a:lstStyle/>
          <a:p>
            <a:r>
              <a:rPr lang="en-US" b="1" dirty="0"/>
              <a:t>Today:</a:t>
            </a:r>
            <a:r>
              <a:rPr lang="en-US" dirty="0"/>
              <a:t> Emergent phenomena</a:t>
            </a:r>
          </a:p>
        </p:txBody>
      </p:sp>
      <p:sp>
        <p:nvSpPr>
          <p:cNvPr id="3" name="Content Placeholder 2">
            <a:extLst>
              <a:ext uri="{FF2B5EF4-FFF2-40B4-BE49-F238E27FC236}">
                <a16:creationId xmlns:a16="http://schemas.microsoft.com/office/drawing/2014/main" id="{9570F3CB-535D-078B-AE19-7FA561130B33}"/>
              </a:ext>
            </a:extLst>
          </p:cNvPr>
          <p:cNvSpPr>
            <a:spLocks noGrp="1"/>
          </p:cNvSpPr>
          <p:nvPr>
            <p:ph idx="1"/>
          </p:nvPr>
        </p:nvSpPr>
        <p:spPr/>
        <p:txBody>
          <a:bodyPr/>
          <a:lstStyle/>
          <a:p>
            <a:r>
              <a:rPr lang="en-US" dirty="0"/>
              <a:t>What is happening inside language models? </a:t>
            </a:r>
          </a:p>
          <a:p>
            <a:endParaRPr lang="en-US" dirty="0"/>
          </a:p>
          <a:p>
            <a:r>
              <a:rPr lang="en-US" dirty="0"/>
              <a:t>What do we mean by “emergent phenomena”? </a:t>
            </a:r>
          </a:p>
          <a:p>
            <a:pPr marL="0" indent="0">
              <a:buNone/>
            </a:pPr>
            <a:endParaRPr lang="en-US" dirty="0"/>
          </a:p>
          <a:p>
            <a:r>
              <a:rPr lang="en-US" dirty="0"/>
              <a:t>What do we understand about it? </a:t>
            </a:r>
          </a:p>
          <a:p>
            <a:pPr marL="0" indent="0">
              <a:buNone/>
            </a:pPr>
            <a:endParaRPr lang="en-US" dirty="0"/>
          </a:p>
          <a:p>
            <a:r>
              <a:rPr lang="en-US" dirty="0"/>
              <a:t>What does the future hold? </a:t>
            </a:r>
          </a:p>
          <a:p>
            <a:endParaRPr lang="en-US" dirty="0"/>
          </a:p>
        </p:txBody>
      </p:sp>
      <p:sp>
        <p:nvSpPr>
          <p:cNvPr id="4" name="Slide Number Placeholder 3">
            <a:extLst>
              <a:ext uri="{FF2B5EF4-FFF2-40B4-BE49-F238E27FC236}">
                <a16:creationId xmlns:a16="http://schemas.microsoft.com/office/drawing/2014/main" id="{0F2FE7C4-1B9C-7675-F5EC-FDAD23EC4CF8}"/>
              </a:ext>
            </a:extLst>
          </p:cNvPr>
          <p:cNvSpPr>
            <a:spLocks noGrp="1"/>
          </p:cNvSpPr>
          <p:nvPr>
            <p:ph type="sldNum" sz="quarter" idx="10"/>
          </p:nvPr>
        </p:nvSpPr>
        <p:spPr/>
        <p:txBody>
          <a:bodyPr/>
          <a:lstStyle/>
          <a:p>
            <a:pPr>
              <a:defRPr/>
            </a:pPr>
            <a:fld id="{0121240C-47AF-2F4D-83B3-CC3EDF50F794}" type="slidenum">
              <a:rPr lang="en-US" smtClean="0"/>
              <a:pPr>
                <a:defRPr/>
              </a:pPr>
              <a:t>60</a:t>
            </a:fld>
            <a:endParaRPr lang="en-US"/>
          </a:p>
        </p:txBody>
      </p:sp>
      <p:sp>
        <p:nvSpPr>
          <p:cNvPr id="5" name="Rectangle 4">
            <a:extLst>
              <a:ext uri="{FF2B5EF4-FFF2-40B4-BE49-F238E27FC236}">
                <a16:creationId xmlns:a16="http://schemas.microsoft.com/office/drawing/2014/main" id="{9EECFECD-BF20-9F35-F334-0118444332D6}"/>
              </a:ext>
            </a:extLst>
          </p:cNvPr>
          <p:cNvSpPr/>
          <p:nvPr/>
        </p:nvSpPr>
        <p:spPr>
          <a:xfrm>
            <a:off x="196482" y="4554070"/>
            <a:ext cx="11799035" cy="1339359"/>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72EC7B61-24A6-9BBF-8BD5-3109D69EB146}"/>
              </a:ext>
            </a:extLst>
          </p:cNvPr>
          <p:cNvSpPr/>
          <p:nvPr/>
        </p:nvSpPr>
        <p:spPr>
          <a:xfrm>
            <a:off x="0" y="0"/>
            <a:ext cx="12186309" cy="130884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93641B4A-7F15-B6E0-F761-D69466F87816}"/>
              </a:ext>
            </a:extLst>
          </p:cNvPr>
          <p:cNvSpPr txBox="1">
            <a:spLocks/>
          </p:cNvSpPr>
          <p:nvPr/>
        </p:nvSpPr>
        <p:spPr bwMode="auto">
          <a:xfrm>
            <a:off x="200025" y="125504"/>
            <a:ext cx="118300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1" fontAlgn="base" hangingPunct="1">
              <a:lnSpc>
                <a:spcPct val="100000"/>
              </a:lnSpc>
              <a:spcBef>
                <a:spcPct val="0"/>
              </a:spcBef>
              <a:spcAft>
                <a:spcPct val="0"/>
              </a:spcAft>
              <a:defRPr sz="4400" b="0" kern="1200">
                <a:solidFill>
                  <a:schemeClr val="tx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Corbel" panose="020B0503020204020204" pitchFamily="34" charset="0"/>
              </a:defRPr>
            </a:lvl2pPr>
            <a:lvl3pPr algn="l" rtl="0" eaLnBrk="1" fontAlgn="base" hangingPunct="1">
              <a:lnSpc>
                <a:spcPct val="90000"/>
              </a:lnSpc>
              <a:spcBef>
                <a:spcPct val="0"/>
              </a:spcBef>
              <a:spcAft>
                <a:spcPct val="0"/>
              </a:spcAft>
              <a:defRPr sz="4400">
                <a:solidFill>
                  <a:schemeClr val="tx1"/>
                </a:solidFill>
                <a:latin typeface="Corbel" panose="020B0503020204020204" pitchFamily="34" charset="0"/>
              </a:defRPr>
            </a:lvl3pPr>
            <a:lvl4pPr algn="l" rtl="0" eaLnBrk="1" fontAlgn="base" hangingPunct="1">
              <a:lnSpc>
                <a:spcPct val="90000"/>
              </a:lnSpc>
              <a:spcBef>
                <a:spcPct val="0"/>
              </a:spcBef>
              <a:spcAft>
                <a:spcPct val="0"/>
              </a:spcAft>
              <a:defRPr sz="4400">
                <a:solidFill>
                  <a:schemeClr val="tx1"/>
                </a:solidFill>
                <a:latin typeface="Corbel" panose="020B0503020204020204" pitchFamily="34" charset="0"/>
              </a:defRPr>
            </a:lvl4pPr>
            <a:lvl5pPr algn="l" rtl="0" eaLnBrk="1" fontAlgn="base" hangingPunct="1">
              <a:lnSpc>
                <a:spcPct val="90000"/>
              </a:lnSpc>
              <a:spcBef>
                <a:spcPct val="0"/>
              </a:spcBef>
              <a:spcAft>
                <a:spcPct val="0"/>
              </a:spcAft>
              <a:defRPr sz="4400">
                <a:solidFill>
                  <a:schemeClr val="tx1"/>
                </a:solidFill>
                <a:latin typeface="Corbel" panose="020B0503020204020204" pitchFamily="34" charset="0"/>
              </a:defRPr>
            </a:lvl5pPr>
            <a:lvl6pPr marL="457200" algn="l" rtl="0" eaLnBrk="1" fontAlgn="base" hangingPunct="1">
              <a:lnSpc>
                <a:spcPct val="90000"/>
              </a:lnSpc>
              <a:spcBef>
                <a:spcPct val="0"/>
              </a:spcBef>
              <a:spcAft>
                <a:spcPct val="0"/>
              </a:spcAft>
              <a:defRPr sz="4400">
                <a:solidFill>
                  <a:schemeClr val="tx1"/>
                </a:solidFill>
                <a:latin typeface="Corbel" panose="020B0503020204020204" pitchFamily="34" charset="0"/>
              </a:defRPr>
            </a:lvl6pPr>
            <a:lvl7pPr marL="914400" algn="l" rtl="0" eaLnBrk="1" fontAlgn="base" hangingPunct="1">
              <a:lnSpc>
                <a:spcPct val="90000"/>
              </a:lnSpc>
              <a:spcBef>
                <a:spcPct val="0"/>
              </a:spcBef>
              <a:spcAft>
                <a:spcPct val="0"/>
              </a:spcAft>
              <a:defRPr sz="4400">
                <a:solidFill>
                  <a:schemeClr val="tx1"/>
                </a:solidFill>
                <a:latin typeface="Corbel" panose="020B0503020204020204" pitchFamily="34" charset="0"/>
              </a:defRPr>
            </a:lvl7pPr>
            <a:lvl8pPr marL="1371600" algn="l" rtl="0" eaLnBrk="1" fontAlgn="base" hangingPunct="1">
              <a:lnSpc>
                <a:spcPct val="90000"/>
              </a:lnSpc>
              <a:spcBef>
                <a:spcPct val="0"/>
              </a:spcBef>
              <a:spcAft>
                <a:spcPct val="0"/>
              </a:spcAft>
              <a:defRPr sz="4400">
                <a:solidFill>
                  <a:schemeClr val="tx1"/>
                </a:solidFill>
                <a:latin typeface="Corbel" panose="020B0503020204020204" pitchFamily="34" charset="0"/>
              </a:defRPr>
            </a:lvl8pPr>
            <a:lvl9pPr marL="1828800" algn="l" rtl="0" eaLnBrk="1" fontAlgn="base" hangingPunct="1">
              <a:lnSpc>
                <a:spcPct val="90000"/>
              </a:lnSpc>
              <a:spcBef>
                <a:spcPct val="0"/>
              </a:spcBef>
              <a:spcAft>
                <a:spcPct val="0"/>
              </a:spcAft>
              <a:defRPr sz="4400">
                <a:solidFill>
                  <a:schemeClr val="tx1"/>
                </a:solidFill>
                <a:latin typeface="Corbel" panose="020B0503020204020204" pitchFamily="34" charset="0"/>
              </a:defRPr>
            </a:lvl9pPr>
          </a:lstStyle>
          <a:p>
            <a:r>
              <a:rPr lang="en-US" b="1"/>
              <a:t>Today:</a:t>
            </a:r>
            <a:r>
              <a:rPr lang="en-US"/>
              <a:t> Emergent phenomena</a:t>
            </a:r>
            <a:endParaRPr lang="en-US" dirty="0"/>
          </a:p>
        </p:txBody>
      </p:sp>
      <p:pic>
        <p:nvPicPr>
          <p:cNvPr id="8" name="Picture 2">
            <a:extLst>
              <a:ext uri="{FF2B5EF4-FFF2-40B4-BE49-F238E27FC236}">
                <a16:creationId xmlns:a16="http://schemas.microsoft.com/office/drawing/2014/main" id="{56D4547E-6FB2-B757-FA68-4D606BAC7A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4737" y="1548773"/>
            <a:ext cx="1413740" cy="1463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50756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82B6B-FCD4-F4ED-4C8E-9E3E4BC77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D8AE65-6A32-5C9A-BEFC-81AA1AA2012F}"/>
              </a:ext>
            </a:extLst>
          </p:cNvPr>
          <p:cNvSpPr>
            <a:spLocks noGrp="1"/>
          </p:cNvSpPr>
          <p:nvPr>
            <p:ph type="title"/>
          </p:nvPr>
        </p:nvSpPr>
        <p:spPr/>
        <p:txBody>
          <a:bodyPr/>
          <a:lstStyle/>
          <a:p>
            <a:r>
              <a:rPr lang="en-US" b="1" dirty="0"/>
              <a:t>Today:</a:t>
            </a:r>
            <a:r>
              <a:rPr lang="en-US" dirty="0"/>
              <a:t> Emergent phenomena</a:t>
            </a:r>
          </a:p>
        </p:txBody>
      </p:sp>
      <p:sp>
        <p:nvSpPr>
          <p:cNvPr id="3" name="Content Placeholder 2">
            <a:extLst>
              <a:ext uri="{FF2B5EF4-FFF2-40B4-BE49-F238E27FC236}">
                <a16:creationId xmlns:a16="http://schemas.microsoft.com/office/drawing/2014/main" id="{4752FB2C-AE10-DC8C-4D17-95DABB689591}"/>
              </a:ext>
            </a:extLst>
          </p:cNvPr>
          <p:cNvSpPr>
            <a:spLocks noGrp="1"/>
          </p:cNvSpPr>
          <p:nvPr>
            <p:ph idx="1"/>
          </p:nvPr>
        </p:nvSpPr>
        <p:spPr/>
        <p:txBody>
          <a:bodyPr/>
          <a:lstStyle/>
          <a:p>
            <a:r>
              <a:rPr lang="en-US" dirty="0"/>
              <a:t>What is happening inside language models? </a:t>
            </a:r>
          </a:p>
          <a:p>
            <a:endParaRPr lang="en-US" dirty="0"/>
          </a:p>
          <a:p>
            <a:r>
              <a:rPr lang="en-US" dirty="0"/>
              <a:t>What do we mean by “emergent phenomena”? </a:t>
            </a:r>
          </a:p>
          <a:p>
            <a:pPr marL="0" indent="0">
              <a:buNone/>
            </a:pPr>
            <a:endParaRPr lang="en-US" dirty="0"/>
          </a:p>
          <a:p>
            <a:r>
              <a:rPr lang="en-US" dirty="0"/>
              <a:t>What do we understand about it? </a:t>
            </a:r>
          </a:p>
          <a:p>
            <a:pPr marL="0" indent="0">
              <a:buNone/>
            </a:pPr>
            <a:endParaRPr lang="en-US" dirty="0"/>
          </a:p>
          <a:p>
            <a:r>
              <a:rPr lang="en-US" dirty="0"/>
              <a:t>What does the future hold? </a:t>
            </a:r>
          </a:p>
          <a:p>
            <a:endParaRPr lang="en-US" dirty="0"/>
          </a:p>
        </p:txBody>
      </p:sp>
      <p:sp>
        <p:nvSpPr>
          <p:cNvPr id="4" name="Slide Number Placeholder 3">
            <a:extLst>
              <a:ext uri="{FF2B5EF4-FFF2-40B4-BE49-F238E27FC236}">
                <a16:creationId xmlns:a16="http://schemas.microsoft.com/office/drawing/2014/main" id="{686CB63B-C3A6-69C2-9D98-1D2E0DE18EE1}"/>
              </a:ext>
            </a:extLst>
          </p:cNvPr>
          <p:cNvSpPr>
            <a:spLocks noGrp="1"/>
          </p:cNvSpPr>
          <p:nvPr>
            <p:ph type="sldNum" sz="quarter" idx="10"/>
          </p:nvPr>
        </p:nvSpPr>
        <p:spPr/>
        <p:txBody>
          <a:bodyPr/>
          <a:lstStyle/>
          <a:p>
            <a:pPr>
              <a:defRPr/>
            </a:pPr>
            <a:fld id="{0121240C-47AF-2F4D-83B3-CC3EDF50F794}" type="slidenum">
              <a:rPr lang="en-US" smtClean="0"/>
              <a:pPr>
                <a:defRPr/>
              </a:pPr>
              <a:t>61</a:t>
            </a:fld>
            <a:endParaRPr lang="en-US"/>
          </a:p>
        </p:txBody>
      </p:sp>
      <p:sp>
        <p:nvSpPr>
          <p:cNvPr id="6" name="Rectangle 5">
            <a:extLst>
              <a:ext uri="{FF2B5EF4-FFF2-40B4-BE49-F238E27FC236}">
                <a16:creationId xmlns:a16="http://schemas.microsoft.com/office/drawing/2014/main" id="{71566786-20C0-C91C-C9DB-614661C6C63A}"/>
              </a:ext>
            </a:extLst>
          </p:cNvPr>
          <p:cNvSpPr/>
          <p:nvPr/>
        </p:nvSpPr>
        <p:spPr>
          <a:xfrm>
            <a:off x="0" y="0"/>
            <a:ext cx="12186309" cy="130884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78F616E1-FB16-165A-6D88-294BCE41AD7B}"/>
              </a:ext>
            </a:extLst>
          </p:cNvPr>
          <p:cNvSpPr txBox="1">
            <a:spLocks/>
          </p:cNvSpPr>
          <p:nvPr/>
        </p:nvSpPr>
        <p:spPr bwMode="auto">
          <a:xfrm>
            <a:off x="200025" y="125504"/>
            <a:ext cx="118300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1" fontAlgn="base" hangingPunct="1">
              <a:lnSpc>
                <a:spcPct val="100000"/>
              </a:lnSpc>
              <a:spcBef>
                <a:spcPct val="0"/>
              </a:spcBef>
              <a:spcAft>
                <a:spcPct val="0"/>
              </a:spcAft>
              <a:defRPr sz="4400" b="0" kern="1200">
                <a:solidFill>
                  <a:schemeClr val="tx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Corbel" panose="020B0503020204020204" pitchFamily="34" charset="0"/>
              </a:defRPr>
            </a:lvl2pPr>
            <a:lvl3pPr algn="l" rtl="0" eaLnBrk="1" fontAlgn="base" hangingPunct="1">
              <a:lnSpc>
                <a:spcPct val="90000"/>
              </a:lnSpc>
              <a:spcBef>
                <a:spcPct val="0"/>
              </a:spcBef>
              <a:spcAft>
                <a:spcPct val="0"/>
              </a:spcAft>
              <a:defRPr sz="4400">
                <a:solidFill>
                  <a:schemeClr val="tx1"/>
                </a:solidFill>
                <a:latin typeface="Corbel" panose="020B0503020204020204" pitchFamily="34" charset="0"/>
              </a:defRPr>
            </a:lvl3pPr>
            <a:lvl4pPr algn="l" rtl="0" eaLnBrk="1" fontAlgn="base" hangingPunct="1">
              <a:lnSpc>
                <a:spcPct val="90000"/>
              </a:lnSpc>
              <a:spcBef>
                <a:spcPct val="0"/>
              </a:spcBef>
              <a:spcAft>
                <a:spcPct val="0"/>
              </a:spcAft>
              <a:defRPr sz="4400">
                <a:solidFill>
                  <a:schemeClr val="tx1"/>
                </a:solidFill>
                <a:latin typeface="Corbel" panose="020B0503020204020204" pitchFamily="34" charset="0"/>
              </a:defRPr>
            </a:lvl4pPr>
            <a:lvl5pPr algn="l" rtl="0" eaLnBrk="1" fontAlgn="base" hangingPunct="1">
              <a:lnSpc>
                <a:spcPct val="90000"/>
              </a:lnSpc>
              <a:spcBef>
                <a:spcPct val="0"/>
              </a:spcBef>
              <a:spcAft>
                <a:spcPct val="0"/>
              </a:spcAft>
              <a:defRPr sz="4400">
                <a:solidFill>
                  <a:schemeClr val="tx1"/>
                </a:solidFill>
                <a:latin typeface="Corbel" panose="020B0503020204020204" pitchFamily="34" charset="0"/>
              </a:defRPr>
            </a:lvl5pPr>
            <a:lvl6pPr marL="457200" algn="l" rtl="0" eaLnBrk="1" fontAlgn="base" hangingPunct="1">
              <a:lnSpc>
                <a:spcPct val="90000"/>
              </a:lnSpc>
              <a:spcBef>
                <a:spcPct val="0"/>
              </a:spcBef>
              <a:spcAft>
                <a:spcPct val="0"/>
              </a:spcAft>
              <a:defRPr sz="4400">
                <a:solidFill>
                  <a:schemeClr val="tx1"/>
                </a:solidFill>
                <a:latin typeface="Corbel" panose="020B0503020204020204" pitchFamily="34" charset="0"/>
              </a:defRPr>
            </a:lvl6pPr>
            <a:lvl7pPr marL="914400" algn="l" rtl="0" eaLnBrk="1" fontAlgn="base" hangingPunct="1">
              <a:lnSpc>
                <a:spcPct val="90000"/>
              </a:lnSpc>
              <a:spcBef>
                <a:spcPct val="0"/>
              </a:spcBef>
              <a:spcAft>
                <a:spcPct val="0"/>
              </a:spcAft>
              <a:defRPr sz="4400">
                <a:solidFill>
                  <a:schemeClr val="tx1"/>
                </a:solidFill>
                <a:latin typeface="Corbel" panose="020B0503020204020204" pitchFamily="34" charset="0"/>
              </a:defRPr>
            </a:lvl7pPr>
            <a:lvl8pPr marL="1371600" algn="l" rtl="0" eaLnBrk="1" fontAlgn="base" hangingPunct="1">
              <a:lnSpc>
                <a:spcPct val="90000"/>
              </a:lnSpc>
              <a:spcBef>
                <a:spcPct val="0"/>
              </a:spcBef>
              <a:spcAft>
                <a:spcPct val="0"/>
              </a:spcAft>
              <a:defRPr sz="4400">
                <a:solidFill>
                  <a:schemeClr val="tx1"/>
                </a:solidFill>
                <a:latin typeface="Corbel" panose="020B0503020204020204" pitchFamily="34" charset="0"/>
              </a:defRPr>
            </a:lvl8pPr>
            <a:lvl9pPr marL="1828800" algn="l" rtl="0" eaLnBrk="1" fontAlgn="base" hangingPunct="1">
              <a:lnSpc>
                <a:spcPct val="90000"/>
              </a:lnSpc>
              <a:spcBef>
                <a:spcPct val="0"/>
              </a:spcBef>
              <a:spcAft>
                <a:spcPct val="0"/>
              </a:spcAft>
              <a:defRPr sz="4400">
                <a:solidFill>
                  <a:schemeClr val="tx1"/>
                </a:solidFill>
                <a:latin typeface="Corbel" panose="020B0503020204020204" pitchFamily="34" charset="0"/>
              </a:defRPr>
            </a:lvl9pPr>
          </a:lstStyle>
          <a:p>
            <a:r>
              <a:rPr lang="en-US" b="1"/>
              <a:t>Today:</a:t>
            </a:r>
            <a:r>
              <a:rPr lang="en-US"/>
              <a:t> Emergent phenomena</a:t>
            </a:r>
            <a:endParaRPr lang="en-US" dirty="0"/>
          </a:p>
        </p:txBody>
      </p:sp>
      <p:pic>
        <p:nvPicPr>
          <p:cNvPr id="8" name="Picture 2">
            <a:extLst>
              <a:ext uri="{FF2B5EF4-FFF2-40B4-BE49-F238E27FC236}">
                <a16:creationId xmlns:a16="http://schemas.microsoft.com/office/drawing/2014/main" id="{E121FFD7-FEEF-F161-B892-17387DE9AE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4737" y="1548773"/>
            <a:ext cx="1413740" cy="1463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43129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CED8E-69B1-8D96-9C78-2F5AF5635AD4}"/>
              </a:ext>
            </a:extLst>
          </p:cNvPr>
          <p:cNvSpPr>
            <a:spLocks noGrp="1"/>
          </p:cNvSpPr>
          <p:nvPr>
            <p:ph type="title"/>
          </p:nvPr>
        </p:nvSpPr>
        <p:spPr/>
        <p:txBody>
          <a:bodyPr/>
          <a:lstStyle/>
          <a:p>
            <a:r>
              <a:rPr lang="en-US" dirty="0"/>
              <a:t>How far will we be able to scale? </a:t>
            </a:r>
          </a:p>
        </p:txBody>
      </p:sp>
      <p:sp>
        <p:nvSpPr>
          <p:cNvPr id="3" name="Content Placeholder 2">
            <a:extLst>
              <a:ext uri="{FF2B5EF4-FFF2-40B4-BE49-F238E27FC236}">
                <a16:creationId xmlns:a16="http://schemas.microsoft.com/office/drawing/2014/main" id="{B7FD2258-C330-51E3-B341-7EB258C9E76D}"/>
              </a:ext>
            </a:extLst>
          </p:cNvPr>
          <p:cNvSpPr>
            <a:spLocks noGrp="1"/>
          </p:cNvSpPr>
          <p:nvPr>
            <p:ph idx="1"/>
          </p:nvPr>
        </p:nvSpPr>
        <p:spPr/>
        <p:txBody>
          <a:bodyPr/>
          <a:lstStyle/>
          <a:p>
            <a:r>
              <a:rPr lang="en-US" b="1" dirty="0"/>
              <a:t>Is “scaling” here to stay?</a:t>
            </a:r>
          </a:p>
        </p:txBody>
      </p:sp>
      <p:sp>
        <p:nvSpPr>
          <p:cNvPr id="4" name="Slide Number Placeholder 3">
            <a:extLst>
              <a:ext uri="{FF2B5EF4-FFF2-40B4-BE49-F238E27FC236}">
                <a16:creationId xmlns:a16="http://schemas.microsoft.com/office/drawing/2014/main" id="{04B176C3-6131-02F2-9661-1E2A9CC7601D}"/>
              </a:ext>
            </a:extLst>
          </p:cNvPr>
          <p:cNvSpPr>
            <a:spLocks noGrp="1"/>
          </p:cNvSpPr>
          <p:nvPr>
            <p:ph type="sldNum" sz="quarter" idx="10"/>
          </p:nvPr>
        </p:nvSpPr>
        <p:spPr/>
        <p:txBody>
          <a:bodyPr/>
          <a:lstStyle/>
          <a:p>
            <a:pPr>
              <a:defRPr/>
            </a:pPr>
            <a:fld id="{0121240C-47AF-2F4D-83B3-CC3EDF50F794}" type="slidenum">
              <a:rPr lang="en-US" smtClean="0"/>
              <a:pPr>
                <a:defRPr/>
              </a:pPr>
              <a:t>62</a:t>
            </a:fld>
            <a:endParaRPr lang="en-US"/>
          </a:p>
        </p:txBody>
      </p:sp>
    </p:spTree>
    <p:extLst>
      <p:ext uri="{BB962C8B-B14F-4D97-AF65-F5344CB8AC3E}">
        <p14:creationId xmlns:p14="http://schemas.microsoft.com/office/powerpoint/2010/main" val="32185974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9AB07-CF60-7DDD-F244-649A9140E2FA}"/>
              </a:ext>
            </a:extLst>
          </p:cNvPr>
          <p:cNvSpPr>
            <a:spLocks noGrp="1"/>
          </p:cNvSpPr>
          <p:nvPr>
            <p:ph type="title"/>
          </p:nvPr>
        </p:nvSpPr>
        <p:spPr/>
        <p:txBody>
          <a:bodyPr/>
          <a:lstStyle/>
          <a:p>
            <a:r>
              <a:rPr lang="en-US" dirty="0"/>
              <a:t>Someone: “we won’t have enough compute”</a:t>
            </a:r>
          </a:p>
        </p:txBody>
      </p:sp>
      <p:sp>
        <p:nvSpPr>
          <p:cNvPr id="3" name="Content Placeholder 2">
            <a:extLst>
              <a:ext uri="{FF2B5EF4-FFF2-40B4-BE49-F238E27FC236}">
                <a16:creationId xmlns:a16="http://schemas.microsoft.com/office/drawing/2014/main" id="{01247ADC-38D3-15C8-F0E8-F9A647BC22E6}"/>
              </a:ext>
            </a:extLst>
          </p:cNvPr>
          <p:cNvSpPr>
            <a:spLocks noGrp="1"/>
          </p:cNvSpPr>
          <p:nvPr>
            <p:ph idx="1"/>
          </p:nvPr>
        </p:nvSpPr>
        <p:spPr/>
        <p:txBody>
          <a:bodyPr/>
          <a:lstStyle/>
          <a:p>
            <a:r>
              <a:rPr lang="en-US" b="1" dirty="0"/>
              <a:t>For: </a:t>
            </a:r>
          </a:p>
          <a:p>
            <a:pPr lvl="1"/>
            <a:r>
              <a:rPr lang="en-US" dirty="0"/>
              <a:t>There is simply not enough compute available.</a:t>
            </a:r>
          </a:p>
          <a:p>
            <a:pPr lvl="1"/>
            <a:r>
              <a:rPr lang="en-US" dirty="0"/>
              <a:t>Even if we have the compute (in theory), scaling the compute will be quite costly. </a:t>
            </a:r>
          </a:p>
          <a:p>
            <a:endParaRPr lang="en-US" dirty="0"/>
          </a:p>
          <a:p>
            <a:r>
              <a:rPr lang="en-US" b="1" dirty="0"/>
              <a:t>Against:</a:t>
            </a:r>
          </a:p>
          <a:p>
            <a:pPr lvl="1"/>
            <a:r>
              <a:rPr lang="en-US" dirty="0"/>
              <a:t>Computing infrastructure continue to progress at a rapid pace. </a:t>
            </a:r>
          </a:p>
          <a:p>
            <a:pPr lvl="2"/>
            <a:r>
              <a:rPr lang="en-US" dirty="0"/>
              <a:t>E.g. renewables, space data centers, inference hardware, etc. </a:t>
            </a:r>
          </a:p>
          <a:p>
            <a:pPr lvl="1"/>
            <a:r>
              <a:rPr lang="en-US" dirty="0"/>
              <a:t>The economy of scale will just work out. </a:t>
            </a:r>
          </a:p>
          <a:p>
            <a:pPr lvl="2"/>
            <a:r>
              <a:rPr lang="en-US" dirty="0"/>
              <a:t>With more usage, cost per unit will be cheaper. </a:t>
            </a:r>
          </a:p>
          <a:p>
            <a:pPr lvl="1"/>
            <a:endParaRPr lang="en-US" dirty="0"/>
          </a:p>
          <a:p>
            <a:pPr lvl="1"/>
            <a:endParaRPr lang="en-US" b="1" dirty="0"/>
          </a:p>
          <a:p>
            <a:pPr marL="0" indent="0">
              <a:buNone/>
            </a:pPr>
            <a:endParaRPr lang="en-US" dirty="0"/>
          </a:p>
          <a:p>
            <a:pPr marL="0" indent="0">
              <a:buNone/>
            </a:pPr>
            <a:r>
              <a:rPr lang="en-US" dirty="0"/>
              <a:t>	</a:t>
            </a:r>
          </a:p>
          <a:p>
            <a:pPr marL="0" indent="0">
              <a:buNone/>
            </a:pPr>
            <a:endParaRPr lang="en-US" dirty="0"/>
          </a:p>
        </p:txBody>
      </p:sp>
      <p:sp>
        <p:nvSpPr>
          <p:cNvPr id="4" name="Slide Number Placeholder 3">
            <a:extLst>
              <a:ext uri="{FF2B5EF4-FFF2-40B4-BE49-F238E27FC236}">
                <a16:creationId xmlns:a16="http://schemas.microsoft.com/office/drawing/2014/main" id="{C0DD2679-E211-7D9F-92B0-0DE49CB77893}"/>
              </a:ext>
            </a:extLst>
          </p:cNvPr>
          <p:cNvSpPr>
            <a:spLocks noGrp="1"/>
          </p:cNvSpPr>
          <p:nvPr>
            <p:ph type="sldNum" sz="quarter" idx="10"/>
          </p:nvPr>
        </p:nvSpPr>
        <p:spPr/>
        <p:txBody>
          <a:bodyPr/>
          <a:lstStyle/>
          <a:p>
            <a:pPr>
              <a:defRPr/>
            </a:pPr>
            <a:fld id="{0121240C-47AF-2F4D-83B3-CC3EDF50F794}" type="slidenum">
              <a:rPr lang="en-US" smtClean="0"/>
              <a:pPr>
                <a:defRPr/>
              </a:pPr>
              <a:t>63</a:t>
            </a:fld>
            <a:endParaRPr lang="en-US"/>
          </a:p>
        </p:txBody>
      </p:sp>
    </p:spTree>
    <p:extLst>
      <p:ext uri="{BB962C8B-B14F-4D97-AF65-F5344CB8AC3E}">
        <p14:creationId xmlns:p14="http://schemas.microsoft.com/office/powerpoint/2010/main" val="4177848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1766E-1A52-313A-8A5D-9571E35ADCB9}"/>
              </a:ext>
            </a:extLst>
          </p:cNvPr>
          <p:cNvSpPr>
            <a:spLocks noGrp="1"/>
          </p:cNvSpPr>
          <p:nvPr>
            <p:ph type="title"/>
          </p:nvPr>
        </p:nvSpPr>
        <p:spPr/>
        <p:txBody>
          <a:bodyPr/>
          <a:lstStyle/>
          <a:p>
            <a:r>
              <a:rPr lang="en-US" dirty="0"/>
              <a:t>Someone: “we won’t have enough data”</a:t>
            </a:r>
          </a:p>
        </p:txBody>
      </p:sp>
      <p:sp>
        <p:nvSpPr>
          <p:cNvPr id="3" name="Content Placeholder 2">
            <a:extLst>
              <a:ext uri="{FF2B5EF4-FFF2-40B4-BE49-F238E27FC236}">
                <a16:creationId xmlns:a16="http://schemas.microsoft.com/office/drawing/2014/main" id="{49FB334F-8773-CD86-E919-132D7E6D342C}"/>
              </a:ext>
            </a:extLst>
          </p:cNvPr>
          <p:cNvSpPr>
            <a:spLocks noGrp="1"/>
          </p:cNvSpPr>
          <p:nvPr>
            <p:ph idx="1"/>
          </p:nvPr>
        </p:nvSpPr>
        <p:spPr/>
        <p:txBody>
          <a:bodyPr/>
          <a:lstStyle/>
          <a:p>
            <a:r>
              <a:rPr lang="en-US" b="1" dirty="0"/>
              <a:t>For: </a:t>
            </a:r>
          </a:p>
          <a:p>
            <a:pPr lvl="1"/>
            <a:r>
              <a:rPr lang="en-US" dirty="0"/>
              <a:t>Existing LLMs are severely data hungry. There is simply not much enough data in the world.  </a:t>
            </a:r>
          </a:p>
          <a:p>
            <a:pPr lvl="1"/>
            <a:r>
              <a:rPr lang="en-US" dirty="0"/>
              <a:t>And you don’t need just any data; you want data on challenging and rare problems (e.g., hard math and engineering problems). </a:t>
            </a:r>
            <a:br>
              <a:rPr lang="en-US" dirty="0"/>
            </a:br>
            <a:endParaRPr lang="en-US" dirty="0"/>
          </a:p>
          <a:p>
            <a:r>
              <a:rPr lang="en-US" b="1" dirty="0"/>
              <a:t>Against: </a:t>
            </a:r>
          </a:p>
          <a:p>
            <a:pPr lvl="1"/>
            <a:r>
              <a:rPr lang="en-US" dirty="0"/>
              <a:t>There is massive amount of untapped data in the world. </a:t>
            </a:r>
          </a:p>
          <a:p>
            <a:pPr lvl="1"/>
            <a:r>
              <a:rPr lang="en-US" dirty="0"/>
              <a:t>As we deploy AI in more applications, allowing continuous stream of fresh data. </a:t>
            </a:r>
          </a:p>
          <a:p>
            <a:pPr lvl="1"/>
            <a:endParaRPr lang="en-US" dirty="0"/>
          </a:p>
          <a:p>
            <a:pPr lvl="1"/>
            <a:endParaRPr lang="en-US" dirty="0"/>
          </a:p>
          <a:p>
            <a:pPr lvl="1"/>
            <a:endParaRPr lang="en-US" dirty="0"/>
          </a:p>
          <a:p>
            <a:pPr marL="342900" lvl="1" indent="0">
              <a:buNone/>
            </a:pPr>
            <a:br>
              <a:rPr lang="en-US" dirty="0"/>
            </a:br>
            <a:endParaRPr lang="en-US" dirty="0"/>
          </a:p>
          <a:p>
            <a:pPr lvl="1"/>
            <a:endParaRPr lang="en-US" b="1" dirty="0"/>
          </a:p>
        </p:txBody>
      </p:sp>
      <p:sp>
        <p:nvSpPr>
          <p:cNvPr id="4" name="Slide Number Placeholder 3">
            <a:extLst>
              <a:ext uri="{FF2B5EF4-FFF2-40B4-BE49-F238E27FC236}">
                <a16:creationId xmlns:a16="http://schemas.microsoft.com/office/drawing/2014/main" id="{E8171D70-80C2-4D9D-371D-C2B0758B5A2E}"/>
              </a:ext>
            </a:extLst>
          </p:cNvPr>
          <p:cNvSpPr>
            <a:spLocks noGrp="1"/>
          </p:cNvSpPr>
          <p:nvPr>
            <p:ph type="sldNum" sz="quarter" idx="10"/>
          </p:nvPr>
        </p:nvSpPr>
        <p:spPr/>
        <p:txBody>
          <a:bodyPr/>
          <a:lstStyle/>
          <a:p>
            <a:pPr>
              <a:defRPr/>
            </a:pPr>
            <a:fld id="{0121240C-47AF-2F4D-83B3-CC3EDF50F794}" type="slidenum">
              <a:rPr lang="en-US" smtClean="0"/>
              <a:pPr>
                <a:defRPr/>
              </a:pPr>
              <a:t>64</a:t>
            </a:fld>
            <a:endParaRPr lang="en-US"/>
          </a:p>
        </p:txBody>
      </p:sp>
    </p:spTree>
    <p:extLst>
      <p:ext uri="{BB962C8B-B14F-4D97-AF65-F5344CB8AC3E}">
        <p14:creationId xmlns:p14="http://schemas.microsoft.com/office/powerpoint/2010/main" val="2990684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3FA73-34DB-94B0-1214-947832C6E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50452F-376C-FCA4-E667-CEE0B27A5C1C}"/>
              </a:ext>
            </a:extLst>
          </p:cNvPr>
          <p:cNvSpPr>
            <a:spLocks noGrp="1"/>
          </p:cNvSpPr>
          <p:nvPr>
            <p:ph type="title"/>
          </p:nvPr>
        </p:nvSpPr>
        <p:spPr/>
        <p:txBody>
          <a:bodyPr/>
          <a:lstStyle/>
          <a:p>
            <a:r>
              <a:rPr lang="en-US" dirty="0"/>
              <a:t>How far will we be able to scale? </a:t>
            </a:r>
          </a:p>
        </p:txBody>
      </p:sp>
      <p:sp>
        <p:nvSpPr>
          <p:cNvPr id="3" name="Content Placeholder 2">
            <a:extLst>
              <a:ext uri="{FF2B5EF4-FFF2-40B4-BE49-F238E27FC236}">
                <a16:creationId xmlns:a16="http://schemas.microsoft.com/office/drawing/2014/main" id="{6EF9430B-2421-7C88-0D71-C6365491BB38}"/>
              </a:ext>
            </a:extLst>
          </p:cNvPr>
          <p:cNvSpPr>
            <a:spLocks noGrp="1"/>
          </p:cNvSpPr>
          <p:nvPr>
            <p:ph idx="1"/>
          </p:nvPr>
        </p:nvSpPr>
        <p:spPr/>
        <p:txBody>
          <a:bodyPr/>
          <a:lstStyle/>
          <a:p>
            <a:r>
              <a:rPr lang="en-US" b="1" dirty="0"/>
              <a:t>Is “scaling” here to stay? </a:t>
            </a:r>
          </a:p>
        </p:txBody>
      </p:sp>
      <p:sp>
        <p:nvSpPr>
          <p:cNvPr id="4" name="Slide Number Placeholder 3">
            <a:extLst>
              <a:ext uri="{FF2B5EF4-FFF2-40B4-BE49-F238E27FC236}">
                <a16:creationId xmlns:a16="http://schemas.microsoft.com/office/drawing/2014/main" id="{AEAF646D-BF6D-04A0-EC77-45250CEBC004}"/>
              </a:ext>
            </a:extLst>
          </p:cNvPr>
          <p:cNvSpPr>
            <a:spLocks noGrp="1"/>
          </p:cNvSpPr>
          <p:nvPr>
            <p:ph type="sldNum" sz="quarter" idx="10"/>
          </p:nvPr>
        </p:nvSpPr>
        <p:spPr/>
        <p:txBody>
          <a:bodyPr/>
          <a:lstStyle/>
          <a:p>
            <a:pPr>
              <a:defRPr/>
            </a:pPr>
            <a:fld id="{0121240C-47AF-2F4D-83B3-CC3EDF50F794}" type="slidenum">
              <a:rPr lang="en-US" smtClean="0"/>
              <a:pPr>
                <a:defRPr/>
              </a:pPr>
              <a:t>65</a:t>
            </a:fld>
            <a:endParaRPr lang="en-US"/>
          </a:p>
        </p:txBody>
      </p:sp>
    </p:spTree>
    <p:extLst>
      <p:ext uri="{BB962C8B-B14F-4D97-AF65-F5344CB8AC3E}">
        <p14:creationId xmlns:p14="http://schemas.microsoft.com/office/powerpoint/2010/main" val="10842643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BBD01-F983-650B-EEC7-1E45F7A9710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6334E4E-40BB-C3D0-F4B0-E97B7C9CD0C5}"/>
              </a:ext>
            </a:extLst>
          </p:cNvPr>
          <p:cNvSpPr/>
          <p:nvPr/>
        </p:nvSpPr>
        <p:spPr>
          <a:xfrm>
            <a:off x="0" y="0"/>
            <a:ext cx="12186309" cy="130884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4177DE2C-D29A-3FEF-F090-3211777D3CB2}"/>
              </a:ext>
            </a:extLst>
          </p:cNvPr>
          <p:cNvSpPr>
            <a:spLocks noGrp="1"/>
          </p:cNvSpPr>
          <p:nvPr>
            <p:ph idx="1"/>
          </p:nvPr>
        </p:nvSpPr>
        <p:spPr>
          <a:xfrm>
            <a:off x="519953" y="1647530"/>
            <a:ext cx="11510121" cy="4662488"/>
          </a:xfrm>
        </p:spPr>
        <p:txBody>
          <a:bodyPr/>
          <a:lstStyle/>
          <a:p>
            <a:r>
              <a:rPr lang="en-US" b="1" dirty="0"/>
              <a:t>Emergence is real: </a:t>
            </a:r>
            <a:r>
              <a:rPr lang="en-US" dirty="0"/>
              <a:t>Large-scale pre-training on </a:t>
            </a:r>
            <a:r>
              <a:rPr lang="en-US" i="1" dirty="0"/>
              <a:t>simple </a:t>
            </a:r>
            <a:r>
              <a:rPr lang="en-US" dirty="0"/>
              <a:t>objectives lead to capabilities that appear at scale.</a:t>
            </a:r>
          </a:p>
          <a:p>
            <a:endParaRPr lang="en-US" dirty="0"/>
          </a:p>
          <a:p>
            <a:r>
              <a:rPr lang="en-US" b="1" dirty="0"/>
              <a:t>In-context learning</a:t>
            </a:r>
            <a:r>
              <a:rPr lang="en-US" dirty="0"/>
              <a:t> is a prominent manifestation of emergence. </a:t>
            </a:r>
          </a:p>
          <a:p>
            <a:pPr lvl="1"/>
            <a:r>
              <a:rPr lang="en-US" dirty="0"/>
              <a:t>Not specific to human language. </a:t>
            </a:r>
          </a:p>
          <a:p>
            <a:endParaRPr lang="en-US" dirty="0"/>
          </a:p>
          <a:p>
            <a:r>
              <a:rPr lang="en-US" b="1" dirty="0"/>
              <a:t>It is important to understand emergence: </a:t>
            </a:r>
            <a:r>
              <a:rPr lang="en-US" dirty="0"/>
              <a:t>It is not just an academic endeavor. It is how a foundation of how we form trustworthy AI. </a:t>
            </a:r>
          </a:p>
        </p:txBody>
      </p:sp>
      <p:sp>
        <p:nvSpPr>
          <p:cNvPr id="3" name="Slide Number Placeholder 2">
            <a:extLst>
              <a:ext uri="{FF2B5EF4-FFF2-40B4-BE49-F238E27FC236}">
                <a16:creationId xmlns:a16="http://schemas.microsoft.com/office/drawing/2014/main" id="{F84774CC-DA4C-2AFF-6FCA-CB50A02520E2}"/>
              </a:ext>
            </a:extLst>
          </p:cNvPr>
          <p:cNvSpPr>
            <a:spLocks noGrp="1"/>
          </p:cNvSpPr>
          <p:nvPr>
            <p:ph type="sldNum" sz="quarter" idx="10"/>
          </p:nvPr>
        </p:nvSpPr>
        <p:spPr/>
        <p:txBody>
          <a:bodyPr/>
          <a:lstStyle/>
          <a:p>
            <a:pPr>
              <a:defRPr/>
            </a:pPr>
            <a:fld id="{0121240C-47AF-2F4D-83B3-CC3EDF50F794}" type="slidenum">
              <a:rPr lang="en-US" smtClean="0"/>
              <a:pPr>
                <a:defRPr/>
              </a:pPr>
              <a:t>66</a:t>
            </a:fld>
            <a:endParaRPr lang="en-US"/>
          </a:p>
        </p:txBody>
      </p:sp>
      <p:sp>
        <p:nvSpPr>
          <p:cNvPr id="4" name="Title 3">
            <a:extLst>
              <a:ext uri="{FF2B5EF4-FFF2-40B4-BE49-F238E27FC236}">
                <a16:creationId xmlns:a16="http://schemas.microsoft.com/office/drawing/2014/main" id="{B4BDA49E-247E-D967-4A1B-F49CCCEA4DCA}"/>
              </a:ext>
            </a:extLst>
          </p:cNvPr>
          <p:cNvSpPr>
            <a:spLocks noGrp="1"/>
          </p:cNvSpPr>
          <p:nvPr>
            <p:ph type="title"/>
          </p:nvPr>
        </p:nvSpPr>
        <p:spPr/>
        <p:txBody>
          <a:bodyPr/>
          <a:lstStyle/>
          <a:p>
            <a:r>
              <a:rPr lang="en-US" dirty="0"/>
              <a:t>Putting things together </a:t>
            </a:r>
          </a:p>
        </p:txBody>
      </p:sp>
    </p:spTree>
    <p:extLst>
      <p:ext uri="{BB962C8B-B14F-4D97-AF65-F5344CB8AC3E}">
        <p14:creationId xmlns:p14="http://schemas.microsoft.com/office/powerpoint/2010/main" val="71805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500"/>
                                        <p:tgtEl>
                                          <p:spTgt spid="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5" end="5"/>
                                            </p:txEl>
                                          </p:spTgt>
                                        </p:tgtEl>
                                        <p:attrNameLst>
                                          <p:attrName>style.visibility</p:attrName>
                                        </p:attrNameLst>
                                      </p:cBhvr>
                                      <p:to>
                                        <p:strVal val="visible"/>
                                      </p:to>
                                    </p:set>
                                    <p:animEffect transition="in" filter="fade">
                                      <p:cBhvr>
                                        <p:cTn id="20"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2ACA62-D175-3D2C-DFD6-1BA4B1E1210A}"/>
              </a:ext>
            </a:extLst>
          </p:cNvPr>
          <p:cNvSpPr>
            <a:spLocks noGrp="1"/>
          </p:cNvSpPr>
          <p:nvPr>
            <p:ph idx="1"/>
          </p:nvPr>
        </p:nvSpPr>
        <p:spPr/>
        <p:txBody>
          <a:bodyPr/>
          <a:lstStyle/>
          <a:p>
            <a:endParaRPr lang="en-US"/>
          </a:p>
        </p:txBody>
      </p:sp>
      <p:sp>
        <p:nvSpPr>
          <p:cNvPr id="3" name="Slide Number Placeholder 2">
            <a:extLst>
              <a:ext uri="{FF2B5EF4-FFF2-40B4-BE49-F238E27FC236}">
                <a16:creationId xmlns:a16="http://schemas.microsoft.com/office/drawing/2014/main" id="{F25AAF6C-A1BD-ECC1-EF43-1E34A74FD043}"/>
              </a:ext>
            </a:extLst>
          </p:cNvPr>
          <p:cNvSpPr>
            <a:spLocks noGrp="1"/>
          </p:cNvSpPr>
          <p:nvPr>
            <p:ph type="sldNum" sz="quarter" idx="10"/>
          </p:nvPr>
        </p:nvSpPr>
        <p:spPr/>
        <p:txBody>
          <a:bodyPr/>
          <a:lstStyle/>
          <a:p>
            <a:pPr>
              <a:defRPr/>
            </a:pPr>
            <a:fld id="{0121240C-47AF-2F4D-83B3-CC3EDF50F794}" type="slidenum">
              <a:rPr lang="en-US" smtClean="0"/>
              <a:pPr>
                <a:defRPr/>
              </a:pPr>
              <a:t>67</a:t>
            </a:fld>
            <a:endParaRPr lang="en-US"/>
          </a:p>
        </p:txBody>
      </p:sp>
      <p:sp>
        <p:nvSpPr>
          <p:cNvPr id="4" name="Title 3">
            <a:extLst>
              <a:ext uri="{FF2B5EF4-FFF2-40B4-BE49-F238E27FC236}">
                <a16:creationId xmlns:a16="http://schemas.microsoft.com/office/drawing/2014/main" id="{59D3859F-AA6B-3DB6-8236-338253911ACE}"/>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976940821"/>
      </p:ext>
    </p:extLst>
  </p:cSld>
  <p:clrMapOvr>
    <a:masterClrMapping/>
  </p:clrMapOvr>
</p:sld>
</file>

<file path=ppt/theme/theme1.xml><?xml version="1.0" encoding="utf-8"?>
<a:theme xmlns:a="http://schemas.openxmlformats.org/drawingml/2006/main" name="AI2 PPT Theme">
  <a:themeElements>
    <a:clrScheme name="AI2 PPT Colors">
      <a:dk1>
        <a:srgbClr val="303845"/>
      </a:dk1>
      <a:lt1>
        <a:srgbClr val="FFFFFF"/>
      </a:lt1>
      <a:dk2>
        <a:srgbClr val="1A4595"/>
      </a:dk2>
      <a:lt2>
        <a:srgbClr val="E8ECF2"/>
      </a:lt2>
      <a:accent1>
        <a:srgbClr val="255ED3"/>
      </a:accent1>
      <a:accent2>
        <a:srgbClr val="00D5FF"/>
      </a:accent2>
      <a:accent3>
        <a:srgbClr val="AEB7C3"/>
      </a:accent3>
      <a:accent4>
        <a:srgbClr val="8879DE"/>
      </a:accent4>
      <a:accent5>
        <a:srgbClr val="FFBB00"/>
      </a:accent5>
      <a:accent6>
        <a:srgbClr val="16C3CF"/>
      </a:accent6>
      <a:hlink>
        <a:srgbClr val="255ED3"/>
      </a:hlink>
      <a:folHlink>
        <a:srgbClr val="265ED3"/>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I2 Presentation Template" id="{8CF36B9A-930F-6C46-B116-42DBDD5C122F}" vid="{37D74BBC-B087-5D4D-857E-2E19583341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AI2 PPT Theme</Template>
  <TotalTime>80634</TotalTime>
  <Words>5304</Words>
  <Application>Microsoft Office PowerPoint</Application>
  <PresentationFormat>Widescreen</PresentationFormat>
  <Paragraphs>864</Paragraphs>
  <Slides>67</Slides>
  <Notes>51</Notes>
  <HiddenSlides>1</HiddenSlides>
  <MMClips>0</MMClips>
  <ScaleCrop>false</ScaleCrop>
  <HeadingPairs>
    <vt:vector size="4" baseType="variant">
      <vt:variant>
        <vt:lpstr>Theme</vt:lpstr>
      </vt:variant>
      <vt:variant>
        <vt:i4>1</vt:i4>
      </vt:variant>
      <vt:variant>
        <vt:lpstr>Slide Titles</vt:lpstr>
      </vt:variant>
      <vt:variant>
        <vt:i4>67</vt:i4>
      </vt:variant>
    </vt:vector>
  </HeadingPairs>
  <TitlesOfParts>
    <vt:vector size="68" baseType="lpstr">
      <vt:lpstr>AI2 PPT Theme</vt:lpstr>
      <vt:lpstr>Emergent phenomena  in large-scale LLMs</vt:lpstr>
      <vt:lpstr>The success we dreamed of</vt:lpstr>
      <vt:lpstr>How do these models work?</vt:lpstr>
      <vt:lpstr>Learning ~ Compression + Replication</vt:lpstr>
      <vt:lpstr>Learning ~ Compression + Replication</vt:lpstr>
      <vt:lpstr>Learning ~ Compression + Replication</vt:lpstr>
      <vt:lpstr>Learning ~ Compression + Replication</vt:lpstr>
      <vt:lpstr>Learning ~ Compression + Replication</vt:lpstr>
      <vt:lpstr>Learning ~ Compression + Replication</vt:lpstr>
      <vt:lpstr>Learning ~ Compression + Replication</vt:lpstr>
      <vt:lpstr>AI Models ~ Sponges </vt:lpstr>
      <vt:lpstr>AI Models ~ Sponges </vt:lpstr>
      <vt:lpstr>AI Models ~ Sponges </vt:lpstr>
      <vt:lpstr>Scaling up AI Models Makes it Better </vt:lpstr>
      <vt:lpstr>Today: Emergent phenomena</vt:lpstr>
      <vt:lpstr>Today: Emergent phenomena</vt:lpstr>
      <vt:lpstr>Recipe: (1) Pre-training</vt:lpstr>
      <vt:lpstr>Recipe: (2) Post-training</vt:lpstr>
      <vt:lpstr>Recipe: (2) Post-training</vt:lpstr>
      <vt:lpstr>Recipe: (2) Post-training</vt:lpstr>
      <vt:lpstr>Scaling Recipe: The whole thing</vt:lpstr>
      <vt:lpstr>Demo time: a pre-trained model </vt:lpstr>
      <vt:lpstr>Our overnight success was  70 years in the making! </vt:lpstr>
      <vt:lpstr>Today: Emergent phenomena</vt:lpstr>
      <vt:lpstr>Today: Emergent phenomena</vt:lpstr>
      <vt:lpstr>   What is “Scaling” pre-training LLMs? </vt:lpstr>
      <vt:lpstr>Pre-training: Effect of scale </vt:lpstr>
      <vt:lpstr>More of the same produces  something qualitative different </vt:lpstr>
      <vt:lpstr>“More is Different”: Examples </vt:lpstr>
      <vt:lpstr>“More is Different”: Examples </vt:lpstr>
      <vt:lpstr>Why does this matter? </vt:lpstr>
      <vt:lpstr>Today: Emergent phenomena</vt:lpstr>
      <vt:lpstr>Today: Emergent phenomena</vt:lpstr>
      <vt:lpstr>A working example</vt:lpstr>
      <vt:lpstr>A working example</vt:lpstr>
      <vt:lpstr>A working example</vt:lpstr>
      <vt:lpstr>A working example</vt:lpstr>
      <vt:lpstr>A working example</vt:lpstr>
      <vt:lpstr>A working example</vt:lpstr>
      <vt:lpstr>A working example</vt:lpstr>
      <vt:lpstr>In-Context Learning</vt:lpstr>
      <vt:lpstr>Demo time: ICL</vt:lpstr>
      <vt:lpstr>Wait — this shouldn't work</vt:lpstr>
      <vt:lpstr>The big open question:  Why (and When) does ICL emerge?</vt:lpstr>
      <vt:lpstr>The big open question:  Why (and When) does ICL emerge?</vt:lpstr>
      <vt:lpstr>Human vs. Genetic Language </vt:lpstr>
      <vt:lpstr>ICL on Human vs. Genetic Language </vt:lpstr>
      <vt:lpstr>What task should we use for evaluation?</vt:lpstr>
      <vt:lpstr>What task should we use for evaluation?</vt:lpstr>
      <vt:lpstr>What task should we use for evaluation?</vt:lpstr>
      <vt:lpstr>Genomic Models are In-Context Learners</vt:lpstr>
      <vt:lpstr>Summary</vt:lpstr>
      <vt:lpstr>How about other modalities?</vt:lpstr>
      <vt:lpstr>PowerPoint Presentation</vt:lpstr>
      <vt:lpstr>PowerPoint Presentation</vt:lpstr>
      <vt:lpstr>PowerPoint Presentation</vt:lpstr>
      <vt:lpstr>Summary</vt:lpstr>
      <vt:lpstr>Open Questions </vt:lpstr>
      <vt:lpstr>Other emergent phenomena we didn’t cover </vt:lpstr>
      <vt:lpstr>Today: Emergent phenomena</vt:lpstr>
      <vt:lpstr>Today: Emergent phenomena</vt:lpstr>
      <vt:lpstr>How far will we be able to scale? </vt:lpstr>
      <vt:lpstr>Someone: “we won’t have enough compute”</vt:lpstr>
      <vt:lpstr>Someone: “we won’t have enough data”</vt:lpstr>
      <vt:lpstr>How far will we be able to scale? </vt:lpstr>
      <vt:lpstr>Putting things together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UnifiedQA:  Crossing Format Boundaries With a Single QA System</dc:title>
  <dc:creator>Daniel Khashabi</dc:creator>
  <cp:lastModifiedBy>Daniel Khashabi</cp:lastModifiedBy>
  <cp:revision>2</cp:revision>
  <cp:lastPrinted>2026-07-24T16:09:12Z</cp:lastPrinted>
  <dcterms:created xsi:type="dcterms:W3CDTF">2020-06-18T00:10:56Z</dcterms:created>
  <dcterms:modified xsi:type="dcterms:W3CDTF">2026-09-12T20:09:19Z</dcterms:modified>
</cp:coreProperties>
</file>