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258" r:id="rId3"/>
    <p:sldId id="325" r:id="rId4"/>
    <p:sldId id="365" r:id="rId5"/>
    <p:sldId id="259" r:id="rId6"/>
    <p:sldId id="354" r:id="rId7"/>
    <p:sldId id="349" r:id="rId8"/>
    <p:sldId id="348" r:id="rId9"/>
    <p:sldId id="352" r:id="rId10"/>
    <p:sldId id="326" r:id="rId11"/>
    <p:sldId id="278" r:id="rId12"/>
    <p:sldId id="327" r:id="rId13"/>
    <p:sldId id="328" r:id="rId14"/>
    <p:sldId id="329" r:id="rId15"/>
    <p:sldId id="330" r:id="rId16"/>
    <p:sldId id="331" r:id="rId17"/>
    <p:sldId id="332" r:id="rId18"/>
    <p:sldId id="366" r:id="rId19"/>
    <p:sldId id="333" r:id="rId20"/>
    <p:sldId id="334" r:id="rId21"/>
    <p:sldId id="335" r:id="rId22"/>
    <p:sldId id="336" r:id="rId23"/>
    <p:sldId id="337" r:id="rId24"/>
    <p:sldId id="338" r:id="rId25"/>
    <p:sldId id="339" r:id="rId26"/>
    <p:sldId id="305" r:id="rId27"/>
    <p:sldId id="306" r:id="rId28"/>
    <p:sldId id="276" r:id="rId29"/>
    <p:sldId id="34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B8E61-8F76-7C4A-8163-4A10DA5EFF56}" v="56" dt="2025-04-14T18:32:25.2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p:scale>
          <a:sx n="100" d="100"/>
          <a:sy n="100" d="100"/>
        </p:scale>
        <p:origin x="1448"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A41EA-E601-E649-BC86-F9FA4B7C52AC}"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4169B-BEDE-654F-9176-4F9A1EC075E1}" type="slidenum">
              <a:rPr lang="en-US" smtClean="0"/>
              <a:t>‹#›</a:t>
            </a:fld>
            <a:endParaRPr lang="en-US"/>
          </a:p>
        </p:txBody>
      </p:sp>
    </p:spTree>
    <p:extLst>
      <p:ext uri="{BB962C8B-B14F-4D97-AF65-F5344CB8AC3E}">
        <p14:creationId xmlns:p14="http://schemas.microsoft.com/office/powerpoint/2010/main" val="1805607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Thanks Orion. </a:t>
            </a:r>
          </a:p>
          <a:p>
            <a:r>
              <a:rPr lang="en-US"/>
              <a:t>Now we're going to switch gears from reasoning to knowledge representation, in particular tabular representation of scientific information which we hope to use without our system. </a:t>
            </a:r>
          </a:p>
        </p:txBody>
      </p:sp>
      <p:sp>
        <p:nvSpPr>
          <p:cNvPr id="4" name="Slide Number Placeholder 3"/>
          <p:cNvSpPr>
            <a:spLocks noGrp="1"/>
          </p:cNvSpPr>
          <p:nvPr>
            <p:ph type="sldNum" sz="quarter" idx="5"/>
          </p:nvPr>
        </p:nvSpPr>
        <p:spPr/>
        <p:txBody>
          <a:bodyPr/>
          <a:lstStyle/>
          <a:p>
            <a:fld id="{6040B9B9-9338-49BE-AF7E-CCF347535941}" type="slidenum">
              <a:rPr lang="en-US" smtClean="0"/>
              <a:t>1</a:t>
            </a:fld>
            <a:endParaRPr lang="en-US"/>
          </a:p>
        </p:txBody>
      </p:sp>
    </p:spTree>
    <p:extLst>
      <p:ext uri="{BB962C8B-B14F-4D97-AF65-F5344CB8AC3E}">
        <p14:creationId xmlns:p14="http://schemas.microsoft.com/office/powerpoint/2010/main" val="4034566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start with our task definition. I name the task: ... </a:t>
            </a:r>
          </a:p>
          <a:p>
            <a:r>
              <a:rPr lang="en-US"/>
              <a:t>The input is a prompt that articulates an information-seeking question by the user. </a:t>
            </a:r>
          </a:p>
        </p:txBody>
      </p:sp>
      <p:sp>
        <p:nvSpPr>
          <p:cNvPr id="4" name="Slide Number Placeholder 3"/>
          <p:cNvSpPr>
            <a:spLocks noGrp="1"/>
          </p:cNvSpPr>
          <p:nvPr>
            <p:ph type="sldNum" sz="quarter" idx="5"/>
          </p:nvPr>
        </p:nvSpPr>
        <p:spPr/>
        <p:txBody>
          <a:bodyPr/>
          <a:lstStyle/>
          <a:p>
            <a:fld id="{6040B9B9-9338-49BE-AF7E-CCF347535941}" type="slidenum">
              <a:rPr lang="en-US" smtClean="0"/>
              <a:t>2</a:t>
            </a:fld>
            <a:endParaRPr lang="en-US"/>
          </a:p>
        </p:txBody>
      </p:sp>
    </p:spTree>
    <p:extLst>
      <p:ext uri="{BB962C8B-B14F-4D97-AF65-F5344CB8AC3E}">
        <p14:creationId xmlns:p14="http://schemas.microsoft.com/office/powerpoint/2010/main" val="300923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6B2C3-BF9F-539C-85CF-BCCEB324B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A9FB1-2562-0DD8-3CDD-FFB18F58B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A3B62-0C4B-9A42-2CEC-536EC83AD295}"/>
              </a:ext>
            </a:extLst>
          </p:cNvPr>
          <p:cNvSpPr>
            <a:spLocks noGrp="1"/>
          </p:cNvSpPr>
          <p:nvPr>
            <p:ph type="body" idx="1"/>
          </p:nvPr>
        </p:nvSpPr>
        <p:spPr/>
        <p:txBody>
          <a:bodyPr/>
          <a:lstStyle/>
          <a:p>
            <a:r>
              <a:rPr lang="en-US"/>
              <a:t>Why do we need to solve this task? </a:t>
            </a:r>
          </a:p>
          <a:p>
            <a:r>
              <a:rPr lang="en-US"/>
              <a:t> - Tables are well-adopted representations for showing scientific content. It's omnipresent in papers because people find it intuitive. </a:t>
            </a:r>
          </a:p>
          <a:p>
            <a:r>
              <a:rPr lang="en-US"/>
              <a:t> - We believe that using a tabular representation of knowledge (among others) within our system will improve the quality of our system and its interpretability. </a:t>
            </a:r>
          </a:p>
        </p:txBody>
      </p:sp>
      <p:sp>
        <p:nvSpPr>
          <p:cNvPr id="4" name="Slide Number Placeholder 3">
            <a:extLst>
              <a:ext uri="{FF2B5EF4-FFF2-40B4-BE49-F238E27FC236}">
                <a16:creationId xmlns:a16="http://schemas.microsoft.com/office/drawing/2014/main" id="{125784FA-212E-9A49-0C75-79A389E63A5A}"/>
              </a:ext>
            </a:extLst>
          </p:cNvPr>
          <p:cNvSpPr>
            <a:spLocks noGrp="1"/>
          </p:cNvSpPr>
          <p:nvPr>
            <p:ph type="sldNum" sz="quarter" idx="5"/>
          </p:nvPr>
        </p:nvSpPr>
        <p:spPr/>
        <p:txBody>
          <a:bodyPr/>
          <a:lstStyle/>
          <a:p>
            <a:fld id="{6040B9B9-9338-49BE-AF7E-CCF347535941}" type="slidenum">
              <a:rPr lang="en-US" smtClean="0"/>
              <a:t>3</a:t>
            </a:fld>
            <a:endParaRPr lang="en-US"/>
          </a:p>
        </p:txBody>
      </p:sp>
    </p:spTree>
    <p:extLst>
      <p:ext uri="{BB962C8B-B14F-4D97-AF65-F5344CB8AC3E}">
        <p14:creationId xmlns:p14="http://schemas.microsoft.com/office/powerpoint/2010/main" val="848276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A9890-826D-AC9E-EDC8-2FA2B3BAC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994F0-74E6-8D7C-B972-96F444607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286EF-C6EC-CB2A-CA7C-378FAAA7BA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24FAE5-CF28-FD21-F63A-8A63A2A98904}"/>
              </a:ext>
            </a:extLst>
          </p:cNvPr>
          <p:cNvSpPr>
            <a:spLocks noGrp="1"/>
          </p:cNvSpPr>
          <p:nvPr>
            <p:ph type="sldNum" sz="quarter" idx="5"/>
          </p:nvPr>
        </p:nvSpPr>
        <p:spPr/>
        <p:txBody>
          <a:bodyPr/>
          <a:lstStyle/>
          <a:p>
            <a:fld id="{6040B9B9-9338-49BE-AF7E-CCF347535941}" type="slidenum">
              <a:rPr lang="en-US" smtClean="0"/>
              <a:t>4</a:t>
            </a:fld>
            <a:endParaRPr lang="en-US"/>
          </a:p>
        </p:txBody>
      </p:sp>
    </p:spTree>
    <p:extLst>
      <p:ext uri="{BB962C8B-B14F-4D97-AF65-F5344CB8AC3E}">
        <p14:creationId xmlns:p14="http://schemas.microsoft.com/office/powerpoint/2010/main" val="3960802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might be wondering how difficult this task is. </a:t>
            </a:r>
          </a:p>
          <a:p>
            <a:r>
              <a:rPr lang="en-US"/>
              <a:t>- Here is an example query that a user may be interested in: ...</a:t>
            </a:r>
          </a:p>
          <a:p>
            <a:r>
              <a:rPr lang="en-US"/>
              <a:t>- What's a good answer to this question: here is what I prepared for my course since I wanted to summarize what has happened in the field and how the practices in alignment are changing. So, a tabular representation is a very natural thing to do. </a:t>
            </a:r>
          </a:p>
          <a:p>
            <a:endParaRPr lang="en-US"/>
          </a:p>
          <a:p>
            <a:r>
              <a:rPr lang="en-US"/>
              <a:t>- And let me emphasize that this is a relatively simple task. </a:t>
            </a:r>
          </a:p>
          <a:p>
            <a:r>
              <a:rPr lang="en-US"/>
              <a:t>	- The answer to this question is available. A ton of papers, blog posts, Reddit. This is easy. </a:t>
            </a:r>
          </a:p>
          <a:p>
            <a:r>
              <a:rPr lang="en-US"/>
              <a:t>	- The headache is going out there, along with identifying all the relevant information. </a:t>
            </a:r>
          </a:p>
        </p:txBody>
      </p:sp>
      <p:sp>
        <p:nvSpPr>
          <p:cNvPr id="4" name="Slide Number Placeholder 3"/>
          <p:cNvSpPr>
            <a:spLocks noGrp="1"/>
          </p:cNvSpPr>
          <p:nvPr>
            <p:ph type="sldNum" sz="quarter" idx="5"/>
          </p:nvPr>
        </p:nvSpPr>
        <p:spPr/>
        <p:txBody>
          <a:bodyPr/>
          <a:lstStyle/>
          <a:p>
            <a:fld id="{6040B9B9-9338-49BE-AF7E-CCF347535941}" type="slidenum">
              <a:rPr lang="en-US" smtClean="0"/>
              <a:t>5</a:t>
            </a:fld>
            <a:endParaRPr lang="en-US"/>
          </a:p>
        </p:txBody>
      </p:sp>
    </p:spTree>
    <p:extLst>
      <p:ext uri="{BB962C8B-B14F-4D97-AF65-F5344CB8AC3E}">
        <p14:creationId xmlns:p14="http://schemas.microsoft.com/office/powerpoint/2010/main" val="1843385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73457-6D37-0AC8-633F-590148A6D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1A2B6-A1B8-B0A4-220A-5D024DB49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56185-3D16-8C68-16F5-73436F123E8A}"/>
              </a:ext>
            </a:extLst>
          </p:cNvPr>
          <p:cNvSpPr>
            <a:spLocks noGrp="1"/>
          </p:cNvSpPr>
          <p:nvPr>
            <p:ph type="body" idx="1"/>
          </p:nvPr>
        </p:nvSpPr>
        <p:spPr/>
        <p:txBody>
          <a:bodyPr/>
          <a:lstStyle/>
          <a:p>
            <a:r>
              <a:rPr lang="en-US"/>
              <a:t>Now, how does ChatGPT do on this question? Here is the response.</a:t>
            </a:r>
          </a:p>
          <a:p>
            <a:r>
              <a:rPr lang="en-US"/>
              <a:t>- An okay set of rows, though missing a lot, but perhaps it's fine. </a:t>
            </a:r>
          </a:p>
          <a:p>
            <a:r>
              <a:rPr lang="en-US"/>
              <a:t>- The columns, though, are quite incomplete. </a:t>
            </a:r>
          </a:p>
          <a:p>
            <a:endParaRPr lang="en-US"/>
          </a:p>
          <a:p>
            <a:endParaRPr lang="en-US"/>
          </a:p>
          <a:p>
            <a:endParaRPr lang="en-US"/>
          </a:p>
        </p:txBody>
      </p:sp>
      <p:sp>
        <p:nvSpPr>
          <p:cNvPr id="4" name="Slide Number Placeholder 3">
            <a:extLst>
              <a:ext uri="{FF2B5EF4-FFF2-40B4-BE49-F238E27FC236}">
                <a16:creationId xmlns:a16="http://schemas.microsoft.com/office/drawing/2014/main" id="{BBE52D75-6839-EB9B-F74E-319F9372FA60}"/>
              </a:ext>
            </a:extLst>
          </p:cNvPr>
          <p:cNvSpPr>
            <a:spLocks noGrp="1"/>
          </p:cNvSpPr>
          <p:nvPr>
            <p:ph type="sldNum" sz="quarter" idx="5"/>
          </p:nvPr>
        </p:nvSpPr>
        <p:spPr/>
        <p:txBody>
          <a:bodyPr/>
          <a:lstStyle/>
          <a:p>
            <a:fld id="{6040B9B9-9338-49BE-AF7E-CCF347535941}" type="slidenum">
              <a:rPr lang="en-US" smtClean="0"/>
              <a:t>6</a:t>
            </a:fld>
            <a:endParaRPr lang="en-US"/>
          </a:p>
        </p:txBody>
      </p:sp>
    </p:spTree>
    <p:extLst>
      <p:ext uri="{BB962C8B-B14F-4D97-AF65-F5344CB8AC3E}">
        <p14:creationId xmlns:p14="http://schemas.microsoft.com/office/powerpoint/2010/main" val="1800123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D528A-E984-3840-4900-127197E42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991D1-6B84-964F-0C26-0C8CB8F8A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E3DBB-E746-79BE-8227-15DF5C732E87}"/>
              </a:ext>
            </a:extLst>
          </p:cNvPr>
          <p:cNvSpPr>
            <a:spLocks noGrp="1"/>
          </p:cNvSpPr>
          <p:nvPr>
            <p:ph type="body" idx="1"/>
          </p:nvPr>
        </p:nvSpPr>
        <p:spPr/>
        <p:txBody>
          <a:bodyPr/>
          <a:lstStyle/>
          <a:p>
            <a:r>
              <a:rPr lang="en-US"/>
              <a:t>Now, you might say, perhaps you're not being fair to ChatGPT because your prompt is underdefined or perhaps ambiguous. </a:t>
            </a:r>
          </a:p>
          <a:p>
            <a:r>
              <a:rPr lang="en-US"/>
              <a:t>I don't agree with this but let's be more generous to ChatGPT and offer it more details.</a:t>
            </a:r>
          </a:p>
          <a:p>
            <a:r>
              <a:rPr lang="en-US"/>
              <a:t>Now, the prompt has more specificity about what rows we want and the kind of columns we're looking for. </a:t>
            </a:r>
          </a:p>
          <a:p>
            <a:endParaRPr lang="en-US"/>
          </a:p>
          <a:p>
            <a:r>
              <a:rPr lang="en-US"/>
              <a:t>Now with this handholding, the table has more rows and has more columns, of course because I said what they're in prompt. </a:t>
            </a:r>
          </a:p>
          <a:p>
            <a:endParaRPr lang="en-US"/>
          </a:p>
          <a:p>
            <a:r>
              <a:rPr lang="en-US"/>
              <a:t>But now the content is not right. Pretty much everything is labeled as "not publicly disclosed," which is not true for most of these models. We know quite a bit about them. </a:t>
            </a:r>
          </a:p>
          <a:p>
            <a:r>
              <a:rPr lang="en-US"/>
              <a:t>So, the conclusion is that ChatGPT is good as a tabular summarizer of science content. </a:t>
            </a:r>
          </a:p>
        </p:txBody>
      </p:sp>
      <p:sp>
        <p:nvSpPr>
          <p:cNvPr id="4" name="Slide Number Placeholder 3">
            <a:extLst>
              <a:ext uri="{FF2B5EF4-FFF2-40B4-BE49-F238E27FC236}">
                <a16:creationId xmlns:a16="http://schemas.microsoft.com/office/drawing/2014/main" id="{FB329612-A093-F366-04EB-101FADA7973E}"/>
              </a:ext>
            </a:extLst>
          </p:cNvPr>
          <p:cNvSpPr>
            <a:spLocks noGrp="1"/>
          </p:cNvSpPr>
          <p:nvPr>
            <p:ph type="sldNum" sz="quarter" idx="5"/>
          </p:nvPr>
        </p:nvSpPr>
        <p:spPr/>
        <p:txBody>
          <a:bodyPr/>
          <a:lstStyle/>
          <a:p>
            <a:fld id="{6040B9B9-9338-49BE-AF7E-CCF347535941}" type="slidenum">
              <a:rPr lang="en-US" smtClean="0"/>
              <a:t>7</a:t>
            </a:fld>
            <a:endParaRPr lang="en-US"/>
          </a:p>
        </p:txBody>
      </p:sp>
    </p:spTree>
    <p:extLst>
      <p:ext uri="{BB962C8B-B14F-4D97-AF65-F5344CB8AC3E}">
        <p14:creationId xmlns:p14="http://schemas.microsoft.com/office/powerpoint/2010/main" val="534676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you may use the OpenAI "deep search" feature. And that's a fair question to ask. </a:t>
            </a:r>
          </a:p>
          <a:p>
            <a:endParaRPr lang="en-US"/>
          </a:p>
          <a:p>
            <a:r>
              <a:rPr lang="en-US"/>
              <a:t>I issued my question to ChatGPT </a:t>
            </a:r>
            <a:r>
              <a:rPr lang="en-US" err="1"/>
              <a:t>DeepSearch</a:t>
            </a:r>
            <a:r>
              <a:rPr lang="en-US"/>
              <a:t>. Waited roughly 20 minutes. </a:t>
            </a:r>
          </a:p>
          <a:p>
            <a:r>
              <a:rPr lang="en-US"/>
              <a:t>And got these results. Evidently more information. </a:t>
            </a:r>
          </a:p>
          <a:p>
            <a:r>
              <a:rPr lang="en-US"/>
              <a:t>But perhaps too much text, and let's structure. What's the point of using tables if you're going to fill it in with so much text? It's so hard to glean any insights from these results. </a:t>
            </a:r>
          </a:p>
          <a:p>
            <a:endParaRPr lang="en-US"/>
          </a:p>
          <a:p>
            <a:r>
              <a:rPr lang="en-US"/>
              <a:t>Moreover, some information is inaccurate here. The response certain research work from OpenAI (such as rule-based reward modeling), but there is no evidence that they're part of GPT-4's public release. So, these are precision issues. </a:t>
            </a:r>
          </a:p>
          <a:p>
            <a:endParaRPr lang="en-US"/>
          </a:p>
          <a:p>
            <a:r>
              <a:rPr lang="en-US"/>
              <a:t>(and I don't why GPT3 is mentioned in two rows). </a:t>
            </a:r>
          </a:p>
        </p:txBody>
      </p:sp>
      <p:sp>
        <p:nvSpPr>
          <p:cNvPr id="4" name="Slide Number Placeholder 3"/>
          <p:cNvSpPr>
            <a:spLocks noGrp="1"/>
          </p:cNvSpPr>
          <p:nvPr>
            <p:ph type="sldNum" sz="quarter" idx="5"/>
          </p:nvPr>
        </p:nvSpPr>
        <p:spPr/>
        <p:txBody>
          <a:bodyPr/>
          <a:lstStyle/>
          <a:p>
            <a:fld id="{A7C4169B-BEDE-654F-9176-4F9A1EC075E1}" type="slidenum">
              <a:rPr lang="en-US" smtClean="0"/>
              <a:t>8</a:t>
            </a:fld>
            <a:endParaRPr lang="en-US"/>
          </a:p>
        </p:txBody>
      </p:sp>
    </p:spTree>
    <p:extLst>
      <p:ext uri="{BB962C8B-B14F-4D97-AF65-F5344CB8AC3E}">
        <p14:creationId xmlns:p14="http://schemas.microsoft.com/office/powerpoint/2010/main" val="3246207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I scroll down, you can see results, llama2, but notice that all these citations are to blog posts, not the llama2 paper itself, which shows that the system is not good at identifying important citations, which is crucial for science. </a:t>
            </a:r>
          </a:p>
          <a:p>
            <a:endParaRPr lang="en-US"/>
          </a:p>
          <a:p>
            <a:r>
              <a:rPr lang="en-US"/>
              <a:t> You can also see that the results are missing a lot of important, recent models, which shows the deep search has recall issues as well. </a:t>
            </a:r>
          </a:p>
          <a:p>
            <a:r>
              <a:rPr lang="en-US"/>
              <a:t>Hopefully by now I have </a:t>
            </a:r>
            <a:r>
              <a:rPr lang="en-US" err="1"/>
              <a:t>conviced</a:t>
            </a:r>
            <a:r>
              <a:rPr lang="en-US"/>
              <a:t> you that even Deep Search does not solve this problem. </a:t>
            </a:r>
          </a:p>
        </p:txBody>
      </p:sp>
      <p:sp>
        <p:nvSpPr>
          <p:cNvPr id="4" name="Slide Number Placeholder 3"/>
          <p:cNvSpPr>
            <a:spLocks noGrp="1"/>
          </p:cNvSpPr>
          <p:nvPr>
            <p:ph type="sldNum" sz="quarter" idx="5"/>
          </p:nvPr>
        </p:nvSpPr>
        <p:spPr/>
        <p:txBody>
          <a:bodyPr/>
          <a:lstStyle/>
          <a:p>
            <a:fld id="{A7C4169B-BEDE-654F-9176-4F9A1EC075E1}" type="slidenum">
              <a:rPr lang="en-US" smtClean="0"/>
              <a:t>9</a:t>
            </a:fld>
            <a:endParaRPr lang="en-US"/>
          </a:p>
        </p:txBody>
      </p:sp>
    </p:spTree>
    <p:extLst>
      <p:ext uri="{BB962C8B-B14F-4D97-AF65-F5344CB8AC3E}">
        <p14:creationId xmlns:p14="http://schemas.microsoft.com/office/powerpoint/2010/main" val="1930971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I get to our contribution, I will highlight a recent work that we will build upon. </a:t>
            </a:r>
          </a:p>
          <a:p>
            <a:endParaRPr lang="en-US"/>
          </a:p>
          <a:p>
            <a:r>
              <a:rPr lang="en-US"/>
              <a:t>Specifically, </a:t>
            </a:r>
            <a:r>
              <a:rPr lang="en-US" err="1"/>
              <a:t>arxivDigestable</a:t>
            </a:r>
            <a:r>
              <a:rPr lang="en-US"/>
              <a:t> by Newman et al. released a dataset of tables and captions extracted from existing papers. </a:t>
            </a:r>
          </a:p>
          <a:p>
            <a:r>
              <a:rPr lang="en-US"/>
              <a:t>Basically, the idea is that we can use table captions as a prompt (input) and try to reconstruct the extracted paper. </a:t>
            </a:r>
          </a:p>
          <a:p>
            <a:endParaRPr lang="en-US"/>
          </a:p>
          <a:p>
            <a:r>
              <a:rPr lang="en-US"/>
              <a:t>We're going to build upon this work and extend it by addressing its weaknesses. </a:t>
            </a:r>
          </a:p>
          <a:p>
            <a:endParaRPr lang="en-US"/>
          </a:p>
          <a:p>
            <a:endParaRPr lang="en-US"/>
          </a:p>
        </p:txBody>
      </p:sp>
      <p:sp>
        <p:nvSpPr>
          <p:cNvPr id="4" name="Slide Number Placeholder 3"/>
          <p:cNvSpPr>
            <a:spLocks noGrp="1"/>
          </p:cNvSpPr>
          <p:nvPr>
            <p:ph type="sldNum" sz="quarter" idx="5"/>
          </p:nvPr>
        </p:nvSpPr>
        <p:spPr/>
        <p:txBody>
          <a:bodyPr/>
          <a:lstStyle/>
          <a:p>
            <a:fld id="{A7C4169B-BEDE-654F-9176-4F9A1EC075E1}" type="slidenum">
              <a:rPr lang="en-US" smtClean="0"/>
              <a:t>10</a:t>
            </a:fld>
            <a:endParaRPr lang="en-US"/>
          </a:p>
        </p:txBody>
      </p:sp>
    </p:spTree>
    <p:extLst>
      <p:ext uri="{BB962C8B-B14F-4D97-AF65-F5344CB8AC3E}">
        <p14:creationId xmlns:p14="http://schemas.microsoft.com/office/powerpoint/2010/main" val="2206103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are these weaknesses, and how do we improve upon them? </a:t>
            </a:r>
          </a:p>
        </p:txBody>
      </p:sp>
      <p:sp>
        <p:nvSpPr>
          <p:cNvPr id="4" name="Slide Number Placeholder 3"/>
          <p:cNvSpPr>
            <a:spLocks noGrp="1"/>
          </p:cNvSpPr>
          <p:nvPr>
            <p:ph type="sldNum" sz="quarter" idx="5"/>
          </p:nvPr>
        </p:nvSpPr>
        <p:spPr/>
        <p:txBody>
          <a:bodyPr/>
          <a:lstStyle/>
          <a:p>
            <a:fld id="{A7C4169B-BEDE-654F-9176-4F9A1EC075E1}" type="slidenum">
              <a:rPr lang="en-US" smtClean="0"/>
              <a:t>11</a:t>
            </a:fld>
            <a:endParaRPr lang="en-US"/>
          </a:p>
        </p:txBody>
      </p:sp>
    </p:spTree>
    <p:extLst>
      <p:ext uri="{BB962C8B-B14F-4D97-AF65-F5344CB8AC3E}">
        <p14:creationId xmlns:p14="http://schemas.microsoft.com/office/powerpoint/2010/main" val="3302879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show this visually, their experimental setup assumed that we have access to gold data. </a:t>
            </a:r>
          </a:p>
          <a:p>
            <a:r>
              <a:rPr lang="en-US"/>
              <a:t>How in reality, as </a:t>
            </a:r>
            <a:r>
              <a:rPr lang="en-US" err="1"/>
              <a:t>orion</a:t>
            </a:r>
            <a:r>
              <a:rPr lang="en-US"/>
              <a:t> discussed earlier, retrieval is difficult. Often there are many distractors. </a:t>
            </a:r>
          </a:p>
          <a:p>
            <a:r>
              <a:rPr lang="en-US"/>
              <a:t>So, we built a retrieval engine to identify hard negatives and distractor science papers. And augment the evaluation. </a:t>
            </a:r>
          </a:p>
        </p:txBody>
      </p:sp>
      <p:sp>
        <p:nvSpPr>
          <p:cNvPr id="4" name="Slide Number Placeholder 3"/>
          <p:cNvSpPr>
            <a:spLocks noGrp="1"/>
          </p:cNvSpPr>
          <p:nvPr>
            <p:ph type="sldNum" sz="quarter" idx="5"/>
          </p:nvPr>
        </p:nvSpPr>
        <p:spPr/>
        <p:txBody>
          <a:bodyPr/>
          <a:lstStyle/>
          <a:p>
            <a:fld id="{A7C4169B-BEDE-654F-9176-4F9A1EC075E1}" type="slidenum">
              <a:rPr lang="en-US" smtClean="0"/>
              <a:t>12</a:t>
            </a:fld>
            <a:endParaRPr lang="en-US"/>
          </a:p>
        </p:txBody>
      </p:sp>
    </p:spTree>
    <p:extLst>
      <p:ext uri="{BB962C8B-B14F-4D97-AF65-F5344CB8AC3E}">
        <p14:creationId xmlns:p14="http://schemas.microsoft.com/office/powerpoint/2010/main" val="3615744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040B9B9-9338-49BE-AF7E-CCF347535941}" type="slidenum">
              <a:rPr lang="en-US" smtClean="0"/>
              <a:t>17</a:t>
            </a:fld>
            <a:endParaRPr lang="en-US"/>
          </a:p>
        </p:txBody>
      </p:sp>
    </p:spTree>
    <p:extLst>
      <p:ext uri="{BB962C8B-B14F-4D97-AF65-F5344CB8AC3E}">
        <p14:creationId xmlns:p14="http://schemas.microsoft.com/office/powerpoint/2010/main" val="674561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CFBBE-776E-16F4-35EE-3B24A39AE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213EC-FABA-B287-BD06-6BE4D52EA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975A5-CD60-B7F1-C5BE-4C9257EC4A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7513D8-4F3F-E74D-9DD3-8AFA8FEA523D}"/>
              </a:ext>
            </a:extLst>
          </p:cNvPr>
          <p:cNvSpPr>
            <a:spLocks noGrp="1"/>
          </p:cNvSpPr>
          <p:nvPr>
            <p:ph type="sldNum" sz="quarter" idx="5"/>
          </p:nvPr>
        </p:nvSpPr>
        <p:spPr/>
        <p:txBody>
          <a:bodyPr/>
          <a:lstStyle/>
          <a:p>
            <a:fld id="{6040B9B9-9338-49BE-AF7E-CCF347535941}" type="slidenum">
              <a:rPr lang="en-US" smtClean="0"/>
              <a:t>18</a:t>
            </a:fld>
            <a:endParaRPr lang="en-US"/>
          </a:p>
        </p:txBody>
      </p:sp>
    </p:spTree>
    <p:extLst>
      <p:ext uri="{BB962C8B-B14F-4D97-AF65-F5344CB8AC3E}">
        <p14:creationId xmlns:p14="http://schemas.microsoft.com/office/powerpoint/2010/main" val="920197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45151-EF38-207A-9DF3-00F989A33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D32DD-179A-4100-200D-1D556193B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4668E-D810-3C1A-438C-F8C8FBDC26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F772BF-076E-B8CB-3734-A2C106DE0C3E}"/>
              </a:ext>
            </a:extLst>
          </p:cNvPr>
          <p:cNvSpPr>
            <a:spLocks noGrp="1"/>
          </p:cNvSpPr>
          <p:nvPr>
            <p:ph type="sldNum" sz="quarter" idx="5"/>
          </p:nvPr>
        </p:nvSpPr>
        <p:spPr/>
        <p:txBody>
          <a:bodyPr/>
          <a:lstStyle/>
          <a:p>
            <a:fld id="{6040B9B9-9338-49BE-AF7E-CCF347535941}" type="slidenum">
              <a:rPr lang="en-US" smtClean="0"/>
              <a:t>19</a:t>
            </a:fld>
            <a:endParaRPr lang="en-US"/>
          </a:p>
        </p:txBody>
      </p:sp>
    </p:spTree>
    <p:extLst>
      <p:ext uri="{BB962C8B-B14F-4D97-AF65-F5344CB8AC3E}">
        <p14:creationId xmlns:p14="http://schemas.microsoft.com/office/powerpoint/2010/main" val="605440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040B9B9-9338-49BE-AF7E-CCF347535941}" type="slidenum">
              <a:rPr lang="en-US" smtClean="0"/>
              <a:t>22</a:t>
            </a:fld>
            <a:endParaRPr lang="en-US"/>
          </a:p>
        </p:txBody>
      </p:sp>
    </p:spTree>
    <p:extLst>
      <p:ext uri="{BB962C8B-B14F-4D97-AF65-F5344CB8AC3E}">
        <p14:creationId xmlns:p14="http://schemas.microsoft.com/office/powerpoint/2010/main" val="867992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jpeg"/><Relationship Id="rId7"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7.png"/><Relationship Id="rId10"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86FDA-45EA-FB0C-7589-1EC471F07C49}"/>
              </a:ext>
            </a:extLst>
          </p:cNvPr>
          <p:cNvSpPr>
            <a:spLocks noGrp="1"/>
          </p:cNvSpPr>
          <p:nvPr>
            <p:ph type="ctrTitle"/>
          </p:nvPr>
        </p:nvSpPr>
        <p:spPr/>
        <p:txBody>
          <a:bodyPr>
            <a:noAutofit/>
          </a:bodyPr>
          <a:lstStyle/>
          <a:p>
            <a:r>
              <a:rPr lang="en-US" sz="4800"/>
              <a:t>Can LLMs Generate Tabular Summaries of Science Papers?</a:t>
            </a:r>
            <a:br>
              <a:rPr lang="en-US" sz="4800"/>
            </a:br>
            <a:r>
              <a:rPr lang="en-US" sz="4800"/>
              <a:t>Rethinking the Evaluation Protocol</a:t>
            </a:r>
          </a:p>
        </p:txBody>
      </p:sp>
      <p:sp>
        <p:nvSpPr>
          <p:cNvPr id="3" name="Subtitle 2">
            <a:extLst>
              <a:ext uri="{FF2B5EF4-FFF2-40B4-BE49-F238E27FC236}">
                <a16:creationId xmlns:a16="http://schemas.microsoft.com/office/drawing/2014/main" id="{C689A6F4-0670-54EB-4735-3E3263882A69}"/>
              </a:ext>
            </a:extLst>
          </p:cNvPr>
          <p:cNvSpPr>
            <a:spLocks noGrp="1"/>
          </p:cNvSpPr>
          <p:nvPr>
            <p:ph type="subTitle" idx="1"/>
          </p:nvPr>
        </p:nvSpPr>
        <p:spPr>
          <a:xfrm>
            <a:off x="1524000" y="4654222"/>
            <a:ext cx="9144000" cy="1655762"/>
          </a:xfrm>
        </p:spPr>
        <p:txBody>
          <a:bodyPr>
            <a:normAutofit/>
          </a:bodyPr>
          <a:lstStyle/>
          <a:p>
            <a:r>
              <a:rPr lang="en-US" altLang="zh-CN"/>
              <a:t>Daniel Khashabi</a:t>
            </a:r>
          </a:p>
          <a:p>
            <a:r>
              <a:rPr lang="en-US" altLang="zh-CN"/>
              <a:t>JHU, Assistant Professor </a:t>
            </a:r>
          </a:p>
        </p:txBody>
      </p:sp>
      <p:sp>
        <p:nvSpPr>
          <p:cNvPr id="4" name="Slide Number Placeholder 3">
            <a:extLst>
              <a:ext uri="{FF2B5EF4-FFF2-40B4-BE49-F238E27FC236}">
                <a16:creationId xmlns:a16="http://schemas.microsoft.com/office/drawing/2014/main" id="{D8119FB6-DB9C-3FF0-E8A1-297E9929B1AB}"/>
              </a:ext>
            </a:extLst>
          </p:cNvPr>
          <p:cNvSpPr>
            <a:spLocks noGrp="1"/>
          </p:cNvSpPr>
          <p:nvPr>
            <p:ph type="sldNum" sz="quarter" idx="12"/>
          </p:nvPr>
        </p:nvSpPr>
        <p:spPr/>
        <p:txBody>
          <a:bodyPr/>
          <a:lstStyle/>
          <a:p>
            <a:fld id="{89C5782D-9F4E-41B2-BEC2-7E61B408EA47}" type="slidenum">
              <a:rPr lang="en-US" smtClean="0"/>
              <a:t>1</a:t>
            </a:fld>
            <a:endParaRPr lang="en-US"/>
          </a:p>
        </p:txBody>
      </p:sp>
    </p:spTree>
    <p:extLst>
      <p:ext uri="{BB962C8B-B14F-4D97-AF65-F5344CB8AC3E}">
        <p14:creationId xmlns:p14="http://schemas.microsoft.com/office/powerpoint/2010/main" val="857129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46505-ECA4-E03D-06CC-0097E6A71DFB}"/>
              </a:ext>
            </a:extLst>
          </p:cNvPr>
          <p:cNvSpPr>
            <a:spLocks noGrp="1"/>
          </p:cNvSpPr>
          <p:nvPr>
            <p:ph idx="1"/>
          </p:nvPr>
        </p:nvSpPr>
        <p:spPr/>
        <p:txBody>
          <a:bodyPr/>
          <a:lstStyle/>
          <a:p>
            <a:r>
              <a:rPr lang="en-US" b="1"/>
              <a:t>Input:</a:t>
            </a:r>
            <a:r>
              <a:rPr lang="en-US"/>
              <a:t> A user prompt seeking scientific information.</a:t>
            </a:r>
          </a:p>
          <a:p>
            <a:r>
              <a:rPr lang="en-US" b="1"/>
              <a:t>Output: </a:t>
            </a:r>
            <a:r>
              <a:rPr lang="en-US"/>
              <a:t>A table that summarizes the information/insights extracted from the relevant science papers. </a:t>
            </a:r>
          </a:p>
          <a:p>
            <a:endParaRPr lang="en-US"/>
          </a:p>
        </p:txBody>
      </p:sp>
      <p:sp>
        <p:nvSpPr>
          <p:cNvPr id="4" name="Title 1">
            <a:extLst>
              <a:ext uri="{FF2B5EF4-FFF2-40B4-BE49-F238E27FC236}">
                <a16:creationId xmlns:a16="http://schemas.microsoft.com/office/drawing/2014/main" id="{9AE27895-5411-1817-37D1-D8DADEAC0D68}"/>
              </a:ext>
            </a:extLst>
          </p:cNvPr>
          <p:cNvSpPr>
            <a:spLocks noGrp="1"/>
          </p:cNvSpPr>
          <p:nvPr>
            <p:ph type="title"/>
          </p:nvPr>
        </p:nvSpPr>
        <p:spPr>
          <a:xfrm>
            <a:off x="98856" y="365125"/>
            <a:ext cx="11788343" cy="1325563"/>
          </a:xfrm>
        </p:spPr>
        <p:txBody>
          <a:bodyPr>
            <a:normAutofit/>
          </a:bodyPr>
          <a:lstStyle/>
          <a:p>
            <a:r>
              <a:rPr lang="en-US" sz="4000"/>
              <a:t>T</a:t>
            </a:r>
            <a:r>
              <a:rPr lang="en-US" altLang="zh-CN" sz="4000"/>
              <a:t>ask</a:t>
            </a:r>
            <a:r>
              <a:rPr lang="en-US" sz="4000"/>
              <a:t>: Generating Tabular Summary for Scientific Content</a:t>
            </a:r>
            <a:endParaRPr lang="en-US" sz="4000">
              <a:ea typeface="等线 Light"/>
            </a:endParaRPr>
          </a:p>
        </p:txBody>
      </p:sp>
      <p:pic>
        <p:nvPicPr>
          <p:cNvPr id="5" name="Picture 4">
            <a:extLst>
              <a:ext uri="{FF2B5EF4-FFF2-40B4-BE49-F238E27FC236}">
                <a16:creationId xmlns:a16="http://schemas.microsoft.com/office/drawing/2014/main" id="{6EA9600A-9B2D-FDD5-CA0D-BEB5790C73FC}"/>
              </a:ext>
            </a:extLst>
          </p:cNvPr>
          <p:cNvPicPr>
            <a:picLocks noChangeAspect="1"/>
          </p:cNvPicPr>
          <p:nvPr/>
        </p:nvPicPr>
        <p:blipFill>
          <a:blip r:embed="rId3"/>
          <a:stretch>
            <a:fillRect/>
          </a:stretch>
        </p:blipFill>
        <p:spPr>
          <a:xfrm>
            <a:off x="6095359" y="4388101"/>
            <a:ext cx="5701230" cy="1834379"/>
          </a:xfrm>
          <a:prstGeom prst="rect">
            <a:avLst/>
          </a:prstGeom>
        </p:spPr>
      </p:pic>
      <p:sp>
        <p:nvSpPr>
          <p:cNvPr id="6" name="Slide Number Placeholder 5">
            <a:extLst>
              <a:ext uri="{FF2B5EF4-FFF2-40B4-BE49-F238E27FC236}">
                <a16:creationId xmlns:a16="http://schemas.microsoft.com/office/drawing/2014/main" id="{4CAE6B1B-577A-E1EC-C0D8-F23F8C8E46BC}"/>
              </a:ext>
            </a:extLst>
          </p:cNvPr>
          <p:cNvSpPr>
            <a:spLocks noGrp="1"/>
          </p:cNvSpPr>
          <p:nvPr>
            <p:ph type="sldNum" sz="quarter" idx="12"/>
          </p:nvPr>
        </p:nvSpPr>
        <p:spPr/>
        <p:txBody>
          <a:bodyPr/>
          <a:lstStyle/>
          <a:p>
            <a:fld id="{89C5782D-9F4E-41B2-BEC2-7E61B408EA47}" type="slidenum">
              <a:rPr lang="en-US" smtClean="0"/>
              <a:t>2</a:t>
            </a:fld>
            <a:endParaRPr lang="en-US"/>
          </a:p>
        </p:txBody>
      </p:sp>
      <p:grpSp>
        <p:nvGrpSpPr>
          <p:cNvPr id="10" name="Group 9">
            <a:extLst>
              <a:ext uri="{FF2B5EF4-FFF2-40B4-BE49-F238E27FC236}">
                <a16:creationId xmlns:a16="http://schemas.microsoft.com/office/drawing/2014/main" id="{BE8EE26F-86E6-CE42-F9DE-F707CBD7EFC2}"/>
              </a:ext>
            </a:extLst>
          </p:cNvPr>
          <p:cNvGrpSpPr/>
          <p:nvPr/>
        </p:nvGrpSpPr>
        <p:grpSpPr>
          <a:xfrm>
            <a:off x="243287" y="3181178"/>
            <a:ext cx="7887455" cy="1058026"/>
            <a:chOff x="2432410" y="2867368"/>
            <a:chExt cx="7887455" cy="1058026"/>
          </a:xfrm>
        </p:grpSpPr>
        <p:pic>
          <p:nvPicPr>
            <p:cNvPr id="8" name="Picture 7" descr="A cartoon of a person sitting at a desk with a computer&#10;&#10;Description automatically generated">
              <a:extLst>
                <a:ext uri="{FF2B5EF4-FFF2-40B4-BE49-F238E27FC236}">
                  <a16:creationId xmlns:a16="http://schemas.microsoft.com/office/drawing/2014/main" id="{C7D7284C-FE9A-0FED-809D-722BE54B9E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5460" y="2867368"/>
              <a:ext cx="493407" cy="510779"/>
            </a:xfrm>
            <a:prstGeom prst="rect">
              <a:avLst/>
            </a:prstGeom>
          </p:spPr>
        </p:pic>
        <p:sp>
          <p:nvSpPr>
            <p:cNvPr id="9" name="TextBox 8">
              <a:extLst>
                <a:ext uri="{FF2B5EF4-FFF2-40B4-BE49-F238E27FC236}">
                  <a16:creationId xmlns:a16="http://schemas.microsoft.com/office/drawing/2014/main" id="{893721B3-B359-AA36-A0F1-9FAC80C89CE7}"/>
                </a:ext>
              </a:extLst>
            </p:cNvPr>
            <p:cNvSpPr txBox="1"/>
            <p:nvPr/>
          </p:nvSpPr>
          <p:spPr>
            <a:xfrm>
              <a:off x="2432410" y="3414616"/>
              <a:ext cx="7887455" cy="510778"/>
            </a:xfrm>
            <a:prstGeom prst="roundRect">
              <a:avLst/>
            </a:prstGeom>
            <a:solidFill>
              <a:schemeClr val="bg1">
                <a:lumMod val="95000"/>
              </a:schemeClr>
            </a:solidFill>
          </p:spPr>
          <p:txBody>
            <a:bodyPr wrap="square" lIns="91440" tIns="45720" rIns="91440" bIns="45720" rtlCol="0" anchor="t">
              <a:spAutoFit/>
            </a:bodyPr>
            <a:lstStyle/>
            <a:p>
              <a:pPr algn="ctr"/>
              <a:r>
                <a:rPr lang="en-US" sz="2400" b="1" dirty="0"/>
                <a:t>Prompt:</a:t>
              </a:r>
              <a:r>
                <a:rPr lang="en-US" sz="2400" dirty="0"/>
                <a:t> Generate a table comparing video datasets</a:t>
              </a:r>
              <a:endParaRPr lang="en-US" sz="2400" dirty="0">
                <a:latin typeface="Comic Sans MS"/>
              </a:endParaRPr>
            </a:p>
          </p:txBody>
        </p:sp>
      </p:grpSp>
      <p:sp>
        <p:nvSpPr>
          <p:cNvPr id="18" name="Arrow: Right 8">
            <a:extLst>
              <a:ext uri="{FF2B5EF4-FFF2-40B4-BE49-F238E27FC236}">
                <a16:creationId xmlns:a16="http://schemas.microsoft.com/office/drawing/2014/main" id="{AA2D2B9D-DC63-0924-B07E-A1A970ADF8D8}"/>
              </a:ext>
            </a:extLst>
          </p:cNvPr>
          <p:cNvSpPr/>
          <p:nvPr/>
        </p:nvSpPr>
        <p:spPr>
          <a:xfrm>
            <a:off x="2852533" y="5106867"/>
            <a:ext cx="792126"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8437EB06-6B1C-FC03-B4E1-122CCA800527}"/>
              </a:ext>
            </a:extLst>
          </p:cNvPr>
          <p:cNvGrpSpPr/>
          <p:nvPr/>
        </p:nvGrpSpPr>
        <p:grpSpPr>
          <a:xfrm>
            <a:off x="304149" y="4570505"/>
            <a:ext cx="1990767" cy="1234228"/>
            <a:chOff x="2082467" y="4536558"/>
            <a:chExt cx="2583344" cy="1606114"/>
          </a:xfrm>
        </p:grpSpPr>
        <p:sp>
          <p:nvSpPr>
            <p:cNvPr id="23" name="Rectangle: Rounded Corners 15">
              <a:extLst>
                <a:ext uri="{FF2B5EF4-FFF2-40B4-BE49-F238E27FC236}">
                  <a16:creationId xmlns:a16="http://schemas.microsoft.com/office/drawing/2014/main" id="{4706A41B-CA64-808E-B642-F498CF70B878}"/>
                </a:ext>
              </a:extLst>
            </p:cNvPr>
            <p:cNvSpPr/>
            <p:nvPr/>
          </p:nvSpPr>
          <p:spPr>
            <a:xfrm>
              <a:off x="2082467" y="4536558"/>
              <a:ext cx="2583344" cy="1606114"/>
            </a:xfrm>
            <a:prstGeom prst="roundRect">
              <a:avLst/>
            </a:prstGeom>
            <a:solidFill>
              <a:schemeClr val="bg1"/>
            </a:solid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Logos - arXiv info">
              <a:extLst>
                <a:ext uri="{FF2B5EF4-FFF2-40B4-BE49-F238E27FC236}">
                  <a16:creationId xmlns:a16="http://schemas.microsoft.com/office/drawing/2014/main" id="{774636BC-04A5-6AFC-296C-22AE4B32F3C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014" t="20986" r="10441" b="21095"/>
            <a:stretch/>
          </p:blipFill>
          <p:spPr bwMode="auto">
            <a:xfrm>
              <a:off x="3115126" y="4714339"/>
              <a:ext cx="1352922" cy="63100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4F906D74-72CD-A5C9-F5AC-573DBA53FF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4882" y="5477230"/>
              <a:ext cx="632186" cy="45593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oogle scholar&quot; Icon - Download for free – Iconduck">
              <a:extLst>
                <a:ext uri="{FF2B5EF4-FFF2-40B4-BE49-F238E27FC236}">
                  <a16:creationId xmlns:a16="http://schemas.microsoft.com/office/drawing/2014/main" id="{6DEAFD98-CB54-8A6A-FAA1-795A67EFA3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6390" y="5539047"/>
              <a:ext cx="418754" cy="39412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6CCA1A38-FF70-5092-DB05-2386AB3734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2999" y="4634373"/>
              <a:ext cx="792126" cy="792126"/>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Bent Arrow 27">
            <a:extLst>
              <a:ext uri="{FF2B5EF4-FFF2-40B4-BE49-F238E27FC236}">
                <a16:creationId xmlns:a16="http://schemas.microsoft.com/office/drawing/2014/main" id="{9575787A-FF21-7826-875E-49CE158A478D}"/>
              </a:ext>
            </a:extLst>
          </p:cNvPr>
          <p:cNvSpPr/>
          <p:nvPr/>
        </p:nvSpPr>
        <p:spPr>
          <a:xfrm flipV="1">
            <a:off x="2828967" y="4317257"/>
            <a:ext cx="792126" cy="775989"/>
          </a:xfrm>
          <a:prstGeom prst="bentArrow">
            <a:avLst>
              <a:gd name="adj1" fmla="val 32552"/>
              <a:gd name="adj2" fmla="val 31378"/>
              <a:gd name="adj3" fmla="val 25000"/>
              <a:gd name="adj4" fmla="val 4375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Arrow: Right 8">
            <a:extLst>
              <a:ext uri="{FF2B5EF4-FFF2-40B4-BE49-F238E27FC236}">
                <a16:creationId xmlns:a16="http://schemas.microsoft.com/office/drawing/2014/main" id="{BB7258D1-F0BE-E5DA-53FC-5382B888C018}"/>
              </a:ext>
            </a:extLst>
          </p:cNvPr>
          <p:cNvSpPr/>
          <p:nvPr/>
        </p:nvSpPr>
        <p:spPr>
          <a:xfrm>
            <a:off x="5543951" y="5007845"/>
            <a:ext cx="396063"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A graphic of a paper with a pie chart and graph&#10;&#10;Description automatically generated">
            <a:extLst>
              <a:ext uri="{FF2B5EF4-FFF2-40B4-BE49-F238E27FC236}">
                <a16:creationId xmlns:a16="http://schemas.microsoft.com/office/drawing/2014/main" id="{FA01A712-8C5B-8208-9B7C-EF4F8EE8F8C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23115" y="4679158"/>
            <a:ext cx="970688" cy="970688"/>
          </a:xfrm>
          <a:prstGeom prst="rect">
            <a:avLst/>
          </a:prstGeom>
        </p:spPr>
      </p:pic>
      <p:pic>
        <p:nvPicPr>
          <p:cNvPr id="31" name="Picture 30" descr="A graphic of a paper with a pie chart and graph&#10;&#10;Description automatically generated">
            <a:extLst>
              <a:ext uri="{FF2B5EF4-FFF2-40B4-BE49-F238E27FC236}">
                <a16:creationId xmlns:a16="http://schemas.microsoft.com/office/drawing/2014/main" id="{13A67426-6E04-182B-13EF-9FD4C417C1A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41946" y="4855530"/>
            <a:ext cx="970688" cy="970688"/>
          </a:xfrm>
          <a:prstGeom prst="rect">
            <a:avLst/>
          </a:prstGeom>
        </p:spPr>
      </p:pic>
      <p:sp>
        <p:nvSpPr>
          <p:cNvPr id="34" name="TextBox 33">
            <a:extLst>
              <a:ext uri="{FF2B5EF4-FFF2-40B4-BE49-F238E27FC236}">
                <a16:creationId xmlns:a16="http://schemas.microsoft.com/office/drawing/2014/main" id="{81561F32-A7EF-D9E7-B096-49589D9F6BE3}"/>
              </a:ext>
            </a:extLst>
          </p:cNvPr>
          <p:cNvSpPr txBox="1"/>
          <p:nvPr/>
        </p:nvSpPr>
        <p:spPr>
          <a:xfrm>
            <a:off x="98856" y="5852281"/>
            <a:ext cx="2294916" cy="923330"/>
          </a:xfrm>
          <a:prstGeom prst="rect">
            <a:avLst/>
          </a:prstGeom>
          <a:noFill/>
        </p:spPr>
        <p:txBody>
          <a:bodyPr wrap="square">
            <a:spAutoFit/>
          </a:bodyPr>
          <a:lstStyle/>
          <a:p>
            <a:pPr algn="ctr"/>
            <a:r>
              <a:rPr lang="en-US"/>
              <a:t>Repositories of science: </a:t>
            </a:r>
            <a:r>
              <a:rPr lang="en-US" err="1"/>
              <a:t>arXiv</a:t>
            </a:r>
            <a:r>
              <a:rPr lang="en-US"/>
              <a:t>, Google Scholar, etc.</a:t>
            </a:r>
          </a:p>
        </p:txBody>
      </p:sp>
      <p:sp>
        <p:nvSpPr>
          <p:cNvPr id="35" name="TextBox 34">
            <a:extLst>
              <a:ext uri="{FF2B5EF4-FFF2-40B4-BE49-F238E27FC236}">
                <a16:creationId xmlns:a16="http://schemas.microsoft.com/office/drawing/2014/main" id="{8FD92E41-FC9E-DC28-4BA1-B20EAD97E4F2}"/>
              </a:ext>
            </a:extLst>
          </p:cNvPr>
          <p:cNvSpPr txBox="1"/>
          <p:nvPr/>
        </p:nvSpPr>
        <p:spPr>
          <a:xfrm>
            <a:off x="3504253" y="5934670"/>
            <a:ext cx="2294916" cy="646331"/>
          </a:xfrm>
          <a:prstGeom prst="rect">
            <a:avLst/>
          </a:prstGeom>
          <a:noFill/>
        </p:spPr>
        <p:txBody>
          <a:bodyPr wrap="square">
            <a:spAutoFit/>
          </a:bodyPr>
          <a:lstStyle/>
          <a:p>
            <a:pPr algn="ctr"/>
            <a:r>
              <a:rPr lang="en-US"/>
              <a:t>Potentially </a:t>
            </a:r>
            <a:br>
              <a:rPr lang="en-US"/>
            </a:br>
            <a:r>
              <a:rPr lang="en-US"/>
              <a:t>relevant papers</a:t>
            </a:r>
          </a:p>
        </p:txBody>
      </p:sp>
      <p:sp>
        <p:nvSpPr>
          <p:cNvPr id="36" name="TextBox 35">
            <a:extLst>
              <a:ext uri="{FF2B5EF4-FFF2-40B4-BE49-F238E27FC236}">
                <a16:creationId xmlns:a16="http://schemas.microsoft.com/office/drawing/2014/main" id="{43F0E277-AD6E-1861-EAB9-D25698FF0388}"/>
              </a:ext>
            </a:extLst>
          </p:cNvPr>
          <p:cNvSpPr txBox="1"/>
          <p:nvPr/>
        </p:nvSpPr>
        <p:spPr>
          <a:xfrm>
            <a:off x="7351320" y="6213432"/>
            <a:ext cx="3374102" cy="369332"/>
          </a:xfrm>
          <a:prstGeom prst="rect">
            <a:avLst/>
          </a:prstGeom>
          <a:noFill/>
        </p:spPr>
        <p:txBody>
          <a:bodyPr wrap="square">
            <a:spAutoFit/>
          </a:bodyPr>
          <a:lstStyle/>
          <a:p>
            <a:pPr algn="ctr"/>
            <a:r>
              <a:rPr lang="en-US"/>
              <a:t>Tabular summary</a:t>
            </a:r>
          </a:p>
        </p:txBody>
      </p:sp>
    </p:spTree>
    <p:extLst>
      <p:ext uri="{BB962C8B-B14F-4D97-AF65-F5344CB8AC3E}">
        <p14:creationId xmlns:p14="http://schemas.microsoft.com/office/powerpoint/2010/main" val="277418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50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500"/>
                                        <p:tgtEl>
                                          <p:spTgt spid="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Effect transition="in" filter="fade">
                                      <p:cBhvr>
                                        <p:cTn id="5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8" grpId="0" animBg="1"/>
      <p:bldP spid="29" grpId="0" animBg="1"/>
      <p:bldP spid="34" grpId="0"/>
      <p:bldP spid="35"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0D56-994E-5933-4D95-90815661A7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95C2A-18EB-B509-75E2-A540F400A908}"/>
              </a:ext>
            </a:extLst>
          </p:cNvPr>
          <p:cNvSpPr>
            <a:spLocks noGrp="1"/>
          </p:cNvSpPr>
          <p:nvPr>
            <p:ph idx="1"/>
          </p:nvPr>
        </p:nvSpPr>
        <p:spPr>
          <a:xfrm>
            <a:off x="838199" y="1825625"/>
            <a:ext cx="11254945" cy="4351338"/>
          </a:xfrm>
        </p:spPr>
        <p:txBody>
          <a:bodyPr/>
          <a:lstStyle/>
          <a:p>
            <a:r>
              <a:rPr lang="en-US"/>
              <a:t>Tables are widely adopted format for scientific content.</a:t>
            </a:r>
          </a:p>
          <a:p>
            <a:pPr lvl="1"/>
            <a:r>
              <a:rPr lang="en-US"/>
              <a:t>Improves clarity, enables comparisons</a:t>
            </a:r>
          </a:p>
          <a:p>
            <a:r>
              <a:rPr lang="en-US"/>
              <a:t>Integrating it into our workflow will improve quality and interpretability.</a:t>
            </a:r>
          </a:p>
        </p:txBody>
      </p:sp>
      <p:sp>
        <p:nvSpPr>
          <p:cNvPr id="4" name="Title 1">
            <a:extLst>
              <a:ext uri="{FF2B5EF4-FFF2-40B4-BE49-F238E27FC236}">
                <a16:creationId xmlns:a16="http://schemas.microsoft.com/office/drawing/2014/main" id="{FDE25686-0ECB-56B7-6F50-AFD3C69AC232}"/>
              </a:ext>
            </a:extLst>
          </p:cNvPr>
          <p:cNvSpPr>
            <a:spLocks noGrp="1"/>
          </p:cNvSpPr>
          <p:nvPr>
            <p:ph type="title"/>
          </p:nvPr>
        </p:nvSpPr>
        <p:spPr>
          <a:xfrm>
            <a:off x="776415" y="365125"/>
            <a:ext cx="11110784" cy="1325563"/>
          </a:xfrm>
        </p:spPr>
        <p:txBody>
          <a:bodyPr/>
          <a:lstStyle/>
          <a:p>
            <a:r>
              <a:rPr lang="en-US"/>
              <a:t>Why focus on this task?</a:t>
            </a:r>
            <a:endParaRPr lang="en-US">
              <a:ea typeface="等线 Light"/>
            </a:endParaRPr>
          </a:p>
        </p:txBody>
      </p:sp>
      <p:pic>
        <p:nvPicPr>
          <p:cNvPr id="5" name="Picture 4">
            <a:extLst>
              <a:ext uri="{FF2B5EF4-FFF2-40B4-BE49-F238E27FC236}">
                <a16:creationId xmlns:a16="http://schemas.microsoft.com/office/drawing/2014/main" id="{6BCA3A1E-DA75-A6E6-9920-F86C38E52764}"/>
              </a:ext>
            </a:extLst>
          </p:cNvPr>
          <p:cNvPicPr>
            <a:picLocks noChangeAspect="1"/>
          </p:cNvPicPr>
          <p:nvPr/>
        </p:nvPicPr>
        <p:blipFill>
          <a:blip r:embed="rId3"/>
          <a:stretch>
            <a:fillRect/>
          </a:stretch>
        </p:blipFill>
        <p:spPr>
          <a:xfrm>
            <a:off x="6095359" y="4388101"/>
            <a:ext cx="5701230" cy="1834379"/>
          </a:xfrm>
          <a:prstGeom prst="rect">
            <a:avLst/>
          </a:prstGeom>
        </p:spPr>
      </p:pic>
      <p:sp>
        <p:nvSpPr>
          <p:cNvPr id="6" name="Slide Number Placeholder 5">
            <a:extLst>
              <a:ext uri="{FF2B5EF4-FFF2-40B4-BE49-F238E27FC236}">
                <a16:creationId xmlns:a16="http://schemas.microsoft.com/office/drawing/2014/main" id="{4C59CBA0-B196-034B-01B3-54151C96BBA6}"/>
              </a:ext>
            </a:extLst>
          </p:cNvPr>
          <p:cNvSpPr>
            <a:spLocks noGrp="1"/>
          </p:cNvSpPr>
          <p:nvPr>
            <p:ph type="sldNum" sz="quarter" idx="12"/>
          </p:nvPr>
        </p:nvSpPr>
        <p:spPr/>
        <p:txBody>
          <a:bodyPr/>
          <a:lstStyle/>
          <a:p>
            <a:fld id="{89C5782D-9F4E-41B2-BEC2-7E61B408EA47}" type="slidenum">
              <a:rPr lang="en-US" smtClean="0"/>
              <a:t>3</a:t>
            </a:fld>
            <a:endParaRPr lang="en-US"/>
          </a:p>
        </p:txBody>
      </p:sp>
      <p:grpSp>
        <p:nvGrpSpPr>
          <p:cNvPr id="10" name="Group 9">
            <a:extLst>
              <a:ext uri="{FF2B5EF4-FFF2-40B4-BE49-F238E27FC236}">
                <a16:creationId xmlns:a16="http://schemas.microsoft.com/office/drawing/2014/main" id="{B42BF8EC-FB06-EF21-AA4D-4520F570354A}"/>
              </a:ext>
            </a:extLst>
          </p:cNvPr>
          <p:cNvGrpSpPr/>
          <p:nvPr/>
        </p:nvGrpSpPr>
        <p:grpSpPr>
          <a:xfrm>
            <a:off x="243287" y="3181178"/>
            <a:ext cx="7887455" cy="1058026"/>
            <a:chOff x="2432410" y="2867368"/>
            <a:chExt cx="7887455" cy="1058026"/>
          </a:xfrm>
        </p:grpSpPr>
        <p:pic>
          <p:nvPicPr>
            <p:cNvPr id="8" name="Picture 7" descr="A cartoon of a person sitting at a desk with a computer&#10;&#10;Description automatically generated">
              <a:extLst>
                <a:ext uri="{FF2B5EF4-FFF2-40B4-BE49-F238E27FC236}">
                  <a16:creationId xmlns:a16="http://schemas.microsoft.com/office/drawing/2014/main" id="{269E87A4-2D53-8177-B667-F9F86E9A5D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5460" y="2867368"/>
              <a:ext cx="493407" cy="510779"/>
            </a:xfrm>
            <a:prstGeom prst="rect">
              <a:avLst/>
            </a:prstGeom>
          </p:spPr>
        </p:pic>
        <p:sp>
          <p:nvSpPr>
            <p:cNvPr id="9" name="TextBox 8">
              <a:extLst>
                <a:ext uri="{FF2B5EF4-FFF2-40B4-BE49-F238E27FC236}">
                  <a16:creationId xmlns:a16="http://schemas.microsoft.com/office/drawing/2014/main" id="{4BEBE0D1-45FB-8578-5D65-2C183A24156C}"/>
                </a:ext>
              </a:extLst>
            </p:cNvPr>
            <p:cNvSpPr txBox="1"/>
            <p:nvPr/>
          </p:nvSpPr>
          <p:spPr>
            <a:xfrm>
              <a:off x="2432410" y="3414616"/>
              <a:ext cx="7887455" cy="510778"/>
            </a:xfrm>
            <a:prstGeom prst="roundRect">
              <a:avLst/>
            </a:prstGeom>
            <a:solidFill>
              <a:schemeClr val="bg1">
                <a:lumMod val="95000"/>
              </a:schemeClr>
            </a:solidFill>
          </p:spPr>
          <p:txBody>
            <a:bodyPr wrap="square" lIns="91440" tIns="45720" rIns="91440" bIns="45720" rtlCol="0" anchor="t">
              <a:spAutoFit/>
            </a:bodyPr>
            <a:lstStyle/>
            <a:p>
              <a:pPr algn="ctr"/>
              <a:r>
                <a:rPr lang="en-US" sz="2400" b="1"/>
                <a:t>Prompt:</a:t>
              </a:r>
              <a:r>
                <a:rPr lang="en-US" sz="2400"/>
                <a:t> Generate a table comparing video datasets</a:t>
              </a:r>
              <a:endParaRPr lang="en-US" sz="2400">
                <a:latin typeface="Comic Sans MS"/>
              </a:endParaRPr>
            </a:p>
          </p:txBody>
        </p:sp>
      </p:grpSp>
      <p:sp>
        <p:nvSpPr>
          <p:cNvPr id="18" name="Arrow: Right 8">
            <a:extLst>
              <a:ext uri="{FF2B5EF4-FFF2-40B4-BE49-F238E27FC236}">
                <a16:creationId xmlns:a16="http://schemas.microsoft.com/office/drawing/2014/main" id="{E74C48FA-73D8-7C21-3901-5CD37358E427}"/>
              </a:ext>
            </a:extLst>
          </p:cNvPr>
          <p:cNvSpPr/>
          <p:nvPr/>
        </p:nvSpPr>
        <p:spPr>
          <a:xfrm>
            <a:off x="2852533" y="5106867"/>
            <a:ext cx="792126"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8C3DD0DC-ECD0-7656-A4F7-EFB1B106CDA9}"/>
              </a:ext>
            </a:extLst>
          </p:cNvPr>
          <p:cNvGrpSpPr/>
          <p:nvPr/>
        </p:nvGrpSpPr>
        <p:grpSpPr>
          <a:xfrm>
            <a:off x="304149" y="4570505"/>
            <a:ext cx="1990767" cy="1234228"/>
            <a:chOff x="2082467" y="4536558"/>
            <a:chExt cx="2583344" cy="1606114"/>
          </a:xfrm>
        </p:grpSpPr>
        <p:sp>
          <p:nvSpPr>
            <p:cNvPr id="23" name="Rectangle: Rounded Corners 15">
              <a:extLst>
                <a:ext uri="{FF2B5EF4-FFF2-40B4-BE49-F238E27FC236}">
                  <a16:creationId xmlns:a16="http://schemas.microsoft.com/office/drawing/2014/main" id="{41252F8F-393C-76F4-9674-48D603FCA123}"/>
                </a:ext>
              </a:extLst>
            </p:cNvPr>
            <p:cNvSpPr/>
            <p:nvPr/>
          </p:nvSpPr>
          <p:spPr>
            <a:xfrm>
              <a:off x="2082467" y="4536558"/>
              <a:ext cx="2583344" cy="1606114"/>
            </a:xfrm>
            <a:prstGeom prst="roundRect">
              <a:avLst/>
            </a:prstGeom>
            <a:solidFill>
              <a:schemeClr val="bg1"/>
            </a:solid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Logos - arXiv info">
              <a:extLst>
                <a:ext uri="{FF2B5EF4-FFF2-40B4-BE49-F238E27FC236}">
                  <a16:creationId xmlns:a16="http://schemas.microsoft.com/office/drawing/2014/main" id="{0AE5C9C0-5BE7-D1CE-9688-CC6899BA0EF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014" t="20986" r="10441" b="21095"/>
            <a:stretch/>
          </p:blipFill>
          <p:spPr bwMode="auto">
            <a:xfrm>
              <a:off x="3115126" y="4714339"/>
              <a:ext cx="1352922" cy="63100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1E075ED1-B03B-1622-2E2A-242C9B94E7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4882" y="5477230"/>
              <a:ext cx="632186" cy="45593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oogle scholar&quot; Icon - Download for free – Iconduck">
              <a:extLst>
                <a:ext uri="{FF2B5EF4-FFF2-40B4-BE49-F238E27FC236}">
                  <a16:creationId xmlns:a16="http://schemas.microsoft.com/office/drawing/2014/main" id="{3D032AA7-B9BE-ADC1-FA02-A4E3308D5C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6390" y="5539047"/>
              <a:ext cx="418754" cy="39412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DDC770FA-438B-5235-9069-C8B9307CE8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2999" y="4634373"/>
              <a:ext cx="792126" cy="792126"/>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Bent Arrow 27">
            <a:extLst>
              <a:ext uri="{FF2B5EF4-FFF2-40B4-BE49-F238E27FC236}">
                <a16:creationId xmlns:a16="http://schemas.microsoft.com/office/drawing/2014/main" id="{30EE4F37-5CFB-B2A9-9052-84CDB30A404F}"/>
              </a:ext>
            </a:extLst>
          </p:cNvPr>
          <p:cNvSpPr/>
          <p:nvPr/>
        </p:nvSpPr>
        <p:spPr>
          <a:xfrm flipV="1">
            <a:off x="2828967" y="4317257"/>
            <a:ext cx="792126" cy="775989"/>
          </a:xfrm>
          <a:prstGeom prst="bentArrow">
            <a:avLst>
              <a:gd name="adj1" fmla="val 32552"/>
              <a:gd name="adj2" fmla="val 31378"/>
              <a:gd name="adj3" fmla="val 25000"/>
              <a:gd name="adj4" fmla="val 4375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Arrow: Right 8">
            <a:extLst>
              <a:ext uri="{FF2B5EF4-FFF2-40B4-BE49-F238E27FC236}">
                <a16:creationId xmlns:a16="http://schemas.microsoft.com/office/drawing/2014/main" id="{EFD8B1E7-4E0F-A7FC-4033-056F8BAAFA03}"/>
              </a:ext>
            </a:extLst>
          </p:cNvPr>
          <p:cNvSpPr/>
          <p:nvPr/>
        </p:nvSpPr>
        <p:spPr>
          <a:xfrm>
            <a:off x="5543951" y="5007845"/>
            <a:ext cx="396063"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A graphic of a paper with a pie chart and graph&#10;&#10;Description automatically generated">
            <a:extLst>
              <a:ext uri="{FF2B5EF4-FFF2-40B4-BE49-F238E27FC236}">
                <a16:creationId xmlns:a16="http://schemas.microsoft.com/office/drawing/2014/main" id="{A5B27B48-88C8-6C6B-6C99-7A063BC140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23115" y="4679158"/>
            <a:ext cx="970688" cy="970688"/>
          </a:xfrm>
          <a:prstGeom prst="rect">
            <a:avLst/>
          </a:prstGeom>
        </p:spPr>
      </p:pic>
      <p:pic>
        <p:nvPicPr>
          <p:cNvPr id="31" name="Picture 30" descr="A graphic of a paper with a pie chart and graph&#10;&#10;Description automatically generated">
            <a:extLst>
              <a:ext uri="{FF2B5EF4-FFF2-40B4-BE49-F238E27FC236}">
                <a16:creationId xmlns:a16="http://schemas.microsoft.com/office/drawing/2014/main" id="{68679836-15D2-8131-562B-808E337A6E2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41946" y="4855530"/>
            <a:ext cx="970688" cy="970688"/>
          </a:xfrm>
          <a:prstGeom prst="rect">
            <a:avLst/>
          </a:prstGeom>
        </p:spPr>
      </p:pic>
      <p:sp>
        <p:nvSpPr>
          <p:cNvPr id="34" name="TextBox 33">
            <a:extLst>
              <a:ext uri="{FF2B5EF4-FFF2-40B4-BE49-F238E27FC236}">
                <a16:creationId xmlns:a16="http://schemas.microsoft.com/office/drawing/2014/main" id="{F2E9E037-A94F-4229-824A-C89783703498}"/>
              </a:ext>
            </a:extLst>
          </p:cNvPr>
          <p:cNvSpPr txBox="1"/>
          <p:nvPr/>
        </p:nvSpPr>
        <p:spPr>
          <a:xfrm>
            <a:off x="98856" y="5852281"/>
            <a:ext cx="2294916" cy="923330"/>
          </a:xfrm>
          <a:prstGeom prst="rect">
            <a:avLst/>
          </a:prstGeom>
          <a:noFill/>
        </p:spPr>
        <p:txBody>
          <a:bodyPr wrap="square">
            <a:spAutoFit/>
          </a:bodyPr>
          <a:lstStyle/>
          <a:p>
            <a:pPr algn="ctr"/>
            <a:r>
              <a:rPr lang="en-US"/>
              <a:t>Repositories of science: </a:t>
            </a:r>
            <a:r>
              <a:rPr lang="en-US" err="1"/>
              <a:t>arXiv</a:t>
            </a:r>
            <a:r>
              <a:rPr lang="en-US"/>
              <a:t>, Google Scholar, etc.</a:t>
            </a:r>
          </a:p>
        </p:txBody>
      </p:sp>
      <p:sp>
        <p:nvSpPr>
          <p:cNvPr id="35" name="TextBox 34">
            <a:extLst>
              <a:ext uri="{FF2B5EF4-FFF2-40B4-BE49-F238E27FC236}">
                <a16:creationId xmlns:a16="http://schemas.microsoft.com/office/drawing/2014/main" id="{1DA6F07F-BB02-5298-25D7-2FDF50650FAA}"/>
              </a:ext>
            </a:extLst>
          </p:cNvPr>
          <p:cNvSpPr txBox="1"/>
          <p:nvPr/>
        </p:nvSpPr>
        <p:spPr>
          <a:xfrm>
            <a:off x="3504253" y="5934670"/>
            <a:ext cx="2294916" cy="646331"/>
          </a:xfrm>
          <a:prstGeom prst="rect">
            <a:avLst/>
          </a:prstGeom>
          <a:noFill/>
        </p:spPr>
        <p:txBody>
          <a:bodyPr wrap="square">
            <a:spAutoFit/>
          </a:bodyPr>
          <a:lstStyle/>
          <a:p>
            <a:pPr algn="ctr"/>
            <a:r>
              <a:rPr lang="en-US"/>
              <a:t>Potentially </a:t>
            </a:r>
            <a:br>
              <a:rPr lang="en-US"/>
            </a:br>
            <a:r>
              <a:rPr lang="en-US"/>
              <a:t>relevant papers</a:t>
            </a:r>
          </a:p>
        </p:txBody>
      </p:sp>
      <p:sp>
        <p:nvSpPr>
          <p:cNvPr id="36" name="TextBox 35">
            <a:extLst>
              <a:ext uri="{FF2B5EF4-FFF2-40B4-BE49-F238E27FC236}">
                <a16:creationId xmlns:a16="http://schemas.microsoft.com/office/drawing/2014/main" id="{99B417B9-D7C8-A4B3-F133-84690AAC78CA}"/>
              </a:ext>
            </a:extLst>
          </p:cNvPr>
          <p:cNvSpPr txBox="1"/>
          <p:nvPr/>
        </p:nvSpPr>
        <p:spPr>
          <a:xfrm>
            <a:off x="7351320" y="6213432"/>
            <a:ext cx="3374102" cy="369332"/>
          </a:xfrm>
          <a:prstGeom prst="rect">
            <a:avLst/>
          </a:prstGeom>
          <a:noFill/>
        </p:spPr>
        <p:txBody>
          <a:bodyPr wrap="square">
            <a:spAutoFit/>
          </a:bodyPr>
          <a:lstStyle/>
          <a:p>
            <a:pPr algn="ctr"/>
            <a:r>
              <a:rPr lang="en-US"/>
              <a:t>Tabular summary</a:t>
            </a:r>
          </a:p>
        </p:txBody>
      </p:sp>
    </p:spTree>
    <p:extLst>
      <p:ext uri="{BB962C8B-B14F-4D97-AF65-F5344CB8AC3E}">
        <p14:creationId xmlns:p14="http://schemas.microsoft.com/office/powerpoint/2010/main" val="149818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C31FF-0E4D-3644-FE62-58705F2DB4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399C1-6595-72AB-B5D5-040311A6CC1F}"/>
              </a:ext>
            </a:extLst>
          </p:cNvPr>
          <p:cNvSpPr>
            <a:spLocks noGrp="1"/>
          </p:cNvSpPr>
          <p:nvPr>
            <p:ph idx="1"/>
          </p:nvPr>
        </p:nvSpPr>
        <p:spPr>
          <a:xfrm>
            <a:off x="838199" y="1825625"/>
            <a:ext cx="11254945" cy="4351338"/>
          </a:xfrm>
        </p:spPr>
        <p:txBody>
          <a:bodyPr vert="horz" lIns="91440" tIns="45720" rIns="91440" bIns="45720" rtlCol="0" anchor="t">
            <a:normAutofit/>
          </a:bodyPr>
          <a:lstStyle/>
          <a:p>
            <a:r>
              <a:rPr lang="en-US"/>
              <a:t>Develop </a:t>
            </a:r>
            <a:r>
              <a:rPr lang="en-US" b="1"/>
              <a:t>arXiv2Table</a:t>
            </a:r>
            <a:r>
              <a:rPr lang="en-US"/>
              <a:t>, a framework for evaluating this task. </a:t>
            </a:r>
          </a:p>
          <a:p>
            <a:r>
              <a:rPr lang="en-US"/>
              <a:t>Develop strong system for tackling our benchmark. </a:t>
            </a:r>
          </a:p>
        </p:txBody>
      </p:sp>
      <p:sp>
        <p:nvSpPr>
          <p:cNvPr id="4" name="Title 1">
            <a:extLst>
              <a:ext uri="{FF2B5EF4-FFF2-40B4-BE49-F238E27FC236}">
                <a16:creationId xmlns:a16="http://schemas.microsoft.com/office/drawing/2014/main" id="{90848331-6032-712A-17B3-6ED4FEC07CC9}"/>
              </a:ext>
            </a:extLst>
          </p:cNvPr>
          <p:cNvSpPr>
            <a:spLocks noGrp="1"/>
          </p:cNvSpPr>
          <p:nvPr>
            <p:ph type="title"/>
          </p:nvPr>
        </p:nvSpPr>
        <p:spPr>
          <a:xfrm>
            <a:off x="776415" y="365125"/>
            <a:ext cx="11110784" cy="1325563"/>
          </a:xfrm>
        </p:spPr>
        <p:txBody>
          <a:bodyPr/>
          <a:lstStyle/>
          <a:p>
            <a:r>
              <a:rPr lang="en-US">
                <a:ea typeface="+mj-lt"/>
                <a:cs typeface="+mj-lt"/>
              </a:rPr>
              <a:t>what we do, briefly </a:t>
            </a:r>
            <a:endParaRPr lang="en-US"/>
          </a:p>
        </p:txBody>
      </p:sp>
      <p:pic>
        <p:nvPicPr>
          <p:cNvPr id="5" name="Picture 4">
            <a:extLst>
              <a:ext uri="{FF2B5EF4-FFF2-40B4-BE49-F238E27FC236}">
                <a16:creationId xmlns:a16="http://schemas.microsoft.com/office/drawing/2014/main" id="{2FEA28EC-A8E8-F20A-2DF5-045EC590031F}"/>
              </a:ext>
            </a:extLst>
          </p:cNvPr>
          <p:cNvPicPr>
            <a:picLocks noChangeAspect="1"/>
          </p:cNvPicPr>
          <p:nvPr/>
        </p:nvPicPr>
        <p:blipFill>
          <a:blip r:embed="rId3"/>
          <a:stretch>
            <a:fillRect/>
          </a:stretch>
        </p:blipFill>
        <p:spPr>
          <a:xfrm>
            <a:off x="6095359" y="4388101"/>
            <a:ext cx="5701230" cy="1834379"/>
          </a:xfrm>
          <a:prstGeom prst="rect">
            <a:avLst/>
          </a:prstGeom>
        </p:spPr>
      </p:pic>
      <p:sp>
        <p:nvSpPr>
          <p:cNvPr id="6" name="Slide Number Placeholder 5">
            <a:extLst>
              <a:ext uri="{FF2B5EF4-FFF2-40B4-BE49-F238E27FC236}">
                <a16:creationId xmlns:a16="http://schemas.microsoft.com/office/drawing/2014/main" id="{2E73A181-33D6-3C56-FAD4-17474C4AA592}"/>
              </a:ext>
            </a:extLst>
          </p:cNvPr>
          <p:cNvSpPr>
            <a:spLocks noGrp="1"/>
          </p:cNvSpPr>
          <p:nvPr>
            <p:ph type="sldNum" sz="quarter" idx="12"/>
          </p:nvPr>
        </p:nvSpPr>
        <p:spPr/>
        <p:txBody>
          <a:bodyPr/>
          <a:lstStyle/>
          <a:p>
            <a:fld id="{89C5782D-9F4E-41B2-BEC2-7E61B408EA47}" type="slidenum">
              <a:rPr lang="en-US" smtClean="0"/>
              <a:t>4</a:t>
            </a:fld>
            <a:endParaRPr lang="en-US"/>
          </a:p>
        </p:txBody>
      </p:sp>
      <p:grpSp>
        <p:nvGrpSpPr>
          <p:cNvPr id="10" name="Group 9">
            <a:extLst>
              <a:ext uri="{FF2B5EF4-FFF2-40B4-BE49-F238E27FC236}">
                <a16:creationId xmlns:a16="http://schemas.microsoft.com/office/drawing/2014/main" id="{D58CC4E6-2AA2-95DB-F88E-9F4C71754509}"/>
              </a:ext>
            </a:extLst>
          </p:cNvPr>
          <p:cNvGrpSpPr/>
          <p:nvPr/>
        </p:nvGrpSpPr>
        <p:grpSpPr>
          <a:xfrm>
            <a:off x="243287" y="3181178"/>
            <a:ext cx="7887455" cy="1058026"/>
            <a:chOff x="2432410" y="2867368"/>
            <a:chExt cx="7887455" cy="1058026"/>
          </a:xfrm>
        </p:grpSpPr>
        <p:pic>
          <p:nvPicPr>
            <p:cNvPr id="8" name="Picture 7" descr="A cartoon of a person sitting at a desk with a computer&#10;&#10;Description automatically generated">
              <a:extLst>
                <a:ext uri="{FF2B5EF4-FFF2-40B4-BE49-F238E27FC236}">
                  <a16:creationId xmlns:a16="http://schemas.microsoft.com/office/drawing/2014/main" id="{3F20C7D4-19DC-02F2-92E4-98B38CEED5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5460" y="2867368"/>
              <a:ext cx="493407" cy="510779"/>
            </a:xfrm>
            <a:prstGeom prst="rect">
              <a:avLst/>
            </a:prstGeom>
          </p:spPr>
        </p:pic>
        <p:sp>
          <p:nvSpPr>
            <p:cNvPr id="9" name="TextBox 8">
              <a:extLst>
                <a:ext uri="{FF2B5EF4-FFF2-40B4-BE49-F238E27FC236}">
                  <a16:creationId xmlns:a16="http://schemas.microsoft.com/office/drawing/2014/main" id="{C3CE18AF-4FD5-8C3B-3E83-8F312FBA1541}"/>
                </a:ext>
              </a:extLst>
            </p:cNvPr>
            <p:cNvSpPr txBox="1"/>
            <p:nvPr/>
          </p:nvSpPr>
          <p:spPr>
            <a:xfrm>
              <a:off x="2432410" y="3414616"/>
              <a:ext cx="7887455" cy="510778"/>
            </a:xfrm>
            <a:prstGeom prst="roundRect">
              <a:avLst/>
            </a:prstGeom>
            <a:solidFill>
              <a:schemeClr val="bg1">
                <a:lumMod val="95000"/>
              </a:schemeClr>
            </a:solidFill>
          </p:spPr>
          <p:txBody>
            <a:bodyPr wrap="square" lIns="91440" tIns="45720" rIns="91440" bIns="45720" rtlCol="0" anchor="t">
              <a:spAutoFit/>
            </a:bodyPr>
            <a:lstStyle/>
            <a:p>
              <a:pPr algn="ctr"/>
              <a:r>
                <a:rPr lang="en-US" sz="2400" b="1"/>
                <a:t>Prompt:</a:t>
              </a:r>
              <a:r>
                <a:rPr lang="en-US" sz="2400"/>
                <a:t> Generate a table comparing video datasets</a:t>
              </a:r>
              <a:endParaRPr lang="en-US" sz="2400">
                <a:latin typeface="Comic Sans MS"/>
              </a:endParaRPr>
            </a:p>
          </p:txBody>
        </p:sp>
      </p:grpSp>
      <p:sp>
        <p:nvSpPr>
          <p:cNvPr id="18" name="Arrow: Right 8">
            <a:extLst>
              <a:ext uri="{FF2B5EF4-FFF2-40B4-BE49-F238E27FC236}">
                <a16:creationId xmlns:a16="http://schemas.microsoft.com/office/drawing/2014/main" id="{93BC3206-C814-2ADB-57B9-E5CED4180AB9}"/>
              </a:ext>
            </a:extLst>
          </p:cNvPr>
          <p:cNvSpPr/>
          <p:nvPr/>
        </p:nvSpPr>
        <p:spPr>
          <a:xfrm>
            <a:off x="2852533" y="5106867"/>
            <a:ext cx="792126"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3CE6EE8-0F77-AA7E-D23E-1B7D44CB364F}"/>
              </a:ext>
            </a:extLst>
          </p:cNvPr>
          <p:cNvGrpSpPr/>
          <p:nvPr/>
        </p:nvGrpSpPr>
        <p:grpSpPr>
          <a:xfrm>
            <a:off x="304149" y="4570505"/>
            <a:ext cx="1990767" cy="1234228"/>
            <a:chOff x="2082467" y="4536558"/>
            <a:chExt cx="2583344" cy="1606114"/>
          </a:xfrm>
        </p:grpSpPr>
        <p:sp>
          <p:nvSpPr>
            <p:cNvPr id="23" name="Rectangle: Rounded Corners 15">
              <a:extLst>
                <a:ext uri="{FF2B5EF4-FFF2-40B4-BE49-F238E27FC236}">
                  <a16:creationId xmlns:a16="http://schemas.microsoft.com/office/drawing/2014/main" id="{6AE62194-33AB-D9E9-7450-4B9816E242A6}"/>
                </a:ext>
              </a:extLst>
            </p:cNvPr>
            <p:cNvSpPr/>
            <p:nvPr/>
          </p:nvSpPr>
          <p:spPr>
            <a:xfrm>
              <a:off x="2082467" y="4536558"/>
              <a:ext cx="2583344" cy="1606114"/>
            </a:xfrm>
            <a:prstGeom prst="roundRect">
              <a:avLst/>
            </a:prstGeom>
            <a:solidFill>
              <a:schemeClr val="bg1"/>
            </a:solid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Logos - arXiv info">
              <a:extLst>
                <a:ext uri="{FF2B5EF4-FFF2-40B4-BE49-F238E27FC236}">
                  <a16:creationId xmlns:a16="http://schemas.microsoft.com/office/drawing/2014/main" id="{62DB75F5-58C6-71CD-FFF5-E1F1F47A07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014" t="20986" r="10441" b="21095"/>
            <a:stretch/>
          </p:blipFill>
          <p:spPr bwMode="auto">
            <a:xfrm>
              <a:off x="3115126" y="4714339"/>
              <a:ext cx="1352922" cy="63100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12F6678B-D790-91EF-FB8B-7694ECB37A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4882" y="5477230"/>
              <a:ext cx="632186" cy="45593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oogle scholar&quot; Icon - Download for free – Iconduck">
              <a:extLst>
                <a:ext uri="{FF2B5EF4-FFF2-40B4-BE49-F238E27FC236}">
                  <a16:creationId xmlns:a16="http://schemas.microsoft.com/office/drawing/2014/main" id="{0A5C32B9-3FEF-A561-ABE1-3C206C1946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6390" y="5539047"/>
              <a:ext cx="418754" cy="39412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0E838F72-43CC-218A-E30A-A830541A45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2999" y="4634373"/>
              <a:ext cx="792126" cy="792126"/>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Bent Arrow 27">
            <a:extLst>
              <a:ext uri="{FF2B5EF4-FFF2-40B4-BE49-F238E27FC236}">
                <a16:creationId xmlns:a16="http://schemas.microsoft.com/office/drawing/2014/main" id="{BAB4AFF9-7E65-FE29-2AC8-0CB0D1B51B5D}"/>
              </a:ext>
            </a:extLst>
          </p:cNvPr>
          <p:cNvSpPr/>
          <p:nvPr/>
        </p:nvSpPr>
        <p:spPr>
          <a:xfrm flipV="1">
            <a:off x="2828967" y="4317257"/>
            <a:ext cx="792126" cy="775989"/>
          </a:xfrm>
          <a:prstGeom prst="bentArrow">
            <a:avLst>
              <a:gd name="adj1" fmla="val 32552"/>
              <a:gd name="adj2" fmla="val 31378"/>
              <a:gd name="adj3" fmla="val 25000"/>
              <a:gd name="adj4" fmla="val 4375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Arrow: Right 8">
            <a:extLst>
              <a:ext uri="{FF2B5EF4-FFF2-40B4-BE49-F238E27FC236}">
                <a16:creationId xmlns:a16="http://schemas.microsoft.com/office/drawing/2014/main" id="{EC36C3AE-6B6C-3028-67F9-7C2926EC3436}"/>
              </a:ext>
            </a:extLst>
          </p:cNvPr>
          <p:cNvSpPr/>
          <p:nvPr/>
        </p:nvSpPr>
        <p:spPr>
          <a:xfrm>
            <a:off x="5543951" y="5007845"/>
            <a:ext cx="396063"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A graphic of a paper with a pie chart and graph&#10;&#10;Description automatically generated">
            <a:extLst>
              <a:ext uri="{FF2B5EF4-FFF2-40B4-BE49-F238E27FC236}">
                <a16:creationId xmlns:a16="http://schemas.microsoft.com/office/drawing/2014/main" id="{478EC92E-4356-A95E-4012-02FAF5CBB1D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23115" y="4679158"/>
            <a:ext cx="970688" cy="970688"/>
          </a:xfrm>
          <a:prstGeom prst="rect">
            <a:avLst/>
          </a:prstGeom>
        </p:spPr>
      </p:pic>
      <p:pic>
        <p:nvPicPr>
          <p:cNvPr id="31" name="Picture 30" descr="A graphic of a paper with a pie chart and graph&#10;&#10;Description automatically generated">
            <a:extLst>
              <a:ext uri="{FF2B5EF4-FFF2-40B4-BE49-F238E27FC236}">
                <a16:creationId xmlns:a16="http://schemas.microsoft.com/office/drawing/2014/main" id="{FA9E778F-F688-E44B-52FF-30B43BCE433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41946" y="4855530"/>
            <a:ext cx="970688" cy="970688"/>
          </a:xfrm>
          <a:prstGeom prst="rect">
            <a:avLst/>
          </a:prstGeom>
        </p:spPr>
      </p:pic>
      <p:sp>
        <p:nvSpPr>
          <p:cNvPr id="34" name="TextBox 33">
            <a:extLst>
              <a:ext uri="{FF2B5EF4-FFF2-40B4-BE49-F238E27FC236}">
                <a16:creationId xmlns:a16="http://schemas.microsoft.com/office/drawing/2014/main" id="{5A225612-08C1-8CAE-23D9-485C7A381505}"/>
              </a:ext>
            </a:extLst>
          </p:cNvPr>
          <p:cNvSpPr txBox="1"/>
          <p:nvPr/>
        </p:nvSpPr>
        <p:spPr>
          <a:xfrm>
            <a:off x="98856" y="5852281"/>
            <a:ext cx="2294916" cy="923330"/>
          </a:xfrm>
          <a:prstGeom prst="rect">
            <a:avLst/>
          </a:prstGeom>
          <a:noFill/>
        </p:spPr>
        <p:txBody>
          <a:bodyPr wrap="square">
            <a:spAutoFit/>
          </a:bodyPr>
          <a:lstStyle/>
          <a:p>
            <a:pPr algn="ctr"/>
            <a:r>
              <a:rPr lang="en-US"/>
              <a:t>Repositories of science: </a:t>
            </a:r>
            <a:r>
              <a:rPr lang="en-US" err="1"/>
              <a:t>arXiv</a:t>
            </a:r>
            <a:r>
              <a:rPr lang="en-US"/>
              <a:t>, Google Scholar, etc.</a:t>
            </a:r>
          </a:p>
        </p:txBody>
      </p:sp>
      <p:sp>
        <p:nvSpPr>
          <p:cNvPr id="35" name="TextBox 34">
            <a:extLst>
              <a:ext uri="{FF2B5EF4-FFF2-40B4-BE49-F238E27FC236}">
                <a16:creationId xmlns:a16="http://schemas.microsoft.com/office/drawing/2014/main" id="{59676CE9-404D-DEE7-38C3-160FDAF7040D}"/>
              </a:ext>
            </a:extLst>
          </p:cNvPr>
          <p:cNvSpPr txBox="1"/>
          <p:nvPr/>
        </p:nvSpPr>
        <p:spPr>
          <a:xfrm>
            <a:off x="3504253" y="5934670"/>
            <a:ext cx="2294916" cy="646331"/>
          </a:xfrm>
          <a:prstGeom prst="rect">
            <a:avLst/>
          </a:prstGeom>
          <a:noFill/>
        </p:spPr>
        <p:txBody>
          <a:bodyPr wrap="square">
            <a:spAutoFit/>
          </a:bodyPr>
          <a:lstStyle/>
          <a:p>
            <a:pPr algn="ctr"/>
            <a:r>
              <a:rPr lang="en-US"/>
              <a:t>Potentially </a:t>
            </a:r>
            <a:br>
              <a:rPr lang="en-US"/>
            </a:br>
            <a:r>
              <a:rPr lang="en-US"/>
              <a:t>relevant papers</a:t>
            </a:r>
          </a:p>
        </p:txBody>
      </p:sp>
      <p:sp>
        <p:nvSpPr>
          <p:cNvPr id="36" name="TextBox 35">
            <a:extLst>
              <a:ext uri="{FF2B5EF4-FFF2-40B4-BE49-F238E27FC236}">
                <a16:creationId xmlns:a16="http://schemas.microsoft.com/office/drawing/2014/main" id="{37107875-2898-8678-D9D0-A4821621242E}"/>
              </a:ext>
            </a:extLst>
          </p:cNvPr>
          <p:cNvSpPr txBox="1"/>
          <p:nvPr/>
        </p:nvSpPr>
        <p:spPr>
          <a:xfrm>
            <a:off x="7351320" y="6213432"/>
            <a:ext cx="3374102" cy="369332"/>
          </a:xfrm>
          <a:prstGeom prst="rect">
            <a:avLst/>
          </a:prstGeom>
          <a:noFill/>
        </p:spPr>
        <p:txBody>
          <a:bodyPr wrap="square">
            <a:spAutoFit/>
          </a:bodyPr>
          <a:lstStyle/>
          <a:p>
            <a:pPr algn="ctr"/>
            <a:r>
              <a:rPr lang="en-US"/>
              <a:t>Tabular summary</a:t>
            </a:r>
          </a:p>
        </p:txBody>
      </p:sp>
    </p:spTree>
    <p:extLst>
      <p:ext uri="{BB962C8B-B14F-4D97-AF65-F5344CB8AC3E}">
        <p14:creationId xmlns:p14="http://schemas.microsoft.com/office/powerpoint/2010/main" val="153082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F351-4CE7-87FD-7882-F7211B511D0B}"/>
              </a:ext>
            </a:extLst>
          </p:cNvPr>
          <p:cNvSpPr>
            <a:spLocks noGrp="1"/>
          </p:cNvSpPr>
          <p:nvPr>
            <p:ph type="title"/>
          </p:nvPr>
        </p:nvSpPr>
        <p:spPr/>
        <p:txBody>
          <a:bodyPr/>
          <a:lstStyle/>
          <a:p>
            <a:r>
              <a:rPr lang="en-US"/>
              <a:t>How good is the state-of-the-art at this task? </a:t>
            </a:r>
          </a:p>
        </p:txBody>
      </p:sp>
      <p:sp>
        <p:nvSpPr>
          <p:cNvPr id="3" name="Slide Number Placeholder 2">
            <a:extLst>
              <a:ext uri="{FF2B5EF4-FFF2-40B4-BE49-F238E27FC236}">
                <a16:creationId xmlns:a16="http://schemas.microsoft.com/office/drawing/2014/main" id="{F479440F-D504-5B93-8B1F-D0CF1B09CE2A}"/>
              </a:ext>
            </a:extLst>
          </p:cNvPr>
          <p:cNvSpPr>
            <a:spLocks noGrp="1"/>
          </p:cNvSpPr>
          <p:nvPr>
            <p:ph type="sldNum" sz="quarter" idx="12"/>
          </p:nvPr>
        </p:nvSpPr>
        <p:spPr/>
        <p:txBody>
          <a:bodyPr/>
          <a:lstStyle/>
          <a:p>
            <a:fld id="{89C5782D-9F4E-41B2-BEC2-7E61B408EA47}" type="slidenum">
              <a:rPr lang="en-US" smtClean="0"/>
              <a:t>5</a:t>
            </a:fld>
            <a:endParaRPr lang="en-US"/>
          </a:p>
        </p:txBody>
      </p:sp>
      <p:pic>
        <p:nvPicPr>
          <p:cNvPr id="12" name="Picture 11">
            <a:extLst>
              <a:ext uri="{FF2B5EF4-FFF2-40B4-BE49-F238E27FC236}">
                <a16:creationId xmlns:a16="http://schemas.microsoft.com/office/drawing/2014/main" id="{8DDBE0DC-1BAC-2317-6E2B-E539E4C31462}"/>
              </a:ext>
            </a:extLst>
          </p:cNvPr>
          <p:cNvPicPr>
            <a:picLocks noChangeAspect="1"/>
          </p:cNvPicPr>
          <p:nvPr/>
        </p:nvPicPr>
        <p:blipFill>
          <a:blip r:embed="rId3"/>
          <a:stretch>
            <a:fillRect/>
          </a:stretch>
        </p:blipFill>
        <p:spPr>
          <a:xfrm>
            <a:off x="128532" y="3104014"/>
            <a:ext cx="5067300" cy="1181100"/>
          </a:xfrm>
          <a:prstGeom prst="rect">
            <a:avLst/>
          </a:prstGeom>
        </p:spPr>
      </p:pic>
      <p:sp>
        <p:nvSpPr>
          <p:cNvPr id="18" name="Arrow: Right 10">
            <a:extLst>
              <a:ext uri="{FF2B5EF4-FFF2-40B4-BE49-F238E27FC236}">
                <a16:creationId xmlns:a16="http://schemas.microsoft.com/office/drawing/2014/main" id="{02BC99B1-91D6-38D5-6595-60FB5791E481}"/>
              </a:ext>
            </a:extLst>
          </p:cNvPr>
          <p:cNvSpPr/>
          <p:nvPr/>
        </p:nvSpPr>
        <p:spPr>
          <a:xfrm>
            <a:off x="4760270" y="3416459"/>
            <a:ext cx="706700" cy="55626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ular Callout 19">
            <a:extLst>
              <a:ext uri="{FF2B5EF4-FFF2-40B4-BE49-F238E27FC236}">
                <a16:creationId xmlns:a16="http://schemas.microsoft.com/office/drawing/2014/main" id="{B98105C3-18AE-487D-8272-44CA2FD4AD04}"/>
              </a:ext>
            </a:extLst>
          </p:cNvPr>
          <p:cNvSpPr/>
          <p:nvPr/>
        </p:nvSpPr>
        <p:spPr>
          <a:xfrm>
            <a:off x="230132" y="1499558"/>
            <a:ext cx="5067301" cy="1283685"/>
          </a:xfrm>
          <a:prstGeom prst="wedgeRoundRectCallout">
            <a:avLst>
              <a:gd name="adj1" fmla="val -12775"/>
              <a:gd name="adj2" fmla="val 64245"/>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An easy prompt since it’s extensively discussed in various forms (papers, Twitter, Reddit, etc.)</a:t>
            </a:r>
          </a:p>
        </p:txBody>
      </p:sp>
      <p:graphicFrame>
        <p:nvGraphicFramePr>
          <p:cNvPr id="23" name="Content Placeholder 3">
            <a:extLst>
              <a:ext uri="{FF2B5EF4-FFF2-40B4-BE49-F238E27FC236}">
                <a16:creationId xmlns:a16="http://schemas.microsoft.com/office/drawing/2014/main" id="{A4BBDDC7-B5F8-3E36-FE98-1243519551E8}"/>
              </a:ext>
            </a:extLst>
          </p:cNvPr>
          <p:cNvGraphicFramePr>
            <a:graphicFrameLocks noGrp="1"/>
          </p:cNvGraphicFramePr>
          <p:nvPr>
            <p:ph idx="1"/>
            <p:extLst>
              <p:ext uri="{D42A27DB-BD31-4B8C-83A1-F6EECF244321}">
                <p14:modId xmlns:p14="http://schemas.microsoft.com/office/powerpoint/2010/main" val="486872602"/>
              </p:ext>
            </p:extLst>
          </p:nvPr>
        </p:nvGraphicFramePr>
        <p:xfrm>
          <a:off x="5575300" y="1489596"/>
          <a:ext cx="6389702" cy="5136743"/>
        </p:xfrm>
        <a:graphic>
          <a:graphicData uri="http://schemas.openxmlformats.org/drawingml/2006/table">
            <a:tbl>
              <a:tblPr/>
              <a:tblGrid>
                <a:gridCol w="844861">
                  <a:extLst>
                    <a:ext uri="{9D8B030D-6E8A-4147-A177-3AD203B41FA5}">
                      <a16:colId xmlns:a16="http://schemas.microsoft.com/office/drawing/2014/main" val="3046956377"/>
                    </a:ext>
                  </a:extLst>
                </a:gridCol>
                <a:gridCol w="496978">
                  <a:extLst>
                    <a:ext uri="{9D8B030D-6E8A-4147-A177-3AD203B41FA5}">
                      <a16:colId xmlns:a16="http://schemas.microsoft.com/office/drawing/2014/main" val="18375720"/>
                    </a:ext>
                  </a:extLst>
                </a:gridCol>
                <a:gridCol w="1079945">
                  <a:extLst>
                    <a:ext uri="{9D8B030D-6E8A-4147-A177-3AD203B41FA5}">
                      <a16:colId xmlns:a16="http://schemas.microsoft.com/office/drawing/2014/main" val="1005530941"/>
                    </a:ext>
                  </a:extLst>
                </a:gridCol>
                <a:gridCol w="1291343">
                  <a:extLst>
                    <a:ext uri="{9D8B030D-6E8A-4147-A177-3AD203B41FA5}">
                      <a16:colId xmlns:a16="http://schemas.microsoft.com/office/drawing/2014/main" val="199156572"/>
                    </a:ext>
                  </a:extLst>
                </a:gridCol>
                <a:gridCol w="2676575">
                  <a:extLst>
                    <a:ext uri="{9D8B030D-6E8A-4147-A177-3AD203B41FA5}">
                      <a16:colId xmlns:a16="http://schemas.microsoft.com/office/drawing/2014/main" val="1326179673"/>
                    </a:ext>
                  </a:extLst>
                </a:gridCol>
              </a:tblGrid>
              <a:tr h="313938">
                <a:tc>
                  <a:txBody>
                    <a:bodyPr/>
                    <a:lstStyle/>
                    <a:p>
                      <a:pPr algn="ctr" rtl="0" fontAlgn="ctr"/>
                      <a:r>
                        <a:rPr lang="en-US" sz="1200" b="1">
                          <a:effectLst/>
                        </a:rPr>
                        <a:t>Language Model</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b="1">
                          <a:effectLst/>
                        </a:rPr>
                        <a:t>Release</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b="1">
                          <a:effectLst/>
                        </a:rPr>
                        <a:t>Base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b="1">
                          <a:effectLst/>
                        </a:rPr>
                        <a:t>Alignment Algorithm(s) Used</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b="1">
                          <a:effectLst/>
                        </a:rPr>
                        <a:t>Alignment Data Sources for alignment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2077456"/>
                  </a:ext>
                </a:extLst>
              </a:tr>
              <a:tr h="263494">
                <a:tc>
                  <a:txBody>
                    <a:bodyPr/>
                    <a:lstStyle/>
                    <a:p>
                      <a:pPr algn="ctr" rtl="0" fontAlgn="ctr"/>
                      <a:r>
                        <a:rPr lang="en-US" sz="1200">
                          <a:effectLst/>
                        </a:rPr>
                        <a:t>GPT-3-instruct</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2020</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GPT-3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RLHF/PPO</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Curated datasets with human-labeled prompts and responses</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0388213"/>
                  </a:ext>
                </a:extLst>
              </a:tr>
              <a:tr h="263494">
                <a:tc>
                  <a:txBody>
                    <a:bodyPr/>
                    <a:lstStyle/>
                    <a:p>
                      <a:pPr algn="ctr" rtl="0" fontAlgn="ctr"/>
                      <a:r>
                        <a:rPr lang="en-US" sz="1200">
                          <a:effectLst/>
                        </a:rPr>
                        <a:t>GPT-4</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2023</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GPT-4 pre-trained?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RLHF/PPO</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Curated datasets with human-labeled prompts and responses</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6876222"/>
                  </a:ext>
                </a:extLst>
              </a:tr>
              <a:tr h="263494">
                <a:tc>
                  <a:txBody>
                    <a:bodyPr/>
                    <a:lstStyle/>
                    <a:p>
                      <a:pPr algn="ctr" rtl="0" fontAlgn="ctr"/>
                      <a:r>
                        <a:rPr lang="en-US" sz="1200">
                          <a:effectLst/>
                        </a:rPr>
                        <a:t>Gemini</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2023</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Gemini pre-trained?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RLHF/PPO</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Curated datasets with human-labeled prompts and responses</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1894827"/>
                  </a:ext>
                </a:extLst>
              </a:tr>
              <a:tr h="263494">
                <a:tc>
                  <a:txBody>
                    <a:bodyPr/>
                    <a:lstStyle/>
                    <a:p>
                      <a:pPr algn="ctr" rtl="0" fontAlgn="ctr"/>
                      <a:r>
                        <a:rPr lang="en-US" sz="1200">
                          <a:effectLst/>
                        </a:rPr>
                        <a:t>LLaMA2</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2023</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LLaMA2 pre-trained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RLHF/PPO</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Curated datasets with human-labeled prompts and responses</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1267844"/>
                  </a:ext>
                </a:extLst>
              </a:tr>
              <a:tr h="714001">
                <a:tc>
                  <a:txBody>
                    <a:bodyPr/>
                    <a:lstStyle/>
                    <a:p>
                      <a:pPr algn="ctr" rtl="0" fontAlgn="ctr"/>
                      <a:r>
                        <a:rPr lang="en-US" sz="1200">
                          <a:effectLst/>
                        </a:rPr>
                        <a:t>LLaMA3</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2024</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LLaMA3 </a:t>
                      </a:r>
                      <a:br>
                        <a:rPr lang="en-US" sz="1200">
                          <a:effectLst/>
                        </a:rPr>
                      </a:br>
                      <a:r>
                        <a:rPr lang="en-US" sz="1200">
                          <a:effectLst/>
                        </a:rPr>
                        <a:t>pre-trained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b="0" i="0">
                          <a:effectLst/>
                          <a:latin typeface="Arial" panose="020B0604020202020204" pitchFamily="34" charset="0"/>
                        </a:rPr>
                        <a:t>Iterate:</a:t>
                      </a:r>
                      <a:r>
                        <a:rPr lang="en-US" sz="1200" b="1" i="0">
                          <a:effectLst/>
                          <a:latin typeface="Arial" panose="020B0604020202020204" pitchFamily="34" charset="0"/>
                        </a:rPr>
                        <a:t> </a:t>
                      </a:r>
                      <a:r>
                        <a:rPr lang="en-US" sz="1200" i="0">
                          <a:effectLst/>
                          <a:latin typeface="Arial" panose="020B0604020202020204" pitchFamily="34" charset="0"/>
                        </a:rPr>
                        <a:t>Rejection sampling -&gt; </a:t>
                      </a:r>
                      <a:br>
                        <a:rPr lang="en-US" sz="1200" i="0">
                          <a:effectLst/>
                          <a:latin typeface="Arial" panose="020B0604020202020204" pitchFamily="34" charset="0"/>
                        </a:rPr>
                      </a:br>
                      <a:r>
                        <a:rPr lang="en-US" sz="1200" i="0">
                          <a:effectLst/>
                          <a:latin typeface="Arial" panose="020B0604020202020204" pitchFamily="34" charset="0"/>
                        </a:rPr>
                        <a:t>SFT -&gt; DPO </a:t>
                      </a:r>
                      <a:endParaRPr lang="en-US" sz="1200">
                        <a:effectLst/>
                      </a:endParaRP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10 million human-annotated examples. </a:t>
                      </a:r>
                      <a:br>
                        <a:rPr lang="en-US" sz="1200">
                          <a:effectLst/>
                        </a:rPr>
                      </a:br>
                      <a:r>
                        <a:rPr lang="en-US" sz="1200">
                          <a:effectLst/>
                        </a:rPr>
                        <a:t>The alignment process was conducted over multiple rounds, with each round involving the collection of new preference annotations and SFT data.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210012"/>
                  </a:ext>
                </a:extLst>
              </a:tr>
              <a:tr h="213923">
                <a:tc>
                  <a:txBody>
                    <a:bodyPr/>
                    <a:lstStyle/>
                    <a:p>
                      <a:pPr algn="ctr" rtl="0" fontAlgn="ctr"/>
                      <a:r>
                        <a:rPr lang="en-US" sz="1200" err="1">
                          <a:effectLst/>
                        </a:rPr>
                        <a:t>Alpacha</a:t>
                      </a:r>
                      <a:r>
                        <a:rPr lang="en-US" sz="1200">
                          <a:effectLst/>
                        </a:rPr>
                        <a:t>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2023</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LLAMA 1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Self-Instruct, 52,000 input-output pairs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899789"/>
                  </a:ext>
                </a:extLst>
              </a:tr>
              <a:tr h="213923">
                <a:tc>
                  <a:txBody>
                    <a:bodyPr/>
                    <a:lstStyle/>
                    <a:p>
                      <a:pPr algn="ctr" rtl="0" fontAlgn="ctr"/>
                      <a:r>
                        <a:rPr lang="en-US" sz="1200">
                          <a:effectLst/>
                        </a:rPr>
                        <a:t>Qwen2.5</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2024</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Qwen2.5 pre-trained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DPO -&gt; GRPO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1 million samples</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4032401"/>
                  </a:ext>
                </a:extLst>
              </a:tr>
              <a:tr h="213923">
                <a:tc>
                  <a:txBody>
                    <a:bodyPr/>
                    <a:lstStyle/>
                    <a:p>
                      <a:pPr algn="ctr" rtl="0" fontAlgn="ctr"/>
                      <a:r>
                        <a:rPr lang="en-US" sz="1200">
                          <a:effectLst/>
                        </a:rPr>
                        <a:t>Tulu 3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2024</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Llama 3.1</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DPO -&gt; RLVR</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near 1 million samples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5788714"/>
                  </a:ext>
                </a:extLst>
              </a:tr>
              <a:tr h="714001">
                <a:tc>
                  <a:txBody>
                    <a:bodyPr/>
                    <a:lstStyle/>
                    <a:p>
                      <a:pPr algn="ctr" rtl="0" fontAlgn="ctr"/>
                      <a:r>
                        <a:rPr lang="en-US" sz="1200" err="1">
                          <a:effectLst/>
                        </a:rPr>
                        <a:t>DeepSeek</a:t>
                      </a:r>
                      <a:r>
                        <a:rPr lang="en-US" sz="1200">
                          <a:effectLst/>
                        </a:rPr>
                        <a:t> (V3)</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2024</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err="1">
                          <a:effectLst/>
                        </a:rPr>
                        <a:t>DeepSeek</a:t>
                      </a:r>
                      <a:r>
                        <a:rPr lang="en-US" sz="1200">
                          <a:effectLst/>
                        </a:rPr>
                        <a:t> pre-trained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en-US" sz="1200">
                          <a:effectLst/>
                        </a:rPr>
                        <a:t>SFT -&gt; GRPO </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fontAlgn="ctr"/>
                      <a:r>
                        <a:rPr lang="en-US" sz="1200">
                          <a:effectLst/>
                        </a:rPr>
                        <a:t>1.5 million samples (reasoning + non-reasoning tasks). </a:t>
                      </a:r>
                      <a:br>
                        <a:rPr lang="en-US" sz="1200">
                          <a:effectLst/>
                        </a:rPr>
                      </a:br>
                      <a:r>
                        <a:rPr lang="en-US" sz="1200">
                          <a:effectLst/>
                        </a:rPr>
                        <a:t>Reasoning data was generated by specialized models. </a:t>
                      </a:r>
                      <a:br>
                        <a:rPr lang="en-US" sz="1200">
                          <a:effectLst/>
                        </a:rPr>
                      </a:br>
                      <a:r>
                        <a:rPr lang="en-US" sz="1200">
                          <a:effectLst/>
                        </a:rPr>
                        <a:t>Non-reasoning data was produced by DeepSeek-V2.5 and validated by human reviewers.</a:t>
                      </a:r>
                    </a:p>
                  </a:txBody>
                  <a:tcPr marL="13994" marR="13994" marT="9330" marB="93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554289"/>
                  </a:ext>
                </a:extLst>
              </a:tr>
            </a:tbl>
          </a:graphicData>
        </a:graphic>
      </p:graphicFrame>
      <p:sp>
        <p:nvSpPr>
          <p:cNvPr id="24" name="Rounded Rectangular Callout 23">
            <a:extLst>
              <a:ext uri="{FF2B5EF4-FFF2-40B4-BE49-F238E27FC236}">
                <a16:creationId xmlns:a16="http://schemas.microsoft.com/office/drawing/2014/main" id="{DE0A60C8-9D08-2B1F-666F-FC67A15245A2}"/>
              </a:ext>
            </a:extLst>
          </p:cNvPr>
          <p:cNvSpPr/>
          <p:nvPr/>
        </p:nvSpPr>
        <p:spPr>
          <a:xfrm>
            <a:off x="820680" y="4630327"/>
            <a:ext cx="3902920" cy="937884"/>
          </a:xfrm>
          <a:prstGeom prst="wedgeRoundRectCallout">
            <a:avLst>
              <a:gd name="adj1" fmla="val 56899"/>
              <a:gd name="adj2" fmla="val -25785"/>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What I manually created </a:t>
            </a:r>
            <a:br>
              <a:rPr lang="en-US" sz="2400">
                <a:solidFill>
                  <a:schemeClr val="tx1"/>
                </a:solidFill>
              </a:rPr>
            </a:br>
            <a:r>
              <a:rPr lang="en-US" sz="2400">
                <a:solidFill>
                  <a:schemeClr val="tx1"/>
                </a:solidFill>
              </a:rPr>
              <a:t>for my course</a:t>
            </a:r>
          </a:p>
        </p:txBody>
      </p:sp>
    </p:spTree>
    <p:extLst>
      <p:ext uri="{BB962C8B-B14F-4D97-AF65-F5344CB8AC3E}">
        <p14:creationId xmlns:p14="http://schemas.microsoft.com/office/powerpoint/2010/main" val="11723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93DB1-EDFE-CD8D-4F33-FCBB21EA0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64732-74B8-4D29-D1B7-192BE340BE7B}"/>
              </a:ext>
            </a:extLst>
          </p:cNvPr>
          <p:cNvSpPr>
            <a:spLocks noGrp="1"/>
          </p:cNvSpPr>
          <p:nvPr>
            <p:ph type="title"/>
          </p:nvPr>
        </p:nvSpPr>
        <p:spPr/>
        <p:txBody>
          <a:bodyPr/>
          <a:lstStyle/>
          <a:p>
            <a:r>
              <a:rPr lang="en-US"/>
              <a:t>How good is the state-of-the-art at this task? </a:t>
            </a:r>
          </a:p>
        </p:txBody>
      </p:sp>
      <p:sp>
        <p:nvSpPr>
          <p:cNvPr id="3" name="Slide Number Placeholder 2">
            <a:extLst>
              <a:ext uri="{FF2B5EF4-FFF2-40B4-BE49-F238E27FC236}">
                <a16:creationId xmlns:a16="http://schemas.microsoft.com/office/drawing/2014/main" id="{E7F01A33-CFB3-38EF-5714-276FFEF75B3F}"/>
              </a:ext>
            </a:extLst>
          </p:cNvPr>
          <p:cNvSpPr>
            <a:spLocks noGrp="1"/>
          </p:cNvSpPr>
          <p:nvPr>
            <p:ph type="sldNum" sz="quarter" idx="12"/>
          </p:nvPr>
        </p:nvSpPr>
        <p:spPr/>
        <p:txBody>
          <a:bodyPr/>
          <a:lstStyle/>
          <a:p>
            <a:fld id="{89C5782D-9F4E-41B2-BEC2-7E61B408EA47}" type="slidenum">
              <a:rPr lang="en-US" smtClean="0"/>
              <a:t>6</a:t>
            </a:fld>
            <a:endParaRPr lang="en-US"/>
          </a:p>
        </p:txBody>
      </p:sp>
      <p:sp>
        <p:nvSpPr>
          <p:cNvPr id="4" name="TextBox 3">
            <a:extLst>
              <a:ext uri="{FF2B5EF4-FFF2-40B4-BE49-F238E27FC236}">
                <a16:creationId xmlns:a16="http://schemas.microsoft.com/office/drawing/2014/main" id="{ECF9E34A-7AB6-DB85-84E9-B35D4DA9A72C}"/>
              </a:ext>
            </a:extLst>
          </p:cNvPr>
          <p:cNvSpPr txBox="1"/>
          <p:nvPr/>
        </p:nvSpPr>
        <p:spPr>
          <a:xfrm>
            <a:off x="128532" y="6398310"/>
            <a:ext cx="3565567" cy="323165"/>
          </a:xfrm>
          <a:prstGeom prst="rect">
            <a:avLst/>
          </a:prstGeom>
          <a:noFill/>
          <a:ln>
            <a:solidFill>
              <a:schemeClr val="bg1">
                <a:lumMod val="50000"/>
              </a:schemeClr>
            </a:solidFill>
          </a:ln>
        </p:spPr>
        <p:txBody>
          <a:bodyPr wrap="square">
            <a:spAutoFit/>
          </a:bodyPr>
          <a:lstStyle/>
          <a:p>
            <a:pPr algn="ctr"/>
            <a:r>
              <a:rPr lang="en-US" sz="1500">
                <a:solidFill>
                  <a:srgbClr val="000000"/>
                </a:solidFill>
                <a:latin typeface="Tahoma" panose="020B0604030504040204" pitchFamily="34" charset="0"/>
                <a:ea typeface="Tahoma" panose="020B0604030504040204" pitchFamily="34" charset="0"/>
                <a:cs typeface="Tahoma" panose="020B0604030504040204" pitchFamily="34" charset="0"/>
              </a:rPr>
              <a:t>Example retrieved on 02/27/2025</a:t>
            </a:r>
            <a:endParaRPr lang="en-US" sz="1500" i="0">
              <a:solidFill>
                <a:srgbClr val="000000"/>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15" name="Content Placeholder 14" descr="A screenshot of a screen&#10;&#10;Description automatically generated">
            <a:extLst>
              <a:ext uri="{FF2B5EF4-FFF2-40B4-BE49-F238E27FC236}">
                <a16:creationId xmlns:a16="http://schemas.microsoft.com/office/drawing/2014/main" id="{B409F0B1-AA84-5C2A-7689-EC6455DB5F5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15000" y="603761"/>
            <a:ext cx="6246868" cy="6029206"/>
          </a:xfr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6F5026DB-3362-11EB-CDEC-3A3EA4183FDE}"/>
              </a:ext>
            </a:extLst>
          </p:cNvPr>
          <p:cNvPicPr>
            <a:picLocks noChangeAspect="1"/>
          </p:cNvPicPr>
          <p:nvPr/>
        </p:nvPicPr>
        <p:blipFill>
          <a:blip r:embed="rId4"/>
          <a:stretch>
            <a:fillRect/>
          </a:stretch>
        </p:blipFill>
        <p:spPr>
          <a:xfrm>
            <a:off x="128532" y="3104014"/>
            <a:ext cx="5067300" cy="1181100"/>
          </a:xfrm>
          <a:prstGeom prst="rect">
            <a:avLst/>
          </a:prstGeom>
        </p:spPr>
      </p:pic>
      <p:sp>
        <p:nvSpPr>
          <p:cNvPr id="16" name="TextBox 15">
            <a:extLst>
              <a:ext uri="{FF2B5EF4-FFF2-40B4-BE49-F238E27FC236}">
                <a16:creationId xmlns:a16="http://schemas.microsoft.com/office/drawing/2014/main" id="{0872BE9B-EE03-A919-3689-5D9EFAD54DA8}"/>
              </a:ext>
            </a:extLst>
          </p:cNvPr>
          <p:cNvSpPr txBox="1"/>
          <p:nvPr/>
        </p:nvSpPr>
        <p:spPr>
          <a:xfrm>
            <a:off x="4271985" y="2743751"/>
            <a:ext cx="1458310" cy="369332"/>
          </a:xfrm>
          <a:prstGeom prst="rect">
            <a:avLst/>
          </a:prstGeom>
          <a:noFill/>
        </p:spPr>
        <p:txBody>
          <a:bodyPr wrap="square">
            <a:spAutoFit/>
          </a:bodyPr>
          <a:lstStyle/>
          <a:p>
            <a:pPr algn="ctr"/>
            <a:r>
              <a:rPr lang="en-US"/>
              <a:t>ChatGPT </a:t>
            </a:r>
          </a:p>
        </p:txBody>
      </p:sp>
      <p:sp>
        <p:nvSpPr>
          <p:cNvPr id="17" name="Rounded Rectangular Callout 16">
            <a:extLst>
              <a:ext uri="{FF2B5EF4-FFF2-40B4-BE49-F238E27FC236}">
                <a16:creationId xmlns:a16="http://schemas.microsoft.com/office/drawing/2014/main" id="{FD7BE649-ADC5-D572-23A6-B545BA877C20}"/>
              </a:ext>
            </a:extLst>
          </p:cNvPr>
          <p:cNvSpPr/>
          <p:nvPr/>
        </p:nvSpPr>
        <p:spPr>
          <a:xfrm>
            <a:off x="259874" y="515253"/>
            <a:ext cx="5470421" cy="833822"/>
          </a:xfrm>
          <a:prstGeom prst="wedgeRoundRectCallout">
            <a:avLst>
              <a:gd name="adj1" fmla="val 61980"/>
              <a:gd name="adj2" fmla="val 48416"/>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Not able to identify a meaningful set of column values (table schema) </a:t>
            </a:r>
          </a:p>
        </p:txBody>
      </p:sp>
      <p:sp>
        <p:nvSpPr>
          <p:cNvPr id="18" name="Arrow: Right 10">
            <a:extLst>
              <a:ext uri="{FF2B5EF4-FFF2-40B4-BE49-F238E27FC236}">
                <a16:creationId xmlns:a16="http://schemas.microsoft.com/office/drawing/2014/main" id="{8B04D4A6-6BFD-ED81-23CC-9CFEBCF0FB17}"/>
              </a:ext>
            </a:extLst>
          </p:cNvPr>
          <p:cNvSpPr/>
          <p:nvPr/>
        </p:nvSpPr>
        <p:spPr>
          <a:xfrm>
            <a:off x="4760270" y="3416459"/>
            <a:ext cx="706700" cy="55626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ular Callout 18">
            <a:extLst>
              <a:ext uri="{FF2B5EF4-FFF2-40B4-BE49-F238E27FC236}">
                <a16:creationId xmlns:a16="http://schemas.microsoft.com/office/drawing/2014/main" id="{030BCC5D-3B68-44DD-D294-641CDB0AE3FD}"/>
              </a:ext>
            </a:extLst>
          </p:cNvPr>
          <p:cNvSpPr/>
          <p:nvPr/>
        </p:nvSpPr>
        <p:spPr>
          <a:xfrm>
            <a:off x="404172" y="5213963"/>
            <a:ext cx="5051244" cy="771734"/>
          </a:xfrm>
          <a:prstGeom prst="wedgeRoundRectCallout">
            <a:avLst>
              <a:gd name="adj1" fmla="val 52442"/>
              <a:gd name="adj2" fmla="val -28133"/>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 lot of details are missing here! </a:t>
            </a:r>
            <a:br>
              <a:rPr lang="en-US" sz="2400">
                <a:solidFill>
                  <a:schemeClr val="tx1"/>
                </a:solidFill>
              </a:rPr>
            </a:br>
            <a:r>
              <a:rPr lang="en-US" sz="2400">
                <a:solidFill>
                  <a:schemeClr val="tx1"/>
                </a:solidFill>
              </a:rPr>
              <a:t>(many open-source models)</a:t>
            </a:r>
          </a:p>
        </p:txBody>
      </p:sp>
    </p:spTree>
    <p:extLst>
      <p:ext uri="{BB962C8B-B14F-4D97-AF65-F5344CB8AC3E}">
        <p14:creationId xmlns:p14="http://schemas.microsoft.com/office/powerpoint/2010/main" val="337441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2CCC9-4340-CB56-7377-5AAC30ED2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314C4-3A65-905D-0B6F-C0259BCBB8F4}"/>
              </a:ext>
            </a:extLst>
          </p:cNvPr>
          <p:cNvSpPr>
            <a:spLocks noGrp="1"/>
          </p:cNvSpPr>
          <p:nvPr>
            <p:ph type="title"/>
          </p:nvPr>
        </p:nvSpPr>
        <p:spPr>
          <a:xfrm>
            <a:off x="204023" y="365125"/>
            <a:ext cx="11560277" cy="1325563"/>
          </a:xfrm>
        </p:spPr>
        <p:txBody>
          <a:bodyPr/>
          <a:lstStyle/>
          <a:p>
            <a:r>
              <a:rPr lang="en-US"/>
              <a:t>“Perhaps your query is ambiguous/underdefined?”</a:t>
            </a:r>
          </a:p>
        </p:txBody>
      </p:sp>
      <p:sp>
        <p:nvSpPr>
          <p:cNvPr id="3" name="Slide Number Placeholder 2">
            <a:extLst>
              <a:ext uri="{FF2B5EF4-FFF2-40B4-BE49-F238E27FC236}">
                <a16:creationId xmlns:a16="http://schemas.microsoft.com/office/drawing/2014/main" id="{42786011-2777-F3D1-9CD0-6915D3C119F3}"/>
              </a:ext>
            </a:extLst>
          </p:cNvPr>
          <p:cNvSpPr>
            <a:spLocks noGrp="1"/>
          </p:cNvSpPr>
          <p:nvPr>
            <p:ph type="sldNum" sz="quarter" idx="12"/>
          </p:nvPr>
        </p:nvSpPr>
        <p:spPr/>
        <p:txBody>
          <a:bodyPr/>
          <a:lstStyle/>
          <a:p>
            <a:fld id="{89C5782D-9F4E-41B2-BEC2-7E61B408EA47}" type="slidenum">
              <a:rPr lang="en-US" smtClean="0"/>
              <a:t>7</a:t>
            </a:fld>
            <a:endParaRPr lang="en-US"/>
          </a:p>
        </p:txBody>
      </p:sp>
      <p:pic>
        <p:nvPicPr>
          <p:cNvPr id="10" name="Content Placeholder 6" descr="A screenshot of a computer&#10;&#10;AI-generated content may be incorrect.">
            <a:extLst>
              <a:ext uri="{FF2B5EF4-FFF2-40B4-BE49-F238E27FC236}">
                <a16:creationId xmlns:a16="http://schemas.microsoft.com/office/drawing/2014/main" id="{40C77322-C0FA-72B6-5E7B-A23C5432464A}"/>
              </a:ext>
            </a:extLst>
          </p:cNvPr>
          <p:cNvPicPr>
            <a:picLocks noChangeAspect="1"/>
          </p:cNvPicPr>
          <p:nvPr/>
        </p:nvPicPr>
        <p:blipFill>
          <a:blip r:embed="rId3">
            <a:extLst>
              <a:ext uri="{28A0092B-C50C-407E-A947-70E740481C1C}">
                <a14:useLocalDpi xmlns:a14="http://schemas.microsoft.com/office/drawing/2010/main" val="0"/>
              </a:ext>
            </a:extLst>
          </a:blip>
          <a:srcRect l="6023" t="34677" r="1550" b="9687"/>
          <a:stretch/>
        </p:blipFill>
        <p:spPr>
          <a:xfrm>
            <a:off x="5037802" y="151273"/>
            <a:ext cx="7007265" cy="6584950"/>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8D876F26-2F9B-D3B9-93D1-B881223FB6F4}"/>
              </a:ext>
            </a:extLst>
          </p:cNvPr>
          <p:cNvPicPr>
            <a:picLocks noChangeAspect="1"/>
          </p:cNvPicPr>
          <p:nvPr/>
        </p:nvPicPr>
        <p:blipFill>
          <a:blip r:embed="rId4"/>
          <a:stretch>
            <a:fillRect/>
          </a:stretch>
        </p:blipFill>
        <p:spPr>
          <a:xfrm>
            <a:off x="95960" y="2786623"/>
            <a:ext cx="4787900" cy="2540000"/>
          </a:xfrm>
          <a:prstGeom prst="rect">
            <a:avLst/>
          </a:prstGeom>
        </p:spPr>
      </p:pic>
      <p:sp>
        <p:nvSpPr>
          <p:cNvPr id="14" name="TextBox 13">
            <a:extLst>
              <a:ext uri="{FF2B5EF4-FFF2-40B4-BE49-F238E27FC236}">
                <a16:creationId xmlns:a16="http://schemas.microsoft.com/office/drawing/2014/main" id="{3B829F45-2F78-448B-B3B6-75ACC3EF87F5}"/>
              </a:ext>
            </a:extLst>
          </p:cNvPr>
          <p:cNvSpPr txBox="1"/>
          <p:nvPr/>
        </p:nvSpPr>
        <p:spPr>
          <a:xfrm>
            <a:off x="3671396" y="2436590"/>
            <a:ext cx="1458310" cy="369332"/>
          </a:xfrm>
          <a:prstGeom prst="rect">
            <a:avLst/>
          </a:prstGeom>
          <a:noFill/>
        </p:spPr>
        <p:txBody>
          <a:bodyPr wrap="square">
            <a:spAutoFit/>
          </a:bodyPr>
          <a:lstStyle/>
          <a:p>
            <a:pPr algn="ctr"/>
            <a:r>
              <a:rPr lang="en-US"/>
              <a:t>ChatGPT </a:t>
            </a:r>
          </a:p>
        </p:txBody>
      </p:sp>
      <p:sp>
        <p:nvSpPr>
          <p:cNvPr id="15" name="TextBox 14">
            <a:extLst>
              <a:ext uri="{FF2B5EF4-FFF2-40B4-BE49-F238E27FC236}">
                <a16:creationId xmlns:a16="http://schemas.microsoft.com/office/drawing/2014/main" id="{3C69C9D4-BEE3-2172-EE0A-41E819E655E7}"/>
              </a:ext>
            </a:extLst>
          </p:cNvPr>
          <p:cNvSpPr txBox="1"/>
          <p:nvPr/>
        </p:nvSpPr>
        <p:spPr>
          <a:xfrm>
            <a:off x="117435" y="6454775"/>
            <a:ext cx="3565567" cy="323165"/>
          </a:xfrm>
          <a:prstGeom prst="rect">
            <a:avLst/>
          </a:prstGeom>
          <a:noFill/>
          <a:ln>
            <a:solidFill>
              <a:schemeClr val="bg1">
                <a:lumMod val="50000"/>
              </a:schemeClr>
            </a:solidFill>
          </a:ln>
        </p:spPr>
        <p:txBody>
          <a:bodyPr wrap="square">
            <a:spAutoFit/>
          </a:bodyPr>
          <a:lstStyle/>
          <a:p>
            <a:pPr algn="ctr"/>
            <a:r>
              <a:rPr lang="en-US" sz="1500">
                <a:solidFill>
                  <a:srgbClr val="000000"/>
                </a:solidFill>
                <a:latin typeface="Tahoma" panose="020B0604030504040204" pitchFamily="34" charset="0"/>
                <a:ea typeface="Tahoma" panose="020B0604030504040204" pitchFamily="34" charset="0"/>
                <a:cs typeface="Tahoma" panose="020B0604030504040204" pitchFamily="34" charset="0"/>
              </a:rPr>
              <a:t>Example retrieved on 03/13/2025</a:t>
            </a:r>
            <a:endParaRPr lang="en-US" sz="1500" i="0">
              <a:solidFill>
                <a:srgbClr val="00000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6" name="Arrow: Right 10">
            <a:extLst>
              <a:ext uri="{FF2B5EF4-FFF2-40B4-BE49-F238E27FC236}">
                <a16:creationId xmlns:a16="http://schemas.microsoft.com/office/drawing/2014/main" id="{C5589933-D97A-8BC4-2EEB-F4CFDF608CE9}"/>
              </a:ext>
            </a:extLst>
          </p:cNvPr>
          <p:cNvSpPr/>
          <p:nvPr/>
        </p:nvSpPr>
        <p:spPr>
          <a:xfrm>
            <a:off x="4444289" y="3803711"/>
            <a:ext cx="706700" cy="55626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ular Callout 16">
            <a:extLst>
              <a:ext uri="{FF2B5EF4-FFF2-40B4-BE49-F238E27FC236}">
                <a16:creationId xmlns:a16="http://schemas.microsoft.com/office/drawing/2014/main" id="{93DB7C95-0499-3661-348A-2B2924A0381D}"/>
              </a:ext>
            </a:extLst>
          </p:cNvPr>
          <p:cNvSpPr/>
          <p:nvPr/>
        </p:nvSpPr>
        <p:spPr>
          <a:xfrm>
            <a:off x="259874" y="577341"/>
            <a:ext cx="5470421" cy="771734"/>
          </a:xfrm>
          <a:prstGeom prst="wedgeRoundRectCallout">
            <a:avLst>
              <a:gd name="adj1" fmla="val 61980"/>
              <a:gd name="adj2" fmla="val 48416"/>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Better schema </a:t>
            </a:r>
            <a:br>
              <a:rPr lang="en-US" sz="2400">
                <a:solidFill>
                  <a:schemeClr val="tx1"/>
                </a:solidFill>
              </a:rPr>
            </a:br>
            <a:r>
              <a:rPr lang="en-US" sz="2400">
                <a:solidFill>
                  <a:schemeClr val="tx1"/>
                </a:solidFill>
              </a:rPr>
              <a:t>(already given in the prompt) 👍</a:t>
            </a:r>
          </a:p>
        </p:txBody>
      </p:sp>
      <p:sp>
        <p:nvSpPr>
          <p:cNvPr id="18" name="Rounded Rectangular Callout 17">
            <a:extLst>
              <a:ext uri="{FF2B5EF4-FFF2-40B4-BE49-F238E27FC236}">
                <a16:creationId xmlns:a16="http://schemas.microsoft.com/office/drawing/2014/main" id="{95A7C6BB-D16D-2ECF-8FAB-40414ECAF792}"/>
              </a:ext>
            </a:extLst>
          </p:cNvPr>
          <p:cNvSpPr/>
          <p:nvPr/>
        </p:nvSpPr>
        <p:spPr>
          <a:xfrm>
            <a:off x="128640" y="5447486"/>
            <a:ext cx="4933449" cy="771734"/>
          </a:xfrm>
          <a:prstGeom prst="wedgeRoundRectCallout">
            <a:avLst>
              <a:gd name="adj1" fmla="val 52623"/>
              <a:gd name="adj2" fmla="val 15503"/>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There is so much known about these models that are missing! </a:t>
            </a:r>
          </a:p>
        </p:txBody>
      </p:sp>
    </p:spTree>
    <p:extLst>
      <p:ext uri="{BB962C8B-B14F-4D97-AF65-F5344CB8AC3E}">
        <p14:creationId xmlns:p14="http://schemas.microsoft.com/office/powerpoint/2010/main" val="80140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77F9-3002-8430-F8BB-C9E38F6FA23C}"/>
              </a:ext>
            </a:extLst>
          </p:cNvPr>
          <p:cNvSpPr>
            <a:spLocks noGrp="1"/>
          </p:cNvSpPr>
          <p:nvPr>
            <p:ph type="title"/>
          </p:nvPr>
        </p:nvSpPr>
        <p:spPr/>
        <p:txBody>
          <a:bodyPr/>
          <a:lstStyle/>
          <a:p>
            <a:r>
              <a:rPr lang="en-US"/>
              <a:t>“Wait but did you try OAI ‘Deep Search’???”</a:t>
            </a:r>
          </a:p>
        </p:txBody>
      </p:sp>
      <p:pic>
        <p:nvPicPr>
          <p:cNvPr id="6" name="Picture 5">
            <a:extLst>
              <a:ext uri="{FF2B5EF4-FFF2-40B4-BE49-F238E27FC236}">
                <a16:creationId xmlns:a16="http://schemas.microsoft.com/office/drawing/2014/main" id="{ECB6561E-17D6-0F01-31F8-527270CC3BA0}"/>
              </a:ext>
            </a:extLst>
          </p:cNvPr>
          <p:cNvPicPr>
            <a:picLocks noChangeAspect="1"/>
          </p:cNvPicPr>
          <p:nvPr/>
        </p:nvPicPr>
        <p:blipFill>
          <a:blip r:embed="rId3"/>
          <a:stretch>
            <a:fillRect/>
          </a:stretch>
        </p:blipFill>
        <p:spPr>
          <a:xfrm>
            <a:off x="-21031" y="1544154"/>
            <a:ext cx="4494304" cy="1047545"/>
          </a:xfrm>
          <a:prstGeom prst="rect">
            <a:avLst/>
          </a:prstGeom>
        </p:spPr>
      </p:pic>
      <p:sp>
        <p:nvSpPr>
          <p:cNvPr id="8" name="TextBox 7">
            <a:extLst>
              <a:ext uri="{FF2B5EF4-FFF2-40B4-BE49-F238E27FC236}">
                <a16:creationId xmlns:a16="http://schemas.microsoft.com/office/drawing/2014/main" id="{B1573FC2-8B32-6F19-7D19-173B82E0E302}"/>
              </a:ext>
            </a:extLst>
          </p:cNvPr>
          <p:cNvSpPr txBox="1"/>
          <p:nvPr/>
        </p:nvSpPr>
        <p:spPr>
          <a:xfrm>
            <a:off x="117435" y="6454775"/>
            <a:ext cx="3565567" cy="323165"/>
          </a:xfrm>
          <a:prstGeom prst="rect">
            <a:avLst/>
          </a:prstGeom>
          <a:noFill/>
          <a:ln>
            <a:solidFill>
              <a:schemeClr val="bg1">
                <a:lumMod val="50000"/>
              </a:schemeClr>
            </a:solidFill>
          </a:ln>
        </p:spPr>
        <p:txBody>
          <a:bodyPr wrap="square">
            <a:spAutoFit/>
          </a:bodyPr>
          <a:lstStyle/>
          <a:p>
            <a:pPr algn="ctr"/>
            <a:r>
              <a:rPr lang="en-US" sz="1500">
                <a:solidFill>
                  <a:srgbClr val="000000"/>
                </a:solidFill>
                <a:latin typeface="Tahoma" panose="020B0604030504040204" pitchFamily="34" charset="0"/>
                <a:ea typeface="Tahoma" panose="020B0604030504040204" pitchFamily="34" charset="0"/>
                <a:cs typeface="Tahoma" panose="020B0604030504040204" pitchFamily="34" charset="0"/>
              </a:rPr>
              <a:t>Example retrieved on 03/13/2025</a:t>
            </a:r>
            <a:endParaRPr lang="en-US" sz="1500" i="0">
              <a:solidFill>
                <a:srgbClr val="00000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23" name="Bent Arrow 22">
            <a:extLst>
              <a:ext uri="{FF2B5EF4-FFF2-40B4-BE49-F238E27FC236}">
                <a16:creationId xmlns:a16="http://schemas.microsoft.com/office/drawing/2014/main" id="{64489674-5631-599B-A7C5-12CA97453E24}"/>
              </a:ext>
            </a:extLst>
          </p:cNvPr>
          <p:cNvSpPr/>
          <p:nvPr/>
        </p:nvSpPr>
        <p:spPr>
          <a:xfrm flipV="1">
            <a:off x="1835704" y="2795105"/>
            <a:ext cx="1283110" cy="1047546"/>
          </a:xfrm>
          <a:prstGeom prst="bent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5" name="Picture 24" descr="A screenshot of a document&#10;&#10;Description automatically generated">
            <a:extLst>
              <a:ext uri="{FF2B5EF4-FFF2-40B4-BE49-F238E27FC236}">
                <a16:creationId xmlns:a16="http://schemas.microsoft.com/office/drawing/2014/main" id="{CA067BC1-6728-1899-860C-E17EAEF22E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1300" y="112902"/>
            <a:ext cx="6625023" cy="6642880"/>
          </a:xfrm>
          <a:prstGeom prst="rect">
            <a:avLst/>
          </a:prstGeom>
          <a:effectLst>
            <a:outerShdw blurRad="63500" sx="102000" sy="102000" algn="ctr" rotWithShape="0">
              <a:prstClr val="black">
                <a:alpha val="40000"/>
              </a:prstClr>
            </a:outerShdw>
          </a:effectLst>
        </p:spPr>
      </p:pic>
      <p:sp>
        <p:nvSpPr>
          <p:cNvPr id="27" name="Rounded Rectangular Callout 26">
            <a:extLst>
              <a:ext uri="{FF2B5EF4-FFF2-40B4-BE49-F238E27FC236}">
                <a16:creationId xmlns:a16="http://schemas.microsoft.com/office/drawing/2014/main" id="{7FF594A7-B7AA-AF48-D1FB-29ED7827C71E}"/>
              </a:ext>
            </a:extLst>
          </p:cNvPr>
          <p:cNvSpPr/>
          <p:nvPr/>
        </p:nvSpPr>
        <p:spPr>
          <a:xfrm>
            <a:off x="6096000" y="6110452"/>
            <a:ext cx="5850323" cy="679353"/>
          </a:xfrm>
          <a:prstGeom prst="wedgeRoundRectCallout">
            <a:avLst>
              <a:gd name="adj1" fmla="val 21475"/>
              <a:gd name="adj2" fmla="val -73362"/>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Lots of text, not much structure/insight. </a:t>
            </a:r>
          </a:p>
        </p:txBody>
      </p:sp>
      <p:sp>
        <p:nvSpPr>
          <p:cNvPr id="28" name="Rounded Rectangular Callout 27">
            <a:extLst>
              <a:ext uri="{FF2B5EF4-FFF2-40B4-BE49-F238E27FC236}">
                <a16:creationId xmlns:a16="http://schemas.microsoft.com/office/drawing/2014/main" id="{7FCD8799-0400-C004-3746-19972E2C68E2}"/>
              </a:ext>
            </a:extLst>
          </p:cNvPr>
          <p:cNvSpPr/>
          <p:nvPr/>
        </p:nvSpPr>
        <p:spPr>
          <a:xfrm>
            <a:off x="3195014" y="3939809"/>
            <a:ext cx="3215179" cy="771734"/>
          </a:xfrm>
          <a:prstGeom prst="wedgeRoundRectCallout">
            <a:avLst>
              <a:gd name="adj1" fmla="val 33455"/>
              <a:gd name="adj2" fmla="val -79944"/>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GPT 3.5 has two rows? </a:t>
            </a:r>
          </a:p>
        </p:txBody>
      </p:sp>
      <p:sp>
        <p:nvSpPr>
          <p:cNvPr id="29" name="TextBox 28">
            <a:extLst>
              <a:ext uri="{FF2B5EF4-FFF2-40B4-BE49-F238E27FC236}">
                <a16:creationId xmlns:a16="http://schemas.microsoft.com/office/drawing/2014/main" id="{48B10478-DDD6-2228-ED9F-E1490EE00598}"/>
              </a:ext>
            </a:extLst>
          </p:cNvPr>
          <p:cNvSpPr txBox="1"/>
          <p:nvPr/>
        </p:nvSpPr>
        <p:spPr>
          <a:xfrm>
            <a:off x="2011040" y="2716792"/>
            <a:ext cx="2693696" cy="646331"/>
          </a:xfrm>
          <a:prstGeom prst="rect">
            <a:avLst/>
          </a:prstGeom>
          <a:noFill/>
        </p:spPr>
        <p:txBody>
          <a:bodyPr wrap="square">
            <a:spAutoFit/>
          </a:bodyPr>
          <a:lstStyle/>
          <a:p>
            <a:pPr algn="ctr"/>
            <a:r>
              <a:rPr lang="en-US"/>
              <a:t>ChatGPT </a:t>
            </a:r>
            <a:r>
              <a:rPr lang="en-US" b="1"/>
              <a:t>Deep Search</a:t>
            </a:r>
            <a:br>
              <a:rPr lang="en-US" b="1"/>
            </a:br>
            <a:r>
              <a:rPr lang="en-US" b="1"/>
              <a:t>(&gt;15 mins)</a:t>
            </a:r>
          </a:p>
        </p:txBody>
      </p:sp>
      <p:sp>
        <p:nvSpPr>
          <p:cNvPr id="30" name="Rounded Rectangular Callout 29">
            <a:extLst>
              <a:ext uri="{FF2B5EF4-FFF2-40B4-BE49-F238E27FC236}">
                <a16:creationId xmlns:a16="http://schemas.microsoft.com/office/drawing/2014/main" id="{142B500D-32F7-A2E4-F5A0-D0CF0D895902}"/>
              </a:ext>
            </a:extLst>
          </p:cNvPr>
          <p:cNvSpPr/>
          <p:nvPr/>
        </p:nvSpPr>
        <p:spPr>
          <a:xfrm>
            <a:off x="3149600" y="4923369"/>
            <a:ext cx="3326644" cy="961237"/>
          </a:xfrm>
          <a:prstGeom prst="wedgeRoundRectCallout">
            <a:avLst>
              <a:gd name="adj1" fmla="val 57865"/>
              <a:gd name="adj2" fmla="val -34104"/>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Incorrect information</a:t>
            </a:r>
            <a:br>
              <a:rPr lang="en-US" sz="2400">
                <a:solidFill>
                  <a:schemeClr val="tx1"/>
                </a:solidFill>
              </a:rPr>
            </a:br>
            <a:r>
              <a:rPr lang="en-US" sz="2400">
                <a:solidFill>
                  <a:schemeClr val="tx1"/>
                </a:solidFill>
              </a:rPr>
              <a:t>(</a:t>
            </a:r>
            <a:r>
              <a:rPr lang="en-US" sz="2400" b="1">
                <a:solidFill>
                  <a:schemeClr val="tx1"/>
                </a:solidFill>
              </a:rPr>
              <a:t>precision</a:t>
            </a:r>
            <a:r>
              <a:rPr lang="en-US" sz="2400">
                <a:solidFill>
                  <a:schemeClr val="tx1"/>
                </a:solidFill>
              </a:rPr>
              <a:t> issues)</a:t>
            </a:r>
          </a:p>
        </p:txBody>
      </p:sp>
    </p:spTree>
    <p:extLst>
      <p:ext uri="{BB962C8B-B14F-4D97-AF65-F5344CB8AC3E}">
        <p14:creationId xmlns:p14="http://schemas.microsoft.com/office/powerpoint/2010/main" val="294114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0A55-5469-B4C4-DE0C-5B3603AC8BE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986AFD1-1C4F-F246-E133-DC393C48CFE6}"/>
              </a:ext>
            </a:extLst>
          </p:cNvPr>
          <p:cNvPicPr>
            <a:picLocks noChangeAspect="1"/>
          </p:cNvPicPr>
          <p:nvPr/>
        </p:nvPicPr>
        <p:blipFill>
          <a:blip r:embed="rId3"/>
          <a:stretch>
            <a:fillRect/>
          </a:stretch>
        </p:blipFill>
        <p:spPr>
          <a:xfrm>
            <a:off x="-21031" y="1544154"/>
            <a:ext cx="4494304" cy="1047545"/>
          </a:xfrm>
          <a:prstGeom prst="rect">
            <a:avLst/>
          </a:prstGeom>
        </p:spPr>
      </p:pic>
      <p:sp>
        <p:nvSpPr>
          <p:cNvPr id="8" name="TextBox 7">
            <a:extLst>
              <a:ext uri="{FF2B5EF4-FFF2-40B4-BE49-F238E27FC236}">
                <a16:creationId xmlns:a16="http://schemas.microsoft.com/office/drawing/2014/main" id="{58812A90-02B3-1F82-B74F-4802BA4A2EBF}"/>
              </a:ext>
            </a:extLst>
          </p:cNvPr>
          <p:cNvSpPr txBox="1"/>
          <p:nvPr/>
        </p:nvSpPr>
        <p:spPr>
          <a:xfrm>
            <a:off x="117435" y="6454775"/>
            <a:ext cx="3565567" cy="323165"/>
          </a:xfrm>
          <a:prstGeom prst="rect">
            <a:avLst/>
          </a:prstGeom>
          <a:noFill/>
          <a:ln>
            <a:solidFill>
              <a:schemeClr val="bg1">
                <a:lumMod val="50000"/>
              </a:schemeClr>
            </a:solidFill>
          </a:ln>
        </p:spPr>
        <p:txBody>
          <a:bodyPr wrap="square">
            <a:spAutoFit/>
          </a:bodyPr>
          <a:lstStyle/>
          <a:p>
            <a:pPr algn="ctr"/>
            <a:r>
              <a:rPr lang="en-US" sz="1500">
                <a:solidFill>
                  <a:srgbClr val="000000"/>
                </a:solidFill>
                <a:latin typeface="Tahoma" panose="020B0604030504040204" pitchFamily="34" charset="0"/>
                <a:ea typeface="Tahoma" panose="020B0604030504040204" pitchFamily="34" charset="0"/>
                <a:cs typeface="Tahoma" panose="020B0604030504040204" pitchFamily="34" charset="0"/>
              </a:rPr>
              <a:t>Example retrieved on 03/13/2025</a:t>
            </a:r>
            <a:endParaRPr lang="en-US" sz="1500" i="0">
              <a:solidFill>
                <a:srgbClr val="00000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23" name="Bent Arrow 22">
            <a:extLst>
              <a:ext uri="{FF2B5EF4-FFF2-40B4-BE49-F238E27FC236}">
                <a16:creationId xmlns:a16="http://schemas.microsoft.com/office/drawing/2014/main" id="{4B9FE2BA-7153-0499-FAB8-BBF80417B838}"/>
              </a:ext>
            </a:extLst>
          </p:cNvPr>
          <p:cNvSpPr/>
          <p:nvPr/>
        </p:nvSpPr>
        <p:spPr>
          <a:xfrm flipV="1">
            <a:off x="1835704" y="2795105"/>
            <a:ext cx="1283110" cy="1047546"/>
          </a:xfrm>
          <a:prstGeom prst="bentArrow">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2B5B8321-B652-C8CB-7C2E-E398CAEAD7F6}"/>
              </a:ext>
            </a:extLst>
          </p:cNvPr>
          <p:cNvPicPr>
            <a:picLocks noChangeAspect="1"/>
          </p:cNvPicPr>
          <p:nvPr/>
        </p:nvPicPr>
        <p:blipFill>
          <a:blip r:embed="rId4"/>
          <a:stretch>
            <a:fillRect/>
          </a:stretch>
        </p:blipFill>
        <p:spPr>
          <a:xfrm>
            <a:off x="5036382" y="431800"/>
            <a:ext cx="7012782" cy="6032500"/>
          </a:xfrm>
          <a:prstGeom prst="rect">
            <a:avLst/>
          </a:prstGeom>
          <a:effectLst>
            <a:outerShdw blurRad="63500" sx="102000" sy="102000" algn="ctr" rotWithShape="0">
              <a:prstClr val="black">
                <a:alpha val="40000"/>
              </a:prstClr>
            </a:outerShdw>
          </a:effectLst>
        </p:spPr>
      </p:pic>
      <p:sp>
        <p:nvSpPr>
          <p:cNvPr id="10" name="Rounded Rectangular Callout 9">
            <a:extLst>
              <a:ext uri="{FF2B5EF4-FFF2-40B4-BE49-F238E27FC236}">
                <a16:creationId xmlns:a16="http://schemas.microsoft.com/office/drawing/2014/main" id="{C11C8A9C-9EC1-91FA-C8E3-E2A14263314B}"/>
              </a:ext>
            </a:extLst>
          </p:cNvPr>
          <p:cNvSpPr/>
          <p:nvPr/>
        </p:nvSpPr>
        <p:spPr>
          <a:xfrm>
            <a:off x="4938410" y="2394744"/>
            <a:ext cx="878190" cy="538956"/>
          </a:xfrm>
          <a:prstGeom prst="wedgeRoundRectCallout">
            <a:avLst>
              <a:gd name="adj1" fmla="val 33455"/>
              <a:gd name="adj2" fmla="val -79944"/>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a:t>
            </a:r>
          </a:p>
        </p:txBody>
      </p:sp>
      <p:sp>
        <p:nvSpPr>
          <p:cNvPr id="11" name="Rounded Rectangular Callout 10">
            <a:extLst>
              <a:ext uri="{FF2B5EF4-FFF2-40B4-BE49-F238E27FC236}">
                <a16:creationId xmlns:a16="http://schemas.microsoft.com/office/drawing/2014/main" id="{7D6D3F3E-922F-A175-DC51-6AC3996C201C}"/>
              </a:ext>
            </a:extLst>
          </p:cNvPr>
          <p:cNvSpPr/>
          <p:nvPr/>
        </p:nvSpPr>
        <p:spPr>
          <a:xfrm>
            <a:off x="1730324" y="487419"/>
            <a:ext cx="3243886" cy="846534"/>
          </a:xfrm>
          <a:prstGeom prst="wedgeRoundRectCallout">
            <a:avLst>
              <a:gd name="adj1" fmla="val 59645"/>
              <a:gd name="adj2" fmla="val 16025"/>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No reference to Llama2 paper itself? </a:t>
            </a:r>
          </a:p>
        </p:txBody>
      </p:sp>
      <p:sp>
        <p:nvSpPr>
          <p:cNvPr id="12" name="Rounded Rectangular Callout 11">
            <a:extLst>
              <a:ext uri="{FF2B5EF4-FFF2-40B4-BE49-F238E27FC236}">
                <a16:creationId xmlns:a16="http://schemas.microsoft.com/office/drawing/2014/main" id="{DA9A094B-FD1F-CEE9-91C2-54B217C55A80}"/>
              </a:ext>
            </a:extLst>
          </p:cNvPr>
          <p:cNvSpPr/>
          <p:nvPr/>
        </p:nvSpPr>
        <p:spPr>
          <a:xfrm>
            <a:off x="96953" y="4208748"/>
            <a:ext cx="4959441" cy="1630067"/>
          </a:xfrm>
          <a:prstGeom prst="wedgeRoundRectCallout">
            <a:avLst>
              <a:gd name="adj1" fmla="val 56572"/>
              <a:gd name="adj2" fmla="val 3559"/>
              <a:gd name="adj3" fmla="val 16667"/>
            </a:avLst>
          </a:prstGeom>
          <a:solidFill>
            <a:schemeClr val="tx2">
              <a:lumMod val="10000"/>
              <a:lumOff val="9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The table has these models: </a:t>
            </a:r>
            <a:br>
              <a:rPr lang="en-US" sz="2400">
                <a:solidFill>
                  <a:schemeClr val="tx1"/>
                </a:solidFill>
              </a:rPr>
            </a:br>
            <a:r>
              <a:rPr lang="en-US" sz="2400">
                <a:solidFill>
                  <a:schemeClr val="tx1"/>
                </a:solidFill>
              </a:rPr>
              <a:t>GPT-3.5, GPT-4, Claude, Sparrow, LaMDA, LLaMA-2</a:t>
            </a:r>
            <a:br>
              <a:rPr lang="en-US" sz="2400">
                <a:solidFill>
                  <a:schemeClr val="tx1"/>
                </a:solidFill>
              </a:rPr>
            </a:br>
            <a:r>
              <a:rPr lang="en-US" sz="2400">
                <a:solidFill>
                  <a:schemeClr val="tx1"/>
                </a:solidFill>
              </a:rPr>
              <a:t>What about the rest? </a:t>
            </a:r>
            <a:r>
              <a:rPr lang="en-US" sz="2400" b="1">
                <a:solidFill>
                  <a:schemeClr val="tx1"/>
                </a:solidFill>
              </a:rPr>
              <a:t>Recall issue. </a:t>
            </a:r>
          </a:p>
        </p:txBody>
      </p:sp>
      <p:sp>
        <p:nvSpPr>
          <p:cNvPr id="2" name="TextBox 1">
            <a:extLst>
              <a:ext uri="{FF2B5EF4-FFF2-40B4-BE49-F238E27FC236}">
                <a16:creationId xmlns:a16="http://schemas.microsoft.com/office/drawing/2014/main" id="{4BCEADFC-706C-9E36-3E80-ED1E3BBEA2E9}"/>
              </a:ext>
            </a:extLst>
          </p:cNvPr>
          <p:cNvSpPr txBox="1"/>
          <p:nvPr/>
        </p:nvSpPr>
        <p:spPr>
          <a:xfrm>
            <a:off x="2011040" y="2716792"/>
            <a:ext cx="2693696" cy="646331"/>
          </a:xfrm>
          <a:prstGeom prst="rect">
            <a:avLst/>
          </a:prstGeom>
          <a:noFill/>
        </p:spPr>
        <p:txBody>
          <a:bodyPr wrap="square">
            <a:spAutoFit/>
          </a:bodyPr>
          <a:lstStyle/>
          <a:p>
            <a:pPr algn="ctr"/>
            <a:r>
              <a:rPr lang="en-US"/>
              <a:t>ChatGPT </a:t>
            </a:r>
            <a:r>
              <a:rPr lang="en-US" b="1"/>
              <a:t>Deep Search</a:t>
            </a:r>
            <a:br>
              <a:rPr lang="en-US" b="1"/>
            </a:br>
            <a:r>
              <a:rPr lang="en-US" b="1"/>
              <a:t>(&gt;15 mins)</a:t>
            </a:r>
          </a:p>
        </p:txBody>
      </p:sp>
    </p:spTree>
    <p:extLst>
      <p:ext uri="{BB962C8B-B14F-4D97-AF65-F5344CB8AC3E}">
        <p14:creationId xmlns:p14="http://schemas.microsoft.com/office/powerpoint/2010/main" val="24545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11089-357E-5F93-E50E-BF526E071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06E45-04C6-B2AB-9728-979F896CD322}"/>
              </a:ext>
            </a:extLst>
          </p:cNvPr>
          <p:cNvSpPr>
            <a:spLocks noGrp="1"/>
          </p:cNvSpPr>
          <p:nvPr>
            <p:ph type="title"/>
          </p:nvPr>
        </p:nvSpPr>
        <p:spPr/>
        <p:txBody>
          <a:bodyPr/>
          <a:lstStyle/>
          <a:p>
            <a:r>
              <a:rPr lang="en-US"/>
              <a:t>Recent related work: </a:t>
            </a:r>
            <a:r>
              <a:rPr lang="en-US" err="1"/>
              <a:t>ArxivDigesTables</a:t>
            </a:r>
            <a:endParaRPr lang="en-US"/>
          </a:p>
        </p:txBody>
      </p:sp>
      <p:sp>
        <p:nvSpPr>
          <p:cNvPr id="3" name="Content Placeholder 2">
            <a:extLst>
              <a:ext uri="{FF2B5EF4-FFF2-40B4-BE49-F238E27FC236}">
                <a16:creationId xmlns:a16="http://schemas.microsoft.com/office/drawing/2014/main" id="{60B0249C-935F-259A-5BA8-E063B3634A13}"/>
              </a:ext>
            </a:extLst>
          </p:cNvPr>
          <p:cNvSpPr>
            <a:spLocks noGrp="1"/>
          </p:cNvSpPr>
          <p:nvPr>
            <p:ph idx="1"/>
          </p:nvPr>
        </p:nvSpPr>
        <p:spPr/>
        <p:txBody>
          <a:bodyPr/>
          <a:lstStyle/>
          <a:p>
            <a:r>
              <a:rPr lang="en-US"/>
              <a:t>Extracted 2.2K tables from existing papers. </a:t>
            </a:r>
          </a:p>
          <a:p>
            <a:r>
              <a:rPr lang="en-US"/>
              <a:t>The table captions serve as the task prompts. </a:t>
            </a:r>
          </a:p>
          <a:p>
            <a:r>
              <a:rPr lang="en-US"/>
              <a:t>Rows of the table correspond to individual papers (7K) papers.</a:t>
            </a:r>
          </a:p>
        </p:txBody>
      </p:sp>
      <p:sp>
        <p:nvSpPr>
          <p:cNvPr id="4" name="Slide Number Placeholder 3">
            <a:extLst>
              <a:ext uri="{FF2B5EF4-FFF2-40B4-BE49-F238E27FC236}">
                <a16:creationId xmlns:a16="http://schemas.microsoft.com/office/drawing/2014/main" id="{F18F7BBB-7544-1617-D099-7CF0C6A57F09}"/>
              </a:ext>
            </a:extLst>
          </p:cNvPr>
          <p:cNvSpPr>
            <a:spLocks noGrp="1"/>
          </p:cNvSpPr>
          <p:nvPr>
            <p:ph type="sldNum" sz="quarter" idx="12"/>
          </p:nvPr>
        </p:nvSpPr>
        <p:spPr/>
        <p:txBody>
          <a:bodyPr/>
          <a:lstStyle/>
          <a:p>
            <a:fld id="{89C5782D-9F4E-41B2-BEC2-7E61B408EA47}" type="slidenum">
              <a:rPr lang="en-US" smtClean="0"/>
              <a:t>10</a:t>
            </a:fld>
            <a:endParaRPr lang="en-US"/>
          </a:p>
        </p:txBody>
      </p:sp>
      <p:sp>
        <p:nvSpPr>
          <p:cNvPr id="5" name="TextBox 4">
            <a:extLst>
              <a:ext uri="{FF2B5EF4-FFF2-40B4-BE49-F238E27FC236}">
                <a16:creationId xmlns:a16="http://schemas.microsoft.com/office/drawing/2014/main" id="{E2B3BC08-C3DA-2F8F-21AA-CBABF0FD60BD}"/>
              </a:ext>
            </a:extLst>
          </p:cNvPr>
          <p:cNvSpPr txBox="1"/>
          <p:nvPr/>
        </p:nvSpPr>
        <p:spPr>
          <a:xfrm>
            <a:off x="8859981" y="1362243"/>
            <a:ext cx="3155353" cy="1015663"/>
          </a:xfrm>
          <a:prstGeom prst="rect">
            <a:avLst/>
          </a:prstGeom>
          <a:noFill/>
          <a:ln>
            <a:solidFill>
              <a:schemeClr val="bg1">
                <a:lumMod val="50000"/>
              </a:schemeClr>
            </a:solidFill>
          </a:ln>
        </p:spPr>
        <p:txBody>
          <a:bodyPr wrap="square">
            <a:spAutoFit/>
          </a:bodyPr>
          <a:lstStyle/>
          <a:p>
            <a:pPr algn="ctr"/>
            <a:r>
              <a:rPr lang="en-US" sz="1500" i="0">
                <a:solidFill>
                  <a:srgbClr val="000000"/>
                </a:solidFill>
                <a:effectLst/>
                <a:latin typeface="Tahoma" panose="020B0604030504040204" pitchFamily="34" charset="0"/>
                <a:ea typeface="Tahoma" panose="020B0604030504040204" pitchFamily="34" charset="0"/>
                <a:cs typeface="Tahoma" panose="020B0604030504040204" pitchFamily="34" charset="0"/>
              </a:rPr>
              <a:t>Newman et al.  </a:t>
            </a:r>
            <a:r>
              <a:rPr lang="en-US" sz="1500" i="0" err="1">
                <a:solidFill>
                  <a:srgbClr val="000000"/>
                </a:solidFill>
                <a:effectLst/>
                <a:latin typeface="Tahoma" panose="020B0604030504040204" pitchFamily="34" charset="0"/>
                <a:ea typeface="Tahoma" panose="020B0604030504040204" pitchFamily="34" charset="0"/>
                <a:cs typeface="Tahoma" panose="020B0604030504040204" pitchFamily="34" charset="0"/>
              </a:rPr>
              <a:t>ArxivDIGESTables</a:t>
            </a:r>
            <a:r>
              <a:rPr lang="en-US" sz="1500" i="0">
                <a:solidFill>
                  <a:srgbClr val="000000"/>
                </a:solidFill>
                <a:effectLst/>
                <a:latin typeface="Tahoma" panose="020B0604030504040204" pitchFamily="34" charset="0"/>
                <a:ea typeface="Tahoma" panose="020B0604030504040204" pitchFamily="34" charset="0"/>
                <a:cs typeface="Tahoma" panose="020B0604030504040204" pitchFamily="34" charset="0"/>
              </a:rPr>
              <a:t>: Synthesizing Scientific Literature into Tables using Language Models, EMNLP 2024</a:t>
            </a:r>
          </a:p>
        </p:txBody>
      </p:sp>
      <p:pic>
        <p:nvPicPr>
          <p:cNvPr id="6" name="Picture 5">
            <a:extLst>
              <a:ext uri="{FF2B5EF4-FFF2-40B4-BE49-F238E27FC236}">
                <a16:creationId xmlns:a16="http://schemas.microsoft.com/office/drawing/2014/main" id="{66910EC8-1A92-3610-1CE4-B999C9F7B57D}"/>
              </a:ext>
            </a:extLst>
          </p:cNvPr>
          <p:cNvPicPr>
            <a:picLocks noChangeAspect="1"/>
          </p:cNvPicPr>
          <p:nvPr/>
        </p:nvPicPr>
        <p:blipFill>
          <a:blip r:embed="rId3"/>
          <a:srcRect l="24453" t="1836" r="6173" b="54813"/>
          <a:stretch/>
        </p:blipFill>
        <p:spPr>
          <a:xfrm>
            <a:off x="845574" y="3411524"/>
            <a:ext cx="7549314" cy="2765439"/>
          </a:xfrm>
          <a:prstGeom prst="rect">
            <a:avLst/>
          </a:prstGeom>
        </p:spPr>
      </p:pic>
      <p:sp>
        <p:nvSpPr>
          <p:cNvPr id="7" name="TextBox 6">
            <a:extLst>
              <a:ext uri="{FF2B5EF4-FFF2-40B4-BE49-F238E27FC236}">
                <a16:creationId xmlns:a16="http://schemas.microsoft.com/office/drawing/2014/main" id="{219138FF-FF7E-0884-74E8-1D439223846B}"/>
              </a:ext>
            </a:extLst>
          </p:cNvPr>
          <p:cNvSpPr txBox="1"/>
          <p:nvPr/>
        </p:nvSpPr>
        <p:spPr>
          <a:xfrm>
            <a:off x="8610600" y="4274622"/>
            <a:ext cx="3270448" cy="1328023"/>
          </a:xfrm>
          <a:prstGeom prst="roundRect">
            <a:avLst/>
          </a:prstGeom>
          <a:solidFill>
            <a:schemeClr val="bg1">
              <a:lumMod val="95000"/>
            </a:schemeClr>
          </a:solidFill>
        </p:spPr>
        <p:txBody>
          <a:bodyPr wrap="square" lIns="91440" tIns="45720" rIns="91440" bIns="45720" rtlCol="0" anchor="t">
            <a:spAutoFit/>
          </a:bodyPr>
          <a:lstStyle/>
          <a:p>
            <a:pPr algn="ctr"/>
            <a:r>
              <a:rPr lang="en-US" sz="2400" b="1"/>
              <a:t>We build upon this work by addressing their weaknesses! </a:t>
            </a:r>
            <a:endParaRPr lang="en-US" sz="2400">
              <a:latin typeface="Comic Sans MS"/>
            </a:endParaRPr>
          </a:p>
        </p:txBody>
      </p:sp>
    </p:spTree>
    <p:extLst>
      <p:ext uri="{BB962C8B-B14F-4D97-AF65-F5344CB8AC3E}">
        <p14:creationId xmlns:p14="http://schemas.microsoft.com/office/powerpoint/2010/main" val="247358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F4335-CBE0-74F8-3C46-3CB073F04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065D3-58F2-E9B6-7A2C-C049E040B11B}"/>
              </a:ext>
            </a:extLst>
          </p:cNvPr>
          <p:cNvSpPr>
            <a:spLocks noGrp="1"/>
          </p:cNvSpPr>
          <p:nvPr>
            <p:ph type="title"/>
          </p:nvPr>
        </p:nvSpPr>
        <p:spPr/>
        <p:txBody>
          <a:bodyPr/>
          <a:lstStyle/>
          <a:p>
            <a:r>
              <a:rPr lang="en-US"/>
              <a:t>Limitations of prior work</a:t>
            </a:r>
          </a:p>
        </p:txBody>
      </p:sp>
      <p:sp>
        <p:nvSpPr>
          <p:cNvPr id="3" name="Content Placeholder 2">
            <a:extLst>
              <a:ext uri="{FF2B5EF4-FFF2-40B4-BE49-F238E27FC236}">
                <a16:creationId xmlns:a16="http://schemas.microsoft.com/office/drawing/2014/main" id="{BB79B71B-4769-3F56-2F3A-742513B242EE}"/>
              </a:ext>
            </a:extLst>
          </p:cNvPr>
          <p:cNvSpPr>
            <a:spLocks noGrp="1"/>
          </p:cNvSpPr>
          <p:nvPr>
            <p:ph idx="1"/>
          </p:nvPr>
        </p:nvSpPr>
        <p:spPr/>
        <p:txBody>
          <a:bodyPr/>
          <a:lstStyle/>
          <a:p>
            <a:pPr marL="514350" indent="-514350">
              <a:buFont typeface="+mj-lt"/>
              <a:buAutoNum type="arabicPeriod"/>
            </a:pPr>
            <a:r>
              <a:rPr lang="en-US" b="1"/>
              <a:t>The assumption that papers a </a:t>
            </a:r>
            <a:r>
              <a:rPr lang="en-US" b="1">
                <a:solidFill>
                  <a:srgbClr val="00B050"/>
                </a:solidFill>
              </a:rPr>
              <a:t>carefully curated relevant papers</a:t>
            </a:r>
            <a:r>
              <a:rPr lang="en-US" b="1"/>
              <a:t> are available.</a:t>
            </a:r>
          </a:p>
          <a:p>
            <a:pPr marL="514350" indent="-514350">
              <a:buFont typeface="+mj-lt"/>
              <a:buAutoNum type="arabicPeriod"/>
            </a:pPr>
            <a:r>
              <a:rPr lang="en-US">
                <a:solidFill>
                  <a:schemeClr val="bg1">
                    <a:lumMod val="85000"/>
                  </a:schemeClr>
                </a:solidFill>
              </a:rPr>
              <a:t>Table captions are not appropriate task prompts. </a:t>
            </a:r>
          </a:p>
          <a:p>
            <a:pPr marL="514350" indent="-514350">
              <a:buFont typeface="+mj-lt"/>
              <a:buAutoNum type="arabicPeriod"/>
            </a:pPr>
            <a:r>
              <a:rPr lang="en-US">
                <a:solidFill>
                  <a:schemeClr val="bg1">
                    <a:lumMod val="85000"/>
                  </a:schemeClr>
                </a:solidFill>
              </a:rPr>
              <a:t>Rely on static embedding and human annotation to evaluate generated tables.</a:t>
            </a:r>
          </a:p>
          <a:p>
            <a:endParaRPr lang="en-US"/>
          </a:p>
        </p:txBody>
      </p:sp>
      <p:sp>
        <p:nvSpPr>
          <p:cNvPr id="4" name="Slide Number Placeholder 3">
            <a:extLst>
              <a:ext uri="{FF2B5EF4-FFF2-40B4-BE49-F238E27FC236}">
                <a16:creationId xmlns:a16="http://schemas.microsoft.com/office/drawing/2014/main" id="{07AB7865-8056-7520-E28F-B0E7F70B604F}"/>
              </a:ext>
            </a:extLst>
          </p:cNvPr>
          <p:cNvSpPr>
            <a:spLocks noGrp="1"/>
          </p:cNvSpPr>
          <p:nvPr>
            <p:ph type="sldNum" sz="quarter" idx="12"/>
          </p:nvPr>
        </p:nvSpPr>
        <p:spPr/>
        <p:txBody>
          <a:bodyPr/>
          <a:lstStyle/>
          <a:p>
            <a:fld id="{89C5782D-9F4E-41B2-BEC2-7E61B408EA47}" type="slidenum">
              <a:rPr lang="en-US" smtClean="0"/>
              <a:t>11</a:t>
            </a:fld>
            <a:endParaRPr lang="en-US"/>
          </a:p>
        </p:txBody>
      </p:sp>
    </p:spTree>
    <p:extLst>
      <p:ext uri="{BB962C8B-B14F-4D97-AF65-F5344CB8AC3E}">
        <p14:creationId xmlns:p14="http://schemas.microsoft.com/office/powerpoint/2010/main" val="1521284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a:extLst>
              <a:ext uri="{FF2B5EF4-FFF2-40B4-BE49-F238E27FC236}">
                <a16:creationId xmlns:a16="http://schemas.microsoft.com/office/drawing/2014/main" id="{80551C77-1350-860A-8F5B-BE485A84A0B8}"/>
              </a:ext>
            </a:extLst>
          </p:cNvPr>
          <p:cNvSpPr txBox="1"/>
          <p:nvPr/>
        </p:nvSpPr>
        <p:spPr>
          <a:xfrm>
            <a:off x="545948" y="2944617"/>
            <a:ext cx="10938362" cy="2767666"/>
          </a:xfrm>
          <a:prstGeom prst="roundRect">
            <a:avLst>
              <a:gd name="adj" fmla="val 7093"/>
            </a:avLst>
          </a:prstGeom>
          <a:noFill/>
          <a:ln w="57150">
            <a:solidFill>
              <a:schemeClr val="bg1">
                <a:lumMod val="75000"/>
              </a:schemeClr>
            </a:solidFill>
          </a:ln>
        </p:spPr>
        <p:txBody>
          <a:bodyPr wrap="square" lIns="91440" tIns="45720" rIns="91440" bIns="45720" rtlCol="0" anchor="t">
            <a:noAutofit/>
          </a:bodyPr>
          <a:lstStyle/>
          <a:p>
            <a:pPr algn="ctr"/>
            <a:endParaRPr lang="en-US" sz="2000">
              <a:latin typeface="Comic Sans MS"/>
            </a:endParaRPr>
          </a:p>
        </p:txBody>
      </p:sp>
      <p:sp>
        <p:nvSpPr>
          <p:cNvPr id="48" name="TextBox 47">
            <a:extLst>
              <a:ext uri="{FF2B5EF4-FFF2-40B4-BE49-F238E27FC236}">
                <a16:creationId xmlns:a16="http://schemas.microsoft.com/office/drawing/2014/main" id="{D3008619-4A1C-E0B4-FA83-07176C7288FD}"/>
              </a:ext>
            </a:extLst>
          </p:cNvPr>
          <p:cNvSpPr txBox="1"/>
          <p:nvPr/>
        </p:nvSpPr>
        <p:spPr>
          <a:xfrm>
            <a:off x="555820" y="423192"/>
            <a:ext cx="10938362" cy="2397053"/>
          </a:xfrm>
          <a:prstGeom prst="roundRect">
            <a:avLst>
              <a:gd name="adj" fmla="val 7093"/>
            </a:avLst>
          </a:prstGeom>
          <a:noFill/>
          <a:ln w="57150">
            <a:solidFill>
              <a:schemeClr val="bg1">
                <a:lumMod val="75000"/>
              </a:schemeClr>
            </a:solidFill>
          </a:ln>
        </p:spPr>
        <p:txBody>
          <a:bodyPr wrap="square" lIns="91440" tIns="45720" rIns="91440" bIns="45720" rtlCol="0" anchor="t">
            <a:noAutofit/>
          </a:bodyPr>
          <a:lstStyle/>
          <a:p>
            <a:pPr algn="ctr"/>
            <a:endParaRPr lang="en-US" sz="2000">
              <a:latin typeface="Comic Sans MS"/>
            </a:endParaRPr>
          </a:p>
        </p:txBody>
      </p:sp>
      <p:sp>
        <p:nvSpPr>
          <p:cNvPr id="4" name="Slide Number Placeholder 3">
            <a:extLst>
              <a:ext uri="{FF2B5EF4-FFF2-40B4-BE49-F238E27FC236}">
                <a16:creationId xmlns:a16="http://schemas.microsoft.com/office/drawing/2014/main" id="{AAB4C8E7-5639-8AD1-4D75-ED81C566FD63}"/>
              </a:ext>
            </a:extLst>
          </p:cNvPr>
          <p:cNvSpPr>
            <a:spLocks noGrp="1"/>
          </p:cNvSpPr>
          <p:nvPr>
            <p:ph type="sldNum" sz="quarter" idx="12"/>
          </p:nvPr>
        </p:nvSpPr>
        <p:spPr/>
        <p:txBody>
          <a:bodyPr/>
          <a:lstStyle/>
          <a:p>
            <a:fld id="{89C5782D-9F4E-41B2-BEC2-7E61B408EA47}" type="slidenum">
              <a:rPr lang="en-US" smtClean="0"/>
              <a:t>12</a:t>
            </a:fld>
            <a:endParaRPr lang="en-US"/>
          </a:p>
        </p:txBody>
      </p:sp>
      <p:sp>
        <p:nvSpPr>
          <p:cNvPr id="6" name="Arrow: Right 8">
            <a:extLst>
              <a:ext uri="{FF2B5EF4-FFF2-40B4-BE49-F238E27FC236}">
                <a16:creationId xmlns:a16="http://schemas.microsoft.com/office/drawing/2014/main" id="{6FC031F0-387A-EA49-E43C-5E85C6FD356A}"/>
              </a:ext>
            </a:extLst>
          </p:cNvPr>
          <p:cNvSpPr/>
          <p:nvPr/>
        </p:nvSpPr>
        <p:spPr>
          <a:xfrm>
            <a:off x="4200163" y="4121699"/>
            <a:ext cx="792126" cy="45593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50A62204-CB5D-2957-E1B1-F70F8B6F3A66}"/>
              </a:ext>
            </a:extLst>
          </p:cNvPr>
          <p:cNvGrpSpPr/>
          <p:nvPr/>
        </p:nvGrpSpPr>
        <p:grpSpPr>
          <a:xfrm>
            <a:off x="1831892" y="3474498"/>
            <a:ext cx="1990767" cy="1234228"/>
            <a:chOff x="2082467" y="4536558"/>
            <a:chExt cx="2583344" cy="1606114"/>
          </a:xfrm>
        </p:grpSpPr>
        <p:sp>
          <p:nvSpPr>
            <p:cNvPr id="8" name="Rectangle: Rounded Corners 15">
              <a:extLst>
                <a:ext uri="{FF2B5EF4-FFF2-40B4-BE49-F238E27FC236}">
                  <a16:creationId xmlns:a16="http://schemas.microsoft.com/office/drawing/2014/main" id="{CC35B506-A67F-5A13-9187-EDEC34DA3C1A}"/>
                </a:ext>
              </a:extLst>
            </p:cNvPr>
            <p:cNvSpPr/>
            <p:nvPr/>
          </p:nvSpPr>
          <p:spPr>
            <a:xfrm>
              <a:off x="2082467" y="4536558"/>
              <a:ext cx="2583344" cy="1606114"/>
            </a:xfrm>
            <a:prstGeom prst="roundRect">
              <a:avLst/>
            </a:prstGeom>
            <a:solidFill>
              <a:schemeClr val="bg1"/>
            </a:solidFill>
            <a:ln w="381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Logos - arXiv info">
              <a:extLst>
                <a:ext uri="{FF2B5EF4-FFF2-40B4-BE49-F238E27FC236}">
                  <a16:creationId xmlns:a16="http://schemas.microsoft.com/office/drawing/2014/main" id="{A8A12CEB-D3BB-3AB3-4226-842DDBF1A7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14" t="20986" r="10441" b="21095"/>
            <a:stretch/>
          </p:blipFill>
          <p:spPr bwMode="auto">
            <a:xfrm>
              <a:off x="3115126" y="4714339"/>
              <a:ext cx="1352922" cy="63100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740C36FC-B441-D949-D33A-618B52D37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4882" y="5477230"/>
              <a:ext cx="632186" cy="4559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google scholar&quot; Icon - Download for free – Iconduck">
              <a:extLst>
                <a:ext uri="{FF2B5EF4-FFF2-40B4-BE49-F238E27FC236}">
                  <a16:creationId xmlns:a16="http://schemas.microsoft.com/office/drawing/2014/main" id="{34E928C8-5231-0A89-ED3C-C4E7A66C0E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6390" y="5539047"/>
              <a:ext cx="418754" cy="39412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5D5D2ACE-1952-BDA3-A0EA-E5EE9695D4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2999" y="4634373"/>
              <a:ext cx="792126" cy="792126"/>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Bent Arrow 12">
            <a:extLst>
              <a:ext uri="{FF2B5EF4-FFF2-40B4-BE49-F238E27FC236}">
                <a16:creationId xmlns:a16="http://schemas.microsoft.com/office/drawing/2014/main" id="{9DAB1DC7-2308-F008-4AC1-750147C2C43A}"/>
              </a:ext>
            </a:extLst>
          </p:cNvPr>
          <p:cNvSpPr/>
          <p:nvPr/>
        </p:nvSpPr>
        <p:spPr>
          <a:xfrm flipV="1">
            <a:off x="4176597" y="3332089"/>
            <a:ext cx="792126" cy="775989"/>
          </a:xfrm>
          <a:prstGeom prst="bentArrow">
            <a:avLst>
              <a:gd name="adj1" fmla="val 32552"/>
              <a:gd name="adj2" fmla="val 31378"/>
              <a:gd name="adj3" fmla="val 25000"/>
              <a:gd name="adj4" fmla="val 4375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Right 8">
            <a:extLst>
              <a:ext uri="{FF2B5EF4-FFF2-40B4-BE49-F238E27FC236}">
                <a16:creationId xmlns:a16="http://schemas.microsoft.com/office/drawing/2014/main" id="{D2574237-7D28-1726-B833-B55DD1018815}"/>
              </a:ext>
            </a:extLst>
          </p:cNvPr>
          <p:cNvSpPr/>
          <p:nvPr/>
        </p:nvSpPr>
        <p:spPr>
          <a:xfrm>
            <a:off x="6754542" y="3948863"/>
            <a:ext cx="493440" cy="46736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graphic of a paper with a pie chart and graph&#10;&#10;Description automatically generated">
            <a:extLst>
              <a:ext uri="{FF2B5EF4-FFF2-40B4-BE49-F238E27FC236}">
                <a16:creationId xmlns:a16="http://schemas.microsoft.com/office/drawing/2014/main" id="{09677789-F871-4CD4-2CF1-8BE615199F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64103" y="3579644"/>
            <a:ext cx="970688" cy="970688"/>
          </a:xfrm>
          <a:prstGeom prst="rect">
            <a:avLst/>
          </a:prstGeom>
        </p:spPr>
      </p:pic>
      <p:pic>
        <p:nvPicPr>
          <p:cNvPr id="16" name="Picture 15" descr="A graphic of a paper with a pie chart and graph&#10;&#10;Description automatically generated">
            <a:extLst>
              <a:ext uri="{FF2B5EF4-FFF2-40B4-BE49-F238E27FC236}">
                <a16:creationId xmlns:a16="http://schemas.microsoft.com/office/drawing/2014/main" id="{4E5C1FC8-44CA-C57C-D859-A52F27971D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38019" y="3756016"/>
            <a:ext cx="970688" cy="970688"/>
          </a:xfrm>
          <a:prstGeom prst="rect">
            <a:avLst/>
          </a:prstGeom>
        </p:spPr>
      </p:pic>
      <p:sp>
        <p:nvSpPr>
          <p:cNvPr id="17" name="TextBox 16">
            <a:extLst>
              <a:ext uri="{FF2B5EF4-FFF2-40B4-BE49-F238E27FC236}">
                <a16:creationId xmlns:a16="http://schemas.microsoft.com/office/drawing/2014/main" id="{AFC77505-9118-E57F-C9E5-F1025CDAB5B4}"/>
              </a:ext>
            </a:extLst>
          </p:cNvPr>
          <p:cNvSpPr txBox="1"/>
          <p:nvPr/>
        </p:nvSpPr>
        <p:spPr>
          <a:xfrm>
            <a:off x="1709729" y="4756274"/>
            <a:ext cx="2294916" cy="923330"/>
          </a:xfrm>
          <a:prstGeom prst="rect">
            <a:avLst/>
          </a:prstGeom>
          <a:noFill/>
        </p:spPr>
        <p:txBody>
          <a:bodyPr wrap="square">
            <a:spAutoFit/>
          </a:bodyPr>
          <a:lstStyle/>
          <a:p>
            <a:pPr algn="ctr"/>
            <a:r>
              <a:rPr lang="en-US"/>
              <a:t>Repositories of science: </a:t>
            </a:r>
            <a:r>
              <a:rPr lang="en-US" err="1"/>
              <a:t>arXiv</a:t>
            </a:r>
            <a:r>
              <a:rPr lang="en-US"/>
              <a:t>, Google Scholar, etc.</a:t>
            </a:r>
          </a:p>
        </p:txBody>
      </p:sp>
      <p:sp>
        <p:nvSpPr>
          <p:cNvPr id="18" name="TextBox 17">
            <a:extLst>
              <a:ext uri="{FF2B5EF4-FFF2-40B4-BE49-F238E27FC236}">
                <a16:creationId xmlns:a16="http://schemas.microsoft.com/office/drawing/2014/main" id="{B7D3856E-51A8-0AC3-7008-CE31211D9D79}"/>
              </a:ext>
            </a:extLst>
          </p:cNvPr>
          <p:cNvSpPr txBox="1"/>
          <p:nvPr/>
        </p:nvSpPr>
        <p:spPr>
          <a:xfrm>
            <a:off x="4572616" y="4835156"/>
            <a:ext cx="2294916" cy="646331"/>
          </a:xfrm>
          <a:prstGeom prst="rect">
            <a:avLst/>
          </a:prstGeom>
          <a:noFill/>
        </p:spPr>
        <p:txBody>
          <a:bodyPr wrap="square">
            <a:spAutoFit/>
          </a:bodyPr>
          <a:lstStyle/>
          <a:p>
            <a:pPr algn="ctr"/>
            <a:r>
              <a:rPr lang="en-US" b="1">
                <a:solidFill>
                  <a:srgbClr val="C00000"/>
                </a:solidFill>
              </a:rPr>
              <a:t>Potentially</a:t>
            </a:r>
            <a:br>
              <a:rPr lang="en-US" b="1">
                <a:solidFill>
                  <a:srgbClr val="C00000"/>
                </a:solidFill>
              </a:rPr>
            </a:br>
            <a:r>
              <a:rPr lang="en-US" b="1">
                <a:solidFill>
                  <a:srgbClr val="C00000"/>
                </a:solidFill>
              </a:rPr>
              <a:t>relevant papers</a:t>
            </a:r>
          </a:p>
        </p:txBody>
      </p:sp>
      <p:sp>
        <p:nvSpPr>
          <p:cNvPr id="20" name="TextBox 19">
            <a:extLst>
              <a:ext uri="{FF2B5EF4-FFF2-40B4-BE49-F238E27FC236}">
                <a16:creationId xmlns:a16="http://schemas.microsoft.com/office/drawing/2014/main" id="{A1E5F5C4-30A7-0929-8F42-AD1E5DFEE905}"/>
              </a:ext>
            </a:extLst>
          </p:cNvPr>
          <p:cNvSpPr txBox="1"/>
          <p:nvPr/>
        </p:nvSpPr>
        <p:spPr>
          <a:xfrm>
            <a:off x="3853797" y="3010614"/>
            <a:ext cx="1235476" cy="442674"/>
          </a:xfrm>
          <a:prstGeom prst="roundRect">
            <a:avLst/>
          </a:prstGeom>
          <a:solidFill>
            <a:schemeClr val="bg1">
              <a:lumMod val="95000"/>
            </a:schemeClr>
          </a:solidFill>
        </p:spPr>
        <p:txBody>
          <a:bodyPr wrap="square" lIns="91440" tIns="45720" rIns="91440" bIns="45720" rtlCol="0" anchor="t">
            <a:spAutoFit/>
          </a:bodyPr>
          <a:lstStyle/>
          <a:p>
            <a:pPr algn="ctr"/>
            <a:r>
              <a:rPr lang="en-US" sz="2000" b="1"/>
              <a:t>Prompt</a:t>
            </a:r>
            <a:endParaRPr lang="en-US" sz="2000">
              <a:latin typeface="Comic Sans MS"/>
            </a:endParaRPr>
          </a:p>
        </p:txBody>
      </p:sp>
      <p:sp>
        <p:nvSpPr>
          <p:cNvPr id="30" name="Arrow: Right 8">
            <a:extLst>
              <a:ext uri="{FF2B5EF4-FFF2-40B4-BE49-F238E27FC236}">
                <a16:creationId xmlns:a16="http://schemas.microsoft.com/office/drawing/2014/main" id="{83F6CA7E-6AF0-C61C-588C-8ED517780902}"/>
              </a:ext>
            </a:extLst>
          </p:cNvPr>
          <p:cNvSpPr/>
          <p:nvPr/>
        </p:nvSpPr>
        <p:spPr>
          <a:xfrm>
            <a:off x="6245458" y="1163722"/>
            <a:ext cx="493440" cy="46736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A graphic of a paper with a pie chart and graph&#10;&#10;Description automatically generated">
            <a:extLst>
              <a:ext uri="{FF2B5EF4-FFF2-40B4-BE49-F238E27FC236}">
                <a16:creationId xmlns:a16="http://schemas.microsoft.com/office/drawing/2014/main" id="{53038795-33AE-E39A-3D50-3B510A743B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41173" y="794503"/>
            <a:ext cx="970688" cy="970688"/>
          </a:xfrm>
          <a:prstGeom prst="rect">
            <a:avLst/>
          </a:prstGeom>
        </p:spPr>
      </p:pic>
      <p:pic>
        <p:nvPicPr>
          <p:cNvPr id="32" name="Picture 31" descr="A graphic of a paper with a pie chart and graph&#10;&#10;Description automatically generated">
            <a:extLst>
              <a:ext uri="{FF2B5EF4-FFF2-40B4-BE49-F238E27FC236}">
                <a16:creationId xmlns:a16="http://schemas.microsoft.com/office/drawing/2014/main" id="{805FA780-2654-C962-5ACD-4BD1C6C0A7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15089" y="970875"/>
            <a:ext cx="970688" cy="970688"/>
          </a:xfrm>
          <a:prstGeom prst="rect">
            <a:avLst/>
          </a:prstGeom>
        </p:spPr>
      </p:pic>
      <p:sp>
        <p:nvSpPr>
          <p:cNvPr id="34" name="TextBox 33">
            <a:extLst>
              <a:ext uri="{FF2B5EF4-FFF2-40B4-BE49-F238E27FC236}">
                <a16:creationId xmlns:a16="http://schemas.microsoft.com/office/drawing/2014/main" id="{9A30C0BA-6145-14D5-70CE-1385F4B10AFE}"/>
              </a:ext>
            </a:extLst>
          </p:cNvPr>
          <p:cNvSpPr txBox="1"/>
          <p:nvPr/>
        </p:nvSpPr>
        <p:spPr>
          <a:xfrm>
            <a:off x="3914718" y="2022710"/>
            <a:ext cx="2703068" cy="646331"/>
          </a:xfrm>
          <a:prstGeom prst="rect">
            <a:avLst/>
          </a:prstGeom>
          <a:noFill/>
        </p:spPr>
        <p:txBody>
          <a:bodyPr wrap="square">
            <a:spAutoFit/>
          </a:bodyPr>
          <a:lstStyle/>
          <a:p>
            <a:pPr algn="ctr"/>
            <a:r>
              <a:rPr lang="en-US" b="1">
                <a:solidFill>
                  <a:schemeClr val="accent6"/>
                </a:solidFill>
              </a:rPr>
              <a:t>Well-curated relevant papers (gold papers) </a:t>
            </a:r>
          </a:p>
        </p:txBody>
      </p:sp>
      <p:sp>
        <p:nvSpPr>
          <p:cNvPr id="35" name="TextBox 34">
            <a:extLst>
              <a:ext uri="{FF2B5EF4-FFF2-40B4-BE49-F238E27FC236}">
                <a16:creationId xmlns:a16="http://schemas.microsoft.com/office/drawing/2014/main" id="{0E288BB2-64E4-A057-4C25-CCB3C3B344ED}"/>
              </a:ext>
            </a:extLst>
          </p:cNvPr>
          <p:cNvSpPr txBox="1"/>
          <p:nvPr/>
        </p:nvSpPr>
        <p:spPr>
          <a:xfrm>
            <a:off x="6613151" y="2161583"/>
            <a:ext cx="3374102" cy="369332"/>
          </a:xfrm>
          <a:prstGeom prst="rect">
            <a:avLst/>
          </a:prstGeom>
          <a:noFill/>
        </p:spPr>
        <p:txBody>
          <a:bodyPr wrap="square">
            <a:spAutoFit/>
          </a:bodyPr>
          <a:lstStyle/>
          <a:p>
            <a:pPr algn="ctr"/>
            <a:r>
              <a:rPr lang="en-US"/>
              <a:t>Tabular summary</a:t>
            </a:r>
          </a:p>
        </p:txBody>
      </p:sp>
      <p:sp>
        <p:nvSpPr>
          <p:cNvPr id="36" name="TextBox 35">
            <a:extLst>
              <a:ext uri="{FF2B5EF4-FFF2-40B4-BE49-F238E27FC236}">
                <a16:creationId xmlns:a16="http://schemas.microsoft.com/office/drawing/2014/main" id="{A6BEA04A-25A6-4BA6-374C-A80B93462DF5}"/>
              </a:ext>
            </a:extLst>
          </p:cNvPr>
          <p:cNvSpPr txBox="1"/>
          <p:nvPr/>
        </p:nvSpPr>
        <p:spPr>
          <a:xfrm>
            <a:off x="2350650" y="1145717"/>
            <a:ext cx="1235476" cy="442674"/>
          </a:xfrm>
          <a:prstGeom prst="roundRect">
            <a:avLst/>
          </a:prstGeom>
          <a:solidFill>
            <a:schemeClr val="bg1">
              <a:lumMod val="95000"/>
            </a:schemeClr>
          </a:solidFill>
        </p:spPr>
        <p:txBody>
          <a:bodyPr wrap="square" lIns="91440" tIns="45720" rIns="91440" bIns="45720" rtlCol="0" anchor="t">
            <a:spAutoFit/>
          </a:bodyPr>
          <a:lstStyle/>
          <a:p>
            <a:pPr algn="ctr"/>
            <a:r>
              <a:rPr lang="en-US" sz="2000" b="1"/>
              <a:t>Prompt</a:t>
            </a:r>
            <a:endParaRPr lang="en-US" sz="2000">
              <a:latin typeface="Comic Sans MS"/>
            </a:endParaRPr>
          </a:p>
        </p:txBody>
      </p:sp>
      <p:sp>
        <p:nvSpPr>
          <p:cNvPr id="40" name="TextBox 39">
            <a:extLst>
              <a:ext uri="{FF2B5EF4-FFF2-40B4-BE49-F238E27FC236}">
                <a16:creationId xmlns:a16="http://schemas.microsoft.com/office/drawing/2014/main" id="{7D440253-2951-0789-F2BE-1DC9BC738D4F}"/>
              </a:ext>
            </a:extLst>
          </p:cNvPr>
          <p:cNvSpPr txBox="1"/>
          <p:nvPr/>
        </p:nvSpPr>
        <p:spPr>
          <a:xfrm>
            <a:off x="517026" y="450908"/>
            <a:ext cx="2773680" cy="369332"/>
          </a:xfrm>
          <a:prstGeom prst="rect">
            <a:avLst/>
          </a:prstGeom>
          <a:noFill/>
        </p:spPr>
        <p:txBody>
          <a:bodyPr wrap="square">
            <a:spAutoFit/>
          </a:bodyPr>
          <a:lstStyle/>
          <a:p>
            <a:pPr algn="ctr"/>
            <a:r>
              <a:rPr lang="en-US" sz="1800" b="1" i="0">
                <a:solidFill>
                  <a:srgbClr val="000000"/>
                </a:solidFill>
                <a:effectLst/>
                <a:latin typeface="Aptos" panose="020B0004020202020204" pitchFamily="34" charset="0"/>
                <a:ea typeface="Tahoma" panose="020B0604030504040204" pitchFamily="34" charset="0"/>
                <a:cs typeface="Tahoma" panose="020B0604030504040204" pitchFamily="34" charset="0"/>
              </a:rPr>
              <a:t>Newman et al.  setup:</a:t>
            </a:r>
          </a:p>
        </p:txBody>
      </p:sp>
      <p:sp>
        <p:nvSpPr>
          <p:cNvPr id="42" name="TextBox 41">
            <a:extLst>
              <a:ext uri="{FF2B5EF4-FFF2-40B4-BE49-F238E27FC236}">
                <a16:creationId xmlns:a16="http://schemas.microsoft.com/office/drawing/2014/main" id="{4822F75B-5313-E35D-DBA1-DE9660A8B192}"/>
              </a:ext>
            </a:extLst>
          </p:cNvPr>
          <p:cNvSpPr txBox="1"/>
          <p:nvPr/>
        </p:nvSpPr>
        <p:spPr>
          <a:xfrm>
            <a:off x="133081" y="2951861"/>
            <a:ext cx="2497045" cy="369332"/>
          </a:xfrm>
          <a:prstGeom prst="rect">
            <a:avLst/>
          </a:prstGeom>
          <a:noFill/>
        </p:spPr>
        <p:txBody>
          <a:bodyPr wrap="square">
            <a:spAutoFit/>
          </a:bodyPr>
          <a:lstStyle/>
          <a:p>
            <a:pPr algn="ctr"/>
            <a:r>
              <a:rPr lang="en-US" sz="1800" b="1">
                <a:solidFill>
                  <a:srgbClr val="000000"/>
                </a:solidFill>
                <a:latin typeface="Aptos" panose="020B0004020202020204" pitchFamily="34" charset="0"/>
                <a:ea typeface="Tahoma" panose="020B0604030504040204" pitchFamily="34" charset="0"/>
                <a:cs typeface="Tahoma" panose="020B0604030504040204" pitchFamily="34" charset="0"/>
              </a:rPr>
              <a:t>Our</a:t>
            </a:r>
            <a:r>
              <a:rPr lang="en-US" sz="1800" b="1" i="0">
                <a:solidFill>
                  <a:srgbClr val="000000"/>
                </a:solidFill>
                <a:effectLst/>
                <a:latin typeface="Aptos" panose="020B0004020202020204" pitchFamily="34" charset="0"/>
                <a:ea typeface="Tahoma" panose="020B0604030504040204" pitchFamily="34" charset="0"/>
                <a:cs typeface="Tahoma" panose="020B0604030504040204" pitchFamily="34" charset="0"/>
              </a:rPr>
              <a:t>  setup:</a:t>
            </a:r>
          </a:p>
        </p:txBody>
      </p:sp>
      <p:sp>
        <p:nvSpPr>
          <p:cNvPr id="44" name="TextBox 43">
            <a:extLst>
              <a:ext uri="{FF2B5EF4-FFF2-40B4-BE49-F238E27FC236}">
                <a16:creationId xmlns:a16="http://schemas.microsoft.com/office/drawing/2014/main" id="{2110F4B1-99F0-6300-732E-1E7ACED59949}"/>
              </a:ext>
            </a:extLst>
          </p:cNvPr>
          <p:cNvSpPr txBox="1"/>
          <p:nvPr/>
        </p:nvSpPr>
        <p:spPr>
          <a:xfrm>
            <a:off x="5625564" y="588195"/>
            <a:ext cx="1687051" cy="646331"/>
          </a:xfrm>
          <a:prstGeom prst="rect">
            <a:avLst/>
          </a:prstGeom>
          <a:noFill/>
        </p:spPr>
        <p:txBody>
          <a:bodyPr wrap="square">
            <a:spAutoFit/>
          </a:bodyPr>
          <a:lstStyle/>
          <a:p>
            <a:pPr algn="ctr"/>
            <a:r>
              <a:rPr lang="en-US"/>
              <a:t>LLM </a:t>
            </a:r>
            <a:br>
              <a:rPr lang="en-US"/>
            </a:br>
            <a:r>
              <a:rPr lang="en-US"/>
              <a:t>processing</a:t>
            </a:r>
          </a:p>
        </p:txBody>
      </p:sp>
      <p:sp>
        <p:nvSpPr>
          <p:cNvPr id="45" name="TextBox 44">
            <a:extLst>
              <a:ext uri="{FF2B5EF4-FFF2-40B4-BE49-F238E27FC236}">
                <a16:creationId xmlns:a16="http://schemas.microsoft.com/office/drawing/2014/main" id="{082B646B-4F24-9E76-7423-E2CBF08E6CC4}"/>
              </a:ext>
            </a:extLst>
          </p:cNvPr>
          <p:cNvSpPr txBox="1"/>
          <p:nvPr/>
        </p:nvSpPr>
        <p:spPr>
          <a:xfrm>
            <a:off x="6126018" y="3319223"/>
            <a:ext cx="1687051" cy="646331"/>
          </a:xfrm>
          <a:prstGeom prst="rect">
            <a:avLst/>
          </a:prstGeom>
          <a:noFill/>
        </p:spPr>
        <p:txBody>
          <a:bodyPr wrap="square">
            <a:spAutoFit/>
          </a:bodyPr>
          <a:lstStyle/>
          <a:p>
            <a:pPr algn="ctr"/>
            <a:r>
              <a:rPr lang="en-US"/>
              <a:t>LLM </a:t>
            </a:r>
            <a:br>
              <a:rPr lang="en-US"/>
            </a:br>
            <a:r>
              <a:rPr lang="en-US"/>
              <a:t>processing</a:t>
            </a:r>
          </a:p>
        </p:txBody>
      </p:sp>
      <p:sp>
        <p:nvSpPr>
          <p:cNvPr id="46" name="TextBox 45">
            <a:extLst>
              <a:ext uri="{FF2B5EF4-FFF2-40B4-BE49-F238E27FC236}">
                <a16:creationId xmlns:a16="http://schemas.microsoft.com/office/drawing/2014/main" id="{AD82E90A-D456-468C-50DE-75BEB256F8D0}"/>
              </a:ext>
            </a:extLst>
          </p:cNvPr>
          <p:cNvSpPr txBox="1"/>
          <p:nvPr/>
        </p:nvSpPr>
        <p:spPr>
          <a:xfrm>
            <a:off x="2276425" y="5797334"/>
            <a:ext cx="7943806" cy="919401"/>
          </a:xfrm>
          <a:prstGeom prst="roundRect">
            <a:avLst/>
          </a:prstGeom>
          <a:solidFill>
            <a:schemeClr val="tx2">
              <a:lumMod val="10000"/>
              <a:lumOff val="90000"/>
            </a:schemeClr>
          </a:solidFill>
          <a:ln>
            <a:solidFill>
              <a:schemeClr val="tx2">
                <a:lumMod val="75000"/>
                <a:lumOff val="25000"/>
              </a:schemeClr>
            </a:solidFill>
          </a:ln>
        </p:spPr>
        <p:txBody>
          <a:bodyPr wrap="square" lIns="91440" tIns="45720" rIns="91440" bIns="45720" rtlCol="0" anchor="t">
            <a:spAutoFit/>
          </a:bodyPr>
          <a:lstStyle/>
          <a:p>
            <a:pPr algn="ctr"/>
            <a:r>
              <a:rPr lang="en-US" sz="2400"/>
              <a:t>We build a retrieval engine over papers and identify </a:t>
            </a:r>
            <a:r>
              <a:rPr lang="en-US" sz="2400">
                <a:solidFill>
                  <a:srgbClr val="C00000"/>
                </a:solidFill>
              </a:rPr>
              <a:t>hard negative candidate papers</a:t>
            </a:r>
            <a:r>
              <a:rPr lang="en-US" sz="2400"/>
              <a:t> to make evaluation realistic.</a:t>
            </a:r>
            <a:endParaRPr lang="en-US" sz="2400">
              <a:latin typeface="Comic Sans MS"/>
            </a:endParaRPr>
          </a:p>
        </p:txBody>
      </p:sp>
      <p:sp>
        <p:nvSpPr>
          <p:cNvPr id="47" name="Arrow: Right 8">
            <a:extLst>
              <a:ext uri="{FF2B5EF4-FFF2-40B4-BE49-F238E27FC236}">
                <a16:creationId xmlns:a16="http://schemas.microsoft.com/office/drawing/2014/main" id="{3F18E281-F6C6-FB50-40F1-AB8DD791F10A}"/>
              </a:ext>
            </a:extLst>
          </p:cNvPr>
          <p:cNvSpPr/>
          <p:nvPr/>
        </p:nvSpPr>
        <p:spPr>
          <a:xfrm>
            <a:off x="3828139" y="1163722"/>
            <a:ext cx="493440" cy="467368"/>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Curved Connector 49">
            <a:extLst>
              <a:ext uri="{FF2B5EF4-FFF2-40B4-BE49-F238E27FC236}">
                <a16:creationId xmlns:a16="http://schemas.microsoft.com/office/drawing/2014/main" id="{7E9A45BA-AEDB-42F8-D767-CA9B9D41AFF8}"/>
              </a:ext>
            </a:extLst>
          </p:cNvPr>
          <p:cNvCxnSpPr>
            <a:cxnSpLocks/>
          </p:cNvCxnSpPr>
          <p:nvPr/>
        </p:nvCxnSpPr>
        <p:spPr>
          <a:xfrm rot="5400000" flipH="1" flipV="1">
            <a:off x="5518868" y="5661475"/>
            <a:ext cx="533379" cy="12700"/>
          </a:xfrm>
          <a:prstGeom prst="curvedConnector3">
            <a:avLst>
              <a:gd name="adj1" fmla="val 50000"/>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55" name="Picture 54" descr="A colorful rectangular object with white squares&#10;&#10;Description automatically generated">
            <a:extLst>
              <a:ext uri="{FF2B5EF4-FFF2-40B4-BE49-F238E27FC236}">
                <a16:creationId xmlns:a16="http://schemas.microsoft.com/office/drawing/2014/main" id="{5CB786F2-119D-3CDD-F597-8FF51F0FA92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7392" y="633025"/>
            <a:ext cx="1685621" cy="1685621"/>
          </a:xfrm>
          <a:prstGeom prst="rect">
            <a:avLst/>
          </a:prstGeom>
        </p:spPr>
      </p:pic>
      <p:sp>
        <p:nvSpPr>
          <p:cNvPr id="56" name="TextBox 55">
            <a:extLst>
              <a:ext uri="{FF2B5EF4-FFF2-40B4-BE49-F238E27FC236}">
                <a16:creationId xmlns:a16="http://schemas.microsoft.com/office/drawing/2014/main" id="{D325018D-CA98-F1AE-7FBC-0474C467DD6B}"/>
              </a:ext>
            </a:extLst>
          </p:cNvPr>
          <p:cNvSpPr txBox="1"/>
          <p:nvPr/>
        </p:nvSpPr>
        <p:spPr>
          <a:xfrm>
            <a:off x="7114807" y="4886557"/>
            <a:ext cx="3374102" cy="369332"/>
          </a:xfrm>
          <a:prstGeom prst="rect">
            <a:avLst/>
          </a:prstGeom>
          <a:noFill/>
        </p:spPr>
        <p:txBody>
          <a:bodyPr wrap="square">
            <a:spAutoFit/>
          </a:bodyPr>
          <a:lstStyle/>
          <a:p>
            <a:pPr algn="ctr"/>
            <a:r>
              <a:rPr lang="en-US"/>
              <a:t>Tabular summary</a:t>
            </a:r>
          </a:p>
        </p:txBody>
      </p:sp>
      <p:pic>
        <p:nvPicPr>
          <p:cNvPr id="57" name="Picture 56" descr="A colorful rectangular object with white squares&#10;&#10;Description automatically generated">
            <a:extLst>
              <a:ext uri="{FF2B5EF4-FFF2-40B4-BE49-F238E27FC236}">
                <a16:creationId xmlns:a16="http://schemas.microsoft.com/office/drawing/2014/main" id="{738F5D9C-7F23-3371-557B-FF4D6CACB1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59048" y="3357999"/>
            <a:ext cx="1685621" cy="1685621"/>
          </a:xfrm>
          <a:prstGeom prst="rect">
            <a:avLst/>
          </a:prstGeom>
        </p:spPr>
      </p:pic>
      <p:sp>
        <p:nvSpPr>
          <p:cNvPr id="5" name="TextBox 4">
            <a:extLst>
              <a:ext uri="{FF2B5EF4-FFF2-40B4-BE49-F238E27FC236}">
                <a16:creationId xmlns:a16="http://schemas.microsoft.com/office/drawing/2014/main" id="{8F298A49-6062-41BB-E46B-675FEF984408}"/>
              </a:ext>
            </a:extLst>
          </p:cNvPr>
          <p:cNvSpPr txBox="1"/>
          <p:nvPr/>
        </p:nvSpPr>
        <p:spPr>
          <a:xfrm>
            <a:off x="1172681" y="2004023"/>
            <a:ext cx="2649978" cy="510778"/>
          </a:xfrm>
          <a:prstGeom prst="roundRect">
            <a:avLst/>
          </a:prstGeom>
          <a:solidFill>
            <a:schemeClr val="tx2">
              <a:lumMod val="10000"/>
              <a:lumOff val="90000"/>
            </a:schemeClr>
          </a:solidFill>
          <a:ln>
            <a:solidFill>
              <a:schemeClr val="tx2">
                <a:lumMod val="75000"/>
                <a:lumOff val="25000"/>
              </a:schemeClr>
            </a:solidFill>
          </a:ln>
        </p:spPr>
        <p:txBody>
          <a:bodyPr wrap="square" lIns="91440" tIns="45720" rIns="91440" bIns="45720" rtlCol="0" anchor="t">
            <a:spAutoFit/>
          </a:bodyPr>
          <a:lstStyle/>
          <a:p>
            <a:pPr algn="ctr"/>
            <a:r>
              <a:rPr lang="en-US" sz="2400"/>
              <a:t>Too idealistic </a:t>
            </a:r>
            <a:endParaRPr lang="en-US" sz="2400">
              <a:latin typeface="Comic Sans MS"/>
            </a:endParaRPr>
          </a:p>
        </p:txBody>
      </p:sp>
    </p:spTree>
    <p:extLst>
      <p:ext uri="{BB962C8B-B14F-4D97-AF65-F5344CB8AC3E}">
        <p14:creationId xmlns:p14="http://schemas.microsoft.com/office/powerpoint/2010/main" val="425850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500"/>
                                        <p:tgtEl>
                                          <p:spTgt spid="4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fade">
                                      <p:cBhvr>
                                        <p:cTn id="48" dur="500"/>
                                        <p:tgtEl>
                                          <p:spTgt spid="56"/>
                                        </p:tgtEl>
                                      </p:cBhvr>
                                    </p:animEffect>
                                  </p:childTnLst>
                                </p:cTn>
                              </p:par>
                              <p:par>
                                <p:cTn id="49" presetID="10" presetClass="entr" presetSubtype="0"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animEffect transition="in" filter="fade">
                                      <p:cBhvr>
                                        <p:cTn id="51" dur="500"/>
                                        <p:tgtEl>
                                          <p:spTgt spid="5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fade">
                                      <p:cBhvr>
                                        <p:cTn id="5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6" grpId="0" animBg="1"/>
      <p:bldP spid="13" grpId="0" animBg="1"/>
      <p:bldP spid="14" grpId="0" animBg="1"/>
      <p:bldP spid="17" grpId="0"/>
      <p:bldP spid="18" grpId="0"/>
      <p:bldP spid="20" grpId="0" animBg="1"/>
      <p:bldP spid="42" grpId="0"/>
      <p:bldP spid="45" grpId="0"/>
      <p:bldP spid="46" grpId="0" animBg="1"/>
      <p:bldP spid="56" grpId="0"/>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987D-3D57-258F-2EF5-E45FCF7F9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FA160-EC9D-E5A7-6F63-6EA250FA71BC}"/>
              </a:ext>
            </a:extLst>
          </p:cNvPr>
          <p:cNvSpPr>
            <a:spLocks noGrp="1"/>
          </p:cNvSpPr>
          <p:nvPr>
            <p:ph type="title"/>
          </p:nvPr>
        </p:nvSpPr>
        <p:spPr/>
        <p:txBody>
          <a:bodyPr/>
          <a:lstStyle/>
          <a:p>
            <a:r>
              <a:rPr lang="en-US"/>
              <a:t>Limitations of prior work</a:t>
            </a:r>
          </a:p>
        </p:txBody>
      </p:sp>
      <p:sp>
        <p:nvSpPr>
          <p:cNvPr id="3" name="Content Placeholder 2">
            <a:extLst>
              <a:ext uri="{FF2B5EF4-FFF2-40B4-BE49-F238E27FC236}">
                <a16:creationId xmlns:a16="http://schemas.microsoft.com/office/drawing/2014/main" id="{B5B5F36A-5B7E-0AEC-4B35-E9F863A6897B}"/>
              </a:ext>
            </a:extLst>
          </p:cNvPr>
          <p:cNvSpPr>
            <a:spLocks noGrp="1"/>
          </p:cNvSpPr>
          <p:nvPr>
            <p:ph idx="1"/>
          </p:nvPr>
        </p:nvSpPr>
        <p:spPr/>
        <p:txBody>
          <a:bodyPr/>
          <a:lstStyle/>
          <a:p>
            <a:pPr marL="514350" indent="-514350">
              <a:buFont typeface="+mj-lt"/>
              <a:buAutoNum type="arabicPeriod"/>
            </a:pPr>
            <a:r>
              <a:rPr lang="en-US"/>
              <a:t>The assumption that papers a carefully curated relevant papers are available, is idealistic in realistic scenarios.</a:t>
            </a:r>
          </a:p>
          <a:p>
            <a:pPr marL="514350" indent="-514350">
              <a:buFont typeface="+mj-lt"/>
              <a:buAutoNum type="arabicPeriod"/>
            </a:pPr>
            <a:r>
              <a:rPr lang="en-US" b="1"/>
              <a:t>Table captions are not appropriate as task prompts. </a:t>
            </a:r>
          </a:p>
          <a:p>
            <a:pPr marL="514350" indent="-514350">
              <a:buFont typeface="+mj-lt"/>
              <a:buAutoNum type="arabicPeriod"/>
            </a:pPr>
            <a:r>
              <a:rPr lang="en-US">
                <a:solidFill>
                  <a:schemeClr val="bg1">
                    <a:lumMod val="85000"/>
                  </a:schemeClr>
                </a:solidFill>
              </a:rPr>
              <a:t>Rely on static embedding and human annotation to evaluate generated tables.</a:t>
            </a:r>
          </a:p>
          <a:p>
            <a:endParaRPr lang="en-US"/>
          </a:p>
        </p:txBody>
      </p:sp>
      <p:sp>
        <p:nvSpPr>
          <p:cNvPr id="4" name="Slide Number Placeholder 3">
            <a:extLst>
              <a:ext uri="{FF2B5EF4-FFF2-40B4-BE49-F238E27FC236}">
                <a16:creationId xmlns:a16="http://schemas.microsoft.com/office/drawing/2014/main" id="{1E2E663A-917E-0D55-5EEA-D435A5F00364}"/>
              </a:ext>
            </a:extLst>
          </p:cNvPr>
          <p:cNvSpPr>
            <a:spLocks noGrp="1"/>
          </p:cNvSpPr>
          <p:nvPr>
            <p:ph type="sldNum" sz="quarter" idx="12"/>
          </p:nvPr>
        </p:nvSpPr>
        <p:spPr/>
        <p:txBody>
          <a:bodyPr/>
          <a:lstStyle/>
          <a:p>
            <a:fld id="{89C5782D-9F4E-41B2-BEC2-7E61B408EA47}" type="slidenum">
              <a:rPr lang="en-US" smtClean="0"/>
              <a:t>13</a:t>
            </a:fld>
            <a:endParaRPr lang="en-US"/>
          </a:p>
        </p:txBody>
      </p:sp>
    </p:spTree>
    <p:extLst>
      <p:ext uri="{BB962C8B-B14F-4D97-AF65-F5344CB8AC3E}">
        <p14:creationId xmlns:p14="http://schemas.microsoft.com/office/powerpoint/2010/main" val="2864842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570AE-7C5B-9499-562B-9C80FD28B1AB}"/>
              </a:ext>
            </a:extLst>
          </p:cNvPr>
          <p:cNvSpPr>
            <a:spLocks noGrp="1"/>
          </p:cNvSpPr>
          <p:nvPr>
            <p:ph type="title"/>
          </p:nvPr>
        </p:nvSpPr>
        <p:spPr/>
        <p:txBody>
          <a:bodyPr/>
          <a:lstStyle/>
          <a:p>
            <a:r>
              <a:rPr lang="en-US"/>
              <a:t>User Demand vs. Captions</a:t>
            </a:r>
          </a:p>
        </p:txBody>
      </p:sp>
      <p:sp>
        <p:nvSpPr>
          <p:cNvPr id="3" name="Content Placeholder 2">
            <a:extLst>
              <a:ext uri="{FF2B5EF4-FFF2-40B4-BE49-F238E27FC236}">
                <a16:creationId xmlns:a16="http://schemas.microsoft.com/office/drawing/2014/main" id="{2A521828-3FBC-5E43-1F6B-A070385A658B}"/>
              </a:ext>
            </a:extLst>
          </p:cNvPr>
          <p:cNvSpPr>
            <a:spLocks noGrp="1"/>
          </p:cNvSpPr>
          <p:nvPr>
            <p:ph idx="1"/>
          </p:nvPr>
        </p:nvSpPr>
        <p:spPr>
          <a:xfrm>
            <a:off x="820271" y="1825625"/>
            <a:ext cx="10515600" cy="5032375"/>
          </a:xfrm>
        </p:spPr>
        <p:txBody>
          <a:bodyPr>
            <a:normAutofit/>
          </a:bodyPr>
          <a:lstStyle/>
          <a:p>
            <a:r>
              <a:rPr lang="en-US"/>
              <a:t>Prompts in prior work [Newman et al.] are table captions. </a:t>
            </a:r>
          </a:p>
          <a:p>
            <a:pPr marL="0" indent="0">
              <a:buNone/>
            </a:pPr>
            <a:endParaRPr lang="en-US"/>
          </a:p>
          <a:p>
            <a:endParaRPr lang="en-US"/>
          </a:p>
          <a:p>
            <a:r>
              <a:rPr lang="en-US"/>
              <a:t>We replace them with </a:t>
            </a:r>
            <a:r>
              <a:rPr lang="en-US" b="1"/>
              <a:t>user demand </a:t>
            </a:r>
            <a:r>
              <a:rPr lang="en-US"/>
              <a:t>prompts:</a:t>
            </a:r>
          </a:p>
          <a:p>
            <a:pPr lvl="1"/>
            <a:endParaRPr lang="en-US" i="1"/>
          </a:p>
          <a:p>
            <a:endParaRPr lang="en-US"/>
          </a:p>
          <a:p>
            <a:endParaRPr lang="en-US"/>
          </a:p>
          <a:p>
            <a:pPr lvl="1"/>
            <a:r>
              <a:rPr lang="en-US"/>
              <a:t>We collect these by careful prompting of LLMs to: </a:t>
            </a:r>
          </a:p>
          <a:p>
            <a:pPr lvl="2"/>
            <a:r>
              <a:rPr lang="en-US"/>
              <a:t>(1) obtain a more complete prompt while </a:t>
            </a:r>
          </a:p>
          <a:p>
            <a:pPr lvl="2"/>
            <a:r>
              <a:rPr lang="en-US"/>
              <a:t>(2) avoiding leakage of table schema/values. </a:t>
            </a:r>
          </a:p>
        </p:txBody>
      </p:sp>
      <p:sp>
        <p:nvSpPr>
          <p:cNvPr id="4" name="Slide Number Placeholder 3">
            <a:extLst>
              <a:ext uri="{FF2B5EF4-FFF2-40B4-BE49-F238E27FC236}">
                <a16:creationId xmlns:a16="http://schemas.microsoft.com/office/drawing/2014/main" id="{9C5E8E7B-0BA5-713D-3D2A-808C0EBF338F}"/>
              </a:ext>
            </a:extLst>
          </p:cNvPr>
          <p:cNvSpPr>
            <a:spLocks noGrp="1"/>
          </p:cNvSpPr>
          <p:nvPr>
            <p:ph type="sldNum" sz="quarter" idx="12"/>
          </p:nvPr>
        </p:nvSpPr>
        <p:spPr/>
        <p:txBody>
          <a:bodyPr/>
          <a:lstStyle/>
          <a:p>
            <a:fld id="{89C5782D-9F4E-41B2-BEC2-7E61B408EA47}" type="slidenum">
              <a:rPr lang="en-US" smtClean="0"/>
              <a:t>14</a:t>
            </a:fld>
            <a:endParaRPr lang="en-US"/>
          </a:p>
        </p:txBody>
      </p:sp>
      <p:sp>
        <p:nvSpPr>
          <p:cNvPr id="6" name="TextBox 5">
            <a:extLst>
              <a:ext uri="{FF2B5EF4-FFF2-40B4-BE49-F238E27FC236}">
                <a16:creationId xmlns:a16="http://schemas.microsoft.com/office/drawing/2014/main" id="{9B84DC67-5B7E-343A-B36C-F323B97D4F0C}"/>
              </a:ext>
            </a:extLst>
          </p:cNvPr>
          <p:cNvSpPr txBox="1"/>
          <p:nvPr/>
        </p:nvSpPr>
        <p:spPr>
          <a:xfrm>
            <a:off x="1070704" y="2430789"/>
            <a:ext cx="8540003" cy="461665"/>
          </a:xfrm>
          <a:prstGeom prst="rect">
            <a:avLst/>
          </a:prstGeom>
          <a:solidFill>
            <a:schemeClr val="bg1">
              <a:lumMod val="95000"/>
            </a:schemeClr>
          </a:solidFill>
        </p:spPr>
        <p:txBody>
          <a:bodyPr wrap="square">
            <a:spAutoFit/>
          </a:bodyPr>
          <a:lstStyle/>
          <a:p>
            <a:pPr lvl="1"/>
            <a:r>
              <a:rPr lang="en-US" sz="2400" i="1">
                <a:latin typeface="Times" pitchFamily="2" charset="0"/>
              </a:rPr>
              <a:t>Comparison of Trajectory and Path Planning Approach</a:t>
            </a:r>
          </a:p>
        </p:txBody>
      </p:sp>
      <p:sp>
        <p:nvSpPr>
          <p:cNvPr id="7" name="TextBox 6">
            <a:extLst>
              <a:ext uri="{FF2B5EF4-FFF2-40B4-BE49-F238E27FC236}">
                <a16:creationId xmlns:a16="http://schemas.microsoft.com/office/drawing/2014/main" id="{7A8D628A-C40B-168F-615B-2AD2F8037E7B}"/>
              </a:ext>
            </a:extLst>
          </p:cNvPr>
          <p:cNvSpPr txBox="1"/>
          <p:nvPr/>
        </p:nvSpPr>
        <p:spPr>
          <a:xfrm>
            <a:off x="1008793" y="3797628"/>
            <a:ext cx="8744791" cy="1200329"/>
          </a:xfrm>
          <a:prstGeom prst="rect">
            <a:avLst/>
          </a:prstGeom>
          <a:solidFill>
            <a:schemeClr val="bg1">
              <a:lumMod val="95000"/>
            </a:schemeClr>
          </a:solidFill>
        </p:spPr>
        <p:txBody>
          <a:bodyPr wrap="square">
            <a:spAutoFit/>
          </a:bodyPr>
          <a:lstStyle/>
          <a:p>
            <a:pPr marL="12700" lvl="1" algn="ctr"/>
            <a:r>
              <a:rPr lang="en-US" sz="2400" i="1">
                <a:latin typeface="Times" pitchFamily="2" charset="0"/>
              </a:rPr>
              <a:t>Generate a table that compares different trajectory and path planning approaches. You can focus on their collision avoidance techniques, benefits, limitations, and applicable scenarios.</a:t>
            </a:r>
          </a:p>
        </p:txBody>
      </p:sp>
      <p:sp>
        <p:nvSpPr>
          <p:cNvPr id="8" name="Rounded Rectangular Callout 7">
            <a:extLst>
              <a:ext uri="{FF2B5EF4-FFF2-40B4-BE49-F238E27FC236}">
                <a16:creationId xmlns:a16="http://schemas.microsoft.com/office/drawing/2014/main" id="{AF3D2E22-769F-E9E4-C7DB-DA3C4F1C0385}"/>
              </a:ext>
            </a:extLst>
          </p:cNvPr>
          <p:cNvSpPr/>
          <p:nvPr/>
        </p:nvSpPr>
        <p:spPr>
          <a:xfrm>
            <a:off x="10215563" y="2062900"/>
            <a:ext cx="1700212" cy="735778"/>
          </a:xfrm>
          <a:prstGeom prst="wedgeRoundRectCallout">
            <a:avLst>
              <a:gd name="adj1" fmla="val -70917"/>
              <a:gd name="adj2" fmla="val 37543"/>
              <a:gd name="adj3" fmla="val 16667"/>
            </a:avLst>
          </a:prstGeom>
          <a:solidFill>
            <a:schemeClr val="bg1">
              <a:lumMod val="9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Brief and ambiguous</a:t>
            </a:r>
          </a:p>
        </p:txBody>
      </p:sp>
      <p:sp>
        <p:nvSpPr>
          <p:cNvPr id="9" name="Rounded Rectangular Callout 8">
            <a:extLst>
              <a:ext uri="{FF2B5EF4-FFF2-40B4-BE49-F238E27FC236}">
                <a16:creationId xmlns:a16="http://schemas.microsoft.com/office/drawing/2014/main" id="{9DB8AC35-3208-9D5A-BEB5-9CEB8413AD0B}"/>
              </a:ext>
            </a:extLst>
          </p:cNvPr>
          <p:cNvSpPr/>
          <p:nvPr/>
        </p:nvSpPr>
        <p:spPr>
          <a:xfrm>
            <a:off x="10215563" y="3773730"/>
            <a:ext cx="1700212" cy="735778"/>
          </a:xfrm>
          <a:prstGeom prst="wedgeRoundRectCallout">
            <a:avLst>
              <a:gd name="adj1" fmla="val -70917"/>
              <a:gd name="adj2" fmla="val 37543"/>
              <a:gd name="adj3" fmla="val 16667"/>
            </a:avLst>
          </a:prstGeom>
          <a:solidFill>
            <a:schemeClr val="bg1">
              <a:lumMod val="9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Longer and more precise</a:t>
            </a:r>
          </a:p>
        </p:txBody>
      </p:sp>
    </p:spTree>
    <p:extLst>
      <p:ext uri="{BB962C8B-B14F-4D97-AF65-F5344CB8AC3E}">
        <p14:creationId xmlns:p14="http://schemas.microsoft.com/office/powerpoint/2010/main" val="196611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56A4F-9C13-3E47-F424-E6DAF90E4C61}"/>
              </a:ext>
            </a:extLst>
          </p:cNvPr>
          <p:cNvSpPr>
            <a:spLocks noGrp="1"/>
          </p:cNvSpPr>
          <p:nvPr>
            <p:ph type="title"/>
          </p:nvPr>
        </p:nvSpPr>
        <p:spPr/>
        <p:txBody>
          <a:bodyPr/>
          <a:lstStyle/>
          <a:p>
            <a:r>
              <a:rPr lang="en-US"/>
              <a:t>User Demand vs. Captions</a:t>
            </a:r>
          </a:p>
        </p:txBody>
      </p:sp>
      <p:pic>
        <p:nvPicPr>
          <p:cNvPr id="6" name="Picture 5">
            <a:extLst>
              <a:ext uri="{FF2B5EF4-FFF2-40B4-BE49-F238E27FC236}">
                <a16:creationId xmlns:a16="http://schemas.microsoft.com/office/drawing/2014/main" id="{E8D5FE2B-7926-13E8-4F06-0960D15417C4}"/>
              </a:ext>
            </a:extLst>
          </p:cNvPr>
          <p:cNvPicPr>
            <a:picLocks noChangeAspect="1"/>
          </p:cNvPicPr>
          <p:nvPr/>
        </p:nvPicPr>
        <p:blipFill>
          <a:blip r:embed="rId2"/>
          <a:stretch>
            <a:fillRect/>
          </a:stretch>
        </p:blipFill>
        <p:spPr>
          <a:xfrm>
            <a:off x="680901" y="2226398"/>
            <a:ext cx="5470896" cy="3217140"/>
          </a:xfrm>
          <a:prstGeom prst="rect">
            <a:avLst/>
          </a:prstGeom>
        </p:spPr>
      </p:pic>
      <p:sp>
        <p:nvSpPr>
          <p:cNvPr id="4" name="Slide Number Placeholder 3">
            <a:extLst>
              <a:ext uri="{FF2B5EF4-FFF2-40B4-BE49-F238E27FC236}">
                <a16:creationId xmlns:a16="http://schemas.microsoft.com/office/drawing/2014/main" id="{4AC7C737-0DD7-1D05-02CB-4EB37C4739B0}"/>
              </a:ext>
            </a:extLst>
          </p:cNvPr>
          <p:cNvSpPr>
            <a:spLocks noGrp="1"/>
          </p:cNvSpPr>
          <p:nvPr>
            <p:ph type="sldNum" sz="quarter" idx="12"/>
          </p:nvPr>
        </p:nvSpPr>
        <p:spPr/>
        <p:txBody>
          <a:bodyPr/>
          <a:lstStyle/>
          <a:p>
            <a:fld id="{89C5782D-9F4E-41B2-BEC2-7E61B408EA47}" type="slidenum">
              <a:rPr lang="en-US" smtClean="0"/>
              <a:t>15</a:t>
            </a:fld>
            <a:endParaRPr lang="en-US"/>
          </a:p>
        </p:txBody>
      </p:sp>
      <p:sp>
        <p:nvSpPr>
          <p:cNvPr id="5" name="TextBox 4">
            <a:extLst>
              <a:ext uri="{FF2B5EF4-FFF2-40B4-BE49-F238E27FC236}">
                <a16:creationId xmlns:a16="http://schemas.microsoft.com/office/drawing/2014/main" id="{B903A46E-523D-3970-0C5E-83B2CE4620A9}"/>
              </a:ext>
            </a:extLst>
          </p:cNvPr>
          <p:cNvSpPr txBox="1"/>
          <p:nvPr/>
        </p:nvSpPr>
        <p:spPr>
          <a:xfrm>
            <a:off x="6462662" y="3136027"/>
            <a:ext cx="5410250" cy="1328023"/>
          </a:xfrm>
          <a:prstGeom prst="roundRect">
            <a:avLst/>
          </a:prstGeom>
          <a:solidFill>
            <a:schemeClr val="bg1">
              <a:lumMod val="95000"/>
            </a:schemeClr>
          </a:solidFill>
        </p:spPr>
        <p:txBody>
          <a:bodyPr wrap="square" lIns="91440" tIns="45720" rIns="91440" bIns="45720" rtlCol="0" anchor="t">
            <a:spAutoFit/>
          </a:bodyPr>
          <a:lstStyle/>
          <a:p>
            <a:pPr marL="0" indent="0" algn="ctr">
              <a:buNone/>
            </a:pPr>
            <a:r>
              <a:rPr lang="en-US" sz="2400"/>
              <a:t>Our collected user demands feature longer context, thus including better hints to curate the table.</a:t>
            </a:r>
          </a:p>
        </p:txBody>
      </p:sp>
    </p:spTree>
    <p:extLst>
      <p:ext uri="{BB962C8B-B14F-4D97-AF65-F5344CB8AC3E}">
        <p14:creationId xmlns:p14="http://schemas.microsoft.com/office/powerpoint/2010/main" val="269793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83FFE-2A4E-2BFF-CD9C-B01E61A51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7D15B-B28B-B012-21B3-40370DBEE507}"/>
              </a:ext>
            </a:extLst>
          </p:cNvPr>
          <p:cNvSpPr>
            <a:spLocks noGrp="1"/>
          </p:cNvSpPr>
          <p:nvPr>
            <p:ph type="title"/>
          </p:nvPr>
        </p:nvSpPr>
        <p:spPr/>
        <p:txBody>
          <a:bodyPr/>
          <a:lstStyle/>
          <a:p>
            <a:r>
              <a:rPr lang="en-US"/>
              <a:t>Limitations of prior work</a:t>
            </a:r>
          </a:p>
        </p:txBody>
      </p:sp>
      <p:sp>
        <p:nvSpPr>
          <p:cNvPr id="3" name="Content Placeholder 2">
            <a:extLst>
              <a:ext uri="{FF2B5EF4-FFF2-40B4-BE49-F238E27FC236}">
                <a16:creationId xmlns:a16="http://schemas.microsoft.com/office/drawing/2014/main" id="{D5CCF33B-ABC8-7A70-2D63-CCB54361058C}"/>
              </a:ext>
            </a:extLst>
          </p:cNvPr>
          <p:cNvSpPr>
            <a:spLocks noGrp="1"/>
          </p:cNvSpPr>
          <p:nvPr>
            <p:ph idx="1"/>
          </p:nvPr>
        </p:nvSpPr>
        <p:spPr/>
        <p:txBody>
          <a:bodyPr/>
          <a:lstStyle/>
          <a:p>
            <a:pPr marL="514350" indent="-514350">
              <a:buFont typeface="+mj-lt"/>
              <a:buAutoNum type="arabicPeriod"/>
            </a:pPr>
            <a:r>
              <a:rPr lang="en-US"/>
              <a:t>The assumption that papers a carefully curated relevant papers are available, is idealistic in realistic scenarios.</a:t>
            </a:r>
          </a:p>
          <a:p>
            <a:pPr marL="514350" indent="-514350">
              <a:buFont typeface="+mj-lt"/>
              <a:buAutoNum type="arabicPeriod"/>
            </a:pPr>
            <a:r>
              <a:rPr lang="en-US"/>
              <a:t>Table captions are not appropriate as task prompts. </a:t>
            </a:r>
          </a:p>
          <a:p>
            <a:pPr marL="514350" indent="-514350">
              <a:buFont typeface="+mj-lt"/>
              <a:buAutoNum type="arabicPeriod"/>
            </a:pPr>
            <a:r>
              <a:rPr lang="en-US" b="1"/>
              <a:t>Rely on static embedding and human annotation to evaluate generated tables.</a:t>
            </a:r>
          </a:p>
          <a:p>
            <a:endParaRPr lang="en-US"/>
          </a:p>
        </p:txBody>
      </p:sp>
      <p:sp>
        <p:nvSpPr>
          <p:cNvPr id="4" name="Slide Number Placeholder 3">
            <a:extLst>
              <a:ext uri="{FF2B5EF4-FFF2-40B4-BE49-F238E27FC236}">
                <a16:creationId xmlns:a16="http://schemas.microsoft.com/office/drawing/2014/main" id="{F5B2BEF7-DCDC-F664-D85B-F7CB010ABCD8}"/>
              </a:ext>
            </a:extLst>
          </p:cNvPr>
          <p:cNvSpPr>
            <a:spLocks noGrp="1"/>
          </p:cNvSpPr>
          <p:nvPr>
            <p:ph type="sldNum" sz="quarter" idx="12"/>
          </p:nvPr>
        </p:nvSpPr>
        <p:spPr/>
        <p:txBody>
          <a:bodyPr/>
          <a:lstStyle/>
          <a:p>
            <a:fld id="{89C5782D-9F4E-41B2-BEC2-7E61B408EA47}" type="slidenum">
              <a:rPr lang="en-US" smtClean="0"/>
              <a:t>16</a:t>
            </a:fld>
            <a:endParaRPr lang="en-US"/>
          </a:p>
        </p:txBody>
      </p:sp>
    </p:spTree>
    <p:extLst>
      <p:ext uri="{BB962C8B-B14F-4D97-AF65-F5344CB8AC3E}">
        <p14:creationId xmlns:p14="http://schemas.microsoft.com/office/powerpoint/2010/main" val="3500216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64F1195-4318-CDCA-4622-508D26B3A367}"/>
              </a:ext>
            </a:extLst>
          </p:cNvPr>
          <p:cNvGraphicFramePr>
            <a:graphicFrameLocks noGrp="1"/>
          </p:cNvGraphicFramePr>
          <p:nvPr/>
        </p:nvGraphicFramePr>
        <p:xfrm>
          <a:off x="4341458" y="119059"/>
          <a:ext cx="5385384" cy="1645920"/>
        </p:xfrm>
        <a:graphic>
          <a:graphicData uri="http://schemas.openxmlformats.org/drawingml/2006/table">
            <a:tbl>
              <a:tblPr firstRow="1" bandRow="1">
                <a:tableStyleId>{1FECB4D8-DB02-4DC6-A0A2-4F2EBAE1DC90}</a:tableStyleId>
              </a:tblPr>
              <a:tblGrid>
                <a:gridCol w="1288435">
                  <a:extLst>
                    <a:ext uri="{9D8B030D-6E8A-4147-A177-3AD203B41FA5}">
                      <a16:colId xmlns:a16="http://schemas.microsoft.com/office/drawing/2014/main" val="2640610835"/>
                    </a:ext>
                  </a:extLst>
                </a:gridCol>
                <a:gridCol w="1404257">
                  <a:extLst>
                    <a:ext uri="{9D8B030D-6E8A-4147-A177-3AD203B41FA5}">
                      <a16:colId xmlns:a16="http://schemas.microsoft.com/office/drawing/2014/main" val="1595008830"/>
                    </a:ext>
                  </a:extLst>
                </a:gridCol>
                <a:gridCol w="1346346">
                  <a:extLst>
                    <a:ext uri="{9D8B030D-6E8A-4147-A177-3AD203B41FA5}">
                      <a16:colId xmlns:a16="http://schemas.microsoft.com/office/drawing/2014/main" val="617729621"/>
                    </a:ext>
                  </a:extLst>
                </a:gridCol>
                <a:gridCol w="1346346">
                  <a:extLst>
                    <a:ext uri="{9D8B030D-6E8A-4147-A177-3AD203B41FA5}">
                      <a16:colId xmlns:a16="http://schemas.microsoft.com/office/drawing/2014/main" val="22395726"/>
                    </a:ext>
                  </a:extLst>
                </a:gridCol>
              </a:tblGrid>
              <a:tr h="329334">
                <a:tc>
                  <a:txBody>
                    <a:bodyPr/>
                    <a:lstStyle/>
                    <a:p>
                      <a:r>
                        <a:rPr lang="en-US" i="1">
                          <a:latin typeface="Times" pitchFamily="2" charset="0"/>
                        </a:rPr>
                        <a:t>CBFIR Networks</a:t>
                      </a:r>
                    </a:p>
                  </a:txBody>
                  <a:tcPr/>
                </a:tc>
                <a:tc>
                  <a:txBody>
                    <a:bodyPr/>
                    <a:lstStyle/>
                    <a:p>
                      <a:r>
                        <a:rPr lang="en-US" i="1">
                          <a:latin typeface="Times" pitchFamily="2" charset="0"/>
                        </a:rPr>
                        <a:t>Datasets</a:t>
                      </a:r>
                    </a:p>
                  </a:txBody>
                  <a:tcPr/>
                </a:tc>
                <a:tc>
                  <a:txBody>
                    <a:bodyPr/>
                    <a:lstStyle/>
                    <a:p>
                      <a:r>
                        <a:rPr lang="en-US" i="1">
                          <a:latin typeface="Times" pitchFamily="2" charset="0"/>
                        </a:rPr>
                        <a:t>Evaluation Metrics</a:t>
                      </a:r>
                    </a:p>
                  </a:txBody>
                  <a:tcPr/>
                </a:tc>
                <a:tc>
                  <a:txBody>
                    <a:bodyPr/>
                    <a:lstStyle/>
                    <a:p>
                      <a:r>
                        <a:rPr lang="en-US" i="1">
                          <a:latin typeface="Times" pitchFamily="2" charset="0"/>
                        </a:rPr>
                        <a:t>Loss Function</a:t>
                      </a:r>
                    </a:p>
                  </a:txBody>
                  <a:tcPr/>
                </a:tc>
                <a:extLst>
                  <a:ext uri="{0D108BD9-81ED-4DB2-BD59-A6C34878D82A}">
                    <a16:rowId xmlns:a16="http://schemas.microsoft.com/office/drawing/2014/main" val="2639143297"/>
                  </a:ext>
                </a:extLst>
              </a:tr>
              <a:tr h="329334">
                <a:tc>
                  <a:txBody>
                    <a:bodyPr/>
                    <a:lstStyle/>
                    <a:p>
                      <a:r>
                        <a:rPr lang="en-US" sz="1600" i="1">
                          <a:latin typeface="Times" pitchFamily="2" charset="0"/>
                        </a:rPr>
                        <a:t>GAN</a:t>
                      </a:r>
                    </a:p>
                  </a:txBody>
                  <a:tcPr/>
                </a:tc>
                <a:tc>
                  <a:txBody>
                    <a:bodyPr/>
                    <a:lstStyle/>
                    <a:p>
                      <a:r>
                        <a:rPr lang="en-US" sz="1600" i="1">
                          <a:latin typeface="Times" pitchFamily="2" charset="0"/>
                        </a:rPr>
                        <a:t>DARN</a:t>
                      </a:r>
                    </a:p>
                  </a:txBody>
                  <a:tcPr/>
                </a:tc>
                <a:tc>
                  <a:txBody>
                    <a:bodyPr/>
                    <a:lstStyle/>
                    <a:p>
                      <a:r>
                        <a:rPr lang="en-US" sz="1600" i="1">
                          <a:latin typeface="Times" pitchFamily="2" charset="0"/>
                        </a:rPr>
                        <a:t>Recall@1</a:t>
                      </a:r>
                    </a:p>
                  </a:txBody>
                  <a:tcPr/>
                </a:tc>
                <a:tc>
                  <a:txBody>
                    <a:bodyPr/>
                    <a:lstStyle/>
                    <a:p>
                      <a:r>
                        <a:rPr lang="en-US" sz="1600" i="1">
                          <a:latin typeface="Times" pitchFamily="2" charset="0"/>
                        </a:rPr>
                        <a:t>TL, AL</a:t>
                      </a:r>
                    </a:p>
                  </a:txBody>
                  <a:tcPr/>
                </a:tc>
                <a:extLst>
                  <a:ext uri="{0D108BD9-81ED-4DB2-BD59-A6C34878D82A}">
                    <a16:rowId xmlns:a16="http://schemas.microsoft.com/office/drawing/2014/main" val="3457608485"/>
                  </a:ext>
                </a:extLst>
              </a:tr>
              <a:tr h="329334">
                <a:tc>
                  <a:txBody>
                    <a:bodyPr/>
                    <a:lstStyle/>
                    <a:p>
                      <a:r>
                        <a:rPr lang="en-US" sz="1600" i="1">
                          <a:latin typeface="Times" pitchFamily="2" charset="0"/>
                        </a:rPr>
                        <a:t>CN-</a:t>
                      </a:r>
                      <a:r>
                        <a:rPr lang="en-US" sz="1600" i="1" err="1">
                          <a:latin typeface="Times" pitchFamily="2" charset="0"/>
                        </a:rPr>
                        <a:t>LexNet</a:t>
                      </a:r>
                      <a:endParaRPr lang="en-US" sz="1600" i="1">
                        <a:latin typeface="Times" pitchFamily="2" charset="0"/>
                      </a:endParaRPr>
                    </a:p>
                  </a:txBody>
                  <a:tcPr/>
                </a:tc>
                <a:tc>
                  <a:txBody>
                    <a:bodyPr/>
                    <a:lstStyle/>
                    <a:p>
                      <a:r>
                        <a:rPr lang="en-US" sz="1400" i="1">
                          <a:latin typeface="Times" pitchFamily="2" charset="0"/>
                        </a:rPr>
                        <a:t>Shopping100K</a:t>
                      </a:r>
                    </a:p>
                  </a:txBody>
                  <a:tcPr/>
                </a:tc>
                <a:tc>
                  <a:txBody>
                    <a:bodyPr/>
                    <a:lstStyle/>
                    <a:p>
                      <a:r>
                        <a:rPr lang="en-US" sz="1600" i="1">
                          <a:latin typeface="Times" pitchFamily="2" charset="0"/>
                        </a:rPr>
                        <a:t>Recall@20</a:t>
                      </a:r>
                    </a:p>
                  </a:txBody>
                  <a:tcPr/>
                </a:tc>
                <a:tc>
                  <a:txBody>
                    <a:bodyPr/>
                    <a:lstStyle/>
                    <a:p>
                      <a:r>
                        <a:rPr lang="en-US" sz="1600" i="1">
                          <a:latin typeface="Times" pitchFamily="2" charset="0"/>
                        </a:rPr>
                        <a:t>CL, TL</a:t>
                      </a:r>
                    </a:p>
                  </a:txBody>
                  <a:tcPr/>
                </a:tc>
                <a:extLst>
                  <a:ext uri="{0D108BD9-81ED-4DB2-BD59-A6C34878D82A}">
                    <a16:rowId xmlns:a16="http://schemas.microsoft.com/office/drawing/2014/main" val="1318391071"/>
                  </a:ext>
                </a:extLst>
              </a:tr>
              <a:tr h="321978">
                <a:tc>
                  <a:txBody>
                    <a:bodyPr/>
                    <a:lstStyle/>
                    <a:p>
                      <a:r>
                        <a:rPr lang="en-US" sz="1600" i="1">
                          <a:latin typeface="Times" pitchFamily="2" charset="0"/>
                        </a:rPr>
                        <a:t>ResNet-v2</a:t>
                      </a:r>
                    </a:p>
                  </a:txBody>
                  <a:tcPr/>
                </a:tc>
                <a:tc>
                  <a:txBody>
                    <a:bodyPr/>
                    <a:lstStyle/>
                    <a:p>
                      <a:r>
                        <a:rPr lang="en-US" sz="1600" b="0" i="1" kern="1200" err="1">
                          <a:solidFill>
                            <a:schemeClr val="dk1"/>
                          </a:solidFill>
                          <a:effectLst/>
                          <a:latin typeface="Times" pitchFamily="2" charset="0"/>
                          <a:ea typeface="+mn-ea"/>
                          <a:cs typeface="+mn-cs"/>
                        </a:rPr>
                        <a:t>DeepFashion</a:t>
                      </a:r>
                      <a:endParaRPr lang="en-US" sz="1600" i="1">
                        <a:latin typeface="Times" pitchFamily="2" charset="0"/>
                      </a:endParaRPr>
                    </a:p>
                  </a:txBody>
                  <a:tcPr/>
                </a:tc>
                <a:tc>
                  <a:txBody>
                    <a:bodyPr/>
                    <a:lstStyle/>
                    <a:p>
                      <a:r>
                        <a:rPr lang="en-US" sz="1600" i="1">
                          <a:latin typeface="Times" pitchFamily="2" charset="0"/>
                        </a:rPr>
                        <a:t>Recall@1,10</a:t>
                      </a:r>
                    </a:p>
                  </a:txBody>
                  <a:tcPr/>
                </a:tc>
                <a:tc>
                  <a:txBody>
                    <a:bodyPr/>
                    <a:lstStyle/>
                    <a:p>
                      <a:r>
                        <a:rPr lang="en-US" sz="1600" i="1">
                          <a:latin typeface="Times" pitchFamily="2" charset="0"/>
                        </a:rPr>
                        <a:t>BCE Loss</a:t>
                      </a:r>
                    </a:p>
                  </a:txBody>
                  <a:tcPr/>
                </a:tc>
                <a:extLst>
                  <a:ext uri="{0D108BD9-81ED-4DB2-BD59-A6C34878D82A}">
                    <a16:rowId xmlns:a16="http://schemas.microsoft.com/office/drawing/2014/main" val="1631004287"/>
                  </a:ext>
                </a:extLst>
              </a:tr>
            </a:tbl>
          </a:graphicData>
        </a:graphic>
      </p:graphicFrame>
      <p:graphicFrame>
        <p:nvGraphicFramePr>
          <p:cNvPr id="8" name="Table 7">
            <a:extLst>
              <a:ext uri="{FF2B5EF4-FFF2-40B4-BE49-F238E27FC236}">
                <a16:creationId xmlns:a16="http://schemas.microsoft.com/office/drawing/2014/main" id="{A96B6FAA-2B0B-B941-7954-F346C3FFC21F}"/>
              </a:ext>
            </a:extLst>
          </p:cNvPr>
          <p:cNvGraphicFramePr>
            <a:graphicFrameLocks noGrp="1"/>
          </p:cNvGraphicFramePr>
          <p:nvPr/>
        </p:nvGraphicFramePr>
        <p:xfrm>
          <a:off x="4365210" y="5072961"/>
          <a:ext cx="5555467" cy="1645920"/>
        </p:xfrm>
        <a:graphic>
          <a:graphicData uri="http://schemas.openxmlformats.org/drawingml/2006/table">
            <a:tbl>
              <a:tblPr firstRow="1" bandRow="1">
                <a:tableStyleId>{B301B821-A1FF-4177-AEE7-76D212191A09}</a:tableStyleId>
              </a:tblPr>
              <a:tblGrid>
                <a:gridCol w="1249311">
                  <a:extLst>
                    <a:ext uri="{9D8B030D-6E8A-4147-A177-3AD203B41FA5}">
                      <a16:colId xmlns:a16="http://schemas.microsoft.com/office/drawing/2014/main" val="2640610835"/>
                    </a:ext>
                  </a:extLst>
                </a:gridCol>
                <a:gridCol w="1146447">
                  <a:extLst>
                    <a:ext uri="{9D8B030D-6E8A-4147-A177-3AD203B41FA5}">
                      <a16:colId xmlns:a16="http://schemas.microsoft.com/office/drawing/2014/main" val="1595008830"/>
                    </a:ext>
                  </a:extLst>
                </a:gridCol>
                <a:gridCol w="1124679">
                  <a:extLst>
                    <a:ext uri="{9D8B030D-6E8A-4147-A177-3AD203B41FA5}">
                      <a16:colId xmlns:a16="http://schemas.microsoft.com/office/drawing/2014/main" val="617729621"/>
                    </a:ext>
                  </a:extLst>
                </a:gridCol>
                <a:gridCol w="2035030">
                  <a:extLst>
                    <a:ext uri="{9D8B030D-6E8A-4147-A177-3AD203B41FA5}">
                      <a16:colId xmlns:a16="http://schemas.microsoft.com/office/drawing/2014/main" val="22395726"/>
                    </a:ext>
                  </a:extLst>
                </a:gridCol>
              </a:tblGrid>
              <a:tr h="329334">
                <a:tc>
                  <a:txBody>
                    <a:bodyPr/>
                    <a:lstStyle/>
                    <a:p>
                      <a:r>
                        <a:rPr lang="en-US" i="1">
                          <a:latin typeface="Times" pitchFamily="2" charset="0"/>
                        </a:rPr>
                        <a:t>Backbone Model</a:t>
                      </a:r>
                    </a:p>
                  </a:txBody>
                  <a:tcPr/>
                </a:tc>
                <a:tc>
                  <a:txBody>
                    <a:bodyPr/>
                    <a:lstStyle/>
                    <a:p>
                      <a:r>
                        <a:rPr lang="en-US" i="1">
                          <a:latin typeface="Times" pitchFamily="2" charset="0"/>
                        </a:rPr>
                        <a:t>Losses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i="1">
                          <a:latin typeface="Times" pitchFamily="2" charset="0"/>
                        </a:rPr>
                        <a:t>Attributes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i="1">
                          <a:latin typeface="Times" pitchFamily="2" charset="0"/>
                        </a:rPr>
                        <a:t>Datasets</a:t>
                      </a:r>
                    </a:p>
                    <a:p>
                      <a:endParaRPr lang="en-US" i="1">
                        <a:latin typeface="Times" pitchFamily="2" charset="0"/>
                      </a:endParaRPr>
                    </a:p>
                  </a:txBody>
                  <a:tcPr/>
                </a:tc>
                <a:extLst>
                  <a:ext uri="{0D108BD9-81ED-4DB2-BD59-A6C34878D82A}">
                    <a16:rowId xmlns:a16="http://schemas.microsoft.com/office/drawing/2014/main" val="2639143297"/>
                  </a:ext>
                </a:extLst>
              </a:tr>
              <a:tr h="329334">
                <a:tc>
                  <a:txBody>
                    <a:bodyPr/>
                    <a:lstStyle/>
                    <a:p>
                      <a:pPr marL="0" algn="l" defTabSz="917966" rtl="0" eaLnBrk="1" latinLnBrk="0" hangingPunct="1"/>
                      <a:r>
                        <a:rPr lang="en-US" sz="1600" i="1" kern="1200">
                          <a:solidFill>
                            <a:schemeClr val="dk1"/>
                          </a:solidFill>
                          <a:latin typeface="Times" pitchFamily="2" charset="0"/>
                          <a:ea typeface="+mn-ea"/>
                          <a:cs typeface="+mn-cs"/>
                        </a:rPr>
                        <a:t>GAN</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TL+AL</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Shape</a:t>
                      </a:r>
                    </a:p>
                  </a:txBody>
                  <a:tcPr/>
                </a:tc>
                <a:tc>
                  <a:txBody>
                    <a:bodyPr/>
                    <a:lstStyle/>
                    <a:p>
                      <a:r>
                        <a:rPr lang="en-US" sz="1600" i="1">
                          <a:latin typeface="Times" pitchFamily="2" charset="0"/>
                        </a:rPr>
                        <a:t>DARN Color</a:t>
                      </a:r>
                    </a:p>
                  </a:txBody>
                  <a:tcPr/>
                </a:tc>
                <a:extLst>
                  <a:ext uri="{0D108BD9-81ED-4DB2-BD59-A6C34878D82A}">
                    <a16:rowId xmlns:a16="http://schemas.microsoft.com/office/drawing/2014/main" val="3457608485"/>
                  </a:ext>
                </a:extLst>
              </a:tr>
              <a:tr h="329334">
                <a:tc>
                  <a:txBody>
                    <a:bodyPr/>
                    <a:lstStyle/>
                    <a:p>
                      <a:pPr marL="0" algn="l" defTabSz="917966" rtl="0" eaLnBrk="1" latinLnBrk="0" hangingPunct="1"/>
                      <a:r>
                        <a:rPr lang="en-US" sz="1600" i="1" kern="1200" err="1">
                          <a:solidFill>
                            <a:schemeClr val="dk1"/>
                          </a:solidFill>
                          <a:latin typeface="Times" pitchFamily="2" charset="0"/>
                          <a:ea typeface="+mn-ea"/>
                          <a:cs typeface="+mn-cs"/>
                        </a:rPr>
                        <a:t>CNLexNet</a:t>
                      </a:r>
                      <a:endParaRPr lang="en-US" sz="1600" i="1" kern="1200">
                        <a:solidFill>
                          <a:schemeClr val="dk1"/>
                        </a:solidFill>
                        <a:latin typeface="Times" pitchFamily="2" charset="0"/>
                        <a:ea typeface="+mn-ea"/>
                        <a:cs typeface="+mn-cs"/>
                      </a:endParaRP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CL+TL</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Various</a:t>
                      </a:r>
                    </a:p>
                  </a:txBody>
                  <a:tcPr/>
                </a:tc>
                <a:tc>
                  <a:txBody>
                    <a:bodyPr/>
                    <a:lstStyle/>
                    <a:p>
                      <a:r>
                        <a:rPr lang="en-US" sz="1600" i="1">
                          <a:latin typeface="Times" pitchFamily="2" charset="0"/>
                        </a:rPr>
                        <a:t>Consumer-to-Shop</a:t>
                      </a:r>
                    </a:p>
                  </a:txBody>
                  <a:tcPr/>
                </a:tc>
                <a:extLst>
                  <a:ext uri="{0D108BD9-81ED-4DB2-BD59-A6C34878D82A}">
                    <a16:rowId xmlns:a16="http://schemas.microsoft.com/office/drawing/2014/main" val="1318391071"/>
                  </a:ext>
                </a:extLst>
              </a:tr>
              <a:tr h="329334">
                <a:tc>
                  <a:txBody>
                    <a:bodyPr/>
                    <a:lstStyle/>
                    <a:p>
                      <a:pPr marL="0" algn="l" defTabSz="917966" rtl="0" eaLnBrk="1" latinLnBrk="0" hangingPunct="1"/>
                      <a:r>
                        <a:rPr lang="en-US" sz="1600" i="1" kern="1200" err="1">
                          <a:solidFill>
                            <a:schemeClr val="dk1"/>
                          </a:solidFill>
                          <a:latin typeface="Times" pitchFamily="2" charset="0"/>
                          <a:ea typeface="+mn-ea"/>
                          <a:cs typeface="+mn-cs"/>
                        </a:rPr>
                        <a:t>ResNet</a:t>
                      </a:r>
                      <a:endParaRPr lang="en-US" sz="1600" i="1" kern="1200">
                        <a:solidFill>
                          <a:schemeClr val="dk1"/>
                        </a:solidFill>
                        <a:latin typeface="Times" pitchFamily="2" charset="0"/>
                        <a:ea typeface="+mn-ea"/>
                        <a:cs typeface="+mn-cs"/>
                      </a:endParaRP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Landmark</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Various</a:t>
                      </a:r>
                    </a:p>
                  </a:txBody>
                  <a:tcPr/>
                </a:tc>
                <a:tc>
                  <a:txBody>
                    <a:bodyPr/>
                    <a:lstStyle/>
                    <a:p>
                      <a:r>
                        <a:rPr lang="en-US" sz="1600" i="1" err="1">
                          <a:latin typeface="Times" pitchFamily="2" charset="0"/>
                        </a:rPr>
                        <a:t>DeepFashion</a:t>
                      </a:r>
                      <a:endParaRPr lang="en-US" sz="1600" i="1">
                        <a:latin typeface="Times" pitchFamily="2" charset="0"/>
                      </a:endParaRPr>
                    </a:p>
                  </a:txBody>
                  <a:tcPr/>
                </a:tc>
                <a:extLst>
                  <a:ext uri="{0D108BD9-81ED-4DB2-BD59-A6C34878D82A}">
                    <a16:rowId xmlns:a16="http://schemas.microsoft.com/office/drawing/2014/main" val="1631004287"/>
                  </a:ext>
                </a:extLst>
              </a:tr>
            </a:tbl>
          </a:graphicData>
        </a:graphic>
      </p:graphicFrame>
      <p:sp>
        <p:nvSpPr>
          <p:cNvPr id="9" name="TextBox 8">
            <a:extLst>
              <a:ext uri="{FF2B5EF4-FFF2-40B4-BE49-F238E27FC236}">
                <a16:creationId xmlns:a16="http://schemas.microsoft.com/office/drawing/2014/main" id="{994747C5-900E-0CB0-FF8E-735C0358A036}"/>
              </a:ext>
            </a:extLst>
          </p:cNvPr>
          <p:cNvSpPr txBox="1"/>
          <p:nvPr/>
        </p:nvSpPr>
        <p:spPr>
          <a:xfrm>
            <a:off x="9726842" y="633553"/>
            <a:ext cx="2002834" cy="707886"/>
          </a:xfrm>
          <a:prstGeom prst="rect">
            <a:avLst/>
          </a:prstGeom>
          <a:noFill/>
        </p:spPr>
        <p:txBody>
          <a:bodyPr wrap="square" rtlCol="0">
            <a:spAutoFit/>
          </a:bodyPr>
          <a:lstStyle/>
          <a:p>
            <a:pPr algn="ctr"/>
            <a:r>
              <a:rPr lang="en-US" sz="2000" b="1" i="1">
                <a:solidFill>
                  <a:srgbClr val="C00000"/>
                </a:solidFill>
                <a:latin typeface="Aptos" panose="020B0004020202020204" pitchFamily="34" charset="0"/>
              </a:rPr>
              <a:t>Ground-truth Table</a:t>
            </a:r>
          </a:p>
        </p:txBody>
      </p:sp>
      <p:sp>
        <p:nvSpPr>
          <p:cNvPr id="10" name="TextBox 9">
            <a:extLst>
              <a:ext uri="{FF2B5EF4-FFF2-40B4-BE49-F238E27FC236}">
                <a16:creationId xmlns:a16="http://schemas.microsoft.com/office/drawing/2014/main" id="{26CDC414-BB5C-661D-61F6-31D44D32EA01}"/>
              </a:ext>
            </a:extLst>
          </p:cNvPr>
          <p:cNvSpPr txBox="1"/>
          <p:nvPr/>
        </p:nvSpPr>
        <p:spPr>
          <a:xfrm>
            <a:off x="9923466" y="5677904"/>
            <a:ext cx="1741984" cy="707886"/>
          </a:xfrm>
          <a:prstGeom prst="rect">
            <a:avLst/>
          </a:prstGeom>
          <a:noFill/>
        </p:spPr>
        <p:txBody>
          <a:bodyPr wrap="square" rtlCol="0">
            <a:spAutoFit/>
          </a:bodyPr>
          <a:lstStyle>
            <a:defPPr>
              <a:defRPr lang="en-US"/>
            </a:defPPr>
            <a:lvl1pPr algn="ctr">
              <a:defRPr sz="1400" i="1">
                <a:solidFill>
                  <a:srgbClr val="C00000"/>
                </a:solidFill>
                <a:latin typeface="Comic Sans MS" panose="030F0702030302020204" pitchFamily="66" charset="0"/>
              </a:defRPr>
            </a:lvl1pPr>
          </a:lstStyle>
          <a:p>
            <a:r>
              <a:rPr lang="en-US" sz="2000" b="1">
                <a:latin typeface="Aptos" panose="020B0004020202020204" pitchFamily="34" charset="0"/>
              </a:rPr>
              <a:t>Generated Table</a:t>
            </a:r>
          </a:p>
        </p:txBody>
      </p:sp>
      <p:sp>
        <p:nvSpPr>
          <p:cNvPr id="2" name="Slide Number Placeholder 1">
            <a:extLst>
              <a:ext uri="{FF2B5EF4-FFF2-40B4-BE49-F238E27FC236}">
                <a16:creationId xmlns:a16="http://schemas.microsoft.com/office/drawing/2014/main" id="{009673DF-CC51-C0C9-C348-02B0C680FD2F}"/>
              </a:ext>
            </a:extLst>
          </p:cNvPr>
          <p:cNvSpPr>
            <a:spLocks noGrp="1"/>
          </p:cNvSpPr>
          <p:nvPr>
            <p:ph type="sldNum" sz="quarter" idx="12"/>
          </p:nvPr>
        </p:nvSpPr>
        <p:spPr/>
        <p:txBody>
          <a:bodyPr/>
          <a:lstStyle/>
          <a:p>
            <a:fld id="{89C5782D-9F4E-41B2-BEC2-7E61B408EA47}" type="slidenum">
              <a:rPr lang="en-US" smtClean="0"/>
              <a:t>17</a:t>
            </a:fld>
            <a:endParaRPr lang="en-US"/>
          </a:p>
        </p:txBody>
      </p:sp>
      <p:sp>
        <p:nvSpPr>
          <p:cNvPr id="3" name="TextBox 2">
            <a:extLst>
              <a:ext uri="{FF2B5EF4-FFF2-40B4-BE49-F238E27FC236}">
                <a16:creationId xmlns:a16="http://schemas.microsoft.com/office/drawing/2014/main" id="{F2067D67-270C-63D1-B41A-CFD9A2D2F999}"/>
              </a:ext>
            </a:extLst>
          </p:cNvPr>
          <p:cNvSpPr txBox="1"/>
          <p:nvPr/>
        </p:nvSpPr>
        <p:spPr>
          <a:xfrm>
            <a:off x="286718" y="550190"/>
            <a:ext cx="2877673" cy="923330"/>
          </a:xfrm>
          <a:prstGeom prst="rect">
            <a:avLst/>
          </a:prstGeom>
          <a:noFill/>
        </p:spPr>
        <p:txBody>
          <a:bodyPr wrap="square" rtlCol="0">
            <a:spAutoFit/>
          </a:bodyPr>
          <a:lstStyle/>
          <a:p>
            <a:r>
              <a:rPr lang="en-US"/>
              <a:t>Originally, we have a ground-truth table extracted from a paper</a:t>
            </a:r>
          </a:p>
        </p:txBody>
      </p:sp>
      <p:sp>
        <p:nvSpPr>
          <p:cNvPr id="17" name="TextBox 16">
            <a:extLst>
              <a:ext uri="{FF2B5EF4-FFF2-40B4-BE49-F238E27FC236}">
                <a16:creationId xmlns:a16="http://schemas.microsoft.com/office/drawing/2014/main" id="{1E3561D9-0EBC-D144-26CC-84E3517BA696}"/>
              </a:ext>
            </a:extLst>
          </p:cNvPr>
          <p:cNvSpPr txBox="1"/>
          <p:nvPr/>
        </p:nvSpPr>
        <p:spPr>
          <a:xfrm>
            <a:off x="286719" y="5572755"/>
            <a:ext cx="2877673" cy="646331"/>
          </a:xfrm>
          <a:prstGeom prst="rect">
            <a:avLst/>
          </a:prstGeom>
          <a:noFill/>
        </p:spPr>
        <p:txBody>
          <a:bodyPr wrap="square" rtlCol="0">
            <a:spAutoFit/>
          </a:bodyPr>
          <a:lstStyle/>
          <a:p>
            <a:r>
              <a:rPr lang="en-US"/>
              <a:t>Then, we have a table that is generated by an LLM</a:t>
            </a:r>
          </a:p>
        </p:txBody>
      </p:sp>
      <p:sp>
        <p:nvSpPr>
          <p:cNvPr id="18" name="TextBox 17">
            <a:extLst>
              <a:ext uri="{FF2B5EF4-FFF2-40B4-BE49-F238E27FC236}">
                <a16:creationId xmlns:a16="http://schemas.microsoft.com/office/drawing/2014/main" id="{5364AFBD-558C-A2B5-BEBE-B5E2CCC91DF8}"/>
              </a:ext>
            </a:extLst>
          </p:cNvPr>
          <p:cNvSpPr txBox="1"/>
          <p:nvPr/>
        </p:nvSpPr>
        <p:spPr>
          <a:xfrm>
            <a:off x="281546" y="2047297"/>
            <a:ext cx="2877673" cy="923330"/>
          </a:xfrm>
          <a:prstGeom prst="rect">
            <a:avLst/>
          </a:prstGeom>
          <a:noFill/>
        </p:spPr>
        <p:txBody>
          <a:bodyPr wrap="square" rtlCol="0">
            <a:spAutoFit/>
          </a:bodyPr>
          <a:lstStyle/>
          <a:p>
            <a:r>
              <a:rPr lang="en-US"/>
              <a:t>We synthesize QA pairs from the ground-truth table about schema and values</a:t>
            </a:r>
          </a:p>
        </p:txBody>
      </p:sp>
      <p:sp>
        <p:nvSpPr>
          <p:cNvPr id="20" name="TextBox 19">
            <a:extLst>
              <a:ext uri="{FF2B5EF4-FFF2-40B4-BE49-F238E27FC236}">
                <a16:creationId xmlns:a16="http://schemas.microsoft.com/office/drawing/2014/main" id="{7E17B1C3-881E-FF53-5911-FA9A4F097CFA}"/>
              </a:ext>
            </a:extLst>
          </p:cNvPr>
          <p:cNvSpPr txBox="1"/>
          <p:nvPr/>
        </p:nvSpPr>
        <p:spPr>
          <a:xfrm>
            <a:off x="280417" y="3785304"/>
            <a:ext cx="2877673" cy="923330"/>
          </a:xfrm>
          <a:prstGeom prst="rect">
            <a:avLst/>
          </a:prstGeom>
          <a:noFill/>
        </p:spPr>
        <p:txBody>
          <a:bodyPr wrap="square" rtlCol="0">
            <a:spAutoFit/>
          </a:bodyPr>
          <a:lstStyle/>
          <a:p>
            <a:r>
              <a:rPr lang="en-US"/>
              <a:t>Then, we ask an LLM to answer these QAs based on the generated table</a:t>
            </a:r>
          </a:p>
        </p:txBody>
      </p:sp>
      <p:sp>
        <p:nvSpPr>
          <p:cNvPr id="32" name="TextBox 31">
            <a:extLst>
              <a:ext uri="{FF2B5EF4-FFF2-40B4-BE49-F238E27FC236}">
                <a16:creationId xmlns:a16="http://schemas.microsoft.com/office/drawing/2014/main" id="{9F287F47-5BFC-58B5-D056-171F496C61F0}"/>
              </a:ext>
            </a:extLst>
          </p:cNvPr>
          <p:cNvSpPr txBox="1"/>
          <p:nvPr/>
        </p:nvSpPr>
        <p:spPr>
          <a:xfrm>
            <a:off x="3625989" y="2284224"/>
            <a:ext cx="2088952" cy="923330"/>
          </a:xfrm>
          <a:prstGeom prst="rect">
            <a:avLst/>
          </a:prstGeom>
          <a:solidFill>
            <a:schemeClr val="bg1">
              <a:lumMod val="95000"/>
            </a:schemeClr>
          </a:solidFill>
        </p:spPr>
        <p:txBody>
          <a:bodyPr wrap="square" lIns="0" rIns="0">
            <a:spAutoFit/>
          </a:bodyPr>
          <a:lstStyle/>
          <a:p>
            <a:pPr algn="ctr"/>
            <a:r>
              <a:rPr lang="en-US">
                <a:solidFill>
                  <a:srgbClr val="C00000"/>
                </a:solidFill>
              </a:rPr>
              <a:t>table </a:t>
            </a:r>
            <a:r>
              <a:rPr lang="en-US" b="1">
                <a:solidFill>
                  <a:srgbClr val="C00000"/>
                </a:solidFill>
              </a:rPr>
              <a:t>schema</a:t>
            </a:r>
            <a:r>
              <a:rPr lang="en-US">
                <a:solidFill>
                  <a:schemeClr val="tx1"/>
                </a:solidFill>
              </a:rPr>
              <a:t>: </a:t>
            </a:r>
            <a:r>
              <a:rPr lang="en-US"/>
              <a:t> </a:t>
            </a:r>
          </a:p>
          <a:p>
            <a:pPr algn="ctr"/>
            <a:r>
              <a:rPr lang="en-US" sz="1800" i="1">
                <a:solidFill>
                  <a:schemeClr val="tx1"/>
                </a:solidFill>
                <a:latin typeface="Times" pitchFamily="2" charset="0"/>
              </a:rPr>
              <a:t>Is </a:t>
            </a:r>
            <a:r>
              <a:rPr lang="en-US" sz="1800" b="1" i="1">
                <a:solidFill>
                  <a:schemeClr val="accent6">
                    <a:lumMod val="50000"/>
                  </a:schemeClr>
                </a:solidFill>
                <a:latin typeface="Times" pitchFamily="2" charset="0"/>
              </a:rPr>
              <a:t>Dataset</a:t>
            </a:r>
            <a:r>
              <a:rPr lang="en-US" sz="1800" i="1">
                <a:solidFill>
                  <a:schemeClr val="tx1"/>
                </a:solidFill>
                <a:latin typeface="Times" pitchFamily="2" charset="0"/>
              </a:rPr>
              <a:t> included in the table schema?</a:t>
            </a:r>
          </a:p>
        </p:txBody>
      </p:sp>
      <p:sp>
        <p:nvSpPr>
          <p:cNvPr id="34" name="TextBox 33">
            <a:extLst>
              <a:ext uri="{FF2B5EF4-FFF2-40B4-BE49-F238E27FC236}">
                <a16:creationId xmlns:a16="http://schemas.microsoft.com/office/drawing/2014/main" id="{B0F3CEE5-3BE3-F566-F4C2-21C369344FAD}"/>
              </a:ext>
            </a:extLst>
          </p:cNvPr>
          <p:cNvSpPr txBox="1"/>
          <p:nvPr/>
        </p:nvSpPr>
        <p:spPr>
          <a:xfrm>
            <a:off x="5771407" y="2287854"/>
            <a:ext cx="2553194" cy="923330"/>
          </a:xfrm>
          <a:prstGeom prst="rect">
            <a:avLst/>
          </a:prstGeom>
          <a:solidFill>
            <a:schemeClr val="bg1">
              <a:lumMod val="95000"/>
            </a:schemeClr>
          </a:solidFill>
        </p:spPr>
        <p:txBody>
          <a:bodyPr wrap="square" lIns="0" rIns="0">
            <a:spAutoFit/>
          </a:bodyPr>
          <a:lstStyle/>
          <a:p>
            <a:pPr algn="ctr"/>
            <a:r>
              <a:rPr lang="en-US" b="1" i="1">
                <a:solidFill>
                  <a:srgbClr val="C00000"/>
                </a:solidFill>
              </a:rPr>
              <a:t>unary</a:t>
            </a:r>
            <a:r>
              <a:rPr lang="en-US" i="1">
                <a:solidFill>
                  <a:srgbClr val="C00000"/>
                </a:solidFill>
              </a:rPr>
              <a:t> (cell) values</a:t>
            </a:r>
            <a:r>
              <a:rPr lang="en-US">
                <a:solidFill>
                  <a:schemeClr val="tx1"/>
                </a:solidFill>
              </a:rPr>
              <a:t>:  </a:t>
            </a:r>
            <a:br>
              <a:rPr lang="en-US">
                <a:solidFill>
                  <a:schemeClr val="tx1"/>
                </a:solidFill>
              </a:rPr>
            </a:br>
            <a:r>
              <a:rPr lang="en-US" sz="1800" i="1">
                <a:solidFill>
                  <a:schemeClr val="tx1"/>
                </a:solidFill>
                <a:latin typeface="Times" pitchFamily="2" charset="0"/>
              </a:rPr>
              <a:t>Is </a:t>
            </a:r>
            <a:r>
              <a:rPr lang="en-US" sz="1800" b="1" i="1">
                <a:solidFill>
                  <a:schemeClr val="accent6">
                    <a:lumMod val="50000"/>
                  </a:schemeClr>
                </a:solidFill>
                <a:latin typeface="Times" pitchFamily="2" charset="0"/>
              </a:rPr>
              <a:t>CL, TL </a:t>
            </a:r>
            <a:r>
              <a:rPr lang="en-US" sz="1800" i="1">
                <a:solidFill>
                  <a:schemeClr val="tx1"/>
                </a:solidFill>
                <a:latin typeface="Times" pitchFamily="2" charset="0"/>
              </a:rPr>
              <a:t>the loss function for paper CN-</a:t>
            </a:r>
            <a:r>
              <a:rPr lang="en-US" sz="1800" i="1" err="1">
                <a:solidFill>
                  <a:schemeClr val="tx1"/>
                </a:solidFill>
                <a:latin typeface="Times" pitchFamily="2" charset="0"/>
              </a:rPr>
              <a:t>LexNet</a:t>
            </a:r>
            <a:r>
              <a:rPr lang="en-US" sz="1800" i="1">
                <a:solidFill>
                  <a:schemeClr val="tx1"/>
                </a:solidFill>
                <a:latin typeface="Times" pitchFamily="2" charset="0"/>
              </a:rPr>
              <a:t>?</a:t>
            </a:r>
          </a:p>
        </p:txBody>
      </p:sp>
      <p:sp>
        <p:nvSpPr>
          <p:cNvPr id="36" name="TextBox 35">
            <a:extLst>
              <a:ext uri="{FF2B5EF4-FFF2-40B4-BE49-F238E27FC236}">
                <a16:creationId xmlns:a16="http://schemas.microsoft.com/office/drawing/2014/main" id="{0113E892-C5BA-BD91-D2C2-577CCC773DA8}"/>
              </a:ext>
            </a:extLst>
          </p:cNvPr>
          <p:cNvSpPr txBox="1"/>
          <p:nvPr/>
        </p:nvSpPr>
        <p:spPr>
          <a:xfrm>
            <a:off x="8419604" y="2277306"/>
            <a:ext cx="3120069" cy="923330"/>
          </a:xfrm>
          <a:prstGeom prst="rect">
            <a:avLst/>
          </a:prstGeom>
          <a:solidFill>
            <a:schemeClr val="bg1">
              <a:lumMod val="95000"/>
            </a:schemeClr>
          </a:solidFill>
        </p:spPr>
        <p:txBody>
          <a:bodyPr wrap="square" lIns="0" rIns="0">
            <a:spAutoFit/>
          </a:bodyPr>
          <a:lstStyle/>
          <a:p>
            <a:pPr algn="ctr"/>
            <a:r>
              <a:rPr lang="en-US" b="1" i="1">
                <a:solidFill>
                  <a:srgbClr val="C00000"/>
                </a:solidFill>
              </a:rPr>
              <a:t>pairwise</a:t>
            </a:r>
            <a:r>
              <a:rPr lang="en-US" i="1">
                <a:solidFill>
                  <a:srgbClr val="C00000"/>
                </a:solidFill>
              </a:rPr>
              <a:t> comparisons</a:t>
            </a:r>
            <a:r>
              <a:rPr lang="en-US">
                <a:solidFill>
                  <a:schemeClr val="tx1"/>
                </a:solidFill>
              </a:rPr>
              <a:t>:  </a:t>
            </a:r>
            <a:br>
              <a:rPr lang="en-US">
                <a:solidFill>
                  <a:schemeClr val="tx1"/>
                </a:solidFill>
              </a:rPr>
            </a:br>
            <a:r>
              <a:rPr lang="en-US" sz="1800" i="1">
                <a:solidFill>
                  <a:schemeClr val="tx1"/>
                </a:solidFill>
                <a:latin typeface="Times" panose="02020603050405020304" pitchFamily="18" charset="0"/>
                <a:cs typeface="Times" panose="02020603050405020304" pitchFamily="18" charset="0"/>
              </a:rPr>
              <a:t>Is </a:t>
            </a:r>
            <a:r>
              <a:rPr lang="en-US" sz="1800" i="1" err="1">
                <a:solidFill>
                  <a:schemeClr val="tx1"/>
                </a:solidFill>
                <a:latin typeface="Times" panose="02020603050405020304" pitchFamily="18" charset="0"/>
                <a:cs typeface="Times" panose="02020603050405020304" pitchFamily="18" charset="0"/>
              </a:rPr>
              <a:t>ResNet</a:t>
            </a:r>
            <a:r>
              <a:rPr lang="en-US" sz="1800" i="1">
                <a:solidFill>
                  <a:schemeClr val="tx1"/>
                </a:solidFill>
                <a:latin typeface="Times" panose="02020603050405020304" pitchFamily="18" charset="0"/>
                <a:cs typeface="Times" panose="02020603050405020304" pitchFamily="18" charset="0"/>
              </a:rPr>
              <a:t> using </a:t>
            </a:r>
            <a:r>
              <a:rPr lang="en-US" sz="1800" b="1" i="1">
                <a:solidFill>
                  <a:schemeClr val="accent6">
                    <a:lumMod val="50000"/>
                  </a:schemeClr>
                </a:solidFill>
                <a:latin typeface="Times" panose="02020603050405020304" pitchFamily="18" charset="0"/>
                <a:cs typeface="Times" panose="02020603050405020304" pitchFamily="18" charset="0"/>
              </a:rPr>
              <a:t>more evaluation metrics</a:t>
            </a:r>
            <a:r>
              <a:rPr lang="en-US" sz="1800" i="1">
                <a:solidFill>
                  <a:schemeClr val="tx1"/>
                </a:solidFill>
                <a:latin typeface="Times" panose="02020603050405020304" pitchFamily="18" charset="0"/>
                <a:cs typeface="Times" panose="02020603050405020304" pitchFamily="18" charset="0"/>
              </a:rPr>
              <a:t> than GAN?</a:t>
            </a:r>
            <a:endParaRPr lang="en-US" i="1">
              <a:solidFill>
                <a:schemeClr val="tx1"/>
              </a:solidFill>
              <a:latin typeface="Times" panose="02020603050405020304" pitchFamily="18" charset="0"/>
              <a:cs typeface="Times" panose="02020603050405020304" pitchFamily="18" charset="0"/>
            </a:endParaRPr>
          </a:p>
        </p:txBody>
      </p:sp>
      <p:cxnSp>
        <p:nvCxnSpPr>
          <p:cNvPr id="38" name="Curved Connector 37">
            <a:extLst>
              <a:ext uri="{FF2B5EF4-FFF2-40B4-BE49-F238E27FC236}">
                <a16:creationId xmlns:a16="http://schemas.microsoft.com/office/drawing/2014/main" id="{FDF8FC6F-4E44-5F22-468E-C179828EDE89}"/>
              </a:ext>
            </a:extLst>
          </p:cNvPr>
          <p:cNvCxnSpPr>
            <a:cxnSpLocks/>
            <a:endCxn id="32" idx="0"/>
          </p:cNvCxnSpPr>
          <p:nvPr/>
        </p:nvCxnSpPr>
        <p:spPr>
          <a:xfrm rot="5400000">
            <a:off x="4662327" y="1773117"/>
            <a:ext cx="519246" cy="502969"/>
          </a:xfrm>
          <a:prstGeom prst="curvedConnector3">
            <a:avLst>
              <a:gd name="adj1" fmla="val 50000"/>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urved Connector 41">
            <a:extLst>
              <a:ext uri="{FF2B5EF4-FFF2-40B4-BE49-F238E27FC236}">
                <a16:creationId xmlns:a16="http://schemas.microsoft.com/office/drawing/2014/main" id="{D6D09BF0-5F66-CE1E-1FFE-FB37091193B5}"/>
              </a:ext>
            </a:extLst>
          </p:cNvPr>
          <p:cNvCxnSpPr>
            <a:cxnSpLocks/>
            <a:stCxn id="7" idx="2"/>
            <a:endCxn id="34" idx="0"/>
          </p:cNvCxnSpPr>
          <p:nvPr/>
        </p:nvCxnSpPr>
        <p:spPr>
          <a:xfrm rot="16200000" flipH="1">
            <a:off x="6779640" y="2019489"/>
            <a:ext cx="522875" cy="13854"/>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urved Connector 47">
            <a:extLst>
              <a:ext uri="{FF2B5EF4-FFF2-40B4-BE49-F238E27FC236}">
                <a16:creationId xmlns:a16="http://schemas.microsoft.com/office/drawing/2014/main" id="{0D80709F-35B5-2324-49FC-963C8D51BDBC}"/>
              </a:ext>
            </a:extLst>
          </p:cNvPr>
          <p:cNvCxnSpPr>
            <a:cxnSpLocks/>
            <a:stCxn id="32" idx="2"/>
          </p:cNvCxnSpPr>
          <p:nvPr/>
        </p:nvCxnSpPr>
        <p:spPr>
          <a:xfrm rot="5400000">
            <a:off x="3731903" y="4131806"/>
            <a:ext cx="1862815" cy="14310"/>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Curved Connector 60">
            <a:extLst>
              <a:ext uri="{FF2B5EF4-FFF2-40B4-BE49-F238E27FC236}">
                <a16:creationId xmlns:a16="http://schemas.microsoft.com/office/drawing/2014/main" id="{C49D6FD9-EF55-E654-0A81-E3B4A39BE076}"/>
              </a:ext>
            </a:extLst>
          </p:cNvPr>
          <p:cNvCxnSpPr>
            <a:cxnSpLocks/>
          </p:cNvCxnSpPr>
          <p:nvPr/>
        </p:nvCxnSpPr>
        <p:spPr>
          <a:xfrm rot="5400000">
            <a:off x="6090786" y="4131806"/>
            <a:ext cx="1862815" cy="14310"/>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urved Connector 61">
            <a:extLst>
              <a:ext uri="{FF2B5EF4-FFF2-40B4-BE49-F238E27FC236}">
                <a16:creationId xmlns:a16="http://schemas.microsoft.com/office/drawing/2014/main" id="{CCE980B7-2870-AEAA-9C14-BACC91F46BDF}"/>
              </a:ext>
            </a:extLst>
          </p:cNvPr>
          <p:cNvCxnSpPr>
            <a:cxnSpLocks/>
          </p:cNvCxnSpPr>
          <p:nvPr/>
        </p:nvCxnSpPr>
        <p:spPr>
          <a:xfrm rot="5400000">
            <a:off x="8478697" y="4169739"/>
            <a:ext cx="1924368" cy="12700"/>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BC513F9-D4E4-2200-EDDC-03F9086C562D}"/>
              </a:ext>
            </a:extLst>
          </p:cNvPr>
          <p:cNvSpPr txBox="1"/>
          <p:nvPr/>
        </p:nvSpPr>
        <p:spPr>
          <a:xfrm>
            <a:off x="8095710" y="4370511"/>
            <a:ext cx="1499528" cy="646331"/>
          </a:xfrm>
          <a:prstGeom prst="rect">
            <a:avLst/>
          </a:prstGeom>
          <a:noFill/>
        </p:spPr>
        <p:txBody>
          <a:bodyPr wrap="square">
            <a:spAutoFit/>
          </a:bodyPr>
          <a:lstStyle/>
          <a:p>
            <a:pPr algn="ctr"/>
            <a:r>
              <a:rPr lang="en-US">
                <a:solidFill>
                  <a:srgbClr val="C00000"/>
                </a:solidFill>
              </a:rPr>
              <a:t>Incorrect! </a:t>
            </a:r>
          </a:p>
          <a:p>
            <a:pPr algn="ctr"/>
            <a:r>
              <a:rPr lang="en-US">
                <a:solidFill>
                  <a:srgbClr val="C00000"/>
                </a:solidFill>
              </a:rPr>
              <a:t>❌</a:t>
            </a:r>
            <a:endParaRPr lang="en-US" sz="1800">
              <a:solidFill>
                <a:schemeClr val="tx1"/>
              </a:solidFill>
            </a:endParaRPr>
          </a:p>
        </p:txBody>
      </p:sp>
      <p:sp>
        <p:nvSpPr>
          <p:cNvPr id="65" name="TextBox 64">
            <a:extLst>
              <a:ext uri="{FF2B5EF4-FFF2-40B4-BE49-F238E27FC236}">
                <a16:creationId xmlns:a16="http://schemas.microsoft.com/office/drawing/2014/main" id="{3522CB5D-0C57-8C76-EA20-2CA24F445B26}"/>
              </a:ext>
            </a:extLst>
          </p:cNvPr>
          <p:cNvSpPr txBox="1"/>
          <p:nvPr/>
        </p:nvSpPr>
        <p:spPr>
          <a:xfrm>
            <a:off x="3404381" y="4370511"/>
            <a:ext cx="1472545" cy="646331"/>
          </a:xfrm>
          <a:prstGeom prst="rect">
            <a:avLst/>
          </a:prstGeom>
          <a:noFill/>
        </p:spPr>
        <p:txBody>
          <a:bodyPr wrap="square">
            <a:spAutoFit/>
          </a:bodyPr>
          <a:lstStyle/>
          <a:p>
            <a:pPr algn="ctr"/>
            <a:r>
              <a:rPr lang="en-US" sz="1800">
                <a:solidFill>
                  <a:schemeClr val="tx1"/>
                </a:solidFill>
              </a:rPr>
              <a:t>Correct!</a:t>
            </a:r>
            <a:r>
              <a:rPr lang="en-US"/>
              <a:t> </a:t>
            </a:r>
            <a:endParaRPr lang="en-US" sz="1800">
              <a:solidFill>
                <a:schemeClr val="tx1"/>
              </a:solidFill>
            </a:endParaRPr>
          </a:p>
          <a:p>
            <a:pPr algn="ctr"/>
            <a:r>
              <a:rPr lang="en-US" sz="1800">
                <a:solidFill>
                  <a:schemeClr val="tx1"/>
                </a:solidFill>
              </a:rPr>
              <a:t>✅ </a:t>
            </a:r>
          </a:p>
        </p:txBody>
      </p:sp>
      <p:sp>
        <p:nvSpPr>
          <p:cNvPr id="67" name="TextBox 66">
            <a:extLst>
              <a:ext uri="{FF2B5EF4-FFF2-40B4-BE49-F238E27FC236}">
                <a16:creationId xmlns:a16="http://schemas.microsoft.com/office/drawing/2014/main" id="{A1F3D9F6-CA2E-9863-FD60-FA3E4812B737}"/>
              </a:ext>
            </a:extLst>
          </p:cNvPr>
          <p:cNvSpPr txBox="1"/>
          <p:nvPr/>
        </p:nvSpPr>
        <p:spPr>
          <a:xfrm>
            <a:off x="5754660" y="4370511"/>
            <a:ext cx="1472545" cy="646331"/>
          </a:xfrm>
          <a:prstGeom prst="rect">
            <a:avLst/>
          </a:prstGeom>
          <a:noFill/>
        </p:spPr>
        <p:txBody>
          <a:bodyPr wrap="square">
            <a:spAutoFit/>
          </a:bodyPr>
          <a:lstStyle/>
          <a:p>
            <a:pPr algn="ctr"/>
            <a:r>
              <a:rPr lang="en-US" sz="1800">
                <a:solidFill>
                  <a:schemeClr val="tx1"/>
                </a:solidFill>
              </a:rPr>
              <a:t>Correct!</a:t>
            </a:r>
            <a:r>
              <a:rPr lang="en-US"/>
              <a:t> </a:t>
            </a:r>
            <a:endParaRPr lang="en-US" sz="1800">
              <a:solidFill>
                <a:schemeClr val="tx1"/>
              </a:solidFill>
            </a:endParaRPr>
          </a:p>
          <a:p>
            <a:pPr algn="ctr"/>
            <a:r>
              <a:rPr lang="en-US" sz="1800">
                <a:solidFill>
                  <a:schemeClr val="tx1"/>
                </a:solidFill>
              </a:rPr>
              <a:t>✅ </a:t>
            </a:r>
          </a:p>
        </p:txBody>
      </p:sp>
      <p:sp>
        <p:nvSpPr>
          <p:cNvPr id="68" name="Rectangle: Rounded Corners 9">
            <a:extLst>
              <a:ext uri="{FF2B5EF4-FFF2-40B4-BE49-F238E27FC236}">
                <a16:creationId xmlns:a16="http://schemas.microsoft.com/office/drawing/2014/main" id="{4AF49200-33E2-BED4-1DCD-19A1F8A281FE}"/>
              </a:ext>
            </a:extLst>
          </p:cNvPr>
          <p:cNvSpPr/>
          <p:nvPr/>
        </p:nvSpPr>
        <p:spPr>
          <a:xfrm>
            <a:off x="3869830" y="3702174"/>
            <a:ext cx="6468705" cy="576755"/>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rPr>
              <a:t>The ratio of “Correct” indicates the </a:t>
            </a:r>
            <a:r>
              <a:rPr lang="en-US" sz="3200" b="1">
                <a:solidFill>
                  <a:srgbClr val="C00000"/>
                </a:solidFill>
              </a:rPr>
              <a:t>recall</a:t>
            </a:r>
            <a:r>
              <a:rPr lang="en-US" sz="2000">
                <a:solidFill>
                  <a:schemeClr val="tx1"/>
                </a:solidFill>
              </a:rPr>
              <a:t>.</a:t>
            </a:r>
          </a:p>
        </p:txBody>
      </p:sp>
      <p:cxnSp>
        <p:nvCxnSpPr>
          <p:cNvPr id="5" name="Curved Connector 4">
            <a:extLst>
              <a:ext uri="{FF2B5EF4-FFF2-40B4-BE49-F238E27FC236}">
                <a16:creationId xmlns:a16="http://schemas.microsoft.com/office/drawing/2014/main" id="{5A62748E-C140-BFC0-243D-33FD993B0BD7}"/>
              </a:ext>
            </a:extLst>
          </p:cNvPr>
          <p:cNvCxnSpPr>
            <a:cxnSpLocks/>
          </p:cNvCxnSpPr>
          <p:nvPr/>
        </p:nvCxnSpPr>
        <p:spPr>
          <a:xfrm rot="16200000" flipH="1">
            <a:off x="9011947" y="1769369"/>
            <a:ext cx="512327" cy="503546"/>
          </a:xfrm>
          <a:prstGeom prst="curvedConnector3">
            <a:avLst>
              <a:gd name="adj1" fmla="val 50000"/>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59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500"/>
                                        <p:tgtEl>
                                          <p:spTgt spid="3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5"/>
                                        </p:tgtEl>
                                        <p:attrNameLst>
                                          <p:attrName>style.visibility</p:attrName>
                                        </p:attrNameLst>
                                      </p:cBhvr>
                                      <p:to>
                                        <p:strVal val="visible"/>
                                      </p:to>
                                    </p:set>
                                    <p:animEffect transition="in" filter="fade">
                                      <p:cBhvr>
                                        <p:cTn id="52" dur="500"/>
                                        <p:tgtEl>
                                          <p:spTgt spid="65"/>
                                        </p:tgtEl>
                                      </p:cBhvr>
                                    </p:animEffect>
                                  </p:childTnLst>
                                </p:cTn>
                              </p:par>
                              <p:par>
                                <p:cTn id="53" presetID="10"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7"/>
                                        </p:tgtEl>
                                        <p:attrNameLst>
                                          <p:attrName>style.visibility</p:attrName>
                                        </p:attrNameLst>
                                      </p:cBhvr>
                                      <p:to>
                                        <p:strVal val="visible"/>
                                      </p:to>
                                    </p:set>
                                    <p:animEffect transition="in" filter="fade">
                                      <p:cBhvr>
                                        <p:cTn id="58" dur="500"/>
                                        <p:tgtEl>
                                          <p:spTgt spid="67"/>
                                        </p:tgtEl>
                                      </p:cBhvr>
                                    </p:animEffect>
                                  </p:childTnLst>
                                </p:cTn>
                              </p:par>
                              <p:par>
                                <p:cTn id="59" presetID="10" presetClass="entr" presetSubtype="0" fill="hold"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fade">
                                      <p:cBhvr>
                                        <p:cTn id="64" dur="500"/>
                                        <p:tgtEl>
                                          <p:spTgt spid="63"/>
                                        </p:tgtEl>
                                      </p:cBhvr>
                                    </p:animEffect>
                                  </p:childTnLst>
                                </p:cTn>
                              </p:par>
                              <p:par>
                                <p:cTn id="65" presetID="10" presetClass="entr" presetSubtype="0"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fade">
                                      <p:cBhvr>
                                        <p:cTn id="72"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 grpId="0"/>
      <p:bldP spid="17" grpId="0"/>
      <p:bldP spid="18" grpId="0"/>
      <p:bldP spid="20" grpId="0"/>
      <p:bldP spid="32" grpId="0" animBg="1"/>
      <p:bldP spid="34" grpId="0" animBg="1"/>
      <p:bldP spid="36" grpId="0" animBg="1"/>
      <p:bldP spid="63" grpId="0"/>
      <p:bldP spid="65" grpId="0"/>
      <p:bldP spid="67" grpId="0"/>
      <p:bldP spid="68"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8E1792-184C-5F85-36EA-182221AC8702}"/>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1CA1901-0AC1-8AB0-F803-07E34DFE829D}"/>
              </a:ext>
            </a:extLst>
          </p:cNvPr>
          <p:cNvGraphicFramePr>
            <a:graphicFrameLocks noGrp="1"/>
          </p:cNvGraphicFramePr>
          <p:nvPr>
            <p:extLst>
              <p:ext uri="{D42A27DB-BD31-4B8C-83A1-F6EECF244321}">
                <p14:modId xmlns:p14="http://schemas.microsoft.com/office/powerpoint/2010/main" val="3914567860"/>
              </p:ext>
            </p:extLst>
          </p:nvPr>
        </p:nvGraphicFramePr>
        <p:xfrm>
          <a:off x="4143941" y="369430"/>
          <a:ext cx="6041460" cy="1371600"/>
        </p:xfrm>
        <a:graphic>
          <a:graphicData uri="http://schemas.openxmlformats.org/drawingml/2006/table">
            <a:tbl>
              <a:tblPr firstRow="1" bandRow="1">
                <a:tableStyleId>{1FECB4D8-DB02-4DC6-A0A2-4F2EBAE1DC90}</a:tableStyleId>
              </a:tblPr>
              <a:tblGrid>
                <a:gridCol w="2191545">
                  <a:extLst>
                    <a:ext uri="{9D8B030D-6E8A-4147-A177-3AD203B41FA5}">
                      <a16:colId xmlns:a16="http://schemas.microsoft.com/office/drawing/2014/main" val="2640610835"/>
                    </a:ext>
                  </a:extLst>
                </a:gridCol>
                <a:gridCol w="1458685">
                  <a:extLst>
                    <a:ext uri="{9D8B030D-6E8A-4147-A177-3AD203B41FA5}">
                      <a16:colId xmlns:a16="http://schemas.microsoft.com/office/drawing/2014/main" val="1595008830"/>
                    </a:ext>
                  </a:extLst>
                </a:gridCol>
                <a:gridCol w="1338943">
                  <a:extLst>
                    <a:ext uri="{9D8B030D-6E8A-4147-A177-3AD203B41FA5}">
                      <a16:colId xmlns:a16="http://schemas.microsoft.com/office/drawing/2014/main" val="617729621"/>
                    </a:ext>
                  </a:extLst>
                </a:gridCol>
                <a:gridCol w="1052287">
                  <a:extLst>
                    <a:ext uri="{9D8B030D-6E8A-4147-A177-3AD203B41FA5}">
                      <a16:colId xmlns:a16="http://schemas.microsoft.com/office/drawing/2014/main" val="22395726"/>
                    </a:ext>
                  </a:extLst>
                </a:gridCol>
              </a:tblGrid>
              <a:tr h="329334">
                <a:tc>
                  <a:txBody>
                    <a:bodyPr/>
                    <a:lstStyle/>
                    <a:p>
                      <a:r>
                        <a:rPr lang="en-US" i="1" dirty="0">
                          <a:latin typeface="Times" pitchFamily="2" charset="0"/>
                        </a:rPr>
                        <a:t>CBFIR Networks</a:t>
                      </a:r>
                    </a:p>
                  </a:txBody>
                  <a:tcPr/>
                </a:tc>
                <a:tc>
                  <a:txBody>
                    <a:bodyPr/>
                    <a:lstStyle/>
                    <a:p>
                      <a:r>
                        <a:rPr lang="en-US" i="1" dirty="0">
                          <a:latin typeface="Times" pitchFamily="2" charset="0"/>
                        </a:rPr>
                        <a:t>Datasets</a:t>
                      </a:r>
                    </a:p>
                  </a:txBody>
                  <a:tcPr/>
                </a:tc>
                <a:tc>
                  <a:txBody>
                    <a:bodyPr/>
                    <a:lstStyle/>
                    <a:p>
                      <a:r>
                        <a:rPr lang="en-US" i="1" dirty="0">
                          <a:latin typeface="Times" pitchFamily="2" charset="0"/>
                        </a:rPr>
                        <a:t>Metrics</a:t>
                      </a:r>
                    </a:p>
                  </a:txBody>
                  <a:tcPr/>
                </a:tc>
                <a:tc>
                  <a:txBody>
                    <a:bodyPr/>
                    <a:lstStyle/>
                    <a:p>
                      <a:r>
                        <a:rPr lang="en-US" i="1" dirty="0">
                          <a:latin typeface="Times" pitchFamily="2" charset="0"/>
                        </a:rPr>
                        <a:t>Loss</a:t>
                      </a:r>
                    </a:p>
                  </a:txBody>
                  <a:tcPr/>
                </a:tc>
                <a:extLst>
                  <a:ext uri="{0D108BD9-81ED-4DB2-BD59-A6C34878D82A}">
                    <a16:rowId xmlns:a16="http://schemas.microsoft.com/office/drawing/2014/main" val="2639143297"/>
                  </a:ext>
                </a:extLst>
              </a:tr>
              <a:tr h="329334">
                <a:tc>
                  <a:txBody>
                    <a:bodyPr/>
                    <a:lstStyle/>
                    <a:p>
                      <a:r>
                        <a:rPr lang="en-US" sz="1600" i="1">
                          <a:latin typeface="Times" pitchFamily="2" charset="0"/>
                        </a:rPr>
                        <a:t>GAN</a:t>
                      </a:r>
                    </a:p>
                  </a:txBody>
                  <a:tcPr/>
                </a:tc>
                <a:tc>
                  <a:txBody>
                    <a:bodyPr/>
                    <a:lstStyle/>
                    <a:p>
                      <a:r>
                        <a:rPr lang="en-US" sz="1600" i="1">
                          <a:latin typeface="Times" pitchFamily="2" charset="0"/>
                        </a:rPr>
                        <a:t>DARN</a:t>
                      </a:r>
                    </a:p>
                  </a:txBody>
                  <a:tcPr/>
                </a:tc>
                <a:tc>
                  <a:txBody>
                    <a:bodyPr/>
                    <a:lstStyle/>
                    <a:p>
                      <a:r>
                        <a:rPr lang="en-US" sz="1600" i="1">
                          <a:latin typeface="Times" pitchFamily="2" charset="0"/>
                        </a:rPr>
                        <a:t>Recall@1</a:t>
                      </a:r>
                    </a:p>
                  </a:txBody>
                  <a:tcPr/>
                </a:tc>
                <a:tc>
                  <a:txBody>
                    <a:bodyPr/>
                    <a:lstStyle/>
                    <a:p>
                      <a:r>
                        <a:rPr lang="en-US" sz="1600" i="1">
                          <a:latin typeface="Times" pitchFamily="2" charset="0"/>
                        </a:rPr>
                        <a:t>TL, AL</a:t>
                      </a:r>
                    </a:p>
                  </a:txBody>
                  <a:tcPr/>
                </a:tc>
                <a:extLst>
                  <a:ext uri="{0D108BD9-81ED-4DB2-BD59-A6C34878D82A}">
                    <a16:rowId xmlns:a16="http://schemas.microsoft.com/office/drawing/2014/main" val="3457608485"/>
                  </a:ext>
                </a:extLst>
              </a:tr>
              <a:tr h="329334">
                <a:tc>
                  <a:txBody>
                    <a:bodyPr/>
                    <a:lstStyle/>
                    <a:p>
                      <a:r>
                        <a:rPr lang="en-US" sz="1600" i="1">
                          <a:latin typeface="Times" pitchFamily="2" charset="0"/>
                        </a:rPr>
                        <a:t>CN-</a:t>
                      </a:r>
                      <a:r>
                        <a:rPr lang="en-US" sz="1600" i="1" err="1">
                          <a:latin typeface="Times" pitchFamily="2" charset="0"/>
                        </a:rPr>
                        <a:t>LexNet</a:t>
                      </a:r>
                      <a:endParaRPr lang="en-US" sz="1600" i="1">
                        <a:latin typeface="Times" pitchFamily="2" charset="0"/>
                      </a:endParaRPr>
                    </a:p>
                  </a:txBody>
                  <a:tcPr/>
                </a:tc>
                <a:tc>
                  <a:txBody>
                    <a:bodyPr/>
                    <a:lstStyle/>
                    <a:p>
                      <a:r>
                        <a:rPr lang="en-US" sz="1400" i="1">
                          <a:latin typeface="Times" pitchFamily="2" charset="0"/>
                        </a:rPr>
                        <a:t>Shopping100K</a:t>
                      </a:r>
                    </a:p>
                  </a:txBody>
                  <a:tcPr/>
                </a:tc>
                <a:tc>
                  <a:txBody>
                    <a:bodyPr/>
                    <a:lstStyle/>
                    <a:p>
                      <a:r>
                        <a:rPr lang="en-US" sz="1600" i="1">
                          <a:latin typeface="Times" pitchFamily="2" charset="0"/>
                        </a:rPr>
                        <a:t>Recall@20</a:t>
                      </a:r>
                    </a:p>
                  </a:txBody>
                  <a:tcPr/>
                </a:tc>
                <a:tc>
                  <a:txBody>
                    <a:bodyPr/>
                    <a:lstStyle/>
                    <a:p>
                      <a:r>
                        <a:rPr lang="en-US" sz="1600" i="1">
                          <a:latin typeface="Times" pitchFamily="2" charset="0"/>
                        </a:rPr>
                        <a:t>CL, TL</a:t>
                      </a:r>
                    </a:p>
                  </a:txBody>
                  <a:tcPr/>
                </a:tc>
                <a:extLst>
                  <a:ext uri="{0D108BD9-81ED-4DB2-BD59-A6C34878D82A}">
                    <a16:rowId xmlns:a16="http://schemas.microsoft.com/office/drawing/2014/main" val="1318391071"/>
                  </a:ext>
                </a:extLst>
              </a:tr>
              <a:tr h="321978">
                <a:tc>
                  <a:txBody>
                    <a:bodyPr/>
                    <a:lstStyle/>
                    <a:p>
                      <a:r>
                        <a:rPr lang="en-US" sz="1600" i="1" dirty="0">
                          <a:latin typeface="Times" pitchFamily="2" charset="0"/>
                        </a:rPr>
                        <a:t>ResNet-v2</a:t>
                      </a:r>
                    </a:p>
                  </a:txBody>
                  <a:tcPr/>
                </a:tc>
                <a:tc>
                  <a:txBody>
                    <a:bodyPr/>
                    <a:lstStyle/>
                    <a:p>
                      <a:r>
                        <a:rPr lang="en-US" sz="1600" b="0" i="1" kern="1200" err="1">
                          <a:solidFill>
                            <a:schemeClr val="dk1"/>
                          </a:solidFill>
                          <a:effectLst/>
                          <a:latin typeface="Times" pitchFamily="2" charset="0"/>
                          <a:ea typeface="+mn-ea"/>
                          <a:cs typeface="+mn-cs"/>
                        </a:rPr>
                        <a:t>DeepFashion</a:t>
                      </a:r>
                      <a:endParaRPr lang="en-US" sz="1600" i="1">
                        <a:latin typeface="Times" pitchFamily="2" charset="0"/>
                      </a:endParaRPr>
                    </a:p>
                  </a:txBody>
                  <a:tcPr/>
                </a:tc>
                <a:tc>
                  <a:txBody>
                    <a:bodyPr/>
                    <a:lstStyle/>
                    <a:p>
                      <a:r>
                        <a:rPr lang="en-US" sz="1600" i="1">
                          <a:latin typeface="Times" pitchFamily="2" charset="0"/>
                        </a:rPr>
                        <a:t>Recall@1,10</a:t>
                      </a:r>
                    </a:p>
                  </a:txBody>
                  <a:tcPr/>
                </a:tc>
                <a:tc>
                  <a:txBody>
                    <a:bodyPr/>
                    <a:lstStyle/>
                    <a:p>
                      <a:r>
                        <a:rPr lang="en-US" sz="1600" i="1" dirty="0">
                          <a:latin typeface="Times" pitchFamily="2" charset="0"/>
                        </a:rPr>
                        <a:t>BCE Loss</a:t>
                      </a:r>
                    </a:p>
                  </a:txBody>
                  <a:tcPr/>
                </a:tc>
                <a:extLst>
                  <a:ext uri="{0D108BD9-81ED-4DB2-BD59-A6C34878D82A}">
                    <a16:rowId xmlns:a16="http://schemas.microsoft.com/office/drawing/2014/main" val="1631004287"/>
                  </a:ext>
                </a:extLst>
              </a:tr>
            </a:tbl>
          </a:graphicData>
        </a:graphic>
      </p:graphicFrame>
      <p:graphicFrame>
        <p:nvGraphicFramePr>
          <p:cNvPr id="8" name="Table 7">
            <a:extLst>
              <a:ext uri="{FF2B5EF4-FFF2-40B4-BE49-F238E27FC236}">
                <a16:creationId xmlns:a16="http://schemas.microsoft.com/office/drawing/2014/main" id="{B1C49734-DD89-0359-5CE2-A76596BABFA2}"/>
              </a:ext>
            </a:extLst>
          </p:cNvPr>
          <p:cNvGraphicFramePr>
            <a:graphicFrameLocks noGrp="1"/>
          </p:cNvGraphicFramePr>
          <p:nvPr>
            <p:extLst>
              <p:ext uri="{D42A27DB-BD31-4B8C-83A1-F6EECF244321}">
                <p14:modId xmlns:p14="http://schemas.microsoft.com/office/powerpoint/2010/main" val="1215537899"/>
              </p:ext>
            </p:extLst>
          </p:nvPr>
        </p:nvGraphicFramePr>
        <p:xfrm>
          <a:off x="4143941" y="5169429"/>
          <a:ext cx="6041459" cy="1371600"/>
        </p:xfrm>
        <a:graphic>
          <a:graphicData uri="http://schemas.openxmlformats.org/drawingml/2006/table">
            <a:tbl>
              <a:tblPr firstRow="1" bandRow="1">
                <a:tableStyleId>{B301B821-A1FF-4177-AEE7-76D212191A09}</a:tableStyleId>
              </a:tblPr>
              <a:tblGrid>
                <a:gridCol w="1788773">
                  <a:extLst>
                    <a:ext uri="{9D8B030D-6E8A-4147-A177-3AD203B41FA5}">
                      <a16:colId xmlns:a16="http://schemas.microsoft.com/office/drawing/2014/main" val="2640610835"/>
                    </a:ext>
                  </a:extLst>
                </a:gridCol>
                <a:gridCol w="1099457">
                  <a:extLst>
                    <a:ext uri="{9D8B030D-6E8A-4147-A177-3AD203B41FA5}">
                      <a16:colId xmlns:a16="http://schemas.microsoft.com/office/drawing/2014/main" val="1595008830"/>
                    </a:ext>
                  </a:extLst>
                </a:gridCol>
                <a:gridCol w="1240972">
                  <a:extLst>
                    <a:ext uri="{9D8B030D-6E8A-4147-A177-3AD203B41FA5}">
                      <a16:colId xmlns:a16="http://schemas.microsoft.com/office/drawing/2014/main" val="617729621"/>
                    </a:ext>
                  </a:extLst>
                </a:gridCol>
                <a:gridCol w="1912257">
                  <a:extLst>
                    <a:ext uri="{9D8B030D-6E8A-4147-A177-3AD203B41FA5}">
                      <a16:colId xmlns:a16="http://schemas.microsoft.com/office/drawing/2014/main" val="22395726"/>
                    </a:ext>
                  </a:extLst>
                </a:gridCol>
              </a:tblGrid>
              <a:tr h="236118">
                <a:tc>
                  <a:txBody>
                    <a:bodyPr/>
                    <a:lstStyle/>
                    <a:p>
                      <a:r>
                        <a:rPr lang="en-US" i="1" dirty="0">
                          <a:latin typeface="Times" pitchFamily="2" charset="0"/>
                        </a:rPr>
                        <a:t>Backbone Model</a:t>
                      </a:r>
                    </a:p>
                  </a:txBody>
                  <a:tcPr/>
                </a:tc>
                <a:tc>
                  <a:txBody>
                    <a:bodyPr/>
                    <a:lstStyle/>
                    <a:p>
                      <a:r>
                        <a:rPr lang="en-US" i="1">
                          <a:latin typeface="Times" pitchFamily="2" charset="0"/>
                        </a:rPr>
                        <a:t>Losses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i="1" dirty="0">
                          <a:latin typeface="Times" pitchFamily="2" charset="0"/>
                        </a:rPr>
                        <a:t>Attributes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i="1" dirty="0">
                          <a:latin typeface="Times" pitchFamily="2" charset="0"/>
                        </a:rPr>
                        <a:t>Datasets</a:t>
                      </a:r>
                    </a:p>
                  </a:txBody>
                  <a:tcPr/>
                </a:tc>
                <a:extLst>
                  <a:ext uri="{0D108BD9-81ED-4DB2-BD59-A6C34878D82A}">
                    <a16:rowId xmlns:a16="http://schemas.microsoft.com/office/drawing/2014/main" val="2639143297"/>
                  </a:ext>
                </a:extLst>
              </a:tr>
              <a:tr h="236695">
                <a:tc>
                  <a:txBody>
                    <a:bodyPr/>
                    <a:lstStyle/>
                    <a:p>
                      <a:pPr marL="0" algn="l" defTabSz="917966" rtl="0" eaLnBrk="1" latinLnBrk="0" hangingPunct="1"/>
                      <a:r>
                        <a:rPr lang="en-US" sz="1600" i="1" kern="1200">
                          <a:solidFill>
                            <a:schemeClr val="dk1"/>
                          </a:solidFill>
                          <a:latin typeface="Times" pitchFamily="2" charset="0"/>
                          <a:ea typeface="+mn-ea"/>
                          <a:cs typeface="+mn-cs"/>
                        </a:rPr>
                        <a:t>GAN</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TL+AL</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Shape</a:t>
                      </a:r>
                    </a:p>
                  </a:txBody>
                  <a:tcPr/>
                </a:tc>
                <a:tc>
                  <a:txBody>
                    <a:bodyPr/>
                    <a:lstStyle/>
                    <a:p>
                      <a:r>
                        <a:rPr lang="en-US" sz="1600" i="1" dirty="0">
                          <a:latin typeface="Times" pitchFamily="2" charset="0"/>
                        </a:rPr>
                        <a:t>DARN Color</a:t>
                      </a:r>
                    </a:p>
                  </a:txBody>
                  <a:tcPr/>
                </a:tc>
                <a:extLst>
                  <a:ext uri="{0D108BD9-81ED-4DB2-BD59-A6C34878D82A}">
                    <a16:rowId xmlns:a16="http://schemas.microsoft.com/office/drawing/2014/main" val="3457608485"/>
                  </a:ext>
                </a:extLst>
              </a:tr>
              <a:tr h="236695">
                <a:tc>
                  <a:txBody>
                    <a:bodyPr/>
                    <a:lstStyle/>
                    <a:p>
                      <a:pPr marL="0" algn="l" defTabSz="917966" rtl="0" eaLnBrk="1" latinLnBrk="0" hangingPunct="1"/>
                      <a:r>
                        <a:rPr lang="en-US" sz="1600" i="1" kern="1200" err="1">
                          <a:solidFill>
                            <a:schemeClr val="dk1"/>
                          </a:solidFill>
                          <a:latin typeface="Times" pitchFamily="2" charset="0"/>
                          <a:ea typeface="+mn-ea"/>
                          <a:cs typeface="+mn-cs"/>
                        </a:rPr>
                        <a:t>CNLexNet</a:t>
                      </a:r>
                      <a:endParaRPr lang="en-US" sz="1600" i="1" kern="1200">
                        <a:solidFill>
                          <a:schemeClr val="dk1"/>
                        </a:solidFill>
                        <a:latin typeface="Times" pitchFamily="2" charset="0"/>
                        <a:ea typeface="+mn-ea"/>
                        <a:cs typeface="+mn-cs"/>
                      </a:endParaRP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CL+TL</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Various</a:t>
                      </a:r>
                    </a:p>
                  </a:txBody>
                  <a:tcPr/>
                </a:tc>
                <a:tc>
                  <a:txBody>
                    <a:bodyPr/>
                    <a:lstStyle/>
                    <a:p>
                      <a:r>
                        <a:rPr lang="en-US" sz="1600" i="1">
                          <a:latin typeface="Times" pitchFamily="2" charset="0"/>
                        </a:rPr>
                        <a:t>Consumer-to-Shop</a:t>
                      </a:r>
                    </a:p>
                  </a:txBody>
                  <a:tcPr/>
                </a:tc>
                <a:extLst>
                  <a:ext uri="{0D108BD9-81ED-4DB2-BD59-A6C34878D82A}">
                    <a16:rowId xmlns:a16="http://schemas.microsoft.com/office/drawing/2014/main" val="1318391071"/>
                  </a:ext>
                </a:extLst>
              </a:tr>
              <a:tr h="236695">
                <a:tc>
                  <a:txBody>
                    <a:bodyPr/>
                    <a:lstStyle/>
                    <a:p>
                      <a:pPr marL="0" algn="l" defTabSz="917966" rtl="0" eaLnBrk="1" latinLnBrk="0" hangingPunct="1"/>
                      <a:r>
                        <a:rPr lang="en-US" sz="1600" i="1" kern="1200" err="1">
                          <a:solidFill>
                            <a:schemeClr val="dk1"/>
                          </a:solidFill>
                          <a:latin typeface="Times" pitchFamily="2" charset="0"/>
                          <a:ea typeface="+mn-ea"/>
                          <a:cs typeface="+mn-cs"/>
                        </a:rPr>
                        <a:t>ResNet</a:t>
                      </a:r>
                      <a:endParaRPr lang="en-US" sz="1600" i="1" kern="1200">
                        <a:solidFill>
                          <a:schemeClr val="dk1"/>
                        </a:solidFill>
                        <a:latin typeface="Times" pitchFamily="2" charset="0"/>
                        <a:ea typeface="+mn-ea"/>
                        <a:cs typeface="+mn-cs"/>
                      </a:endParaRP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Landmark</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Various</a:t>
                      </a:r>
                    </a:p>
                  </a:txBody>
                  <a:tcPr/>
                </a:tc>
                <a:tc>
                  <a:txBody>
                    <a:bodyPr/>
                    <a:lstStyle/>
                    <a:p>
                      <a:r>
                        <a:rPr lang="en-US" sz="1600" i="1" dirty="0" err="1">
                          <a:latin typeface="Times" pitchFamily="2" charset="0"/>
                        </a:rPr>
                        <a:t>DeepFashion</a:t>
                      </a:r>
                      <a:endParaRPr lang="en-US" sz="1600" i="1" dirty="0">
                        <a:latin typeface="Times" pitchFamily="2" charset="0"/>
                      </a:endParaRPr>
                    </a:p>
                  </a:txBody>
                  <a:tcPr/>
                </a:tc>
                <a:extLst>
                  <a:ext uri="{0D108BD9-81ED-4DB2-BD59-A6C34878D82A}">
                    <a16:rowId xmlns:a16="http://schemas.microsoft.com/office/drawing/2014/main" val="1631004287"/>
                  </a:ext>
                </a:extLst>
              </a:tr>
            </a:tbl>
          </a:graphicData>
        </a:graphic>
      </p:graphicFrame>
      <p:sp>
        <p:nvSpPr>
          <p:cNvPr id="9" name="TextBox 8">
            <a:extLst>
              <a:ext uri="{FF2B5EF4-FFF2-40B4-BE49-F238E27FC236}">
                <a16:creationId xmlns:a16="http://schemas.microsoft.com/office/drawing/2014/main" id="{4197F094-AE92-0BD5-2DAE-9789DB25A546}"/>
              </a:ext>
            </a:extLst>
          </p:cNvPr>
          <p:cNvSpPr txBox="1"/>
          <p:nvPr/>
        </p:nvSpPr>
        <p:spPr>
          <a:xfrm rot="16200000">
            <a:off x="2869088" y="1026406"/>
            <a:ext cx="2256834" cy="338554"/>
          </a:xfrm>
          <a:prstGeom prst="rect">
            <a:avLst/>
          </a:prstGeom>
          <a:noFill/>
        </p:spPr>
        <p:txBody>
          <a:bodyPr wrap="square" rtlCol="0">
            <a:spAutoFit/>
          </a:bodyPr>
          <a:lstStyle/>
          <a:p>
            <a:pPr algn="ctr"/>
            <a:r>
              <a:rPr lang="en-US" sz="1600" b="1" i="1" dirty="0">
                <a:solidFill>
                  <a:srgbClr val="C00000"/>
                </a:solidFill>
                <a:latin typeface="Aptos" panose="020B0004020202020204" pitchFamily="34" charset="0"/>
              </a:rPr>
              <a:t>Ground-truth Table</a:t>
            </a:r>
          </a:p>
        </p:txBody>
      </p:sp>
      <p:sp>
        <p:nvSpPr>
          <p:cNvPr id="10" name="TextBox 9">
            <a:extLst>
              <a:ext uri="{FF2B5EF4-FFF2-40B4-BE49-F238E27FC236}">
                <a16:creationId xmlns:a16="http://schemas.microsoft.com/office/drawing/2014/main" id="{138117B9-5F9A-6FDF-63BF-B203544398EE}"/>
              </a:ext>
            </a:extLst>
          </p:cNvPr>
          <p:cNvSpPr txBox="1"/>
          <p:nvPr/>
        </p:nvSpPr>
        <p:spPr>
          <a:xfrm rot="16200000">
            <a:off x="2610549" y="5683192"/>
            <a:ext cx="2743199" cy="338554"/>
          </a:xfrm>
          <a:prstGeom prst="rect">
            <a:avLst/>
          </a:prstGeom>
          <a:noFill/>
        </p:spPr>
        <p:txBody>
          <a:bodyPr wrap="square" rtlCol="0">
            <a:spAutoFit/>
          </a:bodyPr>
          <a:lstStyle>
            <a:defPPr>
              <a:defRPr lang="en-US"/>
            </a:defPPr>
            <a:lvl1pPr algn="ctr">
              <a:defRPr sz="1400" i="1">
                <a:solidFill>
                  <a:srgbClr val="C00000"/>
                </a:solidFill>
                <a:latin typeface="Comic Sans MS" panose="030F0702030302020204" pitchFamily="66" charset="0"/>
              </a:defRPr>
            </a:lvl1pPr>
          </a:lstStyle>
          <a:p>
            <a:r>
              <a:rPr lang="en-US" sz="1600" b="1" dirty="0">
                <a:latin typeface="Aptos" panose="020B0004020202020204" pitchFamily="34" charset="0"/>
              </a:rPr>
              <a:t>Generated Table</a:t>
            </a:r>
          </a:p>
        </p:txBody>
      </p:sp>
      <p:sp>
        <p:nvSpPr>
          <p:cNvPr id="2" name="Slide Number Placeholder 1">
            <a:extLst>
              <a:ext uri="{FF2B5EF4-FFF2-40B4-BE49-F238E27FC236}">
                <a16:creationId xmlns:a16="http://schemas.microsoft.com/office/drawing/2014/main" id="{C5CA4973-D776-363C-DD97-5783C20D53EA}"/>
              </a:ext>
            </a:extLst>
          </p:cNvPr>
          <p:cNvSpPr>
            <a:spLocks noGrp="1"/>
          </p:cNvSpPr>
          <p:nvPr>
            <p:ph type="sldNum" sz="quarter" idx="12"/>
          </p:nvPr>
        </p:nvSpPr>
        <p:spPr/>
        <p:txBody>
          <a:bodyPr/>
          <a:lstStyle/>
          <a:p>
            <a:fld id="{89C5782D-9F4E-41B2-BEC2-7E61B408EA47}" type="slidenum">
              <a:rPr lang="en-US" smtClean="0"/>
              <a:t>18</a:t>
            </a:fld>
            <a:endParaRPr lang="en-US"/>
          </a:p>
        </p:txBody>
      </p:sp>
      <p:sp>
        <p:nvSpPr>
          <p:cNvPr id="32" name="TextBox 31">
            <a:extLst>
              <a:ext uri="{FF2B5EF4-FFF2-40B4-BE49-F238E27FC236}">
                <a16:creationId xmlns:a16="http://schemas.microsoft.com/office/drawing/2014/main" id="{F05A91FA-EF0D-7DAB-A300-C1FD1D6D41E9}"/>
              </a:ext>
            </a:extLst>
          </p:cNvPr>
          <p:cNvSpPr txBox="1"/>
          <p:nvPr/>
        </p:nvSpPr>
        <p:spPr>
          <a:xfrm>
            <a:off x="4143941" y="2284224"/>
            <a:ext cx="1581885" cy="1200329"/>
          </a:xfrm>
          <a:prstGeom prst="rect">
            <a:avLst/>
          </a:prstGeom>
          <a:solidFill>
            <a:schemeClr val="bg1">
              <a:lumMod val="95000"/>
            </a:schemeClr>
          </a:solidFill>
        </p:spPr>
        <p:txBody>
          <a:bodyPr wrap="square" lIns="0" rIns="0">
            <a:spAutoFit/>
          </a:bodyPr>
          <a:lstStyle/>
          <a:p>
            <a:pPr algn="ctr"/>
            <a:r>
              <a:rPr lang="en-US" i="1" dirty="0">
                <a:solidFill>
                  <a:srgbClr val="C00000"/>
                </a:solidFill>
              </a:rPr>
              <a:t>table </a:t>
            </a:r>
            <a:r>
              <a:rPr lang="en-US" b="1" i="1" dirty="0">
                <a:solidFill>
                  <a:srgbClr val="C00000"/>
                </a:solidFill>
              </a:rPr>
              <a:t>schema</a:t>
            </a:r>
            <a:r>
              <a:rPr lang="en-US" i="1" dirty="0">
                <a:solidFill>
                  <a:schemeClr val="tx1"/>
                </a:solidFill>
              </a:rPr>
              <a:t>: </a:t>
            </a:r>
            <a:r>
              <a:rPr lang="en-US" i="1" dirty="0"/>
              <a:t> </a:t>
            </a:r>
          </a:p>
          <a:p>
            <a:pPr algn="ctr"/>
            <a:r>
              <a:rPr lang="en-US" sz="1800" i="1" dirty="0">
                <a:solidFill>
                  <a:schemeClr val="tx1"/>
                </a:solidFill>
                <a:latin typeface="Times" pitchFamily="2" charset="0"/>
              </a:rPr>
              <a:t>Is </a:t>
            </a:r>
            <a:r>
              <a:rPr lang="en-US" sz="1800" b="1" i="1" dirty="0">
                <a:solidFill>
                  <a:schemeClr val="accent6">
                    <a:lumMod val="50000"/>
                  </a:schemeClr>
                </a:solidFill>
                <a:latin typeface="Times" pitchFamily="2" charset="0"/>
              </a:rPr>
              <a:t>Dataset</a:t>
            </a:r>
            <a:r>
              <a:rPr lang="en-US" sz="1800" i="1" dirty="0">
                <a:solidFill>
                  <a:schemeClr val="tx1"/>
                </a:solidFill>
                <a:latin typeface="Times" pitchFamily="2" charset="0"/>
              </a:rPr>
              <a:t> included in the table schema?</a:t>
            </a:r>
          </a:p>
        </p:txBody>
      </p:sp>
      <p:sp>
        <p:nvSpPr>
          <p:cNvPr id="34" name="TextBox 33">
            <a:extLst>
              <a:ext uri="{FF2B5EF4-FFF2-40B4-BE49-F238E27FC236}">
                <a16:creationId xmlns:a16="http://schemas.microsoft.com/office/drawing/2014/main" id="{DA657E71-B117-9DEF-42B2-EED9759A13B7}"/>
              </a:ext>
            </a:extLst>
          </p:cNvPr>
          <p:cNvSpPr txBox="1"/>
          <p:nvPr/>
        </p:nvSpPr>
        <p:spPr>
          <a:xfrm>
            <a:off x="5785852" y="2287854"/>
            <a:ext cx="2027120" cy="1200329"/>
          </a:xfrm>
          <a:prstGeom prst="rect">
            <a:avLst/>
          </a:prstGeom>
          <a:solidFill>
            <a:schemeClr val="bg1">
              <a:lumMod val="95000"/>
            </a:schemeClr>
          </a:solidFill>
        </p:spPr>
        <p:txBody>
          <a:bodyPr wrap="square" lIns="0" rIns="0">
            <a:spAutoFit/>
          </a:bodyPr>
          <a:lstStyle/>
          <a:p>
            <a:pPr algn="ctr"/>
            <a:r>
              <a:rPr lang="en-US" b="1" i="1" dirty="0">
                <a:solidFill>
                  <a:srgbClr val="C00000"/>
                </a:solidFill>
              </a:rPr>
              <a:t>unary</a:t>
            </a:r>
            <a:r>
              <a:rPr lang="en-US" i="1" dirty="0">
                <a:solidFill>
                  <a:srgbClr val="C00000"/>
                </a:solidFill>
              </a:rPr>
              <a:t> (cell) values</a:t>
            </a:r>
            <a:r>
              <a:rPr lang="en-US" dirty="0">
                <a:solidFill>
                  <a:schemeClr val="tx1"/>
                </a:solidFill>
              </a:rPr>
              <a:t>:  </a:t>
            </a:r>
            <a:br>
              <a:rPr lang="en-US" dirty="0">
                <a:solidFill>
                  <a:schemeClr val="tx1"/>
                </a:solidFill>
              </a:rPr>
            </a:br>
            <a:r>
              <a:rPr lang="en-US" sz="1800" i="1" dirty="0">
                <a:solidFill>
                  <a:schemeClr val="tx1"/>
                </a:solidFill>
                <a:latin typeface="Times" pitchFamily="2" charset="0"/>
              </a:rPr>
              <a:t>Is </a:t>
            </a:r>
            <a:r>
              <a:rPr lang="en-US" sz="1800" b="1" i="1" dirty="0">
                <a:solidFill>
                  <a:schemeClr val="accent6">
                    <a:lumMod val="50000"/>
                  </a:schemeClr>
                </a:solidFill>
                <a:latin typeface="Times" pitchFamily="2" charset="0"/>
              </a:rPr>
              <a:t>CL, TL </a:t>
            </a:r>
            <a:r>
              <a:rPr lang="en-US" sz="1800" i="1" dirty="0">
                <a:solidFill>
                  <a:schemeClr val="tx1"/>
                </a:solidFill>
                <a:latin typeface="Times" pitchFamily="2" charset="0"/>
              </a:rPr>
              <a:t>the loss function for paper CN-</a:t>
            </a:r>
            <a:r>
              <a:rPr lang="en-US" sz="1800" i="1" dirty="0" err="1">
                <a:solidFill>
                  <a:schemeClr val="tx1"/>
                </a:solidFill>
                <a:latin typeface="Times" pitchFamily="2" charset="0"/>
              </a:rPr>
              <a:t>LexNet</a:t>
            </a:r>
            <a:r>
              <a:rPr lang="en-US" sz="1800" i="1" dirty="0">
                <a:solidFill>
                  <a:schemeClr val="tx1"/>
                </a:solidFill>
                <a:latin typeface="Times" pitchFamily="2" charset="0"/>
              </a:rPr>
              <a:t>?</a:t>
            </a:r>
          </a:p>
        </p:txBody>
      </p:sp>
      <p:sp>
        <p:nvSpPr>
          <p:cNvPr id="36" name="TextBox 35">
            <a:extLst>
              <a:ext uri="{FF2B5EF4-FFF2-40B4-BE49-F238E27FC236}">
                <a16:creationId xmlns:a16="http://schemas.microsoft.com/office/drawing/2014/main" id="{040470E2-7D26-A9F1-9F49-EE3C523F3ADE}"/>
              </a:ext>
            </a:extLst>
          </p:cNvPr>
          <p:cNvSpPr txBox="1"/>
          <p:nvPr/>
        </p:nvSpPr>
        <p:spPr>
          <a:xfrm>
            <a:off x="7875319" y="2277306"/>
            <a:ext cx="2310083" cy="1200329"/>
          </a:xfrm>
          <a:prstGeom prst="rect">
            <a:avLst/>
          </a:prstGeom>
          <a:solidFill>
            <a:schemeClr val="bg1">
              <a:lumMod val="95000"/>
            </a:schemeClr>
          </a:solidFill>
        </p:spPr>
        <p:txBody>
          <a:bodyPr wrap="square" lIns="0" rIns="0">
            <a:spAutoFit/>
          </a:bodyPr>
          <a:lstStyle/>
          <a:p>
            <a:pPr algn="ctr"/>
            <a:r>
              <a:rPr lang="en-US" b="1" i="1" dirty="0">
                <a:solidFill>
                  <a:srgbClr val="C00000"/>
                </a:solidFill>
              </a:rPr>
              <a:t>pairwise</a:t>
            </a:r>
            <a:r>
              <a:rPr lang="en-US" i="1" dirty="0">
                <a:solidFill>
                  <a:srgbClr val="C00000"/>
                </a:solidFill>
              </a:rPr>
              <a:t> comparisons</a:t>
            </a:r>
            <a:r>
              <a:rPr lang="en-US" dirty="0">
                <a:solidFill>
                  <a:schemeClr val="tx1"/>
                </a:solidFill>
              </a:rPr>
              <a:t>:  </a:t>
            </a:r>
            <a:br>
              <a:rPr lang="en-US" dirty="0">
                <a:solidFill>
                  <a:schemeClr val="tx1"/>
                </a:solidFill>
              </a:rPr>
            </a:br>
            <a:r>
              <a:rPr lang="en-US" sz="1800" i="1" dirty="0">
                <a:solidFill>
                  <a:schemeClr val="tx1"/>
                </a:solidFill>
                <a:latin typeface="Times" panose="02020603050405020304" pitchFamily="18" charset="0"/>
                <a:cs typeface="Times" panose="02020603050405020304" pitchFamily="18" charset="0"/>
              </a:rPr>
              <a:t>Is </a:t>
            </a:r>
            <a:r>
              <a:rPr lang="en-US" sz="1800" i="1" dirty="0" err="1">
                <a:solidFill>
                  <a:schemeClr val="tx1"/>
                </a:solidFill>
                <a:latin typeface="Times" panose="02020603050405020304" pitchFamily="18" charset="0"/>
                <a:cs typeface="Times" panose="02020603050405020304" pitchFamily="18" charset="0"/>
              </a:rPr>
              <a:t>ResNet</a:t>
            </a:r>
            <a:r>
              <a:rPr lang="en-US" sz="1800" i="1" dirty="0">
                <a:solidFill>
                  <a:schemeClr val="tx1"/>
                </a:solidFill>
                <a:latin typeface="Times" panose="02020603050405020304" pitchFamily="18" charset="0"/>
                <a:cs typeface="Times" panose="02020603050405020304" pitchFamily="18" charset="0"/>
              </a:rPr>
              <a:t> using </a:t>
            </a:r>
            <a:r>
              <a:rPr lang="en-US" sz="1800" b="1" i="1" dirty="0">
                <a:solidFill>
                  <a:schemeClr val="accent6">
                    <a:lumMod val="50000"/>
                  </a:schemeClr>
                </a:solidFill>
                <a:latin typeface="Times" panose="02020603050405020304" pitchFamily="18" charset="0"/>
                <a:cs typeface="Times" panose="02020603050405020304" pitchFamily="18" charset="0"/>
              </a:rPr>
              <a:t>more evaluation metrics</a:t>
            </a:r>
            <a:r>
              <a:rPr lang="en-US" sz="1800" i="1" dirty="0">
                <a:solidFill>
                  <a:schemeClr val="tx1"/>
                </a:solidFill>
                <a:latin typeface="Times" panose="02020603050405020304" pitchFamily="18" charset="0"/>
                <a:cs typeface="Times" panose="02020603050405020304" pitchFamily="18" charset="0"/>
              </a:rPr>
              <a:t> </a:t>
            </a:r>
            <a:br>
              <a:rPr lang="en-US" sz="1800" i="1" dirty="0">
                <a:solidFill>
                  <a:schemeClr val="tx1"/>
                </a:solidFill>
                <a:latin typeface="Times" panose="02020603050405020304" pitchFamily="18" charset="0"/>
                <a:cs typeface="Times" panose="02020603050405020304" pitchFamily="18" charset="0"/>
              </a:rPr>
            </a:br>
            <a:r>
              <a:rPr lang="en-US" sz="1800" i="1" dirty="0">
                <a:solidFill>
                  <a:schemeClr val="tx1"/>
                </a:solidFill>
                <a:latin typeface="Times" panose="02020603050405020304" pitchFamily="18" charset="0"/>
                <a:cs typeface="Times" panose="02020603050405020304" pitchFamily="18" charset="0"/>
              </a:rPr>
              <a:t>than GAN?</a:t>
            </a:r>
            <a:endParaRPr lang="en-US" i="1" dirty="0">
              <a:solidFill>
                <a:schemeClr val="tx1"/>
              </a:solidFill>
              <a:latin typeface="Times" panose="02020603050405020304" pitchFamily="18" charset="0"/>
              <a:cs typeface="Times" panose="02020603050405020304" pitchFamily="18" charset="0"/>
            </a:endParaRPr>
          </a:p>
        </p:txBody>
      </p:sp>
      <p:cxnSp>
        <p:nvCxnSpPr>
          <p:cNvPr id="62" name="Curved Connector 61">
            <a:extLst>
              <a:ext uri="{FF2B5EF4-FFF2-40B4-BE49-F238E27FC236}">
                <a16:creationId xmlns:a16="http://schemas.microsoft.com/office/drawing/2014/main" id="{7CDBE65E-42EE-34E7-2E25-9424103E085E}"/>
              </a:ext>
            </a:extLst>
          </p:cNvPr>
          <p:cNvCxnSpPr>
            <a:cxnSpLocks/>
            <a:stCxn id="36" idx="2"/>
          </p:cNvCxnSpPr>
          <p:nvPr/>
        </p:nvCxnSpPr>
        <p:spPr>
          <a:xfrm rot="16200000" flipH="1">
            <a:off x="8200741" y="4307255"/>
            <a:ext cx="1671524" cy="12284"/>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AEED0EFB-4006-16CB-FA16-B133FAE72161}"/>
              </a:ext>
            </a:extLst>
          </p:cNvPr>
          <p:cNvSpPr txBox="1"/>
          <p:nvPr/>
        </p:nvSpPr>
        <p:spPr>
          <a:xfrm>
            <a:off x="8844573" y="4425692"/>
            <a:ext cx="1499528" cy="646331"/>
          </a:xfrm>
          <a:prstGeom prst="rect">
            <a:avLst/>
          </a:prstGeom>
          <a:noFill/>
        </p:spPr>
        <p:txBody>
          <a:bodyPr wrap="square">
            <a:spAutoFit/>
          </a:bodyPr>
          <a:lstStyle/>
          <a:p>
            <a:pPr algn="ctr"/>
            <a:r>
              <a:rPr lang="en-US" dirty="0">
                <a:solidFill>
                  <a:srgbClr val="C00000"/>
                </a:solidFill>
              </a:rPr>
              <a:t>Incorrect! </a:t>
            </a:r>
          </a:p>
          <a:p>
            <a:pPr algn="ctr"/>
            <a:r>
              <a:rPr lang="en-US" dirty="0">
                <a:solidFill>
                  <a:srgbClr val="C00000"/>
                </a:solidFill>
              </a:rPr>
              <a:t>❌</a:t>
            </a:r>
            <a:endParaRPr lang="en-US" sz="1800" dirty="0">
              <a:solidFill>
                <a:schemeClr val="tx1"/>
              </a:solidFill>
            </a:endParaRPr>
          </a:p>
        </p:txBody>
      </p:sp>
      <p:sp>
        <p:nvSpPr>
          <p:cNvPr id="65" name="TextBox 64">
            <a:extLst>
              <a:ext uri="{FF2B5EF4-FFF2-40B4-BE49-F238E27FC236}">
                <a16:creationId xmlns:a16="http://schemas.microsoft.com/office/drawing/2014/main" id="{B5857868-2E14-8BA7-F7B2-9C9B7160EEA8}"/>
              </a:ext>
            </a:extLst>
          </p:cNvPr>
          <p:cNvSpPr txBox="1"/>
          <p:nvPr/>
        </p:nvSpPr>
        <p:spPr>
          <a:xfrm>
            <a:off x="4610447" y="4417808"/>
            <a:ext cx="1472545" cy="646331"/>
          </a:xfrm>
          <a:prstGeom prst="rect">
            <a:avLst/>
          </a:prstGeom>
          <a:noFill/>
        </p:spPr>
        <p:txBody>
          <a:bodyPr wrap="square">
            <a:spAutoFit/>
          </a:bodyPr>
          <a:lstStyle/>
          <a:p>
            <a:pPr algn="ctr"/>
            <a:r>
              <a:rPr lang="en-US" sz="1800" dirty="0">
                <a:solidFill>
                  <a:schemeClr val="tx1"/>
                </a:solidFill>
              </a:rPr>
              <a:t>Correct!</a:t>
            </a:r>
            <a:r>
              <a:rPr lang="en-US" dirty="0"/>
              <a:t> </a:t>
            </a:r>
            <a:endParaRPr lang="en-US" sz="1800" dirty="0">
              <a:solidFill>
                <a:schemeClr val="tx1"/>
              </a:solidFill>
            </a:endParaRPr>
          </a:p>
          <a:p>
            <a:pPr algn="ctr"/>
            <a:r>
              <a:rPr lang="en-US" sz="1800" dirty="0">
                <a:solidFill>
                  <a:schemeClr val="tx1"/>
                </a:solidFill>
              </a:rPr>
              <a:t>✅ </a:t>
            </a:r>
          </a:p>
        </p:txBody>
      </p:sp>
      <p:sp>
        <p:nvSpPr>
          <p:cNvPr id="67" name="TextBox 66">
            <a:extLst>
              <a:ext uri="{FF2B5EF4-FFF2-40B4-BE49-F238E27FC236}">
                <a16:creationId xmlns:a16="http://schemas.microsoft.com/office/drawing/2014/main" id="{2E7FB4BB-7F96-D7BA-70FA-8A97082C78B7}"/>
              </a:ext>
            </a:extLst>
          </p:cNvPr>
          <p:cNvSpPr txBox="1"/>
          <p:nvPr/>
        </p:nvSpPr>
        <p:spPr>
          <a:xfrm>
            <a:off x="6535052" y="4425692"/>
            <a:ext cx="1472545" cy="646331"/>
          </a:xfrm>
          <a:prstGeom prst="rect">
            <a:avLst/>
          </a:prstGeom>
          <a:noFill/>
        </p:spPr>
        <p:txBody>
          <a:bodyPr wrap="square">
            <a:spAutoFit/>
          </a:bodyPr>
          <a:lstStyle/>
          <a:p>
            <a:pPr algn="ctr"/>
            <a:r>
              <a:rPr lang="en-US" sz="1800" dirty="0">
                <a:solidFill>
                  <a:schemeClr val="tx1"/>
                </a:solidFill>
              </a:rPr>
              <a:t>Correct!</a:t>
            </a:r>
            <a:r>
              <a:rPr lang="en-US" dirty="0"/>
              <a:t> </a:t>
            </a:r>
            <a:endParaRPr lang="en-US" sz="1800" dirty="0">
              <a:solidFill>
                <a:schemeClr val="tx1"/>
              </a:solidFill>
            </a:endParaRPr>
          </a:p>
          <a:p>
            <a:pPr algn="ctr"/>
            <a:r>
              <a:rPr lang="en-US" sz="1800" dirty="0">
                <a:solidFill>
                  <a:schemeClr val="tx1"/>
                </a:solidFill>
              </a:rPr>
              <a:t>✅ </a:t>
            </a:r>
          </a:p>
        </p:txBody>
      </p:sp>
      <p:cxnSp>
        <p:nvCxnSpPr>
          <p:cNvPr id="14" name="Straight Arrow Connector 13">
            <a:extLst>
              <a:ext uri="{FF2B5EF4-FFF2-40B4-BE49-F238E27FC236}">
                <a16:creationId xmlns:a16="http://schemas.microsoft.com/office/drawing/2014/main" id="{228ED989-1463-D986-811B-45CA9EA2E407}"/>
              </a:ext>
            </a:extLst>
          </p:cNvPr>
          <p:cNvCxnSpPr>
            <a:cxnSpLocks/>
            <a:stCxn id="34" idx="2"/>
          </p:cNvCxnSpPr>
          <p:nvPr/>
        </p:nvCxnSpPr>
        <p:spPr>
          <a:xfrm>
            <a:off x="6799412" y="3488183"/>
            <a:ext cx="0" cy="1681246"/>
          </a:xfrm>
          <a:prstGeom prst="straightConnector1">
            <a:avLst/>
          </a:prstGeom>
          <a:ln w="571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urved Connector 15">
            <a:extLst>
              <a:ext uri="{FF2B5EF4-FFF2-40B4-BE49-F238E27FC236}">
                <a16:creationId xmlns:a16="http://schemas.microsoft.com/office/drawing/2014/main" id="{D26165CB-80E6-BCB3-F5DA-FA9561D3058B}"/>
              </a:ext>
            </a:extLst>
          </p:cNvPr>
          <p:cNvCxnSpPr>
            <a:cxnSpLocks/>
            <a:endCxn id="36" idx="0"/>
          </p:cNvCxnSpPr>
          <p:nvPr/>
        </p:nvCxnSpPr>
        <p:spPr>
          <a:xfrm rot="16200000" flipH="1">
            <a:off x="8761251" y="2008195"/>
            <a:ext cx="538219" cy="1"/>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3CDDD2C5-DCAD-1102-E444-84AC01CDD33B}"/>
              </a:ext>
            </a:extLst>
          </p:cNvPr>
          <p:cNvCxnSpPr>
            <a:cxnSpLocks/>
          </p:cNvCxnSpPr>
          <p:nvPr/>
        </p:nvCxnSpPr>
        <p:spPr>
          <a:xfrm rot="16200000" flipH="1">
            <a:off x="6535196" y="2008195"/>
            <a:ext cx="538219" cy="1"/>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urved Connector 22">
            <a:extLst>
              <a:ext uri="{FF2B5EF4-FFF2-40B4-BE49-F238E27FC236}">
                <a16:creationId xmlns:a16="http://schemas.microsoft.com/office/drawing/2014/main" id="{56AD366F-0D32-3FB2-979E-B578926B65D3}"/>
              </a:ext>
            </a:extLst>
          </p:cNvPr>
          <p:cNvCxnSpPr>
            <a:cxnSpLocks/>
          </p:cNvCxnSpPr>
          <p:nvPr/>
        </p:nvCxnSpPr>
        <p:spPr>
          <a:xfrm rot="16200000" flipH="1">
            <a:off x="4665774" y="2013517"/>
            <a:ext cx="538219" cy="1"/>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FAD6B5C-4A59-C88B-3572-81DE9D602FCF}"/>
              </a:ext>
            </a:extLst>
          </p:cNvPr>
          <p:cNvCxnSpPr>
            <a:cxnSpLocks/>
          </p:cNvCxnSpPr>
          <p:nvPr/>
        </p:nvCxnSpPr>
        <p:spPr>
          <a:xfrm>
            <a:off x="4876926" y="3488183"/>
            <a:ext cx="0" cy="1681246"/>
          </a:xfrm>
          <a:prstGeom prst="straightConnector1">
            <a:avLst/>
          </a:prstGeom>
          <a:ln w="5715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Rounded Corners 9">
            <a:extLst>
              <a:ext uri="{FF2B5EF4-FFF2-40B4-BE49-F238E27FC236}">
                <a16:creationId xmlns:a16="http://schemas.microsoft.com/office/drawing/2014/main" id="{8978F573-DEDB-708E-F3B4-B6272272193B}"/>
              </a:ext>
            </a:extLst>
          </p:cNvPr>
          <p:cNvSpPr/>
          <p:nvPr/>
        </p:nvSpPr>
        <p:spPr>
          <a:xfrm>
            <a:off x="4142300" y="3781440"/>
            <a:ext cx="6133171" cy="576755"/>
          </a:xfrm>
          <a:prstGeom prst="roundRect">
            <a:avLst/>
          </a:prstGeom>
          <a:solidFill>
            <a:srgbClr val="F2F2F2">
              <a:alpha val="69020"/>
            </a:srgb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500" dirty="0">
                <a:solidFill>
                  <a:schemeClr val="tx1"/>
                </a:solidFill>
              </a:rPr>
              <a:t>The ratio of “correct” indicates the </a:t>
            </a:r>
            <a:r>
              <a:rPr lang="en-US" sz="2500" b="1" dirty="0">
                <a:solidFill>
                  <a:srgbClr val="C00000"/>
                </a:solidFill>
              </a:rPr>
              <a:t>recall</a:t>
            </a:r>
            <a:r>
              <a:rPr lang="en-US" sz="2500" dirty="0">
                <a:solidFill>
                  <a:schemeClr val="tx1"/>
                </a:solidFill>
              </a:rPr>
              <a:t>.</a:t>
            </a:r>
          </a:p>
        </p:txBody>
      </p:sp>
      <p:sp>
        <p:nvSpPr>
          <p:cNvPr id="27" name="TextBox 26">
            <a:extLst>
              <a:ext uri="{FF2B5EF4-FFF2-40B4-BE49-F238E27FC236}">
                <a16:creationId xmlns:a16="http://schemas.microsoft.com/office/drawing/2014/main" id="{7F52C8A7-81DF-9961-1FAA-4BE7EB553AA1}"/>
              </a:ext>
            </a:extLst>
          </p:cNvPr>
          <p:cNvSpPr txBox="1"/>
          <p:nvPr/>
        </p:nvSpPr>
        <p:spPr>
          <a:xfrm rot="16200000">
            <a:off x="2844606" y="2686159"/>
            <a:ext cx="2256834" cy="338554"/>
          </a:xfrm>
          <a:prstGeom prst="rect">
            <a:avLst/>
          </a:prstGeom>
          <a:noFill/>
        </p:spPr>
        <p:txBody>
          <a:bodyPr wrap="square" rtlCol="0">
            <a:spAutoFit/>
          </a:bodyPr>
          <a:lstStyle/>
          <a:p>
            <a:pPr algn="ctr"/>
            <a:r>
              <a:rPr lang="en-US" sz="1600" b="1" i="1" dirty="0">
                <a:solidFill>
                  <a:srgbClr val="C00000"/>
                </a:solidFill>
                <a:latin typeface="Aptos" panose="020B0004020202020204" pitchFamily="34" charset="0"/>
              </a:rPr>
              <a:t>Questions</a:t>
            </a:r>
          </a:p>
        </p:txBody>
      </p:sp>
    </p:spTree>
    <p:extLst>
      <p:ext uri="{BB962C8B-B14F-4D97-AF65-F5344CB8AC3E}">
        <p14:creationId xmlns:p14="http://schemas.microsoft.com/office/powerpoint/2010/main" val="186254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50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animEffect transition="in" filter="fade">
                                      <p:cBhvr>
                                        <p:cTn id="33" dur="500"/>
                                        <p:tgtEl>
                                          <p:spTgt spid="6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fade">
                                      <p:cBhvr>
                                        <p:cTn id="36" dur="500"/>
                                        <p:tgtEl>
                                          <p:spTgt spid="63"/>
                                        </p:tgtEl>
                                      </p:cBhvr>
                                    </p:animEffect>
                                  </p:childTnLst>
                                </p:cTn>
                              </p:par>
                              <p:par>
                                <p:cTn id="37" presetID="10" presetClass="entr" presetSubtype="0" fill="hold"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500"/>
                                        <p:tgtEl>
                                          <p:spTgt spid="62"/>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2" grpId="0" animBg="1"/>
      <p:bldP spid="34" grpId="0" animBg="1"/>
      <p:bldP spid="36" grpId="0" animBg="1"/>
      <p:bldP spid="63" grpId="0"/>
      <p:bldP spid="65" grpId="0"/>
      <p:bldP spid="67" grpId="0"/>
      <p:bldP spid="26" grpId="0" animBg="1"/>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95548-C9A9-1CAE-6D68-8F5ADACF06F8}"/>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0190C59-D875-F5A1-2DA9-1188362C46BB}"/>
              </a:ext>
            </a:extLst>
          </p:cNvPr>
          <p:cNvGraphicFramePr>
            <a:graphicFrameLocks noGrp="1"/>
          </p:cNvGraphicFramePr>
          <p:nvPr/>
        </p:nvGraphicFramePr>
        <p:xfrm>
          <a:off x="4459803" y="5138273"/>
          <a:ext cx="5385384" cy="1645920"/>
        </p:xfrm>
        <a:graphic>
          <a:graphicData uri="http://schemas.openxmlformats.org/drawingml/2006/table">
            <a:tbl>
              <a:tblPr firstRow="1" bandRow="1">
                <a:tableStyleId>{1FECB4D8-DB02-4DC6-A0A2-4F2EBAE1DC90}</a:tableStyleId>
              </a:tblPr>
              <a:tblGrid>
                <a:gridCol w="1288435">
                  <a:extLst>
                    <a:ext uri="{9D8B030D-6E8A-4147-A177-3AD203B41FA5}">
                      <a16:colId xmlns:a16="http://schemas.microsoft.com/office/drawing/2014/main" val="2640610835"/>
                    </a:ext>
                  </a:extLst>
                </a:gridCol>
                <a:gridCol w="1404257">
                  <a:extLst>
                    <a:ext uri="{9D8B030D-6E8A-4147-A177-3AD203B41FA5}">
                      <a16:colId xmlns:a16="http://schemas.microsoft.com/office/drawing/2014/main" val="1595008830"/>
                    </a:ext>
                  </a:extLst>
                </a:gridCol>
                <a:gridCol w="1346346">
                  <a:extLst>
                    <a:ext uri="{9D8B030D-6E8A-4147-A177-3AD203B41FA5}">
                      <a16:colId xmlns:a16="http://schemas.microsoft.com/office/drawing/2014/main" val="617729621"/>
                    </a:ext>
                  </a:extLst>
                </a:gridCol>
                <a:gridCol w="1346346">
                  <a:extLst>
                    <a:ext uri="{9D8B030D-6E8A-4147-A177-3AD203B41FA5}">
                      <a16:colId xmlns:a16="http://schemas.microsoft.com/office/drawing/2014/main" val="22395726"/>
                    </a:ext>
                  </a:extLst>
                </a:gridCol>
              </a:tblGrid>
              <a:tr h="329334">
                <a:tc>
                  <a:txBody>
                    <a:bodyPr/>
                    <a:lstStyle/>
                    <a:p>
                      <a:r>
                        <a:rPr lang="en-US" i="1">
                          <a:latin typeface="Times" pitchFamily="2" charset="0"/>
                        </a:rPr>
                        <a:t>CBFIR Networks</a:t>
                      </a:r>
                    </a:p>
                  </a:txBody>
                  <a:tcPr/>
                </a:tc>
                <a:tc>
                  <a:txBody>
                    <a:bodyPr/>
                    <a:lstStyle/>
                    <a:p>
                      <a:r>
                        <a:rPr lang="en-US" i="1">
                          <a:latin typeface="Times" pitchFamily="2" charset="0"/>
                        </a:rPr>
                        <a:t>Datasets</a:t>
                      </a:r>
                    </a:p>
                  </a:txBody>
                  <a:tcPr/>
                </a:tc>
                <a:tc>
                  <a:txBody>
                    <a:bodyPr/>
                    <a:lstStyle/>
                    <a:p>
                      <a:r>
                        <a:rPr lang="en-US" i="1">
                          <a:latin typeface="Times" pitchFamily="2" charset="0"/>
                        </a:rPr>
                        <a:t>Evaluation Metrics</a:t>
                      </a:r>
                    </a:p>
                  </a:txBody>
                  <a:tcPr/>
                </a:tc>
                <a:tc>
                  <a:txBody>
                    <a:bodyPr/>
                    <a:lstStyle/>
                    <a:p>
                      <a:r>
                        <a:rPr lang="en-US" i="1">
                          <a:latin typeface="Times" pitchFamily="2" charset="0"/>
                        </a:rPr>
                        <a:t>Loss Function</a:t>
                      </a:r>
                    </a:p>
                  </a:txBody>
                  <a:tcPr/>
                </a:tc>
                <a:extLst>
                  <a:ext uri="{0D108BD9-81ED-4DB2-BD59-A6C34878D82A}">
                    <a16:rowId xmlns:a16="http://schemas.microsoft.com/office/drawing/2014/main" val="2639143297"/>
                  </a:ext>
                </a:extLst>
              </a:tr>
              <a:tr h="329334">
                <a:tc>
                  <a:txBody>
                    <a:bodyPr/>
                    <a:lstStyle/>
                    <a:p>
                      <a:r>
                        <a:rPr lang="en-US" sz="1600" i="1">
                          <a:latin typeface="Times" pitchFamily="2" charset="0"/>
                        </a:rPr>
                        <a:t>GAN</a:t>
                      </a:r>
                    </a:p>
                  </a:txBody>
                  <a:tcPr/>
                </a:tc>
                <a:tc>
                  <a:txBody>
                    <a:bodyPr/>
                    <a:lstStyle/>
                    <a:p>
                      <a:r>
                        <a:rPr lang="en-US" sz="1600" i="1">
                          <a:latin typeface="Times" pitchFamily="2" charset="0"/>
                        </a:rPr>
                        <a:t>DARN</a:t>
                      </a:r>
                    </a:p>
                  </a:txBody>
                  <a:tcPr/>
                </a:tc>
                <a:tc>
                  <a:txBody>
                    <a:bodyPr/>
                    <a:lstStyle/>
                    <a:p>
                      <a:r>
                        <a:rPr lang="en-US" sz="1600" i="1">
                          <a:latin typeface="Times" pitchFamily="2" charset="0"/>
                        </a:rPr>
                        <a:t>Recall@1</a:t>
                      </a:r>
                    </a:p>
                  </a:txBody>
                  <a:tcPr/>
                </a:tc>
                <a:tc>
                  <a:txBody>
                    <a:bodyPr/>
                    <a:lstStyle/>
                    <a:p>
                      <a:r>
                        <a:rPr lang="en-US" sz="1600" i="1">
                          <a:latin typeface="Times" pitchFamily="2" charset="0"/>
                        </a:rPr>
                        <a:t>TL, AL</a:t>
                      </a:r>
                    </a:p>
                  </a:txBody>
                  <a:tcPr/>
                </a:tc>
                <a:extLst>
                  <a:ext uri="{0D108BD9-81ED-4DB2-BD59-A6C34878D82A}">
                    <a16:rowId xmlns:a16="http://schemas.microsoft.com/office/drawing/2014/main" val="3457608485"/>
                  </a:ext>
                </a:extLst>
              </a:tr>
              <a:tr h="329334">
                <a:tc>
                  <a:txBody>
                    <a:bodyPr/>
                    <a:lstStyle/>
                    <a:p>
                      <a:r>
                        <a:rPr lang="en-US" sz="1600" i="1">
                          <a:latin typeface="Times" pitchFamily="2" charset="0"/>
                        </a:rPr>
                        <a:t>CN-</a:t>
                      </a:r>
                      <a:r>
                        <a:rPr lang="en-US" sz="1600" i="1" err="1">
                          <a:latin typeface="Times" pitchFamily="2" charset="0"/>
                        </a:rPr>
                        <a:t>LexNet</a:t>
                      </a:r>
                      <a:endParaRPr lang="en-US" sz="1600" i="1">
                        <a:latin typeface="Times" pitchFamily="2" charset="0"/>
                      </a:endParaRPr>
                    </a:p>
                  </a:txBody>
                  <a:tcPr/>
                </a:tc>
                <a:tc>
                  <a:txBody>
                    <a:bodyPr/>
                    <a:lstStyle/>
                    <a:p>
                      <a:r>
                        <a:rPr lang="en-US" sz="1400" i="1">
                          <a:latin typeface="Times" pitchFamily="2" charset="0"/>
                        </a:rPr>
                        <a:t>Shopping100K</a:t>
                      </a:r>
                    </a:p>
                  </a:txBody>
                  <a:tcPr/>
                </a:tc>
                <a:tc>
                  <a:txBody>
                    <a:bodyPr/>
                    <a:lstStyle/>
                    <a:p>
                      <a:r>
                        <a:rPr lang="en-US" sz="1600" i="1">
                          <a:latin typeface="Times" pitchFamily="2" charset="0"/>
                        </a:rPr>
                        <a:t>Recall@20</a:t>
                      </a:r>
                    </a:p>
                  </a:txBody>
                  <a:tcPr/>
                </a:tc>
                <a:tc>
                  <a:txBody>
                    <a:bodyPr/>
                    <a:lstStyle/>
                    <a:p>
                      <a:r>
                        <a:rPr lang="en-US" sz="1600" i="1">
                          <a:latin typeface="Times" pitchFamily="2" charset="0"/>
                        </a:rPr>
                        <a:t>CL, TL</a:t>
                      </a:r>
                    </a:p>
                  </a:txBody>
                  <a:tcPr/>
                </a:tc>
                <a:extLst>
                  <a:ext uri="{0D108BD9-81ED-4DB2-BD59-A6C34878D82A}">
                    <a16:rowId xmlns:a16="http://schemas.microsoft.com/office/drawing/2014/main" val="1318391071"/>
                  </a:ext>
                </a:extLst>
              </a:tr>
              <a:tr h="321978">
                <a:tc>
                  <a:txBody>
                    <a:bodyPr/>
                    <a:lstStyle/>
                    <a:p>
                      <a:r>
                        <a:rPr lang="en-US" sz="1600" i="1">
                          <a:latin typeface="Times" pitchFamily="2" charset="0"/>
                        </a:rPr>
                        <a:t>ResNet-v2</a:t>
                      </a:r>
                    </a:p>
                  </a:txBody>
                  <a:tcPr/>
                </a:tc>
                <a:tc>
                  <a:txBody>
                    <a:bodyPr/>
                    <a:lstStyle/>
                    <a:p>
                      <a:r>
                        <a:rPr lang="en-US" sz="1600" b="0" i="1" kern="1200" err="1">
                          <a:solidFill>
                            <a:schemeClr val="dk1"/>
                          </a:solidFill>
                          <a:effectLst/>
                          <a:latin typeface="Times" pitchFamily="2" charset="0"/>
                          <a:ea typeface="+mn-ea"/>
                          <a:cs typeface="+mn-cs"/>
                        </a:rPr>
                        <a:t>DeepFashion</a:t>
                      </a:r>
                      <a:endParaRPr lang="en-US" sz="1600" i="1">
                        <a:latin typeface="Times" pitchFamily="2" charset="0"/>
                      </a:endParaRPr>
                    </a:p>
                  </a:txBody>
                  <a:tcPr/>
                </a:tc>
                <a:tc>
                  <a:txBody>
                    <a:bodyPr/>
                    <a:lstStyle/>
                    <a:p>
                      <a:r>
                        <a:rPr lang="en-US" sz="1600" i="1">
                          <a:latin typeface="Times" pitchFamily="2" charset="0"/>
                        </a:rPr>
                        <a:t>Recall@1,10</a:t>
                      </a:r>
                    </a:p>
                  </a:txBody>
                  <a:tcPr/>
                </a:tc>
                <a:tc>
                  <a:txBody>
                    <a:bodyPr/>
                    <a:lstStyle/>
                    <a:p>
                      <a:r>
                        <a:rPr lang="en-US" sz="1600" i="1">
                          <a:latin typeface="Times" pitchFamily="2" charset="0"/>
                        </a:rPr>
                        <a:t>BCE Loss</a:t>
                      </a:r>
                    </a:p>
                  </a:txBody>
                  <a:tcPr/>
                </a:tc>
                <a:extLst>
                  <a:ext uri="{0D108BD9-81ED-4DB2-BD59-A6C34878D82A}">
                    <a16:rowId xmlns:a16="http://schemas.microsoft.com/office/drawing/2014/main" val="1631004287"/>
                  </a:ext>
                </a:extLst>
              </a:tr>
            </a:tbl>
          </a:graphicData>
        </a:graphic>
      </p:graphicFrame>
      <p:graphicFrame>
        <p:nvGraphicFramePr>
          <p:cNvPr id="8" name="Table 7">
            <a:extLst>
              <a:ext uri="{FF2B5EF4-FFF2-40B4-BE49-F238E27FC236}">
                <a16:creationId xmlns:a16="http://schemas.microsoft.com/office/drawing/2014/main" id="{731A06A7-A39D-FD80-9ED6-345BD3E17AFF}"/>
              </a:ext>
            </a:extLst>
          </p:cNvPr>
          <p:cNvGraphicFramePr>
            <a:graphicFrameLocks noGrp="1"/>
          </p:cNvGraphicFramePr>
          <p:nvPr/>
        </p:nvGraphicFramePr>
        <p:xfrm>
          <a:off x="4459803" y="125273"/>
          <a:ext cx="5555467" cy="1645920"/>
        </p:xfrm>
        <a:graphic>
          <a:graphicData uri="http://schemas.openxmlformats.org/drawingml/2006/table">
            <a:tbl>
              <a:tblPr firstRow="1" bandRow="1">
                <a:tableStyleId>{B301B821-A1FF-4177-AEE7-76D212191A09}</a:tableStyleId>
              </a:tblPr>
              <a:tblGrid>
                <a:gridCol w="1249311">
                  <a:extLst>
                    <a:ext uri="{9D8B030D-6E8A-4147-A177-3AD203B41FA5}">
                      <a16:colId xmlns:a16="http://schemas.microsoft.com/office/drawing/2014/main" val="2640610835"/>
                    </a:ext>
                  </a:extLst>
                </a:gridCol>
                <a:gridCol w="1146447">
                  <a:extLst>
                    <a:ext uri="{9D8B030D-6E8A-4147-A177-3AD203B41FA5}">
                      <a16:colId xmlns:a16="http://schemas.microsoft.com/office/drawing/2014/main" val="1595008830"/>
                    </a:ext>
                  </a:extLst>
                </a:gridCol>
                <a:gridCol w="1124679">
                  <a:extLst>
                    <a:ext uri="{9D8B030D-6E8A-4147-A177-3AD203B41FA5}">
                      <a16:colId xmlns:a16="http://schemas.microsoft.com/office/drawing/2014/main" val="617729621"/>
                    </a:ext>
                  </a:extLst>
                </a:gridCol>
                <a:gridCol w="2035030">
                  <a:extLst>
                    <a:ext uri="{9D8B030D-6E8A-4147-A177-3AD203B41FA5}">
                      <a16:colId xmlns:a16="http://schemas.microsoft.com/office/drawing/2014/main" val="22395726"/>
                    </a:ext>
                  </a:extLst>
                </a:gridCol>
              </a:tblGrid>
              <a:tr h="329334">
                <a:tc>
                  <a:txBody>
                    <a:bodyPr/>
                    <a:lstStyle/>
                    <a:p>
                      <a:r>
                        <a:rPr lang="en-US" i="1">
                          <a:latin typeface="Times" pitchFamily="2" charset="0"/>
                        </a:rPr>
                        <a:t>Backbone Model</a:t>
                      </a:r>
                    </a:p>
                  </a:txBody>
                  <a:tcPr/>
                </a:tc>
                <a:tc>
                  <a:txBody>
                    <a:bodyPr/>
                    <a:lstStyle/>
                    <a:p>
                      <a:r>
                        <a:rPr lang="en-US" i="1">
                          <a:latin typeface="Times" pitchFamily="2" charset="0"/>
                        </a:rPr>
                        <a:t>Losses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i="1">
                          <a:latin typeface="Times" pitchFamily="2" charset="0"/>
                        </a:rPr>
                        <a:t>Attributes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i="1">
                          <a:latin typeface="Times" pitchFamily="2" charset="0"/>
                        </a:rPr>
                        <a:t>Datasets</a:t>
                      </a:r>
                    </a:p>
                    <a:p>
                      <a:endParaRPr lang="en-US" i="1">
                        <a:latin typeface="Times" pitchFamily="2" charset="0"/>
                      </a:endParaRPr>
                    </a:p>
                  </a:txBody>
                  <a:tcPr/>
                </a:tc>
                <a:extLst>
                  <a:ext uri="{0D108BD9-81ED-4DB2-BD59-A6C34878D82A}">
                    <a16:rowId xmlns:a16="http://schemas.microsoft.com/office/drawing/2014/main" val="2639143297"/>
                  </a:ext>
                </a:extLst>
              </a:tr>
              <a:tr h="329334">
                <a:tc>
                  <a:txBody>
                    <a:bodyPr/>
                    <a:lstStyle/>
                    <a:p>
                      <a:pPr marL="0" algn="l" defTabSz="917966" rtl="0" eaLnBrk="1" latinLnBrk="0" hangingPunct="1"/>
                      <a:r>
                        <a:rPr lang="en-US" sz="1600" i="1" kern="1200">
                          <a:solidFill>
                            <a:schemeClr val="dk1"/>
                          </a:solidFill>
                          <a:latin typeface="Times" pitchFamily="2" charset="0"/>
                          <a:ea typeface="+mn-ea"/>
                          <a:cs typeface="+mn-cs"/>
                        </a:rPr>
                        <a:t>GAN</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TL+AL</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Shape</a:t>
                      </a:r>
                    </a:p>
                  </a:txBody>
                  <a:tcPr/>
                </a:tc>
                <a:tc>
                  <a:txBody>
                    <a:bodyPr/>
                    <a:lstStyle/>
                    <a:p>
                      <a:r>
                        <a:rPr lang="en-US" sz="1600" i="1">
                          <a:latin typeface="Times" pitchFamily="2" charset="0"/>
                        </a:rPr>
                        <a:t>DARN Color</a:t>
                      </a:r>
                    </a:p>
                  </a:txBody>
                  <a:tcPr/>
                </a:tc>
                <a:extLst>
                  <a:ext uri="{0D108BD9-81ED-4DB2-BD59-A6C34878D82A}">
                    <a16:rowId xmlns:a16="http://schemas.microsoft.com/office/drawing/2014/main" val="3457608485"/>
                  </a:ext>
                </a:extLst>
              </a:tr>
              <a:tr h="329334">
                <a:tc>
                  <a:txBody>
                    <a:bodyPr/>
                    <a:lstStyle/>
                    <a:p>
                      <a:pPr marL="0" algn="l" defTabSz="917966" rtl="0" eaLnBrk="1" latinLnBrk="0" hangingPunct="1"/>
                      <a:r>
                        <a:rPr lang="en-US" sz="1600" i="1" kern="1200" err="1">
                          <a:solidFill>
                            <a:schemeClr val="dk1"/>
                          </a:solidFill>
                          <a:latin typeface="Times" pitchFamily="2" charset="0"/>
                          <a:ea typeface="+mn-ea"/>
                          <a:cs typeface="+mn-cs"/>
                        </a:rPr>
                        <a:t>CNLexNet</a:t>
                      </a:r>
                      <a:endParaRPr lang="en-US" sz="1600" i="1" kern="1200">
                        <a:solidFill>
                          <a:schemeClr val="dk1"/>
                        </a:solidFill>
                        <a:latin typeface="Times" pitchFamily="2" charset="0"/>
                        <a:ea typeface="+mn-ea"/>
                        <a:cs typeface="+mn-cs"/>
                      </a:endParaRP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CL+TL</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Various</a:t>
                      </a:r>
                    </a:p>
                  </a:txBody>
                  <a:tcPr/>
                </a:tc>
                <a:tc>
                  <a:txBody>
                    <a:bodyPr/>
                    <a:lstStyle/>
                    <a:p>
                      <a:r>
                        <a:rPr lang="en-US" sz="1600" i="1">
                          <a:latin typeface="Times" pitchFamily="2" charset="0"/>
                        </a:rPr>
                        <a:t>Consumer-to-Shop</a:t>
                      </a:r>
                    </a:p>
                  </a:txBody>
                  <a:tcPr/>
                </a:tc>
                <a:extLst>
                  <a:ext uri="{0D108BD9-81ED-4DB2-BD59-A6C34878D82A}">
                    <a16:rowId xmlns:a16="http://schemas.microsoft.com/office/drawing/2014/main" val="1318391071"/>
                  </a:ext>
                </a:extLst>
              </a:tr>
              <a:tr h="329334">
                <a:tc>
                  <a:txBody>
                    <a:bodyPr/>
                    <a:lstStyle/>
                    <a:p>
                      <a:pPr marL="0" algn="l" defTabSz="917966" rtl="0" eaLnBrk="1" latinLnBrk="0" hangingPunct="1"/>
                      <a:r>
                        <a:rPr lang="en-US" sz="1600" i="1" kern="1200" err="1">
                          <a:solidFill>
                            <a:schemeClr val="dk1"/>
                          </a:solidFill>
                          <a:latin typeface="Times" pitchFamily="2" charset="0"/>
                          <a:ea typeface="+mn-ea"/>
                          <a:cs typeface="+mn-cs"/>
                        </a:rPr>
                        <a:t>ResNet</a:t>
                      </a:r>
                      <a:endParaRPr lang="en-US" sz="1600" i="1" kern="1200">
                        <a:solidFill>
                          <a:schemeClr val="dk1"/>
                        </a:solidFill>
                        <a:latin typeface="Times" pitchFamily="2" charset="0"/>
                        <a:ea typeface="+mn-ea"/>
                        <a:cs typeface="+mn-cs"/>
                      </a:endParaRP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Landmark</a:t>
                      </a:r>
                    </a:p>
                  </a:txBody>
                  <a:tcPr/>
                </a:tc>
                <a:tc>
                  <a:txBody>
                    <a:bodyPr/>
                    <a:lstStyle/>
                    <a:p>
                      <a:pPr marL="0" algn="l" defTabSz="917966" rtl="0" eaLnBrk="1" latinLnBrk="0" hangingPunct="1"/>
                      <a:r>
                        <a:rPr lang="en-US" sz="1600" i="1" kern="1200">
                          <a:solidFill>
                            <a:schemeClr val="dk1"/>
                          </a:solidFill>
                          <a:latin typeface="Times" pitchFamily="2" charset="0"/>
                          <a:ea typeface="+mn-ea"/>
                          <a:cs typeface="+mn-cs"/>
                        </a:rPr>
                        <a:t>Various</a:t>
                      </a:r>
                    </a:p>
                  </a:txBody>
                  <a:tcPr/>
                </a:tc>
                <a:tc>
                  <a:txBody>
                    <a:bodyPr/>
                    <a:lstStyle/>
                    <a:p>
                      <a:r>
                        <a:rPr lang="en-US" sz="1600" i="1" err="1">
                          <a:latin typeface="Times" pitchFamily="2" charset="0"/>
                        </a:rPr>
                        <a:t>DeepFashion</a:t>
                      </a:r>
                      <a:endParaRPr lang="en-US" sz="1600" i="1">
                        <a:latin typeface="Times" pitchFamily="2" charset="0"/>
                      </a:endParaRPr>
                    </a:p>
                  </a:txBody>
                  <a:tcPr/>
                </a:tc>
                <a:extLst>
                  <a:ext uri="{0D108BD9-81ED-4DB2-BD59-A6C34878D82A}">
                    <a16:rowId xmlns:a16="http://schemas.microsoft.com/office/drawing/2014/main" val="1631004287"/>
                  </a:ext>
                </a:extLst>
              </a:tr>
            </a:tbl>
          </a:graphicData>
        </a:graphic>
      </p:graphicFrame>
      <p:sp>
        <p:nvSpPr>
          <p:cNvPr id="9" name="TextBox 8">
            <a:extLst>
              <a:ext uri="{FF2B5EF4-FFF2-40B4-BE49-F238E27FC236}">
                <a16:creationId xmlns:a16="http://schemas.microsoft.com/office/drawing/2014/main" id="{60F441B4-6E67-E794-6783-AD29AA4B89F7}"/>
              </a:ext>
            </a:extLst>
          </p:cNvPr>
          <p:cNvSpPr txBox="1"/>
          <p:nvPr/>
        </p:nvSpPr>
        <p:spPr>
          <a:xfrm>
            <a:off x="9845187" y="5652767"/>
            <a:ext cx="2002834" cy="707886"/>
          </a:xfrm>
          <a:prstGeom prst="rect">
            <a:avLst/>
          </a:prstGeom>
          <a:noFill/>
        </p:spPr>
        <p:txBody>
          <a:bodyPr wrap="square" rtlCol="0">
            <a:spAutoFit/>
          </a:bodyPr>
          <a:lstStyle/>
          <a:p>
            <a:pPr algn="ctr"/>
            <a:r>
              <a:rPr lang="en-US" sz="2000" b="1" i="1">
                <a:solidFill>
                  <a:srgbClr val="C00000"/>
                </a:solidFill>
                <a:latin typeface="Aptos" panose="020B0004020202020204" pitchFamily="34" charset="0"/>
              </a:rPr>
              <a:t>Ground-truth Table</a:t>
            </a:r>
          </a:p>
        </p:txBody>
      </p:sp>
      <p:sp>
        <p:nvSpPr>
          <p:cNvPr id="10" name="TextBox 9">
            <a:extLst>
              <a:ext uri="{FF2B5EF4-FFF2-40B4-BE49-F238E27FC236}">
                <a16:creationId xmlns:a16="http://schemas.microsoft.com/office/drawing/2014/main" id="{51F5EB0E-A936-7AA0-002E-90CA0E740F67}"/>
              </a:ext>
            </a:extLst>
          </p:cNvPr>
          <p:cNvSpPr txBox="1"/>
          <p:nvPr/>
        </p:nvSpPr>
        <p:spPr>
          <a:xfrm>
            <a:off x="9975612" y="731015"/>
            <a:ext cx="1741984" cy="707886"/>
          </a:xfrm>
          <a:prstGeom prst="rect">
            <a:avLst/>
          </a:prstGeom>
          <a:noFill/>
        </p:spPr>
        <p:txBody>
          <a:bodyPr wrap="square" rtlCol="0">
            <a:spAutoFit/>
          </a:bodyPr>
          <a:lstStyle>
            <a:defPPr>
              <a:defRPr lang="en-US"/>
            </a:defPPr>
            <a:lvl1pPr algn="ctr">
              <a:defRPr sz="1400" i="1">
                <a:solidFill>
                  <a:srgbClr val="C00000"/>
                </a:solidFill>
                <a:latin typeface="Comic Sans MS" panose="030F0702030302020204" pitchFamily="66" charset="0"/>
              </a:defRPr>
            </a:lvl1pPr>
          </a:lstStyle>
          <a:p>
            <a:r>
              <a:rPr lang="en-US" sz="2000" b="1">
                <a:latin typeface="Aptos" panose="020B0004020202020204" pitchFamily="34" charset="0"/>
              </a:rPr>
              <a:t>Generated Table</a:t>
            </a:r>
          </a:p>
        </p:txBody>
      </p:sp>
      <p:sp>
        <p:nvSpPr>
          <p:cNvPr id="2" name="Slide Number Placeholder 1">
            <a:extLst>
              <a:ext uri="{FF2B5EF4-FFF2-40B4-BE49-F238E27FC236}">
                <a16:creationId xmlns:a16="http://schemas.microsoft.com/office/drawing/2014/main" id="{404A22F7-8351-E115-C403-AE3CC2979E5F}"/>
              </a:ext>
            </a:extLst>
          </p:cNvPr>
          <p:cNvSpPr>
            <a:spLocks noGrp="1"/>
          </p:cNvSpPr>
          <p:nvPr>
            <p:ph type="sldNum" sz="quarter" idx="12"/>
          </p:nvPr>
        </p:nvSpPr>
        <p:spPr/>
        <p:txBody>
          <a:bodyPr/>
          <a:lstStyle/>
          <a:p>
            <a:fld id="{89C5782D-9F4E-41B2-BEC2-7E61B408EA47}" type="slidenum">
              <a:rPr lang="en-US" smtClean="0"/>
              <a:t>19</a:t>
            </a:fld>
            <a:endParaRPr lang="en-US"/>
          </a:p>
        </p:txBody>
      </p:sp>
      <p:sp>
        <p:nvSpPr>
          <p:cNvPr id="32" name="TextBox 31">
            <a:extLst>
              <a:ext uri="{FF2B5EF4-FFF2-40B4-BE49-F238E27FC236}">
                <a16:creationId xmlns:a16="http://schemas.microsoft.com/office/drawing/2014/main" id="{3A967F9A-6751-8CBF-5A93-BB4A296D6F91}"/>
              </a:ext>
            </a:extLst>
          </p:cNvPr>
          <p:cNvSpPr txBox="1"/>
          <p:nvPr/>
        </p:nvSpPr>
        <p:spPr>
          <a:xfrm>
            <a:off x="3625989" y="2284224"/>
            <a:ext cx="2088952" cy="923330"/>
          </a:xfrm>
          <a:prstGeom prst="rect">
            <a:avLst/>
          </a:prstGeom>
          <a:solidFill>
            <a:schemeClr val="bg1">
              <a:lumMod val="95000"/>
            </a:schemeClr>
          </a:solidFill>
        </p:spPr>
        <p:txBody>
          <a:bodyPr wrap="square" lIns="0" rIns="0">
            <a:spAutoFit/>
          </a:bodyPr>
          <a:lstStyle/>
          <a:p>
            <a:pPr algn="ctr"/>
            <a:r>
              <a:rPr lang="en-US">
                <a:solidFill>
                  <a:srgbClr val="C00000"/>
                </a:solidFill>
              </a:rPr>
              <a:t>table </a:t>
            </a:r>
            <a:r>
              <a:rPr lang="en-US" b="1">
                <a:solidFill>
                  <a:srgbClr val="C00000"/>
                </a:solidFill>
              </a:rPr>
              <a:t>schema</a:t>
            </a:r>
            <a:r>
              <a:rPr lang="en-US">
                <a:solidFill>
                  <a:schemeClr val="tx1"/>
                </a:solidFill>
              </a:rPr>
              <a:t>: </a:t>
            </a:r>
            <a:r>
              <a:rPr lang="en-US"/>
              <a:t> </a:t>
            </a:r>
          </a:p>
          <a:p>
            <a:pPr algn="ctr"/>
            <a:r>
              <a:rPr lang="en-US" i="1">
                <a:latin typeface="Times" pitchFamily="2" charset="0"/>
              </a:rPr>
              <a:t>Is </a:t>
            </a:r>
            <a:r>
              <a:rPr lang="en-US" b="1" i="1">
                <a:solidFill>
                  <a:schemeClr val="accent6">
                    <a:lumMod val="50000"/>
                  </a:schemeClr>
                </a:solidFill>
                <a:latin typeface="Times" pitchFamily="2" charset="0"/>
              </a:rPr>
              <a:t>Attributes</a:t>
            </a:r>
            <a:r>
              <a:rPr lang="en-US" i="1">
                <a:latin typeface="Times" pitchFamily="2" charset="0"/>
              </a:rPr>
              <a:t> included in the table schema?</a:t>
            </a:r>
          </a:p>
        </p:txBody>
      </p:sp>
      <p:sp>
        <p:nvSpPr>
          <p:cNvPr id="34" name="TextBox 33">
            <a:extLst>
              <a:ext uri="{FF2B5EF4-FFF2-40B4-BE49-F238E27FC236}">
                <a16:creationId xmlns:a16="http://schemas.microsoft.com/office/drawing/2014/main" id="{DBFB3D29-6877-4245-27A2-509B8885A46D}"/>
              </a:ext>
            </a:extLst>
          </p:cNvPr>
          <p:cNvSpPr txBox="1"/>
          <p:nvPr/>
        </p:nvSpPr>
        <p:spPr>
          <a:xfrm>
            <a:off x="5771407" y="2287854"/>
            <a:ext cx="2553194" cy="923330"/>
          </a:xfrm>
          <a:prstGeom prst="rect">
            <a:avLst/>
          </a:prstGeom>
          <a:solidFill>
            <a:schemeClr val="bg1">
              <a:lumMod val="95000"/>
            </a:schemeClr>
          </a:solidFill>
        </p:spPr>
        <p:txBody>
          <a:bodyPr wrap="square" lIns="0" rIns="0">
            <a:spAutoFit/>
          </a:bodyPr>
          <a:lstStyle/>
          <a:p>
            <a:pPr algn="ctr"/>
            <a:r>
              <a:rPr lang="en-US" b="1" i="1">
                <a:solidFill>
                  <a:srgbClr val="C00000"/>
                </a:solidFill>
              </a:rPr>
              <a:t>unary</a:t>
            </a:r>
            <a:r>
              <a:rPr lang="en-US" i="1">
                <a:solidFill>
                  <a:srgbClr val="C00000"/>
                </a:solidFill>
              </a:rPr>
              <a:t> (cell) values</a:t>
            </a:r>
            <a:r>
              <a:rPr lang="en-US">
                <a:solidFill>
                  <a:schemeClr val="tx1"/>
                </a:solidFill>
              </a:rPr>
              <a:t>:  </a:t>
            </a:r>
            <a:br>
              <a:rPr lang="en-US">
                <a:solidFill>
                  <a:schemeClr val="tx1"/>
                </a:solidFill>
              </a:rPr>
            </a:br>
            <a:r>
              <a:rPr lang="en-US" i="1">
                <a:latin typeface="Times" pitchFamily="2" charset="0"/>
              </a:rPr>
              <a:t>Is </a:t>
            </a:r>
            <a:r>
              <a:rPr lang="en-US" b="1" i="1">
                <a:solidFill>
                  <a:schemeClr val="accent6">
                    <a:lumMod val="50000"/>
                  </a:schemeClr>
                </a:solidFill>
                <a:latin typeface="Times" pitchFamily="2" charset="0"/>
              </a:rPr>
              <a:t>DARN Color </a:t>
            </a:r>
            <a:r>
              <a:rPr lang="en-US" i="1">
                <a:latin typeface="Times" pitchFamily="2" charset="0"/>
              </a:rPr>
              <a:t>used in GAN?</a:t>
            </a:r>
          </a:p>
        </p:txBody>
      </p:sp>
      <p:sp>
        <p:nvSpPr>
          <p:cNvPr id="36" name="TextBox 35">
            <a:extLst>
              <a:ext uri="{FF2B5EF4-FFF2-40B4-BE49-F238E27FC236}">
                <a16:creationId xmlns:a16="http://schemas.microsoft.com/office/drawing/2014/main" id="{D877BA7F-12B0-7502-6E7E-812EEF1A2634}"/>
              </a:ext>
            </a:extLst>
          </p:cNvPr>
          <p:cNvSpPr txBox="1"/>
          <p:nvPr/>
        </p:nvSpPr>
        <p:spPr>
          <a:xfrm>
            <a:off x="8419605" y="2277306"/>
            <a:ext cx="3049644" cy="923330"/>
          </a:xfrm>
          <a:prstGeom prst="rect">
            <a:avLst/>
          </a:prstGeom>
          <a:solidFill>
            <a:schemeClr val="bg1">
              <a:lumMod val="95000"/>
            </a:schemeClr>
          </a:solidFill>
        </p:spPr>
        <p:txBody>
          <a:bodyPr wrap="square" lIns="0" rIns="0">
            <a:spAutoFit/>
          </a:bodyPr>
          <a:lstStyle/>
          <a:p>
            <a:pPr algn="ctr"/>
            <a:r>
              <a:rPr lang="en-US" b="1" i="1">
                <a:solidFill>
                  <a:srgbClr val="C00000"/>
                </a:solidFill>
              </a:rPr>
              <a:t>pairwise</a:t>
            </a:r>
            <a:r>
              <a:rPr lang="en-US" i="1">
                <a:solidFill>
                  <a:srgbClr val="C00000"/>
                </a:solidFill>
              </a:rPr>
              <a:t> comparisons</a:t>
            </a:r>
            <a:r>
              <a:rPr lang="en-US">
                <a:solidFill>
                  <a:schemeClr val="tx1"/>
                </a:solidFill>
              </a:rPr>
              <a:t>:  </a:t>
            </a:r>
            <a:br>
              <a:rPr lang="en-US">
                <a:solidFill>
                  <a:schemeClr val="tx1"/>
                </a:solidFill>
              </a:rPr>
            </a:br>
            <a:r>
              <a:rPr lang="en-US" i="1">
                <a:latin typeface="Times" panose="02020603050405020304" pitchFamily="18" charset="0"/>
                <a:cs typeface="Times" panose="02020603050405020304" pitchFamily="18" charset="0"/>
              </a:rPr>
              <a:t>Is </a:t>
            </a:r>
            <a:r>
              <a:rPr lang="en-US" i="1" err="1">
                <a:latin typeface="Times" panose="02020603050405020304" pitchFamily="18" charset="0"/>
                <a:cs typeface="Times" panose="02020603050405020304" pitchFamily="18" charset="0"/>
              </a:rPr>
              <a:t>ResNet</a:t>
            </a:r>
            <a:r>
              <a:rPr lang="en-US" i="1">
                <a:latin typeface="Times" panose="02020603050405020304" pitchFamily="18" charset="0"/>
                <a:cs typeface="Times" panose="02020603050405020304" pitchFamily="18" charset="0"/>
              </a:rPr>
              <a:t> using </a:t>
            </a:r>
            <a:r>
              <a:rPr lang="en-US" b="1" i="1">
                <a:solidFill>
                  <a:schemeClr val="accent6">
                    <a:lumMod val="50000"/>
                  </a:schemeClr>
                </a:solidFill>
                <a:latin typeface="Times" panose="02020603050405020304" pitchFamily="18" charset="0"/>
                <a:cs typeface="Times" panose="02020603050405020304" pitchFamily="18" charset="0"/>
              </a:rPr>
              <a:t>fewer losses </a:t>
            </a:r>
            <a:r>
              <a:rPr lang="en-US" i="1">
                <a:latin typeface="Times" panose="02020603050405020304" pitchFamily="18" charset="0"/>
                <a:cs typeface="Times" panose="02020603050405020304" pitchFamily="18" charset="0"/>
              </a:rPr>
              <a:t>than GAN?</a:t>
            </a:r>
            <a:endParaRPr lang="en-US" i="1">
              <a:solidFill>
                <a:schemeClr val="tx1"/>
              </a:solidFill>
              <a:latin typeface="Times" panose="02020603050405020304" pitchFamily="18" charset="0"/>
              <a:cs typeface="Times" panose="02020603050405020304" pitchFamily="18" charset="0"/>
            </a:endParaRPr>
          </a:p>
        </p:txBody>
      </p:sp>
      <p:cxnSp>
        <p:nvCxnSpPr>
          <p:cNvPr id="38" name="Curved Connector 37">
            <a:extLst>
              <a:ext uri="{FF2B5EF4-FFF2-40B4-BE49-F238E27FC236}">
                <a16:creationId xmlns:a16="http://schemas.microsoft.com/office/drawing/2014/main" id="{04FC79FE-62D2-AFFF-8386-D625B0CDD145}"/>
              </a:ext>
            </a:extLst>
          </p:cNvPr>
          <p:cNvCxnSpPr>
            <a:cxnSpLocks/>
            <a:endCxn id="32" idx="0"/>
          </p:cNvCxnSpPr>
          <p:nvPr/>
        </p:nvCxnSpPr>
        <p:spPr>
          <a:xfrm rot="5400000">
            <a:off x="4662327" y="1773117"/>
            <a:ext cx="519246" cy="502969"/>
          </a:xfrm>
          <a:prstGeom prst="curvedConnector3">
            <a:avLst>
              <a:gd name="adj1" fmla="val 50000"/>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urved Connector 39">
            <a:extLst>
              <a:ext uri="{FF2B5EF4-FFF2-40B4-BE49-F238E27FC236}">
                <a16:creationId xmlns:a16="http://schemas.microsoft.com/office/drawing/2014/main" id="{28718664-34C3-3AC1-492F-B20EE6ECED0B}"/>
              </a:ext>
            </a:extLst>
          </p:cNvPr>
          <p:cNvCxnSpPr>
            <a:cxnSpLocks/>
            <a:endCxn id="36" idx="0"/>
          </p:cNvCxnSpPr>
          <p:nvPr/>
        </p:nvCxnSpPr>
        <p:spPr>
          <a:xfrm rot="16200000" flipH="1">
            <a:off x="9436491" y="1769369"/>
            <a:ext cx="512327" cy="503546"/>
          </a:xfrm>
          <a:prstGeom prst="curvedConnector3">
            <a:avLst>
              <a:gd name="adj1" fmla="val 50000"/>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urved Connector 41">
            <a:extLst>
              <a:ext uri="{FF2B5EF4-FFF2-40B4-BE49-F238E27FC236}">
                <a16:creationId xmlns:a16="http://schemas.microsoft.com/office/drawing/2014/main" id="{1285681A-8BC8-D6BC-9243-F39BD041926C}"/>
              </a:ext>
            </a:extLst>
          </p:cNvPr>
          <p:cNvCxnSpPr>
            <a:cxnSpLocks/>
            <a:endCxn id="34" idx="0"/>
          </p:cNvCxnSpPr>
          <p:nvPr/>
        </p:nvCxnSpPr>
        <p:spPr>
          <a:xfrm rot="5400000">
            <a:off x="6789677" y="2029522"/>
            <a:ext cx="516659" cy="4"/>
          </a:xfrm>
          <a:prstGeom prst="curvedConnector3">
            <a:avLst>
              <a:gd name="adj1" fmla="val 50000"/>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urved Connector 47">
            <a:extLst>
              <a:ext uri="{FF2B5EF4-FFF2-40B4-BE49-F238E27FC236}">
                <a16:creationId xmlns:a16="http://schemas.microsoft.com/office/drawing/2014/main" id="{ADB8090E-2180-F44B-583D-2658E2A01C1B}"/>
              </a:ext>
            </a:extLst>
          </p:cNvPr>
          <p:cNvCxnSpPr>
            <a:cxnSpLocks/>
            <a:stCxn id="32" idx="2"/>
          </p:cNvCxnSpPr>
          <p:nvPr/>
        </p:nvCxnSpPr>
        <p:spPr>
          <a:xfrm rot="5400000">
            <a:off x="3731903" y="4131806"/>
            <a:ext cx="1862815" cy="14310"/>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Curved Connector 60">
            <a:extLst>
              <a:ext uri="{FF2B5EF4-FFF2-40B4-BE49-F238E27FC236}">
                <a16:creationId xmlns:a16="http://schemas.microsoft.com/office/drawing/2014/main" id="{E50B15DE-1F85-0C0E-3B3F-FF2C54B362C3}"/>
              </a:ext>
            </a:extLst>
          </p:cNvPr>
          <p:cNvCxnSpPr>
            <a:cxnSpLocks/>
          </p:cNvCxnSpPr>
          <p:nvPr/>
        </p:nvCxnSpPr>
        <p:spPr>
          <a:xfrm rot="5400000">
            <a:off x="6090786" y="4131806"/>
            <a:ext cx="1862815" cy="14310"/>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urved Connector 61">
            <a:extLst>
              <a:ext uri="{FF2B5EF4-FFF2-40B4-BE49-F238E27FC236}">
                <a16:creationId xmlns:a16="http://schemas.microsoft.com/office/drawing/2014/main" id="{B5E78140-35DD-A40D-3ACB-2CAD24D37378}"/>
              </a:ext>
            </a:extLst>
          </p:cNvPr>
          <p:cNvCxnSpPr>
            <a:cxnSpLocks/>
          </p:cNvCxnSpPr>
          <p:nvPr/>
        </p:nvCxnSpPr>
        <p:spPr>
          <a:xfrm rot="5400000">
            <a:off x="8446483" y="4143874"/>
            <a:ext cx="1982447" cy="6350"/>
          </a:xfrm>
          <a:prstGeom prst="curvedConnector3">
            <a:avLst/>
          </a:prstGeom>
          <a:ln w="762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16D8324C-4D55-E763-7571-4197D11830BA}"/>
              </a:ext>
            </a:extLst>
          </p:cNvPr>
          <p:cNvSpPr txBox="1"/>
          <p:nvPr/>
        </p:nvSpPr>
        <p:spPr>
          <a:xfrm>
            <a:off x="3330178" y="4385435"/>
            <a:ext cx="1499528" cy="646331"/>
          </a:xfrm>
          <a:prstGeom prst="rect">
            <a:avLst/>
          </a:prstGeom>
          <a:noFill/>
        </p:spPr>
        <p:txBody>
          <a:bodyPr wrap="square">
            <a:spAutoFit/>
          </a:bodyPr>
          <a:lstStyle/>
          <a:p>
            <a:pPr algn="ctr"/>
            <a:r>
              <a:rPr lang="en-US">
                <a:solidFill>
                  <a:srgbClr val="C00000"/>
                </a:solidFill>
              </a:rPr>
              <a:t>Incorrect! </a:t>
            </a:r>
          </a:p>
          <a:p>
            <a:pPr algn="ctr"/>
            <a:r>
              <a:rPr lang="en-US">
                <a:solidFill>
                  <a:srgbClr val="C00000"/>
                </a:solidFill>
              </a:rPr>
              <a:t>❌</a:t>
            </a:r>
            <a:endParaRPr lang="en-US" sz="1800">
              <a:solidFill>
                <a:schemeClr val="tx1"/>
              </a:solidFill>
            </a:endParaRPr>
          </a:p>
        </p:txBody>
      </p:sp>
      <p:sp>
        <p:nvSpPr>
          <p:cNvPr id="68" name="Rectangle: Rounded Corners 9">
            <a:extLst>
              <a:ext uri="{FF2B5EF4-FFF2-40B4-BE49-F238E27FC236}">
                <a16:creationId xmlns:a16="http://schemas.microsoft.com/office/drawing/2014/main" id="{D23CFCBF-9102-5C31-5123-08740938473F}"/>
              </a:ext>
            </a:extLst>
          </p:cNvPr>
          <p:cNvSpPr/>
          <p:nvPr/>
        </p:nvSpPr>
        <p:spPr>
          <a:xfrm>
            <a:off x="3869830" y="3702174"/>
            <a:ext cx="6468705" cy="576755"/>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rPr>
              <a:t>The ratio of “Correct” indicates the </a:t>
            </a:r>
            <a:r>
              <a:rPr lang="en-US" sz="3200" b="1">
                <a:solidFill>
                  <a:srgbClr val="C00000"/>
                </a:solidFill>
              </a:rPr>
              <a:t>precision</a:t>
            </a:r>
            <a:r>
              <a:rPr lang="en-US" sz="2000">
                <a:solidFill>
                  <a:schemeClr val="tx1"/>
                </a:solidFill>
              </a:rPr>
              <a:t>.</a:t>
            </a:r>
          </a:p>
        </p:txBody>
      </p:sp>
      <p:sp>
        <p:nvSpPr>
          <p:cNvPr id="15" name="TextBox 14">
            <a:extLst>
              <a:ext uri="{FF2B5EF4-FFF2-40B4-BE49-F238E27FC236}">
                <a16:creationId xmlns:a16="http://schemas.microsoft.com/office/drawing/2014/main" id="{AC5ED2E3-08FD-F6C3-F3B8-62833F8984EA}"/>
              </a:ext>
            </a:extLst>
          </p:cNvPr>
          <p:cNvSpPr txBox="1"/>
          <p:nvPr/>
        </p:nvSpPr>
        <p:spPr>
          <a:xfrm>
            <a:off x="280416" y="521912"/>
            <a:ext cx="2877673" cy="923330"/>
          </a:xfrm>
          <a:prstGeom prst="rect">
            <a:avLst/>
          </a:prstGeom>
          <a:noFill/>
        </p:spPr>
        <p:txBody>
          <a:bodyPr wrap="square" rtlCol="0">
            <a:spAutoFit/>
          </a:bodyPr>
          <a:lstStyle/>
          <a:p>
            <a:r>
              <a:rPr lang="en-US"/>
              <a:t>Similarly, we can reverse the process by starting with the generated table.</a:t>
            </a:r>
          </a:p>
        </p:txBody>
      </p:sp>
      <p:sp>
        <p:nvSpPr>
          <p:cNvPr id="16" name="TextBox 15">
            <a:extLst>
              <a:ext uri="{FF2B5EF4-FFF2-40B4-BE49-F238E27FC236}">
                <a16:creationId xmlns:a16="http://schemas.microsoft.com/office/drawing/2014/main" id="{240D20F2-CB81-F3C5-0DE6-C08B0E2A00D6}"/>
              </a:ext>
            </a:extLst>
          </p:cNvPr>
          <p:cNvSpPr txBox="1"/>
          <p:nvPr/>
        </p:nvSpPr>
        <p:spPr>
          <a:xfrm>
            <a:off x="280417" y="5711255"/>
            <a:ext cx="2877673" cy="646331"/>
          </a:xfrm>
          <a:prstGeom prst="rect">
            <a:avLst/>
          </a:prstGeom>
          <a:noFill/>
        </p:spPr>
        <p:txBody>
          <a:bodyPr wrap="square" rtlCol="0">
            <a:spAutoFit/>
          </a:bodyPr>
          <a:lstStyle/>
          <a:p>
            <a:r>
              <a:rPr lang="en-US"/>
              <a:t>And answer QAs using our ground-truth table.</a:t>
            </a:r>
          </a:p>
        </p:txBody>
      </p:sp>
      <p:sp>
        <p:nvSpPr>
          <p:cNvPr id="19" name="TextBox 18">
            <a:extLst>
              <a:ext uri="{FF2B5EF4-FFF2-40B4-BE49-F238E27FC236}">
                <a16:creationId xmlns:a16="http://schemas.microsoft.com/office/drawing/2014/main" id="{EBC5E487-35B9-E0C5-6A4D-007DFB69A939}"/>
              </a:ext>
            </a:extLst>
          </p:cNvPr>
          <p:cNvSpPr txBox="1"/>
          <p:nvPr/>
        </p:nvSpPr>
        <p:spPr>
          <a:xfrm>
            <a:off x="94532" y="2299957"/>
            <a:ext cx="3249439" cy="646331"/>
          </a:xfrm>
          <a:prstGeom prst="rect">
            <a:avLst/>
          </a:prstGeom>
          <a:noFill/>
        </p:spPr>
        <p:txBody>
          <a:bodyPr wrap="square" rtlCol="0">
            <a:spAutoFit/>
          </a:bodyPr>
          <a:lstStyle/>
          <a:p>
            <a:r>
              <a:rPr lang="en-US"/>
              <a:t>Again, we synthesize QAs based on the generated table.</a:t>
            </a:r>
          </a:p>
        </p:txBody>
      </p:sp>
      <p:sp>
        <p:nvSpPr>
          <p:cNvPr id="21" name="TextBox 20">
            <a:extLst>
              <a:ext uri="{FF2B5EF4-FFF2-40B4-BE49-F238E27FC236}">
                <a16:creationId xmlns:a16="http://schemas.microsoft.com/office/drawing/2014/main" id="{583B8DDA-6A77-686E-C402-5CCBF1BAB83D}"/>
              </a:ext>
            </a:extLst>
          </p:cNvPr>
          <p:cNvSpPr txBox="1"/>
          <p:nvPr/>
        </p:nvSpPr>
        <p:spPr>
          <a:xfrm>
            <a:off x="200733" y="3971441"/>
            <a:ext cx="2877673" cy="646331"/>
          </a:xfrm>
          <a:prstGeom prst="rect">
            <a:avLst/>
          </a:prstGeom>
          <a:noFill/>
        </p:spPr>
        <p:txBody>
          <a:bodyPr wrap="square" rtlCol="0">
            <a:spAutoFit/>
          </a:bodyPr>
          <a:lstStyle/>
          <a:p>
            <a:r>
              <a:rPr lang="en-US"/>
              <a:t>But answer them using the ground-truth table.</a:t>
            </a:r>
          </a:p>
        </p:txBody>
      </p:sp>
      <p:sp>
        <p:nvSpPr>
          <p:cNvPr id="23" name="TextBox 22">
            <a:extLst>
              <a:ext uri="{FF2B5EF4-FFF2-40B4-BE49-F238E27FC236}">
                <a16:creationId xmlns:a16="http://schemas.microsoft.com/office/drawing/2014/main" id="{3BBDC0B9-8F02-06DE-0FE1-71E043FF13ED}"/>
              </a:ext>
            </a:extLst>
          </p:cNvPr>
          <p:cNvSpPr txBox="1"/>
          <p:nvPr/>
        </p:nvSpPr>
        <p:spPr>
          <a:xfrm>
            <a:off x="5700632" y="4385435"/>
            <a:ext cx="1499528" cy="646331"/>
          </a:xfrm>
          <a:prstGeom prst="rect">
            <a:avLst/>
          </a:prstGeom>
          <a:noFill/>
        </p:spPr>
        <p:txBody>
          <a:bodyPr wrap="square">
            <a:spAutoFit/>
          </a:bodyPr>
          <a:lstStyle/>
          <a:p>
            <a:pPr algn="ctr"/>
            <a:r>
              <a:rPr lang="en-US">
                <a:solidFill>
                  <a:srgbClr val="C00000"/>
                </a:solidFill>
              </a:rPr>
              <a:t>Incorrect! </a:t>
            </a:r>
          </a:p>
          <a:p>
            <a:pPr algn="ctr"/>
            <a:r>
              <a:rPr lang="en-US">
                <a:solidFill>
                  <a:srgbClr val="C00000"/>
                </a:solidFill>
              </a:rPr>
              <a:t>❌</a:t>
            </a:r>
            <a:endParaRPr lang="en-US" sz="1800">
              <a:solidFill>
                <a:schemeClr val="tx1"/>
              </a:solidFill>
            </a:endParaRPr>
          </a:p>
        </p:txBody>
      </p:sp>
      <p:sp>
        <p:nvSpPr>
          <p:cNvPr id="24" name="TextBox 23">
            <a:extLst>
              <a:ext uri="{FF2B5EF4-FFF2-40B4-BE49-F238E27FC236}">
                <a16:creationId xmlns:a16="http://schemas.microsoft.com/office/drawing/2014/main" id="{26C5E018-CD6A-33B7-13EB-74E0BBD9A4B9}"/>
              </a:ext>
            </a:extLst>
          </p:cNvPr>
          <p:cNvSpPr txBox="1"/>
          <p:nvPr/>
        </p:nvSpPr>
        <p:spPr>
          <a:xfrm>
            <a:off x="8220109" y="4385435"/>
            <a:ext cx="1472545" cy="646331"/>
          </a:xfrm>
          <a:prstGeom prst="rect">
            <a:avLst/>
          </a:prstGeom>
          <a:noFill/>
        </p:spPr>
        <p:txBody>
          <a:bodyPr wrap="square">
            <a:spAutoFit/>
          </a:bodyPr>
          <a:lstStyle/>
          <a:p>
            <a:pPr algn="ctr"/>
            <a:r>
              <a:rPr lang="en-US" sz="1800">
                <a:solidFill>
                  <a:schemeClr val="tx1"/>
                </a:solidFill>
              </a:rPr>
              <a:t>Correct!</a:t>
            </a:r>
            <a:r>
              <a:rPr lang="en-US"/>
              <a:t> </a:t>
            </a:r>
            <a:endParaRPr lang="en-US" sz="1800">
              <a:solidFill>
                <a:schemeClr val="tx1"/>
              </a:solidFill>
            </a:endParaRPr>
          </a:p>
          <a:p>
            <a:pPr algn="ctr"/>
            <a:r>
              <a:rPr lang="en-US" sz="1800">
                <a:solidFill>
                  <a:schemeClr val="tx1"/>
                </a:solidFill>
              </a:rPr>
              <a:t>✅ </a:t>
            </a:r>
          </a:p>
        </p:txBody>
      </p:sp>
    </p:spTree>
    <p:extLst>
      <p:ext uri="{BB962C8B-B14F-4D97-AF65-F5344CB8AC3E}">
        <p14:creationId xmlns:p14="http://schemas.microsoft.com/office/powerpoint/2010/main" val="389235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6E2A-C27C-72F6-0346-CEA7B6A22FC5}"/>
              </a:ext>
            </a:extLst>
          </p:cNvPr>
          <p:cNvSpPr>
            <a:spLocks noGrp="1"/>
          </p:cNvSpPr>
          <p:nvPr>
            <p:ph type="title"/>
          </p:nvPr>
        </p:nvSpPr>
        <p:spPr/>
        <p:txBody>
          <a:bodyPr/>
          <a:lstStyle/>
          <a:p>
            <a:r>
              <a:rPr lang="en-US"/>
              <a:t>Our released data: </a:t>
            </a:r>
            <a:r>
              <a:rPr lang="en-US" b="1"/>
              <a:t>arXiv2Table</a:t>
            </a:r>
          </a:p>
        </p:txBody>
      </p:sp>
      <p:sp>
        <p:nvSpPr>
          <p:cNvPr id="3" name="Content Placeholder 2">
            <a:extLst>
              <a:ext uri="{FF2B5EF4-FFF2-40B4-BE49-F238E27FC236}">
                <a16:creationId xmlns:a16="http://schemas.microsoft.com/office/drawing/2014/main" id="{B702AD65-B4F5-B61F-94D5-9F032A30602C}"/>
              </a:ext>
            </a:extLst>
          </p:cNvPr>
          <p:cNvSpPr>
            <a:spLocks noGrp="1"/>
          </p:cNvSpPr>
          <p:nvPr>
            <p:ph idx="1"/>
          </p:nvPr>
        </p:nvSpPr>
        <p:spPr/>
        <p:txBody>
          <a:bodyPr>
            <a:normAutofit/>
          </a:bodyPr>
          <a:lstStyle/>
          <a:p>
            <a:r>
              <a:rPr lang="en-US"/>
              <a:t>Expanded version of Newman et al. 2024.</a:t>
            </a:r>
          </a:p>
          <a:p>
            <a:r>
              <a:rPr lang="en-US"/>
              <a:t>Contains </a:t>
            </a:r>
          </a:p>
          <a:p>
            <a:pPr lvl="1"/>
            <a:r>
              <a:rPr lang="en-US"/>
              <a:t>2.1K user demand prompts </a:t>
            </a:r>
          </a:p>
          <a:p>
            <a:pPr lvl="1"/>
            <a:r>
              <a:rPr lang="en-US"/>
              <a:t>2.1K tables (inherited from </a:t>
            </a:r>
            <a:r>
              <a:rPr lang="en-US" err="1"/>
              <a:t>arXivDigestable</a:t>
            </a:r>
            <a:r>
              <a:rPr lang="en-US"/>
              <a:t>).  </a:t>
            </a:r>
          </a:p>
          <a:p>
            <a:pPr lvl="2"/>
            <a:r>
              <a:rPr lang="en-US"/>
              <a:t>Dropped few low-quality tables. </a:t>
            </a:r>
          </a:p>
          <a:p>
            <a:pPr lvl="1"/>
            <a:r>
              <a:rPr lang="en-US"/>
              <a:t>Each prompt comes with it a set of candidate (distractor + gold) papers. </a:t>
            </a:r>
          </a:p>
          <a:p>
            <a:pPr lvl="1"/>
            <a:r>
              <a:rPr lang="en-US"/>
              <a:t>Evaluation framework based on utilization. </a:t>
            </a:r>
          </a:p>
          <a:p>
            <a:pPr marL="914400" lvl="2" indent="0">
              <a:buNone/>
            </a:pPr>
            <a:endParaRPr lang="en-US"/>
          </a:p>
        </p:txBody>
      </p:sp>
      <p:sp>
        <p:nvSpPr>
          <p:cNvPr id="4" name="Slide Number Placeholder 3">
            <a:extLst>
              <a:ext uri="{FF2B5EF4-FFF2-40B4-BE49-F238E27FC236}">
                <a16:creationId xmlns:a16="http://schemas.microsoft.com/office/drawing/2014/main" id="{292B6808-BA1E-5D29-C064-96D0E0088E3F}"/>
              </a:ext>
            </a:extLst>
          </p:cNvPr>
          <p:cNvSpPr>
            <a:spLocks noGrp="1"/>
          </p:cNvSpPr>
          <p:nvPr>
            <p:ph type="sldNum" sz="quarter" idx="12"/>
          </p:nvPr>
        </p:nvSpPr>
        <p:spPr/>
        <p:txBody>
          <a:bodyPr/>
          <a:lstStyle/>
          <a:p>
            <a:fld id="{89C5782D-9F4E-41B2-BEC2-7E61B408EA47}" type="slidenum">
              <a:rPr lang="en-US" smtClean="0"/>
              <a:t>20</a:t>
            </a:fld>
            <a:endParaRPr lang="en-US"/>
          </a:p>
        </p:txBody>
      </p:sp>
      <p:sp>
        <p:nvSpPr>
          <p:cNvPr id="5" name="Rectangle: Rounded Corners 7">
            <a:extLst>
              <a:ext uri="{FF2B5EF4-FFF2-40B4-BE49-F238E27FC236}">
                <a16:creationId xmlns:a16="http://schemas.microsoft.com/office/drawing/2014/main" id="{07138EF2-E6E2-76FB-3338-9DB67F204094}"/>
              </a:ext>
            </a:extLst>
          </p:cNvPr>
          <p:cNvSpPr/>
          <p:nvPr/>
        </p:nvSpPr>
        <p:spPr>
          <a:xfrm>
            <a:off x="1545772" y="5034598"/>
            <a:ext cx="9144000" cy="902739"/>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00000"/>
                </a:solidFill>
              </a:rPr>
              <a:t>Dataset will be on </a:t>
            </a:r>
            <a:r>
              <a:rPr lang="en-US" sz="2800" err="1">
                <a:solidFill>
                  <a:srgbClr val="000000"/>
                </a:solidFill>
              </a:rPr>
              <a:t>arXiv</a:t>
            </a:r>
            <a:r>
              <a:rPr lang="en-US" sz="2800">
                <a:solidFill>
                  <a:srgbClr val="000000"/>
                </a:solidFill>
              </a:rPr>
              <a:t> on coming weeks! </a:t>
            </a:r>
            <a:endParaRPr lang="en-US"/>
          </a:p>
        </p:txBody>
      </p:sp>
    </p:spTree>
    <p:extLst>
      <p:ext uri="{BB962C8B-B14F-4D97-AF65-F5344CB8AC3E}">
        <p14:creationId xmlns:p14="http://schemas.microsoft.com/office/powerpoint/2010/main" val="2570983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A72E4-4446-B78C-38B6-202030C8C83F}"/>
              </a:ext>
            </a:extLst>
          </p:cNvPr>
          <p:cNvSpPr>
            <a:spLocks noGrp="1"/>
          </p:cNvSpPr>
          <p:nvPr>
            <p:ph type="title"/>
          </p:nvPr>
        </p:nvSpPr>
        <p:spPr/>
        <p:txBody>
          <a:bodyPr/>
          <a:lstStyle/>
          <a:p>
            <a:r>
              <a:rPr lang="en-US"/>
              <a:t>We also proposed a new approach</a:t>
            </a:r>
          </a:p>
        </p:txBody>
      </p:sp>
      <p:sp>
        <p:nvSpPr>
          <p:cNvPr id="3" name="Content Placeholder 2">
            <a:extLst>
              <a:ext uri="{FF2B5EF4-FFF2-40B4-BE49-F238E27FC236}">
                <a16:creationId xmlns:a16="http://schemas.microsoft.com/office/drawing/2014/main" id="{5C36C083-FE49-A67A-441D-ACBB4F756122}"/>
              </a:ext>
            </a:extLst>
          </p:cNvPr>
          <p:cNvSpPr>
            <a:spLocks noGrp="1"/>
          </p:cNvSpPr>
          <p:nvPr>
            <p:ph idx="1"/>
          </p:nvPr>
        </p:nvSpPr>
        <p:spPr/>
        <p:txBody>
          <a:bodyPr/>
          <a:lstStyle/>
          <a:p>
            <a:r>
              <a:rPr lang="en-US"/>
              <a:t>An inference-time algorithm that iteratively digests and organizes papers in tabular form.</a:t>
            </a:r>
          </a:p>
        </p:txBody>
      </p:sp>
      <p:sp>
        <p:nvSpPr>
          <p:cNvPr id="4" name="Slide Number Placeholder 3">
            <a:extLst>
              <a:ext uri="{FF2B5EF4-FFF2-40B4-BE49-F238E27FC236}">
                <a16:creationId xmlns:a16="http://schemas.microsoft.com/office/drawing/2014/main" id="{3B86FB78-55C8-0B5E-7656-339CAB3F9875}"/>
              </a:ext>
            </a:extLst>
          </p:cNvPr>
          <p:cNvSpPr>
            <a:spLocks noGrp="1"/>
          </p:cNvSpPr>
          <p:nvPr>
            <p:ph type="sldNum" sz="quarter" idx="12"/>
          </p:nvPr>
        </p:nvSpPr>
        <p:spPr/>
        <p:txBody>
          <a:bodyPr/>
          <a:lstStyle/>
          <a:p>
            <a:fld id="{89C5782D-9F4E-41B2-BEC2-7E61B408EA47}" type="slidenum">
              <a:rPr lang="en-US" smtClean="0"/>
              <a:t>21</a:t>
            </a:fld>
            <a:endParaRPr lang="en-US"/>
          </a:p>
        </p:txBody>
      </p:sp>
    </p:spTree>
    <p:extLst>
      <p:ext uri="{BB962C8B-B14F-4D97-AF65-F5344CB8AC3E}">
        <p14:creationId xmlns:p14="http://schemas.microsoft.com/office/powerpoint/2010/main" val="779405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Arrow: Bent-Up 142">
            <a:extLst>
              <a:ext uri="{FF2B5EF4-FFF2-40B4-BE49-F238E27FC236}">
                <a16:creationId xmlns:a16="http://schemas.microsoft.com/office/drawing/2014/main" id="{0546B84F-279F-CEA0-2DDF-0F57F7F68BA4}"/>
              </a:ext>
            </a:extLst>
          </p:cNvPr>
          <p:cNvSpPr/>
          <p:nvPr/>
        </p:nvSpPr>
        <p:spPr>
          <a:xfrm rot="5400000">
            <a:off x="1410353" y="5303335"/>
            <a:ext cx="1196733" cy="713308"/>
          </a:xfrm>
          <a:prstGeom prst="bentUp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6" descr="Logos - arXiv info">
            <a:extLst>
              <a:ext uri="{FF2B5EF4-FFF2-40B4-BE49-F238E27FC236}">
                <a16:creationId xmlns:a16="http://schemas.microsoft.com/office/drawing/2014/main" id="{C4884300-391B-8646-01D9-A240AC879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7979" y="664881"/>
            <a:ext cx="1767496" cy="108946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76C720AE-A2E9-1398-B3E8-5CA45B779A96}"/>
              </a:ext>
            </a:extLst>
          </p:cNvPr>
          <p:cNvSpPr>
            <a:spLocks noGrp="1"/>
          </p:cNvSpPr>
          <p:nvPr>
            <p:ph type="sldNum" sz="quarter" idx="12"/>
          </p:nvPr>
        </p:nvSpPr>
        <p:spPr/>
        <p:txBody>
          <a:bodyPr/>
          <a:lstStyle/>
          <a:p>
            <a:fld id="{89C5782D-9F4E-41B2-BEC2-7E61B408EA47}" type="slidenum">
              <a:rPr lang="en-US" smtClean="0"/>
              <a:t>22</a:t>
            </a:fld>
            <a:endParaRPr lang="en-US"/>
          </a:p>
        </p:txBody>
      </p:sp>
      <p:pic>
        <p:nvPicPr>
          <p:cNvPr id="10" name="Picture 9" descr="A graphic of a paper with a pie chart and graph&#10;&#10;Description automatically generated">
            <a:extLst>
              <a:ext uri="{FF2B5EF4-FFF2-40B4-BE49-F238E27FC236}">
                <a16:creationId xmlns:a16="http://schemas.microsoft.com/office/drawing/2014/main" id="{3FFED573-E995-E26E-9ADD-3E435740CD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5096" y="1426161"/>
            <a:ext cx="584377" cy="584377"/>
          </a:xfrm>
          <a:prstGeom prst="rect">
            <a:avLst/>
          </a:prstGeom>
        </p:spPr>
      </p:pic>
      <p:pic>
        <p:nvPicPr>
          <p:cNvPr id="12" name="Picture 11" descr="A graphic of a paper with a pie chart and graph&#10;&#10;Description automatically generated">
            <a:extLst>
              <a:ext uri="{FF2B5EF4-FFF2-40B4-BE49-F238E27FC236}">
                <a16:creationId xmlns:a16="http://schemas.microsoft.com/office/drawing/2014/main" id="{B14AC938-5CAC-F5CD-3350-D20C7D4885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7866" y="1096252"/>
            <a:ext cx="584377" cy="584377"/>
          </a:xfrm>
          <a:prstGeom prst="rect">
            <a:avLst/>
          </a:prstGeom>
        </p:spPr>
      </p:pic>
      <p:pic>
        <p:nvPicPr>
          <p:cNvPr id="13" name="Picture 12" descr="A graphic of a paper with a pie chart and graph&#10;&#10;Description automatically generated">
            <a:extLst>
              <a:ext uri="{FF2B5EF4-FFF2-40B4-BE49-F238E27FC236}">
                <a16:creationId xmlns:a16="http://schemas.microsoft.com/office/drawing/2014/main" id="{B6DC3CDE-9B36-21E9-6CC4-BDA560D88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3945" y="729852"/>
            <a:ext cx="584377" cy="584377"/>
          </a:xfrm>
          <a:prstGeom prst="rect">
            <a:avLst/>
          </a:prstGeom>
        </p:spPr>
      </p:pic>
      <p:pic>
        <p:nvPicPr>
          <p:cNvPr id="14" name="Picture 13" descr="A graphic of a paper with a pie chart and graph&#10;&#10;Description automatically generated">
            <a:extLst>
              <a:ext uri="{FF2B5EF4-FFF2-40B4-BE49-F238E27FC236}">
                <a16:creationId xmlns:a16="http://schemas.microsoft.com/office/drawing/2014/main" id="{AC71B49C-7E65-5CD4-7D1A-98BCA546B0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1086" y="412610"/>
            <a:ext cx="584377" cy="584377"/>
          </a:xfrm>
          <a:prstGeom prst="rect">
            <a:avLst/>
          </a:prstGeom>
        </p:spPr>
      </p:pic>
      <p:pic>
        <p:nvPicPr>
          <p:cNvPr id="15" name="Picture 14" descr="A graphic of a paper with a pie chart and graph&#10;&#10;Description automatically generated">
            <a:extLst>
              <a:ext uri="{FF2B5EF4-FFF2-40B4-BE49-F238E27FC236}">
                <a16:creationId xmlns:a16="http://schemas.microsoft.com/office/drawing/2014/main" id="{E39B243D-98AE-A487-B431-A32707D95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1787" y="725210"/>
            <a:ext cx="584377" cy="584377"/>
          </a:xfrm>
          <a:prstGeom prst="rect">
            <a:avLst/>
          </a:prstGeom>
        </p:spPr>
      </p:pic>
      <p:pic>
        <p:nvPicPr>
          <p:cNvPr id="16" name="Picture 15" descr="A graphic of a paper with a pie chart and graph&#10;&#10;Description automatically generated">
            <a:extLst>
              <a:ext uri="{FF2B5EF4-FFF2-40B4-BE49-F238E27FC236}">
                <a16:creationId xmlns:a16="http://schemas.microsoft.com/office/drawing/2014/main" id="{AB8009BA-6D5C-A00D-8A55-8BC5C3F231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9977" y="723293"/>
            <a:ext cx="584377" cy="584377"/>
          </a:xfrm>
          <a:prstGeom prst="rect">
            <a:avLst/>
          </a:prstGeom>
        </p:spPr>
      </p:pic>
      <p:pic>
        <p:nvPicPr>
          <p:cNvPr id="17" name="Picture 16" descr="A graphic of a paper with a pie chart and graph&#10;&#10;Description automatically generated">
            <a:extLst>
              <a:ext uri="{FF2B5EF4-FFF2-40B4-BE49-F238E27FC236}">
                <a16:creationId xmlns:a16="http://schemas.microsoft.com/office/drawing/2014/main" id="{DE96E1E9-E17E-A171-D2B1-433323A8AA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81482" y="339857"/>
            <a:ext cx="584377" cy="584377"/>
          </a:xfrm>
          <a:prstGeom prst="rect">
            <a:avLst/>
          </a:prstGeom>
        </p:spPr>
      </p:pic>
      <p:pic>
        <p:nvPicPr>
          <p:cNvPr id="18" name="Picture 17" descr="A graphic of a paper with a pie chart and graph&#10;&#10;Description automatically generated">
            <a:extLst>
              <a:ext uri="{FF2B5EF4-FFF2-40B4-BE49-F238E27FC236}">
                <a16:creationId xmlns:a16="http://schemas.microsoft.com/office/drawing/2014/main" id="{4E3F90AD-6873-FD5E-6E90-F429301147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4518" y="115564"/>
            <a:ext cx="584377" cy="584377"/>
          </a:xfrm>
          <a:prstGeom prst="rect">
            <a:avLst/>
          </a:prstGeom>
        </p:spPr>
      </p:pic>
      <p:pic>
        <p:nvPicPr>
          <p:cNvPr id="19" name="Picture 18" descr="A graphic of a paper with a pie chart and graph&#10;&#10;Description automatically generated">
            <a:extLst>
              <a:ext uri="{FF2B5EF4-FFF2-40B4-BE49-F238E27FC236}">
                <a16:creationId xmlns:a16="http://schemas.microsoft.com/office/drawing/2014/main" id="{4C2C56C0-295D-92D5-CEB3-B8B7446D34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0588" y="46432"/>
            <a:ext cx="584377" cy="584377"/>
          </a:xfrm>
          <a:prstGeom prst="rect">
            <a:avLst/>
          </a:prstGeom>
        </p:spPr>
      </p:pic>
      <p:pic>
        <p:nvPicPr>
          <p:cNvPr id="20" name="Picture 19" descr="A graphic of a paper with a pie chart and graph&#10;&#10;Description automatically generated">
            <a:extLst>
              <a:ext uri="{FF2B5EF4-FFF2-40B4-BE49-F238E27FC236}">
                <a16:creationId xmlns:a16="http://schemas.microsoft.com/office/drawing/2014/main" id="{DE76B257-6F3E-BAB6-93DE-FC956E5FB9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71869" y="49555"/>
            <a:ext cx="584377" cy="584377"/>
          </a:xfrm>
          <a:prstGeom prst="rect">
            <a:avLst/>
          </a:prstGeom>
        </p:spPr>
      </p:pic>
      <p:pic>
        <p:nvPicPr>
          <p:cNvPr id="21" name="Picture 20" descr="A graphic of a paper with a pie chart and graph&#10;&#10;Description automatically generated">
            <a:extLst>
              <a:ext uri="{FF2B5EF4-FFF2-40B4-BE49-F238E27FC236}">
                <a16:creationId xmlns:a16="http://schemas.microsoft.com/office/drawing/2014/main" id="{1A069B39-3641-A51F-99F0-F41353E06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0374" y="188101"/>
            <a:ext cx="584377" cy="584377"/>
          </a:xfrm>
          <a:prstGeom prst="rect">
            <a:avLst/>
          </a:prstGeom>
        </p:spPr>
      </p:pic>
      <p:graphicFrame>
        <p:nvGraphicFramePr>
          <p:cNvPr id="42" name="Table 41">
            <a:extLst>
              <a:ext uri="{FF2B5EF4-FFF2-40B4-BE49-F238E27FC236}">
                <a16:creationId xmlns:a16="http://schemas.microsoft.com/office/drawing/2014/main" id="{87589EFA-51A4-7D45-F4AC-A48EAC85B62F}"/>
              </a:ext>
            </a:extLst>
          </p:cNvPr>
          <p:cNvGraphicFramePr>
            <a:graphicFrameLocks noGrp="1"/>
          </p:cNvGraphicFramePr>
          <p:nvPr/>
        </p:nvGraphicFramePr>
        <p:xfrm>
          <a:off x="2413836" y="5322367"/>
          <a:ext cx="3689547" cy="1371600"/>
        </p:xfrm>
        <a:graphic>
          <a:graphicData uri="http://schemas.openxmlformats.org/drawingml/2006/table">
            <a:tbl>
              <a:tblPr firstRow="1" bandRow="1">
                <a:tableStyleId>{B301B821-A1FF-4177-AEE7-76D212191A09}</a:tableStyleId>
              </a:tblPr>
              <a:tblGrid>
                <a:gridCol w="992309">
                  <a:extLst>
                    <a:ext uri="{9D8B030D-6E8A-4147-A177-3AD203B41FA5}">
                      <a16:colId xmlns:a16="http://schemas.microsoft.com/office/drawing/2014/main" val="2640610835"/>
                    </a:ext>
                  </a:extLst>
                </a:gridCol>
                <a:gridCol w="910604">
                  <a:extLst>
                    <a:ext uri="{9D8B030D-6E8A-4147-A177-3AD203B41FA5}">
                      <a16:colId xmlns:a16="http://schemas.microsoft.com/office/drawing/2014/main" val="1595008830"/>
                    </a:ext>
                  </a:extLst>
                </a:gridCol>
                <a:gridCol w="893317">
                  <a:extLst>
                    <a:ext uri="{9D8B030D-6E8A-4147-A177-3AD203B41FA5}">
                      <a16:colId xmlns:a16="http://schemas.microsoft.com/office/drawing/2014/main" val="617729621"/>
                    </a:ext>
                  </a:extLst>
                </a:gridCol>
                <a:gridCol w="893317">
                  <a:extLst>
                    <a:ext uri="{9D8B030D-6E8A-4147-A177-3AD203B41FA5}">
                      <a16:colId xmlns:a16="http://schemas.microsoft.com/office/drawing/2014/main" val="2768176607"/>
                    </a:ext>
                  </a:extLst>
                </a:gridCol>
              </a:tblGrid>
              <a:tr h="294520">
                <a:tc>
                  <a:txBody>
                    <a:bodyPr/>
                    <a:lstStyle/>
                    <a:p>
                      <a:r>
                        <a:rPr lang="en-US">
                          <a:latin typeface="Comic Sans MS" panose="030F0702030302020204" pitchFamily="66" charset="0"/>
                        </a:rPr>
                        <a:t>Model</a:t>
                      </a:r>
                    </a:p>
                  </a:txBody>
                  <a:tcPr/>
                </a:tc>
                <a:tc>
                  <a:txBody>
                    <a:bodyPr/>
                    <a:lstStyle/>
                    <a:p>
                      <a:r>
                        <a:rPr lang="en-US">
                          <a:latin typeface="Comic Sans MS" panose="030F0702030302020204" pitchFamily="66" charset="0"/>
                        </a:rPr>
                        <a:t>Data</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a:latin typeface="Comic Sans MS" panose="030F0702030302020204" pitchFamily="66" charset="0"/>
                        </a:rPr>
                        <a:t>Loss</a:t>
                      </a:r>
                    </a:p>
                  </a:txBody>
                  <a:tcPr/>
                </a:tc>
                <a:tc>
                  <a:txBody>
                    <a:bodyPr/>
                    <a:lstStyle/>
                    <a:p>
                      <a:pPr marL="0" marR="0" lvl="0" indent="0" algn="l" defTabSz="917966" rtl="0" eaLnBrk="1" fontAlgn="auto" latinLnBrk="0" hangingPunct="1">
                        <a:lnSpc>
                          <a:spcPct val="100000"/>
                        </a:lnSpc>
                        <a:spcBef>
                          <a:spcPts val="0"/>
                        </a:spcBef>
                        <a:spcAft>
                          <a:spcPts val="0"/>
                        </a:spcAft>
                        <a:buClrTx/>
                        <a:buSzTx/>
                        <a:buFontTx/>
                        <a:buNone/>
                        <a:tabLst/>
                        <a:defRPr/>
                      </a:pPr>
                      <a:r>
                        <a:rPr lang="en-US">
                          <a:latin typeface="Comic Sans MS" panose="030F0702030302020204" pitchFamily="66" charset="0"/>
                        </a:rPr>
                        <a:t>Title</a:t>
                      </a:r>
                    </a:p>
                  </a:txBody>
                  <a:tcPr/>
                </a:tc>
                <a:extLst>
                  <a:ext uri="{0D108BD9-81ED-4DB2-BD59-A6C34878D82A}">
                    <a16:rowId xmlns:a16="http://schemas.microsoft.com/office/drawing/2014/main" val="2639143297"/>
                  </a:ext>
                </a:extLst>
              </a:tr>
              <a:tr h="269182">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extLst>
                  <a:ext uri="{0D108BD9-81ED-4DB2-BD59-A6C34878D82A}">
                    <a16:rowId xmlns:a16="http://schemas.microsoft.com/office/drawing/2014/main" val="3457608485"/>
                  </a:ext>
                </a:extLst>
              </a:tr>
              <a:tr h="269182">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extLst>
                  <a:ext uri="{0D108BD9-81ED-4DB2-BD59-A6C34878D82A}">
                    <a16:rowId xmlns:a16="http://schemas.microsoft.com/office/drawing/2014/main" val="1318391071"/>
                  </a:ext>
                </a:extLst>
              </a:tr>
              <a:tr h="269182">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tc>
                  <a:txBody>
                    <a:bodyPr/>
                    <a:lstStyle/>
                    <a:p>
                      <a:pPr marL="0" algn="l" defTabSz="917966" rtl="0" eaLnBrk="1" latinLnBrk="0" hangingPunct="1"/>
                      <a:r>
                        <a:rPr lang="en-US" sz="1600" kern="1200">
                          <a:solidFill>
                            <a:schemeClr val="dk1"/>
                          </a:solidFill>
                          <a:latin typeface="Comic Sans MS" panose="030F0702030302020204" pitchFamily="66" charset="0"/>
                          <a:ea typeface="+mn-ea"/>
                          <a:cs typeface="+mn-cs"/>
                        </a:rPr>
                        <a:t>…</a:t>
                      </a:r>
                    </a:p>
                  </a:txBody>
                  <a:tcPr/>
                </a:tc>
                <a:extLst>
                  <a:ext uri="{0D108BD9-81ED-4DB2-BD59-A6C34878D82A}">
                    <a16:rowId xmlns:a16="http://schemas.microsoft.com/office/drawing/2014/main" val="2352399565"/>
                  </a:ext>
                </a:extLst>
              </a:tr>
            </a:tbl>
          </a:graphicData>
        </a:graphic>
      </p:graphicFrame>
      <p:grpSp>
        <p:nvGrpSpPr>
          <p:cNvPr id="141" name="Group 140">
            <a:extLst>
              <a:ext uri="{FF2B5EF4-FFF2-40B4-BE49-F238E27FC236}">
                <a16:creationId xmlns:a16="http://schemas.microsoft.com/office/drawing/2014/main" id="{2E414316-1A94-908D-FEC2-7BAA6C58D21A}"/>
              </a:ext>
            </a:extLst>
          </p:cNvPr>
          <p:cNvGrpSpPr/>
          <p:nvPr/>
        </p:nvGrpSpPr>
        <p:grpSpPr>
          <a:xfrm>
            <a:off x="470587" y="2857653"/>
            <a:ext cx="7759620" cy="2187194"/>
            <a:chOff x="196625" y="2866732"/>
            <a:chExt cx="7759620" cy="2187194"/>
          </a:xfrm>
        </p:grpSpPr>
        <p:sp>
          <p:nvSpPr>
            <p:cNvPr id="7" name="Rectangle: Rounded Corners 6">
              <a:extLst>
                <a:ext uri="{FF2B5EF4-FFF2-40B4-BE49-F238E27FC236}">
                  <a16:creationId xmlns:a16="http://schemas.microsoft.com/office/drawing/2014/main" id="{9E6978A2-CB5B-A2C8-D9F6-FF4E1ECA43FE}"/>
                </a:ext>
              </a:extLst>
            </p:cNvPr>
            <p:cNvSpPr/>
            <p:nvPr/>
          </p:nvSpPr>
          <p:spPr>
            <a:xfrm>
              <a:off x="198478" y="2866732"/>
              <a:ext cx="7757767" cy="2187194"/>
            </a:xfrm>
            <a:prstGeom prst="roundRect">
              <a:avLst>
                <a:gd name="adj" fmla="val 852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a:solidFill>
                  <a:schemeClr val="tx1"/>
                </a:solidFill>
              </a:endParaRPr>
            </a:p>
          </p:txBody>
        </p:sp>
        <p:pic>
          <p:nvPicPr>
            <p:cNvPr id="9" name="Picture 2" descr="iOS 17.4">
              <a:extLst>
                <a:ext uri="{FF2B5EF4-FFF2-40B4-BE49-F238E27FC236}">
                  <a16:creationId xmlns:a16="http://schemas.microsoft.com/office/drawing/2014/main" id="{74EBEF6F-324D-B5D0-2C7D-3768756C317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21657" y="4223624"/>
              <a:ext cx="726639" cy="72663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cartoon of a person sitting at a desk with a computer&#10;&#10;Description automatically generated">
              <a:extLst>
                <a:ext uri="{FF2B5EF4-FFF2-40B4-BE49-F238E27FC236}">
                  <a16:creationId xmlns:a16="http://schemas.microsoft.com/office/drawing/2014/main" id="{4E0DA485-9479-98A3-F5D0-CDC616E87B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0260" y="3361684"/>
              <a:ext cx="765556" cy="765556"/>
            </a:xfrm>
            <a:prstGeom prst="rect">
              <a:avLst/>
            </a:prstGeom>
          </p:spPr>
        </p:pic>
        <p:sp>
          <p:nvSpPr>
            <p:cNvPr id="40" name="Speech Bubble: Rectangle with Corners Rounded 39">
              <a:extLst>
                <a:ext uri="{FF2B5EF4-FFF2-40B4-BE49-F238E27FC236}">
                  <a16:creationId xmlns:a16="http://schemas.microsoft.com/office/drawing/2014/main" id="{0F6F5EF5-7D0C-78B9-652C-0CF908CB8F78}"/>
                </a:ext>
              </a:extLst>
            </p:cNvPr>
            <p:cNvSpPr/>
            <p:nvPr/>
          </p:nvSpPr>
          <p:spPr>
            <a:xfrm>
              <a:off x="1292274" y="3266276"/>
              <a:ext cx="6283008" cy="957292"/>
            </a:xfrm>
            <a:prstGeom prst="wedgeRoundRectCallout">
              <a:avLst>
                <a:gd name="adj1" fmla="val -54908"/>
                <a:gd name="adj2" fmla="val -19190"/>
                <a:gd name="adj3" fmla="val 16667"/>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i="1">
                  <a:solidFill>
                    <a:schemeClr val="tx1"/>
                  </a:solidFill>
                  <a:latin typeface="Times New Roman" panose="02020603050405020304" pitchFamily="18" charset="0"/>
                  <a:cs typeface="Times New Roman" panose="02020603050405020304" pitchFamily="18" charset="0"/>
                </a:rPr>
                <a:t>Based on the current batch of papers, </a:t>
              </a:r>
              <a:r>
                <a:rPr lang="en-US" sz="2000" b="1" i="1">
                  <a:solidFill>
                    <a:srgbClr val="C00000"/>
                  </a:solidFill>
                  <a:latin typeface="Times New Roman" panose="02020603050405020304" pitchFamily="18" charset="0"/>
                  <a:cs typeface="Times New Roman" panose="02020603050405020304" pitchFamily="18" charset="0"/>
                </a:rPr>
                <a:t>(1) select papers that match the user demand</a:t>
              </a:r>
              <a:r>
                <a:rPr lang="en-US" sz="2000" i="1">
                  <a:solidFill>
                    <a:schemeClr val="tx1"/>
                  </a:solidFill>
                  <a:latin typeface="Times New Roman" panose="02020603050405020304" pitchFamily="18" charset="0"/>
                  <a:cs typeface="Times New Roman" panose="02020603050405020304" pitchFamily="18" charset="0"/>
                </a:rPr>
                <a:t> and </a:t>
              </a:r>
              <a:r>
                <a:rPr lang="en-US" sz="2000" b="1" i="1">
                  <a:solidFill>
                    <a:srgbClr val="C00000"/>
                  </a:solidFill>
                  <a:latin typeface="Times New Roman" panose="02020603050405020304" pitchFamily="18" charset="0"/>
                  <a:cs typeface="Times New Roman" panose="02020603050405020304" pitchFamily="18" charset="0"/>
                </a:rPr>
                <a:t>(2) update the table based on the selected papers</a:t>
              </a:r>
              <a:r>
                <a:rPr lang="en-US" sz="2000" i="1">
                  <a:solidFill>
                    <a:schemeClr val="tx1"/>
                  </a:solidFill>
                  <a:latin typeface="Times New Roman" panose="02020603050405020304" pitchFamily="18" charset="0"/>
                  <a:cs typeface="Times New Roman" panose="02020603050405020304" pitchFamily="18" charset="0"/>
                </a:rPr>
                <a:t>.</a:t>
              </a:r>
            </a:p>
          </p:txBody>
        </p:sp>
        <p:sp>
          <p:nvSpPr>
            <p:cNvPr id="41" name="Speech Bubble: Rectangle with Corners Rounded 40">
              <a:extLst>
                <a:ext uri="{FF2B5EF4-FFF2-40B4-BE49-F238E27FC236}">
                  <a16:creationId xmlns:a16="http://schemas.microsoft.com/office/drawing/2014/main" id="{E0E4D7BE-5670-032C-02E9-64421018F4E7}"/>
                </a:ext>
              </a:extLst>
            </p:cNvPr>
            <p:cNvSpPr/>
            <p:nvPr/>
          </p:nvSpPr>
          <p:spPr>
            <a:xfrm>
              <a:off x="286434" y="4321238"/>
              <a:ext cx="6546618" cy="653691"/>
            </a:xfrm>
            <a:prstGeom prst="wedgeRoundRectCallout">
              <a:avLst>
                <a:gd name="adj1" fmla="val 54141"/>
                <a:gd name="adj2" fmla="val -34435"/>
                <a:gd name="adj3" fmla="val 16667"/>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i="1">
                  <a:solidFill>
                    <a:schemeClr val="tx1"/>
                  </a:solidFill>
                  <a:latin typeface="Times New Roman" panose="02020603050405020304" pitchFamily="18" charset="0"/>
                  <a:cs typeface="Times New Roman" panose="02020603050405020304" pitchFamily="18" charset="0"/>
                </a:rPr>
                <a:t>Two papers in this batch can be included, one column can be inserted. Updating the table:</a:t>
              </a:r>
            </a:p>
          </p:txBody>
        </p:sp>
        <p:sp>
          <p:nvSpPr>
            <p:cNvPr id="43" name="TextBox 42">
              <a:extLst>
                <a:ext uri="{FF2B5EF4-FFF2-40B4-BE49-F238E27FC236}">
                  <a16:creationId xmlns:a16="http://schemas.microsoft.com/office/drawing/2014/main" id="{59C0A218-8DC5-2B9C-F3F9-0089CA1D21A9}"/>
                </a:ext>
              </a:extLst>
            </p:cNvPr>
            <p:cNvSpPr txBox="1"/>
            <p:nvPr/>
          </p:nvSpPr>
          <p:spPr>
            <a:xfrm>
              <a:off x="196625" y="2896888"/>
              <a:ext cx="4940548" cy="369332"/>
            </a:xfrm>
            <a:prstGeom prst="rect">
              <a:avLst/>
            </a:prstGeom>
            <a:noFill/>
          </p:spPr>
          <p:txBody>
            <a:bodyPr wrap="square" rtlCol="0">
              <a:spAutoFit/>
            </a:bodyPr>
            <a:lstStyle/>
            <a:p>
              <a:r>
                <a:rPr lang="en-US" b="1" i="1">
                  <a:solidFill>
                    <a:srgbClr val="C00000"/>
                  </a:solidFill>
                  <a:latin typeface="Aptos" panose="020B0004020202020204" pitchFamily="34" charset="0"/>
                </a:rPr>
                <a:t>Paper Selection and Table Refinement </a:t>
              </a:r>
            </a:p>
          </p:txBody>
        </p:sp>
      </p:grpSp>
      <p:pic>
        <p:nvPicPr>
          <p:cNvPr id="56" name="Picture 55" descr="A cartoon of a person sitting at a desk with a computer&#10;&#10;Description automatically generated">
            <a:extLst>
              <a:ext uri="{FF2B5EF4-FFF2-40B4-BE49-F238E27FC236}">
                <a16:creationId xmlns:a16="http://schemas.microsoft.com/office/drawing/2014/main" id="{A0F4F869-E544-975E-C941-3E29B969B3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8589" y="298108"/>
            <a:ext cx="701922" cy="726636"/>
          </a:xfrm>
          <a:prstGeom prst="rect">
            <a:avLst/>
          </a:prstGeom>
        </p:spPr>
      </p:pic>
      <p:pic>
        <p:nvPicPr>
          <p:cNvPr id="59" name="Picture 2">
            <a:extLst>
              <a:ext uri="{FF2B5EF4-FFF2-40B4-BE49-F238E27FC236}">
                <a16:creationId xmlns:a16="http://schemas.microsoft.com/office/drawing/2014/main" id="{5F78D8B9-D43F-5758-9A94-2B1963D3FE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2517" y="976544"/>
            <a:ext cx="632186" cy="45593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4" descr="google scholar&quot; Icon - Download for free – Iconduck">
            <a:extLst>
              <a:ext uri="{FF2B5EF4-FFF2-40B4-BE49-F238E27FC236}">
                <a16:creationId xmlns:a16="http://schemas.microsoft.com/office/drawing/2014/main" id="{7856D8CD-4EC3-AC7A-E236-3D3775C688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2680" y="414759"/>
            <a:ext cx="418754" cy="39412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a:extLst>
              <a:ext uri="{FF2B5EF4-FFF2-40B4-BE49-F238E27FC236}">
                <a16:creationId xmlns:a16="http://schemas.microsoft.com/office/drawing/2014/main" id="{AF3BD38F-6719-6D42-CBF7-625C936B289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3317" y="199778"/>
            <a:ext cx="792126" cy="792126"/>
          </a:xfrm>
          <a:prstGeom prst="rect">
            <a:avLst/>
          </a:prstGeom>
          <a:noFill/>
          <a:extLst>
            <a:ext uri="{909E8E84-426E-40DD-AFC4-6F175D3DCCD1}">
              <a14:hiddenFill xmlns:a14="http://schemas.microsoft.com/office/drawing/2010/main">
                <a:solidFill>
                  <a:srgbClr val="FFFFFF"/>
                </a:solidFill>
              </a14:hiddenFill>
            </a:ext>
          </a:extLst>
        </p:spPr>
      </p:pic>
      <p:sp>
        <p:nvSpPr>
          <p:cNvPr id="62" name="Rectangle: Rounded Corners 61">
            <a:extLst>
              <a:ext uri="{FF2B5EF4-FFF2-40B4-BE49-F238E27FC236}">
                <a16:creationId xmlns:a16="http://schemas.microsoft.com/office/drawing/2014/main" id="{F965C3A1-695E-0313-5A10-352C6764F8E4}"/>
              </a:ext>
            </a:extLst>
          </p:cNvPr>
          <p:cNvSpPr/>
          <p:nvPr/>
        </p:nvSpPr>
        <p:spPr>
          <a:xfrm>
            <a:off x="2986080" y="275591"/>
            <a:ext cx="2061494" cy="13004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Arrow: Right 62">
            <a:extLst>
              <a:ext uri="{FF2B5EF4-FFF2-40B4-BE49-F238E27FC236}">
                <a16:creationId xmlns:a16="http://schemas.microsoft.com/office/drawing/2014/main" id="{60F3C628-2B6F-1167-18A3-58F2AD060265}"/>
              </a:ext>
            </a:extLst>
          </p:cNvPr>
          <p:cNvSpPr/>
          <p:nvPr/>
        </p:nvSpPr>
        <p:spPr>
          <a:xfrm>
            <a:off x="2036758" y="661033"/>
            <a:ext cx="760610" cy="405602"/>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Arrow: Right 63">
            <a:extLst>
              <a:ext uri="{FF2B5EF4-FFF2-40B4-BE49-F238E27FC236}">
                <a16:creationId xmlns:a16="http://schemas.microsoft.com/office/drawing/2014/main" id="{A258C22B-8A39-3EDD-CCB1-BA987E4FB56F}"/>
              </a:ext>
            </a:extLst>
          </p:cNvPr>
          <p:cNvSpPr/>
          <p:nvPr/>
        </p:nvSpPr>
        <p:spPr>
          <a:xfrm>
            <a:off x="5205591" y="661033"/>
            <a:ext cx="760610" cy="405602"/>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04E5946-73D6-14B5-F5B7-F6D59C18BE10}"/>
              </a:ext>
            </a:extLst>
          </p:cNvPr>
          <p:cNvSpPr/>
          <p:nvPr/>
        </p:nvSpPr>
        <p:spPr>
          <a:xfrm>
            <a:off x="6711163" y="-46365"/>
            <a:ext cx="4981214" cy="2242132"/>
          </a:xfrm>
          <a:custGeom>
            <a:avLst/>
            <a:gdLst>
              <a:gd name="csX0" fmla="*/ 0 w 4981214"/>
              <a:gd name="csY0" fmla="*/ 1121066 h 2242132"/>
              <a:gd name="csX1" fmla="*/ 2490607 w 4981214"/>
              <a:gd name="csY1" fmla="*/ 0 h 2242132"/>
              <a:gd name="csX2" fmla="*/ 4981214 w 4981214"/>
              <a:gd name="csY2" fmla="*/ 1121066 h 2242132"/>
              <a:gd name="csX3" fmla="*/ 2490607 w 4981214"/>
              <a:gd name="csY3" fmla="*/ 2242132 h 2242132"/>
              <a:gd name="csX4" fmla="*/ 0 w 4981214"/>
              <a:gd name="csY4" fmla="*/ 1121066 h 2242132"/>
            </a:gdLst>
            <a:ahLst/>
            <a:cxnLst>
              <a:cxn ang="0">
                <a:pos x="csX0" y="csY0"/>
              </a:cxn>
              <a:cxn ang="0">
                <a:pos x="csX1" y="csY1"/>
              </a:cxn>
              <a:cxn ang="0">
                <a:pos x="csX2" y="csY2"/>
              </a:cxn>
              <a:cxn ang="0">
                <a:pos x="csX3" y="csY3"/>
              </a:cxn>
              <a:cxn ang="0">
                <a:pos x="csX4" y="csY4"/>
              </a:cxn>
            </a:cxnLst>
            <a:rect l="l" t="t" r="r" b="b"/>
            <a:pathLst>
              <a:path w="4981214" h="2242132" extrusionOk="0">
                <a:moveTo>
                  <a:pt x="0" y="1121066"/>
                </a:moveTo>
                <a:cubicBezTo>
                  <a:pt x="-73878" y="358189"/>
                  <a:pt x="879593" y="252074"/>
                  <a:pt x="2490607" y="0"/>
                </a:cubicBezTo>
                <a:cubicBezTo>
                  <a:pt x="4002716" y="82229"/>
                  <a:pt x="4904458" y="356247"/>
                  <a:pt x="4981214" y="1121066"/>
                </a:cubicBezTo>
                <a:cubicBezTo>
                  <a:pt x="4740249" y="1689583"/>
                  <a:pt x="3891551" y="2038512"/>
                  <a:pt x="2490607" y="2242132"/>
                </a:cubicBezTo>
                <a:cubicBezTo>
                  <a:pt x="1072310" y="2183176"/>
                  <a:pt x="14263" y="1720687"/>
                  <a:pt x="0" y="1121066"/>
                </a:cubicBezTo>
                <a:close/>
              </a:path>
            </a:pathLst>
          </a:custGeom>
          <a:noFill/>
          <a:ln>
            <a:extLst>
              <a:ext uri="{C807C97D-BFC1-408E-A445-0C87EB9F89A2}">
                <ask:lineSketchStyleProps xmlns:ask="http://schemas.microsoft.com/office/drawing/2018/sketchyshapes" sd="417244703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descr="A graphic of a paper with a pie chart and graph&#10;&#10;Description automatically generated">
            <a:extLst>
              <a:ext uri="{FF2B5EF4-FFF2-40B4-BE49-F238E27FC236}">
                <a16:creationId xmlns:a16="http://schemas.microsoft.com/office/drawing/2014/main" id="{C627B69E-5EEE-D102-27FD-C9D137DB45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6246" y="1482754"/>
            <a:ext cx="584377" cy="584377"/>
          </a:xfrm>
          <a:prstGeom prst="rect">
            <a:avLst/>
          </a:prstGeom>
        </p:spPr>
      </p:pic>
      <p:pic>
        <p:nvPicPr>
          <p:cNvPr id="67" name="Picture 66" descr="A graphic of a paper with a pie chart and graph&#10;&#10;Description automatically generated">
            <a:extLst>
              <a:ext uri="{FF2B5EF4-FFF2-40B4-BE49-F238E27FC236}">
                <a16:creationId xmlns:a16="http://schemas.microsoft.com/office/drawing/2014/main" id="{BAE7922F-5E06-8029-B00D-62E78C1C0D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7611" y="1154108"/>
            <a:ext cx="584377" cy="584377"/>
          </a:xfrm>
          <a:prstGeom prst="rect">
            <a:avLst/>
          </a:prstGeom>
        </p:spPr>
      </p:pic>
      <p:sp>
        <p:nvSpPr>
          <p:cNvPr id="68" name="Arrow: Right 67">
            <a:extLst>
              <a:ext uri="{FF2B5EF4-FFF2-40B4-BE49-F238E27FC236}">
                <a16:creationId xmlns:a16="http://schemas.microsoft.com/office/drawing/2014/main" id="{E861E541-6ABF-4367-061F-B4C291C93760}"/>
              </a:ext>
            </a:extLst>
          </p:cNvPr>
          <p:cNvSpPr/>
          <p:nvPr/>
        </p:nvSpPr>
        <p:spPr>
          <a:xfrm rot="5400000">
            <a:off x="10168026" y="2302514"/>
            <a:ext cx="633446" cy="494989"/>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8" name="Group 137">
            <a:extLst>
              <a:ext uri="{FF2B5EF4-FFF2-40B4-BE49-F238E27FC236}">
                <a16:creationId xmlns:a16="http://schemas.microsoft.com/office/drawing/2014/main" id="{3091176B-69F6-671F-733A-348CCBA51C36}"/>
              </a:ext>
            </a:extLst>
          </p:cNvPr>
          <p:cNvGrpSpPr/>
          <p:nvPr/>
        </p:nvGrpSpPr>
        <p:grpSpPr>
          <a:xfrm>
            <a:off x="9129672" y="3011818"/>
            <a:ext cx="2499842" cy="888007"/>
            <a:chOff x="9162331" y="3011818"/>
            <a:chExt cx="2499842" cy="888007"/>
          </a:xfrm>
        </p:grpSpPr>
        <p:pic>
          <p:nvPicPr>
            <p:cNvPr id="103" name="Picture 102">
              <a:extLst>
                <a:ext uri="{FF2B5EF4-FFF2-40B4-BE49-F238E27FC236}">
                  <a16:creationId xmlns:a16="http://schemas.microsoft.com/office/drawing/2014/main" id="{271FABAA-C4AF-1ED1-9806-39EBB93FFC9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259256" y="3151006"/>
              <a:ext cx="584377" cy="584377"/>
            </a:xfrm>
            <a:prstGeom prst="rect">
              <a:avLst/>
            </a:prstGeom>
          </p:spPr>
        </p:pic>
        <p:pic>
          <p:nvPicPr>
            <p:cNvPr id="104" name="Picture 103">
              <a:extLst>
                <a:ext uri="{FF2B5EF4-FFF2-40B4-BE49-F238E27FC236}">
                  <a16:creationId xmlns:a16="http://schemas.microsoft.com/office/drawing/2014/main" id="{882FBD9D-984C-6351-5FB9-57322141A397}"/>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843633" y="3151006"/>
              <a:ext cx="584377" cy="584377"/>
            </a:xfrm>
            <a:prstGeom prst="rect">
              <a:avLst/>
            </a:prstGeom>
          </p:spPr>
        </p:pic>
        <p:pic>
          <p:nvPicPr>
            <p:cNvPr id="105" name="Picture 104">
              <a:extLst>
                <a:ext uri="{FF2B5EF4-FFF2-40B4-BE49-F238E27FC236}">
                  <a16:creationId xmlns:a16="http://schemas.microsoft.com/office/drawing/2014/main" id="{3A9953F1-FE89-9468-99CF-E6A85A1FF68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438251" y="3167849"/>
              <a:ext cx="584377" cy="584377"/>
            </a:xfrm>
            <a:prstGeom prst="rect">
              <a:avLst/>
            </a:prstGeom>
          </p:spPr>
        </p:pic>
        <p:pic>
          <p:nvPicPr>
            <p:cNvPr id="106" name="Picture 105">
              <a:extLst>
                <a:ext uri="{FF2B5EF4-FFF2-40B4-BE49-F238E27FC236}">
                  <a16:creationId xmlns:a16="http://schemas.microsoft.com/office/drawing/2014/main" id="{C6F74ED2-5AA7-6800-531D-3681BD7F12C2}"/>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022627" y="3167848"/>
              <a:ext cx="584377" cy="584377"/>
            </a:xfrm>
            <a:prstGeom prst="rect">
              <a:avLst/>
            </a:prstGeom>
          </p:spPr>
        </p:pic>
        <p:sp>
          <p:nvSpPr>
            <p:cNvPr id="107" name="Rectangle: Rounded Corners 106">
              <a:extLst>
                <a:ext uri="{FF2B5EF4-FFF2-40B4-BE49-F238E27FC236}">
                  <a16:creationId xmlns:a16="http://schemas.microsoft.com/office/drawing/2014/main" id="{68E4B793-E4E9-EE0D-F590-9E5CC1B32047}"/>
                </a:ext>
              </a:extLst>
            </p:cNvPr>
            <p:cNvSpPr/>
            <p:nvPr/>
          </p:nvSpPr>
          <p:spPr>
            <a:xfrm>
              <a:off x="9162331" y="3011818"/>
              <a:ext cx="2499842" cy="8880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8" name="Picture 117" descr="A graphic of a paper with a pie chart and graph&#10;&#10;Description automatically generated">
            <a:extLst>
              <a:ext uri="{FF2B5EF4-FFF2-40B4-BE49-F238E27FC236}">
                <a16:creationId xmlns:a16="http://schemas.microsoft.com/office/drawing/2014/main" id="{D63FA101-3A43-A76A-EB21-EC6C03AE0C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9209" y="1414200"/>
            <a:ext cx="584377" cy="584377"/>
          </a:xfrm>
          <a:prstGeom prst="rect">
            <a:avLst/>
          </a:prstGeom>
        </p:spPr>
      </p:pic>
      <p:pic>
        <p:nvPicPr>
          <p:cNvPr id="119" name="Picture 118" descr="A graphic of a paper with a pie chart and graph&#10;&#10;Description automatically generated">
            <a:extLst>
              <a:ext uri="{FF2B5EF4-FFF2-40B4-BE49-F238E27FC236}">
                <a16:creationId xmlns:a16="http://schemas.microsoft.com/office/drawing/2014/main" id="{AB4D05A0-69F4-65C5-D78A-E236B97452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4517" y="704799"/>
            <a:ext cx="584377" cy="584377"/>
          </a:xfrm>
          <a:prstGeom prst="rect">
            <a:avLst/>
          </a:prstGeom>
        </p:spPr>
      </p:pic>
      <p:pic>
        <p:nvPicPr>
          <p:cNvPr id="120" name="Picture 119" descr="A graphic of a paper with a pie chart and graph&#10;&#10;Description automatically generated">
            <a:extLst>
              <a:ext uri="{FF2B5EF4-FFF2-40B4-BE49-F238E27FC236}">
                <a16:creationId xmlns:a16="http://schemas.microsoft.com/office/drawing/2014/main" id="{281697BA-8663-A2CA-9809-25016C0F50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5014" y="719811"/>
            <a:ext cx="584377" cy="584377"/>
          </a:xfrm>
          <a:prstGeom prst="rect">
            <a:avLst/>
          </a:prstGeom>
        </p:spPr>
      </p:pic>
      <p:pic>
        <p:nvPicPr>
          <p:cNvPr id="121" name="Picture 120" descr="A graphic of a paper with a pie chart and graph&#10;&#10;Description automatically generated">
            <a:extLst>
              <a:ext uri="{FF2B5EF4-FFF2-40B4-BE49-F238E27FC236}">
                <a16:creationId xmlns:a16="http://schemas.microsoft.com/office/drawing/2014/main" id="{FCD22331-51A9-44F5-7FB7-92B27AB729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0249" y="1108316"/>
            <a:ext cx="584377" cy="584377"/>
          </a:xfrm>
          <a:prstGeom prst="rect">
            <a:avLst/>
          </a:prstGeom>
        </p:spPr>
      </p:pic>
      <p:sp>
        <p:nvSpPr>
          <p:cNvPr id="122" name="TextBox 121">
            <a:extLst>
              <a:ext uri="{FF2B5EF4-FFF2-40B4-BE49-F238E27FC236}">
                <a16:creationId xmlns:a16="http://schemas.microsoft.com/office/drawing/2014/main" id="{3F395351-80D3-672D-5FD7-C22A43ACCDD2}"/>
              </a:ext>
            </a:extLst>
          </p:cNvPr>
          <p:cNvSpPr txBox="1"/>
          <p:nvPr/>
        </p:nvSpPr>
        <p:spPr>
          <a:xfrm>
            <a:off x="9850334" y="4773373"/>
            <a:ext cx="1137920" cy="523220"/>
          </a:xfrm>
          <a:prstGeom prst="rect">
            <a:avLst/>
          </a:prstGeom>
          <a:noFill/>
        </p:spPr>
        <p:txBody>
          <a:bodyPr wrap="square" rtlCol="0">
            <a:spAutoFit/>
          </a:bodyPr>
          <a:lstStyle/>
          <a:p>
            <a:pPr algn="ctr"/>
            <a:r>
              <a:rPr lang="en-US" sz="2800" b="1" i="1">
                <a:latin typeface="Comic Sans MS" panose="030F0702030302020204" pitchFamily="66" charset="0"/>
              </a:rPr>
              <a:t>……</a:t>
            </a:r>
          </a:p>
        </p:txBody>
      </p:sp>
      <p:grpSp>
        <p:nvGrpSpPr>
          <p:cNvPr id="139" name="Group 138">
            <a:extLst>
              <a:ext uri="{FF2B5EF4-FFF2-40B4-BE49-F238E27FC236}">
                <a16:creationId xmlns:a16="http://schemas.microsoft.com/office/drawing/2014/main" id="{44AE143A-C616-7431-4CB7-4FBC569F25DE}"/>
              </a:ext>
            </a:extLst>
          </p:cNvPr>
          <p:cNvGrpSpPr/>
          <p:nvPr/>
        </p:nvGrpSpPr>
        <p:grpSpPr>
          <a:xfrm>
            <a:off x="9127958" y="4058459"/>
            <a:ext cx="2499842" cy="888007"/>
            <a:chOff x="9160617" y="4058459"/>
            <a:chExt cx="2499842" cy="888007"/>
          </a:xfrm>
        </p:grpSpPr>
        <p:pic>
          <p:nvPicPr>
            <p:cNvPr id="123" name="Picture 122">
              <a:extLst>
                <a:ext uri="{FF2B5EF4-FFF2-40B4-BE49-F238E27FC236}">
                  <a16:creationId xmlns:a16="http://schemas.microsoft.com/office/drawing/2014/main" id="{444C9D8D-DF63-DD0F-AD0C-6B2CC783D9F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257542" y="4197647"/>
              <a:ext cx="584377" cy="584377"/>
            </a:xfrm>
            <a:prstGeom prst="rect">
              <a:avLst/>
            </a:prstGeom>
          </p:spPr>
        </p:pic>
        <p:pic>
          <p:nvPicPr>
            <p:cNvPr id="124" name="Picture 123">
              <a:extLst>
                <a:ext uri="{FF2B5EF4-FFF2-40B4-BE49-F238E27FC236}">
                  <a16:creationId xmlns:a16="http://schemas.microsoft.com/office/drawing/2014/main" id="{884AAFCB-9380-5F24-758B-2404B2CC1C0C}"/>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841919" y="4197647"/>
              <a:ext cx="584377" cy="584377"/>
            </a:xfrm>
            <a:prstGeom prst="rect">
              <a:avLst/>
            </a:prstGeom>
          </p:spPr>
        </p:pic>
        <p:pic>
          <p:nvPicPr>
            <p:cNvPr id="125" name="Picture 124">
              <a:extLst>
                <a:ext uri="{FF2B5EF4-FFF2-40B4-BE49-F238E27FC236}">
                  <a16:creationId xmlns:a16="http://schemas.microsoft.com/office/drawing/2014/main" id="{3BD0EB25-20C7-AE21-C61E-40DA6FDAE957}"/>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436537" y="4214490"/>
              <a:ext cx="584377" cy="584377"/>
            </a:xfrm>
            <a:prstGeom prst="rect">
              <a:avLst/>
            </a:prstGeom>
          </p:spPr>
        </p:pic>
        <p:pic>
          <p:nvPicPr>
            <p:cNvPr id="126" name="Picture 125">
              <a:extLst>
                <a:ext uri="{FF2B5EF4-FFF2-40B4-BE49-F238E27FC236}">
                  <a16:creationId xmlns:a16="http://schemas.microsoft.com/office/drawing/2014/main" id="{5D6BFEC0-010B-28A1-1642-DCDF26FE54C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020913" y="4214489"/>
              <a:ext cx="584377" cy="584377"/>
            </a:xfrm>
            <a:prstGeom prst="rect">
              <a:avLst/>
            </a:prstGeom>
          </p:spPr>
        </p:pic>
        <p:sp>
          <p:nvSpPr>
            <p:cNvPr id="127" name="Rectangle: Rounded Corners 126">
              <a:extLst>
                <a:ext uri="{FF2B5EF4-FFF2-40B4-BE49-F238E27FC236}">
                  <a16:creationId xmlns:a16="http://schemas.microsoft.com/office/drawing/2014/main" id="{7EC61C7F-8A75-BC83-7370-241E7E54217C}"/>
                </a:ext>
              </a:extLst>
            </p:cNvPr>
            <p:cNvSpPr/>
            <p:nvPr/>
          </p:nvSpPr>
          <p:spPr>
            <a:xfrm>
              <a:off x="9160617" y="4058459"/>
              <a:ext cx="2499842" cy="8880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0" name="Group 139">
            <a:extLst>
              <a:ext uri="{FF2B5EF4-FFF2-40B4-BE49-F238E27FC236}">
                <a16:creationId xmlns:a16="http://schemas.microsoft.com/office/drawing/2014/main" id="{03912C1B-100C-6C5B-1BD1-4E4806DB54D2}"/>
              </a:ext>
            </a:extLst>
          </p:cNvPr>
          <p:cNvGrpSpPr/>
          <p:nvPr/>
        </p:nvGrpSpPr>
        <p:grpSpPr>
          <a:xfrm>
            <a:off x="9118664" y="5374592"/>
            <a:ext cx="2499842" cy="888007"/>
            <a:chOff x="9162331" y="5488348"/>
            <a:chExt cx="2499842" cy="888007"/>
          </a:xfrm>
        </p:grpSpPr>
        <p:pic>
          <p:nvPicPr>
            <p:cNvPr id="128" name="Picture 127">
              <a:extLst>
                <a:ext uri="{FF2B5EF4-FFF2-40B4-BE49-F238E27FC236}">
                  <a16:creationId xmlns:a16="http://schemas.microsoft.com/office/drawing/2014/main" id="{2B9AEE42-F822-C998-3E1D-4B6CD01B6E4B}"/>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259256" y="5627536"/>
              <a:ext cx="584377" cy="584377"/>
            </a:xfrm>
            <a:prstGeom prst="rect">
              <a:avLst/>
            </a:prstGeom>
          </p:spPr>
        </p:pic>
        <p:pic>
          <p:nvPicPr>
            <p:cNvPr id="129" name="Picture 128">
              <a:extLst>
                <a:ext uri="{FF2B5EF4-FFF2-40B4-BE49-F238E27FC236}">
                  <a16:creationId xmlns:a16="http://schemas.microsoft.com/office/drawing/2014/main" id="{7196E36E-39CE-653B-FD88-99361972DC0F}"/>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843633" y="5627536"/>
              <a:ext cx="584377" cy="584377"/>
            </a:xfrm>
            <a:prstGeom prst="rect">
              <a:avLst/>
            </a:prstGeom>
          </p:spPr>
        </p:pic>
        <p:pic>
          <p:nvPicPr>
            <p:cNvPr id="130" name="Picture 129">
              <a:extLst>
                <a:ext uri="{FF2B5EF4-FFF2-40B4-BE49-F238E27FC236}">
                  <a16:creationId xmlns:a16="http://schemas.microsoft.com/office/drawing/2014/main" id="{447D41F8-8A54-82DD-5634-EE1DF07F243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438251" y="5644379"/>
              <a:ext cx="584377" cy="584377"/>
            </a:xfrm>
            <a:prstGeom prst="rect">
              <a:avLst/>
            </a:prstGeom>
          </p:spPr>
        </p:pic>
        <p:pic>
          <p:nvPicPr>
            <p:cNvPr id="131" name="Picture 130">
              <a:extLst>
                <a:ext uri="{FF2B5EF4-FFF2-40B4-BE49-F238E27FC236}">
                  <a16:creationId xmlns:a16="http://schemas.microsoft.com/office/drawing/2014/main" id="{011D37FA-BA5F-4C8B-60B4-B04FE58A47F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022627" y="5644378"/>
              <a:ext cx="584377" cy="584377"/>
            </a:xfrm>
            <a:prstGeom prst="rect">
              <a:avLst/>
            </a:prstGeom>
          </p:spPr>
        </p:pic>
        <p:sp>
          <p:nvSpPr>
            <p:cNvPr id="132" name="Rectangle: Rounded Corners 131">
              <a:extLst>
                <a:ext uri="{FF2B5EF4-FFF2-40B4-BE49-F238E27FC236}">
                  <a16:creationId xmlns:a16="http://schemas.microsoft.com/office/drawing/2014/main" id="{8084C3FC-8566-2954-B6D9-7315EB8A2265}"/>
                </a:ext>
              </a:extLst>
            </p:cNvPr>
            <p:cNvSpPr/>
            <p:nvPr/>
          </p:nvSpPr>
          <p:spPr>
            <a:xfrm>
              <a:off x="9162331" y="5488348"/>
              <a:ext cx="2499842" cy="88800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TextBox 132">
            <a:extLst>
              <a:ext uri="{FF2B5EF4-FFF2-40B4-BE49-F238E27FC236}">
                <a16:creationId xmlns:a16="http://schemas.microsoft.com/office/drawing/2014/main" id="{482C8AF3-3278-1C69-6365-FA6CEE570725}"/>
              </a:ext>
            </a:extLst>
          </p:cNvPr>
          <p:cNvSpPr txBox="1"/>
          <p:nvPr/>
        </p:nvSpPr>
        <p:spPr>
          <a:xfrm>
            <a:off x="2314590" y="1606149"/>
            <a:ext cx="3401425" cy="369332"/>
          </a:xfrm>
          <a:prstGeom prst="rect">
            <a:avLst/>
          </a:prstGeom>
          <a:noFill/>
        </p:spPr>
        <p:txBody>
          <a:bodyPr wrap="square" rtlCol="0">
            <a:spAutoFit/>
          </a:bodyPr>
          <a:lstStyle/>
          <a:p>
            <a:pPr algn="ctr"/>
            <a:r>
              <a:rPr lang="en-US" b="1" i="1">
                <a:solidFill>
                  <a:srgbClr val="C00000"/>
                </a:solidFill>
                <a:latin typeface="Aptos" panose="020B0004020202020204" pitchFamily="34" charset="0"/>
              </a:rPr>
              <a:t>Candidate Paper Retrieval</a:t>
            </a:r>
          </a:p>
        </p:txBody>
      </p:sp>
      <p:sp>
        <p:nvSpPr>
          <p:cNvPr id="135" name="TextBox 134">
            <a:extLst>
              <a:ext uri="{FF2B5EF4-FFF2-40B4-BE49-F238E27FC236}">
                <a16:creationId xmlns:a16="http://schemas.microsoft.com/office/drawing/2014/main" id="{12E17119-304B-C637-2B10-6D3D7961AFCE}"/>
              </a:ext>
            </a:extLst>
          </p:cNvPr>
          <p:cNvSpPr txBox="1"/>
          <p:nvPr/>
        </p:nvSpPr>
        <p:spPr>
          <a:xfrm>
            <a:off x="10390830" y="2405454"/>
            <a:ext cx="1904164" cy="369332"/>
          </a:xfrm>
          <a:prstGeom prst="rect">
            <a:avLst/>
          </a:prstGeom>
          <a:noFill/>
        </p:spPr>
        <p:txBody>
          <a:bodyPr wrap="square" rtlCol="0">
            <a:spAutoFit/>
          </a:bodyPr>
          <a:lstStyle/>
          <a:p>
            <a:pPr algn="ctr"/>
            <a:r>
              <a:rPr lang="en-US" b="1" i="1">
                <a:solidFill>
                  <a:srgbClr val="C00000"/>
                </a:solidFill>
                <a:latin typeface="Aptos" panose="020B0004020202020204" pitchFamily="34" charset="0"/>
              </a:rPr>
              <a:t>Batching</a:t>
            </a:r>
          </a:p>
        </p:txBody>
      </p:sp>
      <p:sp>
        <p:nvSpPr>
          <p:cNvPr id="136" name="Arrow: Left 135">
            <a:extLst>
              <a:ext uri="{FF2B5EF4-FFF2-40B4-BE49-F238E27FC236}">
                <a16:creationId xmlns:a16="http://schemas.microsoft.com/office/drawing/2014/main" id="{C88DC4C1-BB69-BAED-D96C-ED2E2B0B1903}"/>
              </a:ext>
            </a:extLst>
          </p:cNvPr>
          <p:cNvSpPr/>
          <p:nvPr/>
        </p:nvSpPr>
        <p:spPr>
          <a:xfrm rot="20149020">
            <a:off x="8291328" y="3388603"/>
            <a:ext cx="715000" cy="374414"/>
          </a:xfrm>
          <a:prstGeom prst="lef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Arrow: Bent-Up 143">
            <a:extLst>
              <a:ext uri="{FF2B5EF4-FFF2-40B4-BE49-F238E27FC236}">
                <a16:creationId xmlns:a16="http://schemas.microsoft.com/office/drawing/2014/main" id="{0F5B982D-FD9C-B0A1-0A4D-C8CA288CBB24}"/>
              </a:ext>
            </a:extLst>
          </p:cNvPr>
          <p:cNvSpPr/>
          <p:nvPr/>
        </p:nvSpPr>
        <p:spPr>
          <a:xfrm>
            <a:off x="6113624" y="5081291"/>
            <a:ext cx="933141" cy="1157395"/>
          </a:xfrm>
          <a:prstGeom prst="bentUpArrow">
            <a:avLst>
              <a:gd name="adj1" fmla="val 19284"/>
              <a:gd name="adj2" fmla="val 22142"/>
              <a:gd name="adj3" fmla="val 25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Arrow: Left 144">
            <a:extLst>
              <a:ext uri="{FF2B5EF4-FFF2-40B4-BE49-F238E27FC236}">
                <a16:creationId xmlns:a16="http://schemas.microsoft.com/office/drawing/2014/main" id="{D4419A7F-9430-52B5-AC5C-67E4EA3D7635}"/>
              </a:ext>
            </a:extLst>
          </p:cNvPr>
          <p:cNvSpPr/>
          <p:nvPr/>
        </p:nvSpPr>
        <p:spPr>
          <a:xfrm>
            <a:off x="8334007" y="4302628"/>
            <a:ext cx="715000" cy="374414"/>
          </a:xfrm>
          <a:prstGeom prst="lef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1968AD4-B56A-D369-569A-690B9CEBCC24}"/>
              </a:ext>
            </a:extLst>
          </p:cNvPr>
          <p:cNvSpPr txBox="1"/>
          <p:nvPr/>
        </p:nvSpPr>
        <p:spPr>
          <a:xfrm>
            <a:off x="489140" y="1065586"/>
            <a:ext cx="1235476" cy="442674"/>
          </a:xfrm>
          <a:prstGeom prst="roundRect">
            <a:avLst/>
          </a:prstGeom>
          <a:solidFill>
            <a:schemeClr val="bg1">
              <a:lumMod val="95000"/>
            </a:schemeClr>
          </a:solidFill>
        </p:spPr>
        <p:txBody>
          <a:bodyPr wrap="square" lIns="91440" tIns="45720" rIns="91440" bIns="45720" rtlCol="0" anchor="t">
            <a:spAutoFit/>
          </a:bodyPr>
          <a:lstStyle/>
          <a:p>
            <a:pPr algn="ctr"/>
            <a:r>
              <a:rPr lang="en-US" sz="2000" b="1"/>
              <a:t>Prompt</a:t>
            </a:r>
            <a:endParaRPr lang="en-US" sz="2000">
              <a:latin typeface="Comic Sans MS"/>
            </a:endParaRPr>
          </a:p>
        </p:txBody>
      </p:sp>
      <p:sp>
        <p:nvSpPr>
          <p:cNvPr id="5" name="Arrow: Left 144">
            <a:extLst>
              <a:ext uri="{FF2B5EF4-FFF2-40B4-BE49-F238E27FC236}">
                <a16:creationId xmlns:a16="http://schemas.microsoft.com/office/drawing/2014/main" id="{D7B5DD4B-CEC7-EC7B-A16E-D9FED46C807E}"/>
              </a:ext>
            </a:extLst>
          </p:cNvPr>
          <p:cNvSpPr/>
          <p:nvPr/>
        </p:nvSpPr>
        <p:spPr>
          <a:xfrm rot="1050911">
            <a:off x="8273712" y="5414722"/>
            <a:ext cx="715000" cy="374414"/>
          </a:xfrm>
          <a:prstGeom prst="lef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997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3"/>
                                        </p:tgtEl>
                                        <p:attrNameLst>
                                          <p:attrName>style.visibility</p:attrName>
                                        </p:attrNameLst>
                                      </p:cBhvr>
                                      <p:to>
                                        <p:strVal val="visible"/>
                                      </p:to>
                                    </p:set>
                                    <p:animEffect transition="in" filter="fade">
                                      <p:cBhvr>
                                        <p:cTn id="10" dur="500"/>
                                        <p:tgtEl>
                                          <p:spTgt spid="133"/>
                                        </p:tgtEl>
                                      </p:cBhvr>
                                    </p:animEffect>
                                  </p:childTnLst>
                                </p:cTn>
                              </p:par>
                              <p:par>
                                <p:cTn id="11" presetID="10"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par>
                                <p:cTn id="17" presetID="10"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nodeType="with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500"/>
                                        <p:tgtEl>
                                          <p:spTgt spid="6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500"/>
                                        <p:tgtEl>
                                          <p:spTgt spid="6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animEffect transition="in" filter="fade">
                                      <p:cBhvr>
                                        <p:cTn id="63" dur="500"/>
                                        <p:tgtEl>
                                          <p:spTgt spid="65"/>
                                        </p:tgtEl>
                                      </p:cBhvr>
                                    </p:animEffect>
                                  </p:childTnLst>
                                </p:cTn>
                              </p:par>
                              <p:par>
                                <p:cTn id="64" presetID="10" presetClass="entr" presetSubtype="0" fill="hold" nodeType="with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fade">
                                      <p:cBhvr>
                                        <p:cTn id="66" dur="500"/>
                                        <p:tgtEl>
                                          <p:spTgt spid="66"/>
                                        </p:tgtEl>
                                      </p:cBhvr>
                                    </p:animEffect>
                                  </p:childTnLst>
                                </p:cTn>
                              </p:par>
                              <p:par>
                                <p:cTn id="67" presetID="10" presetClass="entr" presetSubtype="0" fill="hold" nodeType="withEffect">
                                  <p:stCondLst>
                                    <p:cond delay="0"/>
                                  </p:stCondLst>
                                  <p:childTnLst>
                                    <p:set>
                                      <p:cBhvr>
                                        <p:cTn id="68" dur="1" fill="hold">
                                          <p:stCondLst>
                                            <p:cond delay="0"/>
                                          </p:stCondLst>
                                        </p:cTn>
                                        <p:tgtEl>
                                          <p:spTgt spid="67"/>
                                        </p:tgtEl>
                                        <p:attrNameLst>
                                          <p:attrName>style.visibility</p:attrName>
                                        </p:attrNameLst>
                                      </p:cBhvr>
                                      <p:to>
                                        <p:strVal val="visible"/>
                                      </p:to>
                                    </p:set>
                                    <p:animEffect transition="in" filter="fade">
                                      <p:cBhvr>
                                        <p:cTn id="69" dur="500"/>
                                        <p:tgtEl>
                                          <p:spTgt spid="67"/>
                                        </p:tgtEl>
                                      </p:cBhvr>
                                    </p:animEffect>
                                  </p:childTnLst>
                                </p:cTn>
                              </p:par>
                              <p:par>
                                <p:cTn id="70" presetID="10" presetClass="entr" presetSubtype="0" fill="hold" nodeType="withEffect">
                                  <p:stCondLst>
                                    <p:cond delay="0"/>
                                  </p:stCondLst>
                                  <p:childTnLst>
                                    <p:set>
                                      <p:cBhvr>
                                        <p:cTn id="71" dur="1" fill="hold">
                                          <p:stCondLst>
                                            <p:cond delay="0"/>
                                          </p:stCondLst>
                                        </p:cTn>
                                        <p:tgtEl>
                                          <p:spTgt spid="118"/>
                                        </p:tgtEl>
                                        <p:attrNameLst>
                                          <p:attrName>style.visibility</p:attrName>
                                        </p:attrNameLst>
                                      </p:cBhvr>
                                      <p:to>
                                        <p:strVal val="visible"/>
                                      </p:to>
                                    </p:set>
                                    <p:animEffect transition="in" filter="fade">
                                      <p:cBhvr>
                                        <p:cTn id="72" dur="500"/>
                                        <p:tgtEl>
                                          <p:spTgt spid="118"/>
                                        </p:tgtEl>
                                      </p:cBhvr>
                                    </p:animEffect>
                                  </p:childTnLst>
                                </p:cTn>
                              </p:par>
                              <p:par>
                                <p:cTn id="73" presetID="10" presetClass="entr" presetSubtype="0" fill="hold" nodeType="withEffect">
                                  <p:stCondLst>
                                    <p:cond delay="0"/>
                                  </p:stCondLst>
                                  <p:childTnLst>
                                    <p:set>
                                      <p:cBhvr>
                                        <p:cTn id="74" dur="1" fill="hold">
                                          <p:stCondLst>
                                            <p:cond delay="0"/>
                                          </p:stCondLst>
                                        </p:cTn>
                                        <p:tgtEl>
                                          <p:spTgt spid="119"/>
                                        </p:tgtEl>
                                        <p:attrNameLst>
                                          <p:attrName>style.visibility</p:attrName>
                                        </p:attrNameLst>
                                      </p:cBhvr>
                                      <p:to>
                                        <p:strVal val="visible"/>
                                      </p:to>
                                    </p:set>
                                    <p:animEffect transition="in" filter="fade">
                                      <p:cBhvr>
                                        <p:cTn id="75" dur="500"/>
                                        <p:tgtEl>
                                          <p:spTgt spid="119"/>
                                        </p:tgtEl>
                                      </p:cBhvr>
                                    </p:animEffect>
                                  </p:childTnLst>
                                </p:cTn>
                              </p:par>
                              <p:par>
                                <p:cTn id="76" presetID="10" presetClass="entr" presetSubtype="0" fill="hold" nodeType="withEffect">
                                  <p:stCondLst>
                                    <p:cond delay="0"/>
                                  </p:stCondLst>
                                  <p:childTnLst>
                                    <p:set>
                                      <p:cBhvr>
                                        <p:cTn id="77" dur="1" fill="hold">
                                          <p:stCondLst>
                                            <p:cond delay="0"/>
                                          </p:stCondLst>
                                        </p:cTn>
                                        <p:tgtEl>
                                          <p:spTgt spid="120"/>
                                        </p:tgtEl>
                                        <p:attrNameLst>
                                          <p:attrName>style.visibility</p:attrName>
                                        </p:attrNameLst>
                                      </p:cBhvr>
                                      <p:to>
                                        <p:strVal val="visible"/>
                                      </p:to>
                                    </p:set>
                                    <p:animEffect transition="in" filter="fade">
                                      <p:cBhvr>
                                        <p:cTn id="78" dur="500"/>
                                        <p:tgtEl>
                                          <p:spTgt spid="120"/>
                                        </p:tgtEl>
                                      </p:cBhvr>
                                    </p:animEffect>
                                  </p:childTnLst>
                                </p:cTn>
                              </p:par>
                              <p:par>
                                <p:cTn id="79" presetID="10" presetClass="entr" presetSubtype="0" fill="hold" nodeType="withEffect">
                                  <p:stCondLst>
                                    <p:cond delay="0"/>
                                  </p:stCondLst>
                                  <p:childTnLst>
                                    <p:set>
                                      <p:cBhvr>
                                        <p:cTn id="80" dur="1" fill="hold">
                                          <p:stCondLst>
                                            <p:cond delay="0"/>
                                          </p:stCondLst>
                                        </p:cTn>
                                        <p:tgtEl>
                                          <p:spTgt spid="121"/>
                                        </p:tgtEl>
                                        <p:attrNameLst>
                                          <p:attrName>style.visibility</p:attrName>
                                        </p:attrNameLst>
                                      </p:cBhvr>
                                      <p:to>
                                        <p:strVal val="visible"/>
                                      </p:to>
                                    </p:set>
                                    <p:animEffect transition="in" filter="fade">
                                      <p:cBhvr>
                                        <p:cTn id="81" dur="500"/>
                                        <p:tgtEl>
                                          <p:spTgt spid="12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4"/>
                                        </p:tgtEl>
                                        <p:attrNameLst>
                                          <p:attrName>style.visibility</p:attrName>
                                        </p:attrNameLst>
                                      </p:cBhvr>
                                      <p:to>
                                        <p:strVal val="visible"/>
                                      </p:to>
                                    </p:set>
                                    <p:animEffect transition="in" filter="fade">
                                      <p:cBhvr>
                                        <p:cTn id="84" dur="500"/>
                                        <p:tgtEl>
                                          <p:spTgt spid="6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animEffect transition="in" filter="fade">
                                      <p:cBhvr>
                                        <p:cTn id="87" dur="500"/>
                                        <p:tgtEl>
                                          <p:spTgt spid="6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35"/>
                                        </p:tgtEl>
                                        <p:attrNameLst>
                                          <p:attrName>style.visibility</p:attrName>
                                        </p:attrNameLst>
                                      </p:cBhvr>
                                      <p:to>
                                        <p:strVal val="visible"/>
                                      </p:to>
                                    </p:set>
                                    <p:animEffect transition="in" filter="fade">
                                      <p:cBhvr>
                                        <p:cTn id="90" dur="500"/>
                                        <p:tgtEl>
                                          <p:spTgt spid="13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38"/>
                                        </p:tgtEl>
                                        <p:attrNameLst>
                                          <p:attrName>style.visibility</p:attrName>
                                        </p:attrNameLst>
                                      </p:cBhvr>
                                      <p:to>
                                        <p:strVal val="visible"/>
                                      </p:to>
                                    </p:set>
                                    <p:animEffect transition="in" filter="fade">
                                      <p:cBhvr>
                                        <p:cTn id="95" dur="500"/>
                                        <p:tgtEl>
                                          <p:spTgt spid="13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139"/>
                                        </p:tgtEl>
                                        <p:attrNameLst>
                                          <p:attrName>style.visibility</p:attrName>
                                        </p:attrNameLst>
                                      </p:cBhvr>
                                      <p:to>
                                        <p:strVal val="visible"/>
                                      </p:to>
                                    </p:set>
                                    <p:animEffect transition="in" filter="fade">
                                      <p:cBhvr>
                                        <p:cTn id="100" dur="500"/>
                                        <p:tgtEl>
                                          <p:spTgt spid="139"/>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122"/>
                                        </p:tgtEl>
                                        <p:attrNameLst>
                                          <p:attrName>style.visibility</p:attrName>
                                        </p:attrNameLst>
                                      </p:cBhvr>
                                      <p:to>
                                        <p:strVal val="visible"/>
                                      </p:to>
                                    </p:set>
                                    <p:animEffect transition="in" filter="fade">
                                      <p:cBhvr>
                                        <p:cTn id="105" dur="500"/>
                                        <p:tgtEl>
                                          <p:spTgt spid="122"/>
                                        </p:tgtEl>
                                      </p:cBhvr>
                                    </p:animEffect>
                                  </p:childTnLst>
                                </p:cTn>
                              </p:par>
                              <p:par>
                                <p:cTn id="106" presetID="10" presetClass="entr" presetSubtype="0" fill="hold" nodeType="withEffect">
                                  <p:stCondLst>
                                    <p:cond delay="0"/>
                                  </p:stCondLst>
                                  <p:childTnLst>
                                    <p:set>
                                      <p:cBhvr>
                                        <p:cTn id="107" dur="1" fill="hold">
                                          <p:stCondLst>
                                            <p:cond delay="0"/>
                                          </p:stCondLst>
                                        </p:cTn>
                                        <p:tgtEl>
                                          <p:spTgt spid="140"/>
                                        </p:tgtEl>
                                        <p:attrNameLst>
                                          <p:attrName>style.visibility</p:attrName>
                                        </p:attrNameLst>
                                      </p:cBhvr>
                                      <p:to>
                                        <p:strVal val="visible"/>
                                      </p:to>
                                    </p:set>
                                    <p:animEffect transition="in" filter="fade">
                                      <p:cBhvr>
                                        <p:cTn id="108" dur="500"/>
                                        <p:tgtEl>
                                          <p:spTgt spid="140"/>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141"/>
                                        </p:tgtEl>
                                        <p:attrNameLst>
                                          <p:attrName>style.visibility</p:attrName>
                                        </p:attrNameLst>
                                      </p:cBhvr>
                                      <p:to>
                                        <p:strVal val="visible"/>
                                      </p:to>
                                    </p:set>
                                    <p:animEffect transition="in" filter="fade">
                                      <p:cBhvr>
                                        <p:cTn id="113" dur="500"/>
                                        <p:tgtEl>
                                          <p:spTgt spid="141"/>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136"/>
                                        </p:tgtEl>
                                        <p:attrNameLst>
                                          <p:attrName>style.visibility</p:attrName>
                                        </p:attrNameLst>
                                      </p:cBhvr>
                                      <p:to>
                                        <p:strVal val="visible"/>
                                      </p:to>
                                    </p:set>
                                    <p:animEffect transition="in" filter="fade">
                                      <p:cBhvr>
                                        <p:cTn id="118" dur="500"/>
                                        <p:tgtEl>
                                          <p:spTgt spid="136"/>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143"/>
                                        </p:tgtEl>
                                        <p:attrNameLst>
                                          <p:attrName>style.visibility</p:attrName>
                                        </p:attrNameLst>
                                      </p:cBhvr>
                                      <p:to>
                                        <p:strVal val="visible"/>
                                      </p:to>
                                    </p:set>
                                    <p:animEffect transition="in" filter="fade">
                                      <p:cBhvr>
                                        <p:cTn id="123" dur="500"/>
                                        <p:tgtEl>
                                          <p:spTgt spid="143"/>
                                        </p:tgtEl>
                                      </p:cBhvr>
                                    </p:animEffect>
                                  </p:childTnLst>
                                </p:cTn>
                              </p:par>
                              <p:par>
                                <p:cTn id="124" presetID="10" presetClass="entr" presetSubtype="0" fill="hold" nodeType="withEffect">
                                  <p:stCondLst>
                                    <p:cond delay="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500"/>
                                        <p:tgtEl>
                                          <p:spTgt spid="42"/>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144"/>
                                        </p:tgtEl>
                                        <p:attrNameLst>
                                          <p:attrName>style.visibility</p:attrName>
                                        </p:attrNameLst>
                                      </p:cBhvr>
                                      <p:to>
                                        <p:strVal val="visible"/>
                                      </p:to>
                                    </p:set>
                                    <p:animEffect transition="in" filter="fade">
                                      <p:cBhvr>
                                        <p:cTn id="131" dur="500"/>
                                        <p:tgtEl>
                                          <p:spTgt spid="144"/>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145"/>
                                        </p:tgtEl>
                                        <p:attrNameLst>
                                          <p:attrName>style.visibility</p:attrName>
                                        </p:attrNameLst>
                                      </p:cBhvr>
                                      <p:to>
                                        <p:strVal val="visible"/>
                                      </p:to>
                                    </p:set>
                                    <p:animEffect transition="in" filter="fade">
                                      <p:cBhvr>
                                        <p:cTn id="136" dur="500"/>
                                        <p:tgtEl>
                                          <p:spTgt spid="145"/>
                                        </p:tgtEl>
                                      </p:cBhvr>
                                    </p:animEffect>
                                  </p:childTnLst>
                                </p:cTn>
                              </p:par>
                              <p:par>
                                <p:cTn id="137" presetID="10" presetClass="exit" presetSubtype="0" fill="hold" grpId="1" nodeType="withEffect">
                                  <p:stCondLst>
                                    <p:cond delay="0"/>
                                  </p:stCondLst>
                                  <p:childTnLst>
                                    <p:animEffect transition="out" filter="fade">
                                      <p:cBhvr>
                                        <p:cTn id="138" dur="500"/>
                                        <p:tgtEl>
                                          <p:spTgt spid="136"/>
                                        </p:tgtEl>
                                      </p:cBhvr>
                                    </p:animEffect>
                                    <p:set>
                                      <p:cBhvr>
                                        <p:cTn id="139" dur="1" fill="hold">
                                          <p:stCondLst>
                                            <p:cond delay="499"/>
                                          </p:stCondLst>
                                        </p:cTn>
                                        <p:tgtEl>
                                          <p:spTgt spid="136"/>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5"/>
                                        </p:tgtEl>
                                        <p:attrNameLst>
                                          <p:attrName>style.visibility</p:attrName>
                                        </p:attrNameLst>
                                      </p:cBhvr>
                                      <p:to>
                                        <p:strVal val="visible"/>
                                      </p:to>
                                    </p:set>
                                    <p:animEffect transition="in" filter="fade">
                                      <p:cBhvr>
                                        <p:cTn id="144" dur="500"/>
                                        <p:tgtEl>
                                          <p:spTgt spid="5"/>
                                        </p:tgtEl>
                                      </p:cBhvr>
                                    </p:animEffect>
                                  </p:childTnLst>
                                </p:cTn>
                              </p:par>
                              <p:par>
                                <p:cTn id="145" presetID="10" presetClass="exit" presetSubtype="0" fill="hold" grpId="1" nodeType="withEffect">
                                  <p:stCondLst>
                                    <p:cond delay="0"/>
                                  </p:stCondLst>
                                  <p:childTnLst>
                                    <p:animEffect transition="out" filter="fade">
                                      <p:cBhvr>
                                        <p:cTn id="146" dur="500"/>
                                        <p:tgtEl>
                                          <p:spTgt spid="145"/>
                                        </p:tgtEl>
                                      </p:cBhvr>
                                    </p:animEffect>
                                    <p:set>
                                      <p:cBhvr>
                                        <p:cTn id="147" dur="1" fill="hold">
                                          <p:stCondLst>
                                            <p:cond delay="499"/>
                                          </p:stCondLst>
                                        </p:cTn>
                                        <p:tgtEl>
                                          <p:spTgt spid="1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animBg="1"/>
      <p:bldP spid="62" grpId="0" animBg="1"/>
      <p:bldP spid="63" grpId="0" animBg="1"/>
      <p:bldP spid="64" grpId="0" animBg="1"/>
      <p:bldP spid="65" grpId="0" animBg="1"/>
      <p:bldP spid="68" grpId="0" animBg="1"/>
      <p:bldP spid="122" grpId="0"/>
      <p:bldP spid="133" grpId="0"/>
      <p:bldP spid="135" grpId="0"/>
      <p:bldP spid="136" grpId="0" animBg="1"/>
      <p:bldP spid="136" grpId="1" animBg="1"/>
      <p:bldP spid="144" grpId="0" animBg="1"/>
      <p:bldP spid="145" grpId="0" animBg="1"/>
      <p:bldP spid="145" grpId="1"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5B72-EA4B-212F-BC9B-F8C34A9D8303}"/>
              </a:ext>
            </a:extLst>
          </p:cNvPr>
          <p:cNvSpPr>
            <a:spLocks noGrp="1"/>
          </p:cNvSpPr>
          <p:nvPr>
            <p:ph type="title"/>
          </p:nvPr>
        </p:nvSpPr>
        <p:spPr/>
        <p:txBody>
          <a:bodyPr/>
          <a:lstStyle/>
          <a:p>
            <a:r>
              <a:rPr lang="en-US"/>
              <a:t>Evaluation vs Number of Iterations</a:t>
            </a:r>
          </a:p>
        </p:txBody>
      </p:sp>
      <p:sp>
        <p:nvSpPr>
          <p:cNvPr id="4" name="Slide Number Placeholder 3">
            <a:extLst>
              <a:ext uri="{FF2B5EF4-FFF2-40B4-BE49-F238E27FC236}">
                <a16:creationId xmlns:a16="http://schemas.microsoft.com/office/drawing/2014/main" id="{704D916F-AABD-D4EA-97BB-AB788648BB34}"/>
              </a:ext>
            </a:extLst>
          </p:cNvPr>
          <p:cNvSpPr>
            <a:spLocks noGrp="1"/>
          </p:cNvSpPr>
          <p:nvPr>
            <p:ph type="sldNum" sz="quarter" idx="12"/>
          </p:nvPr>
        </p:nvSpPr>
        <p:spPr/>
        <p:txBody>
          <a:bodyPr/>
          <a:lstStyle/>
          <a:p>
            <a:fld id="{89C5782D-9F4E-41B2-BEC2-7E61B408EA47}" type="slidenum">
              <a:rPr lang="en-US" smtClean="0"/>
              <a:t>23</a:t>
            </a:fld>
            <a:endParaRPr lang="en-US"/>
          </a:p>
        </p:txBody>
      </p:sp>
      <p:sp>
        <p:nvSpPr>
          <p:cNvPr id="5" name="Rectangle: Rounded Corners 9">
            <a:extLst>
              <a:ext uri="{FF2B5EF4-FFF2-40B4-BE49-F238E27FC236}">
                <a16:creationId xmlns:a16="http://schemas.microsoft.com/office/drawing/2014/main" id="{C2F13D90-0DF2-D4AF-9FB2-DFD15025B01B}"/>
              </a:ext>
            </a:extLst>
          </p:cNvPr>
          <p:cNvSpPr/>
          <p:nvPr/>
        </p:nvSpPr>
        <p:spPr>
          <a:xfrm>
            <a:off x="7970664" y="2768228"/>
            <a:ext cx="4023071" cy="2070471"/>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ctr"/>
          <a:lstStyle/>
          <a:p>
            <a:pPr algn="ctr"/>
            <a:r>
              <a:rPr lang="en-US" sz="2800">
                <a:solidFill>
                  <a:schemeClr val="tx1"/>
                </a:solidFill>
              </a:rPr>
              <a:t>With more iterations, all aspects of the generated tables improves </a:t>
            </a:r>
            <a:br>
              <a:rPr lang="en-US" sz="2800">
                <a:solidFill>
                  <a:schemeClr val="tx1"/>
                </a:solidFill>
              </a:rPr>
            </a:br>
            <a:r>
              <a:rPr lang="en-US" sz="2800">
                <a:solidFill>
                  <a:schemeClr val="tx1"/>
                </a:solidFill>
              </a:rPr>
              <a:t>(up to </a:t>
            </a:r>
            <a:r>
              <a:rPr lang="en-US" sz="2800" err="1">
                <a:solidFill>
                  <a:schemeClr val="tx1"/>
                </a:solidFill>
              </a:rPr>
              <a:t>iter</a:t>
            </a:r>
            <a:r>
              <a:rPr lang="en-US" sz="2800">
                <a:solidFill>
                  <a:schemeClr val="tx1"/>
                </a:solidFill>
              </a:rPr>
              <a:t> ~4).</a:t>
            </a:r>
          </a:p>
        </p:txBody>
      </p:sp>
      <p:pic>
        <p:nvPicPr>
          <p:cNvPr id="1032" name="Picture 8">
            <a:extLst>
              <a:ext uri="{FF2B5EF4-FFF2-40B4-BE49-F238E27FC236}">
                <a16:creationId xmlns:a16="http://schemas.microsoft.com/office/drawing/2014/main" id="{BB75803E-FF00-3AB1-72C2-83DB4C6E02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478" y="1744656"/>
            <a:ext cx="6987718" cy="4708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31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D3F9B-E45C-FD22-4956-831AEF91E1A4}"/>
              </a:ext>
            </a:extLst>
          </p:cNvPr>
          <p:cNvSpPr>
            <a:spLocks noGrp="1"/>
          </p:cNvSpPr>
          <p:nvPr>
            <p:ph type="title"/>
          </p:nvPr>
        </p:nvSpPr>
        <p:spPr/>
        <p:txBody>
          <a:bodyPr/>
          <a:lstStyle/>
          <a:p>
            <a:r>
              <a:rPr lang="en-US"/>
              <a:t>Evaluation of the end-to-end pipeline</a:t>
            </a:r>
          </a:p>
        </p:txBody>
      </p:sp>
      <p:sp>
        <p:nvSpPr>
          <p:cNvPr id="3" name="Content Placeholder 2">
            <a:extLst>
              <a:ext uri="{FF2B5EF4-FFF2-40B4-BE49-F238E27FC236}">
                <a16:creationId xmlns:a16="http://schemas.microsoft.com/office/drawing/2014/main" id="{0FA483AC-6795-F849-689B-4459FC7F91DF}"/>
              </a:ext>
            </a:extLst>
          </p:cNvPr>
          <p:cNvSpPr>
            <a:spLocks noGrp="1"/>
          </p:cNvSpPr>
          <p:nvPr>
            <p:ph idx="1"/>
          </p:nvPr>
        </p:nvSpPr>
        <p:spPr/>
        <p:txBody>
          <a:bodyPr vert="horz" lIns="91440" tIns="45720" rIns="91440" bIns="45720" rtlCol="0" anchor="t">
            <a:normAutofit/>
          </a:bodyPr>
          <a:lstStyle/>
          <a:p>
            <a:r>
              <a:rPr lang="en-US" b="1"/>
              <a:t>Model: </a:t>
            </a:r>
            <a:r>
              <a:rPr lang="en-US"/>
              <a:t>Llama 3.3 (70B)</a:t>
            </a:r>
          </a:p>
          <a:p>
            <a:r>
              <a:rPr lang="en-US" b="1"/>
              <a:t>Baseline 1:</a:t>
            </a:r>
            <a:r>
              <a:rPr lang="en-US"/>
              <a:t> Read all papers </a:t>
            </a:r>
            <a:br>
              <a:rPr lang="en-US"/>
            </a:br>
            <a:r>
              <a:rPr lang="en-US"/>
              <a:t>in one go and write a table.  </a:t>
            </a:r>
          </a:p>
          <a:p>
            <a:r>
              <a:rPr lang="en-US" b="1"/>
              <a:t>Baseline 2: </a:t>
            </a:r>
            <a:r>
              <a:rPr lang="en-US"/>
              <a:t>Read one paper </a:t>
            </a:r>
            <a:br>
              <a:rPr lang="en-US"/>
            </a:br>
            <a:r>
              <a:rPr lang="en-US"/>
              <a:t>at a time and incrementally </a:t>
            </a:r>
            <a:br>
              <a:rPr lang="en-US"/>
            </a:br>
            <a:r>
              <a:rPr lang="en-US"/>
              <a:t>form a table. </a:t>
            </a:r>
          </a:p>
          <a:p>
            <a:r>
              <a:rPr lang="en-US" b="1"/>
              <a:t>Newman et al.: </a:t>
            </a:r>
            <a:r>
              <a:rPr lang="en-US"/>
              <a:t>Two stages;</a:t>
            </a:r>
            <a:br>
              <a:rPr lang="en-US"/>
            </a:br>
            <a:r>
              <a:rPr lang="en-US"/>
              <a:t>define schema in the first round, </a:t>
            </a:r>
            <a:br>
              <a:rPr lang="en-US"/>
            </a:br>
            <a:r>
              <a:rPr lang="en-US"/>
              <a:t>then fill in the values.</a:t>
            </a:r>
            <a:endParaRPr lang="en-US" b="1"/>
          </a:p>
          <a:p>
            <a:endParaRPr lang="en-US"/>
          </a:p>
          <a:p>
            <a:endParaRPr lang="en-US"/>
          </a:p>
          <a:p>
            <a:pPr marL="0" indent="0">
              <a:buNone/>
            </a:pPr>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886B2364-F752-C947-582A-52CB3818ECED}"/>
              </a:ext>
            </a:extLst>
          </p:cNvPr>
          <p:cNvSpPr>
            <a:spLocks noGrp="1"/>
          </p:cNvSpPr>
          <p:nvPr>
            <p:ph type="sldNum" sz="quarter" idx="12"/>
          </p:nvPr>
        </p:nvSpPr>
        <p:spPr/>
        <p:txBody>
          <a:bodyPr/>
          <a:lstStyle/>
          <a:p>
            <a:fld id="{89C5782D-9F4E-41B2-BEC2-7E61B408EA47}" type="slidenum">
              <a:rPr lang="en-US" smtClean="0"/>
              <a:t>24</a:t>
            </a:fld>
            <a:endParaRPr lang="en-US"/>
          </a:p>
        </p:txBody>
      </p:sp>
      <p:pic>
        <p:nvPicPr>
          <p:cNvPr id="6" name="Content Placeholder 7">
            <a:extLst>
              <a:ext uri="{FF2B5EF4-FFF2-40B4-BE49-F238E27FC236}">
                <a16:creationId xmlns:a16="http://schemas.microsoft.com/office/drawing/2014/main" id="{2DF07594-B3EB-47A6-8786-BA9D716428A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11412" y="1328434"/>
            <a:ext cx="5042388" cy="4351338"/>
          </a:xfrm>
          <a:prstGeom prst="rect">
            <a:avLst/>
          </a:prstGeom>
        </p:spPr>
      </p:pic>
      <p:sp>
        <p:nvSpPr>
          <p:cNvPr id="8" name="Rectangle: Rounded Corners 7">
            <a:extLst>
              <a:ext uri="{FF2B5EF4-FFF2-40B4-BE49-F238E27FC236}">
                <a16:creationId xmlns:a16="http://schemas.microsoft.com/office/drawing/2014/main" id="{A2DF4745-DD93-9242-7F33-E040FCF30A19}"/>
              </a:ext>
            </a:extLst>
          </p:cNvPr>
          <p:cNvSpPr/>
          <p:nvPr/>
        </p:nvSpPr>
        <p:spPr>
          <a:xfrm>
            <a:off x="1854614" y="5826870"/>
            <a:ext cx="9144000" cy="791159"/>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solidFill>
                  <a:srgbClr val="000000"/>
                </a:solidFill>
              </a:rPr>
              <a:t>Our proposed approach outperforms existing results. </a:t>
            </a:r>
            <a:endParaRPr lang="en-US"/>
          </a:p>
        </p:txBody>
      </p:sp>
      <p:sp>
        <p:nvSpPr>
          <p:cNvPr id="10" name="Rectangle 9">
            <a:extLst>
              <a:ext uri="{FF2B5EF4-FFF2-40B4-BE49-F238E27FC236}">
                <a16:creationId xmlns:a16="http://schemas.microsoft.com/office/drawing/2014/main" id="{BBDE3C46-BA8C-90ED-20B6-4D4F7B7E2093}"/>
              </a:ext>
            </a:extLst>
          </p:cNvPr>
          <p:cNvSpPr/>
          <p:nvPr/>
        </p:nvSpPr>
        <p:spPr>
          <a:xfrm>
            <a:off x="6924427" y="2321485"/>
            <a:ext cx="1047530" cy="2221026"/>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306E676-34D7-CD16-33D9-132909146313}"/>
              </a:ext>
            </a:extLst>
          </p:cNvPr>
          <p:cNvSpPr/>
          <p:nvPr/>
        </p:nvSpPr>
        <p:spPr>
          <a:xfrm>
            <a:off x="8086830" y="2891722"/>
            <a:ext cx="886048" cy="1650788"/>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2E9988-5DC2-10F5-F897-98965CD69804}"/>
              </a:ext>
            </a:extLst>
          </p:cNvPr>
          <p:cNvSpPr/>
          <p:nvPr/>
        </p:nvSpPr>
        <p:spPr>
          <a:xfrm>
            <a:off x="9124636" y="2321484"/>
            <a:ext cx="906233" cy="2221026"/>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B47E60C-565E-E859-7B7E-4A350CBF28EC}"/>
              </a:ext>
            </a:extLst>
          </p:cNvPr>
          <p:cNvSpPr/>
          <p:nvPr/>
        </p:nvSpPr>
        <p:spPr>
          <a:xfrm>
            <a:off x="10184370" y="1675550"/>
            <a:ext cx="906233" cy="2866959"/>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67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0" nodeType="clickEffect">
                                  <p:stCondLst>
                                    <p:cond delay="0"/>
                                  </p:stCondLst>
                                  <p:childTnLst>
                                    <p:animEffect transition="out" filter="fade">
                                      <p:cBhvr>
                                        <p:cTn id="41" dur="500"/>
                                        <p:tgtEl>
                                          <p:spTgt spid="13"/>
                                        </p:tgtEl>
                                      </p:cBhvr>
                                    </p:animEffect>
                                    <p:set>
                                      <p:cBhvr>
                                        <p:cTn id="42" dur="1" fill="hold">
                                          <p:stCondLst>
                                            <p:cond delay="499"/>
                                          </p:stCondLst>
                                        </p:cTn>
                                        <p:tgtEl>
                                          <p:spTgt spid="1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84B31-A3E2-80F3-B599-EBDA8E9AAAAA}"/>
            </a:ext>
          </a:extLst>
        </p:cNvPr>
        <p:cNvGrpSpPr/>
        <p:nvPr/>
      </p:nvGrpSpPr>
      <p:grpSpPr>
        <a:xfrm>
          <a:off x="0" y="0"/>
          <a:ext cx="0" cy="0"/>
          <a:chOff x="0" y="0"/>
          <a:chExt cx="0" cy="0"/>
        </a:xfrm>
      </p:grpSpPr>
      <p:pic>
        <p:nvPicPr>
          <p:cNvPr id="6" name="Content Placeholder 7">
            <a:extLst>
              <a:ext uri="{FF2B5EF4-FFF2-40B4-BE49-F238E27FC236}">
                <a16:creationId xmlns:a16="http://schemas.microsoft.com/office/drawing/2014/main" id="{D98C625C-F34C-64DC-FA24-4ECA10A3309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12322" y="1545316"/>
            <a:ext cx="3091853" cy="2668120"/>
          </a:xfrm>
          <a:prstGeom prst="rect">
            <a:avLst/>
          </a:prstGeom>
        </p:spPr>
      </p:pic>
      <p:pic>
        <p:nvPicPr>
          <p:cNvPr id="5" name="Content Placeholder 7">
            <a:extLst>
              <a:ext uri="{FF2B5EF4-FFF2-40B4-BE49-F238E27FC236}">
                <a16:creationId xmlns:a16="http://schemas.microsoft.com/office/drawing/2014/main" id="{43F0B560-D482-4056-61FC-E5352EDE88A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504175" y="1574179"/>
            <a:ext cx="3091852" cy="2668120"/>
          </a:xfrm>
          <a:prstGeom prst="rect">
            <a:avLst/>
          </a:prstGeom>
        </p:spPr>
      </p:pic>
      <p:pic>
        <p:nvPicPr>
          <p:cNvPr id="9" name="Content Placeholder 7">
            <a:extLst>
              <a:ext uri="{FF2B5EF4-FFF2-40B4-BE49-F238E27FC236}">
                <a16:creationId xmlns:a16="http://schemas.microsoft.com/office/drawing/2014/main" id="{77459EF0-194B-D88A-5CAF-D3E6A1FFB65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13223" y="4012797"/>
            <a:ext cx="3112876" cy="2686262"/>
          </a:xfrm>
          <a:prstGeom prst="rect">
            <a:avLst/>
          </a:prstGeom>
        </p:spPr>
      </p:pic>
      <p:sp>
        <p:nvSpPr>
          <p:cNvPr id="2" name="Title 1">
            <a:extLst>
              <a:ext uri="{FF2B5EF4-FFF2-40B4-BE49-F238E27FC236}">
                <a16:creationId xmlns:a16="http://schemas.microsoft.com/office/drawing/2014/main" id="{3AB6997A-27D6-3C07-5117-FC819FD078C1}"/>
              </a:ext>
            </a:extLst>
          </p:cNvPr>
          <p:cNvSpPr>
            <a:spLocks noGrp="1"/>
          </p:cNvSpPr>
          <p:nvPr>
            <p:ph type="title"/>
          </p:nvPr>
        </p:nvSpPr>
        <p:spPr>
          <a:xfrm>
            <a:off x="838200" y="365125"/>
            <a:ext cx="10954633" cy="1335655"/>
          </a:xfrm>
        </p:spPr>
        <p:txBody>
          <a:bodyPr/>
          <a:lstStyle/>
          <a:p>
            <a:r>
              <a:rPr lang="en-US"/>
              <a:t>Evaluation of the end-to-end pipeline </a:t>
            </a:r>
            <a:r>
              <a:rPr lang="en-US" sz="2400"/>
              <a:t>(other models)</a:t>
            </a:r>
          </a:p>
        </p:txBody>
      </p:sp>
      <p:sp>
        <p:nvSpPr>
          <p:cNvPr id="4" name="Slide Number Placeholder 3">
            <a:extLst>
              <a:ext uri="{FF2B5EF4-FFF2-40B4-BE49-F238E27FC236}">
                <a16:creationId xmlns:a16="http://schemas.microsoft.com/office/drawing/2014/main" id="{9D65C686-D012-C24C-4BC8-C429935BF890}"/>
              </a:ext>
            </a:extLst>
          </p:cNvPr>
          <p:cNvSpPr>
            <a:spLocks noGrp="1"/>
          </p:cNvSpPr>
          <p:nvPr>
            <p:ph type="sldNum" sz="quarter" idx="12"/>
          </p:nvPr>
        </p:nvSpPr>
        <p:spPr/>
        <p:txBody>
          <a:bodyPr/>
          <a:lstStyle/>
          <a:p>
            <a:fld id="{89C5782D-9F4E-41B2-BEC2-7E61B408EA47}" type="slidenum">
              <a:rPr lang="en-US" smtClean="0"/>
              <a:t>25</a:t>
            </a:fld>
            <a:endParaRPr lang="en-US"/>
          </a:p>
        </p:txBody>
      </p:sp>
      <p:pic>
        <p:nvPicPr>
          <p:cNvPr id="8" name="Content Placeholder 7">
            <a:extLst>
              <a:ext uri="{FF2B5EF4-FFF2-40B4-BE49-F238E27FC236}">
                <a16:creationId xmlns:a16="http://schemas.microsoft.com/office/drawing/2014/main" id="{05A4056E-03D8-8B4F-C7A4-21C3123ADB6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253513" y="3972381"/>
            <a:ext cx="3159710" cy="2726678"/>
          </a:xfrm>
          <a:prstGeom prst="rect">
            <a:avLst/>
          </a:prstGeom>
        </p:spPr>
      </p:pic>
      <p:sp>
        <p:nvSpPr>
          <p:cNvPr id="10" name="Rectangle: Rounded Corners 9">
            <a:extLst>
              <a:ext uri="{FF2B5EF4-FFF2-40B4-BE49-F238E27FC236}">
                <a16:creationId xmlns:a16="http://schemas.microsoft.com/office/drawing/2014/main" id="{5A4363FA-5C15-0570-4FA6-7E5983A6788C}"/>
              </a:ext>
            </a:extLst>
          </p:cNvPr>
          <p:cNvSpPr/>
          <p:nvPr/>
        </p:nvSpPr>
        <p:spPr>
          <a:xfrm>
            <a:off x="600233" y="1870659"/>
            <a:ext cx="4204704" cy="1469180"/>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solidFill>
                  <a:srgbClr val="000000"/>
                </a:solidFill>
              </a:rPr>
              <a:t>The gains of our approach is consistent across different models. </a:t>
            </a:r>
            <a:endParaRPr lang="en-US"/>
          </a:p>
        </p:txBody>
      </p:sp>
      <p:sp>
        <p:nvSpPr>
          <p:cNvPr id="12" name="Rectangle: Rounded Corners 11">
            <a:extLst>
              <a:ext uri="{FF2B5EF4-FFF2-40B4-BE49-F238E27FC236}">
                <a16:creationId xmlns:a16="http://schemas.microsoft.com/office/drawing/2014/main" id="{F6F8C14C-7E25-5354-AF4B-0E963FB70B29}"/>
              </a:ext>
            </a:extLst>
          </p:cNvPr>
          <p:cNvSpPr/>
          <p:nvPr/>
        </p:nvSpPr>
        <p:spPr>
          <a:xfrm>
            <a:off x="597491" y="4246825"/>
            <a:ext cx="4210188" cy="1469179"/>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solidFill>
                  <a:srgbClr val="000000"/>
                </a:solidFill>
              </a:rPr>
              <a:t>The task remains challenging for all these approaches. </a:t>
            </a:r>
            <a:endParaRPr lang="en-US"/>
          </a:p>
        </p:txBody>
      </p:sp>
    </p:spTree>
    <p:extLst>
      <p:ext uri="{BB962C8B-B14F-4D97-AF65-F5344CB8AC3E}">
        <p14:creationId xmlns:p14="http://schemas.microsoft.com/office/powerpoint/2010/main" val="8596765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par>
                          <p:cTn id="8" fill="hold">
                            <p:stCondLst>
                              <p:cond delay="2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00"/>
                                        <p:tgtEl>
                                          <p:spTgt spid="9"/>
                                        </p:tgtEl>
                                      </p:cBhvr>
                                    </p:animEffect>
                                  </p:childTnLst>
                                </p:cTn>
                              </p:par>
                            </p:childTnLst>
                          </p:cTn>
                        </p:par>
                        <p:par>
                          <p:cTn id="12" fill="hold">
                            <p:stCondLst>
                              <p:cond delay="4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B7F79-D3FA-327C-6F8B-6C40DEE4978E}"/>
              </a:ext>
            </a:extLst>
          </p:cNvPr>
          <p:cNvSpPr>
            <a:spLocks noGrp="1"/>
          </p:cNvSpPr>
          <p:nvPr>
            <p:ph type="title"/>
          </p:nvPr>
        </p:nvSpPr>
        <p:spPr/>
        <p:txBody>
          <a:bodyPr/>
          <a:lstStyle/>
          <a:p>
            <a:r>
              <a:rPr lang="en-US"/>
              <a:t>Evaluation of Different Aspects</a:t>
            </a:r>
          </a:p>
        </p:txBody>
      </p:sp>
      <p:pic>
        <p:nvPicPr>
          <p:cNvPr id="6" name="Content Placeholder 5">
            <a:extLst>
              <a:ext uri="{FF2B5EF4-FFF2-40B4-BE49-F238E27FC236}">
                <a16:creationId xmlns:a16="http://schemas.microsoft.com/office/drawing/2014/main" id="{68600BA3-8F2A-0A5C-D9FA-62B2F119656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915616" y="1918615"/>
            <a:ext cx="5438184" cy="4351338"/>
          </a:xfrm>
        </p:spPr>
      </p:pic>
      <p:sp>
        <p:nvSpPr>
          <p:cNvPr id="4" name="Slide Number Placeholder 3">
            <a:extLst>
              <a:ext uri="{FF2B5EF4-FFF2-40B4-BE49-F238E27FC236}">
                <a16:creationId xmlns:a16="http://schemas.microsoft.com/office/drawing/2014/main" id="{2A489745-2B43-949B-4B9D-C7C8833684BD}"/>
              </a:ext>
            </a:extLst>
          </p:cNvPr>
          <p:cNvSpPr>
            <a:spLocks noGrp="1"/>
          </p:cNvSpPr>
          <p:nvPr>
            <p:ph type="sldNum" sz="quarter" idx="12"/>
          </p:nvPr>
        </p:nvSpPr>
        <p:spPr/>
        <p:txBody>
          <a:bodyPr/>
          <a:lstStyle/>
          <a:p>
            <a:fld id="{89C5782D-9F4E-41B2-BEC2-7E61B408EA47}" type="slidenum">
              <a:rPr lang="en-US" smtClean="0"/>
              <a:t>26</a:t>
            </a:fld>
            <a:endParaRPr lang="en-US"/>
          </a:p>
        </p:txBody>
      </p:sp>
      <p:sp>
        <p:nvSpPr>
          <p:cNvPr id="3" name="Content Placeholder 2">
            <a:extLst>
              <a:ext uri="{FF2B5EF4-FFF2-40B4-BE49-F238E27FC236}">
                <a16:creationId xmlns:a16="http://schemas.microsoft.com/office/drawing/2014/main" id="{1696F37D-4916-4064-F6A7-86E2C80B5416}"/>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Different aspects: </a:t>
            </a:r>
          </a:p>
          <a:p>
            <a:pPr lvl="1">
              <a:buFont typeface="Courier New" panose="020B0604020202020204" pitchFamily="34" charset="0"/>
              <a:buChar char="o"/>
            </a:pPr>
            <a:r>
              <a:rPr lang="en-US" b="1"/>
              <a:t>Schema: </a:t>
            </a:r>
            <a:r>
              <a:rPr lang="en-US"/>
              <a:t>whether we got the </a:t>
            </a:r>
            <a:br>
              <a:rPr lang="en-US"/>
            </a:br>
            <a:r>
              <a:rPr lang="en-US"/>
              <a:t>right table headings. </a:t>
            </a:r>
          </a:p>
          <a:p>
            <a:pPr lvl="1">
              <a:buFont typeface="Courier New" panose="020B0604020202020204" pitchFamily="34" charset="0"/>
              <a:buChar char="o"/>
            </a:pPr>
            <a:r>
              <a:rPr lang="en-US" b="1"/>
              <a:t>Unary: </a:t>
            </a:r>
            <a:r>
              <a:rPr lang="en-US"/>
              <a:t>whether we got the </a:t>
            </a:r>
            <a:br>
              <a:rPr lang="en-US"/>
            </a:br>
            <a:r>
              <a:rPr lang="en-US"/>
              <a:t>cell values.</a:t>
            </a:r>
          </a:p>
          <a:p>
            <a:pPr lvl="1">
              <a:buFont typeface="Courier New" panose="020B0604020202020204" pitchFamily="34" charset="0"/>
              <a:buChar char="o"/>
            </a:pPr>
            <a:r>
              <a:rPr lang="en-US" b="1"/>
              <a:t>Pairwise: </a:t>
            </a:r>
            <a:r>
              <a:rPr lang="en-US"/>
              <a:t>whether comparison </a:t>
            </a:r>
            <a:br>
              <a:rPr lang="en-US"/>
            </a:br>
            <a:r>
              <a:rPr lang="en-US"/>
              <a:t>between the cells are found. </a:t>
            </a:r>
          </a:p>
          <a:p>
            <a:pPr lvl="1">
              <a:buFont typeface="Courier New" panose="020B0604020202020204" pitchFamily="34" charset="0"/>
              <a:buChar char="o"/>
            </a:pPr>
            <a:endParaRPr lang="en-US"/>
          </a:p>
          <a:p>
            <a:endParaRPr lang="en-US"/>
          </a:p>
          <a:p>
            <a:endParaRPr lang="en-US"/>
          </a:p>
          <a:p>
            <a:pPr marL="0" indent="0">
              <a:buFont typeface="Arial" panose="020B0604020202020204" pitchFamily="34" charset="0"/>
              <a:buNone/>
            </a:pPr>
            <a:endParaRPr lang="en-US"/>
          </a:p>
          <a:p>
            <a:endParaRPr lang="en-US"/>
          </a:p>
          <a:p>
            <a:endParaRPr lang="en-US"/>
          </a:p>
          <a:p>
            <a:endParaRPr lang="en-US"/>
          </a:p>
        </p:txBody>
      </p:sp>
      <p:sp>
        <p:nvSpPr>
          <p:cNvPr id="5" name="Rectangle: Rounded Corners 7">
            <a:extLst>
              <a:ext uri="{FF2B5EF4-FFF2-40B4-BE49-F238E27FC236}">
                <a16:creationId xmlns:a16="http://schemas.microsoft.com/office/drawing/2014/main" id="{572519F6-AE71-4784-E7A8-F58A84E424FD}"/>
              </a:ext>
            </a:extLst>
          </p:cNvPr>
          <p:cNvSpPr/>
          <p:nvPr/>
        </p:nvSpPr>
        <p:spPr>
          <a:xfrm>
            <a:off x="838200" y="4807796"/>
            <a:ext cx="4934088" cy="1469179"/>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solidFill>
                  <a:srgbClr val="000000"/>
                </a:solidFill>
              </a:rPr>
              <a:t>Pairwise value comparisons is a more challenging metric than unary values. </a:t>
            </a:r>
            <a:endParaRPr lang="en-US"/>
          </a:p>
        </p:txBody>
      </p:sp>
    </p:spTree>
    <p:extLst>
      <p:ext uri="{BB962C8B-B14F-4D97-AF65-F5344CB8AC3E}">
        <p14:creationId xmlns:p14="http://schemas.microsoft.com/office/powerpoint/2010/main" val="792155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045A-FCC6-DC66-F998-FF1EE71AFCDE}"/>
              </a:ext>
            </a:extLst>
          </p:cNvPr>
          <p:cNvSpPr>
            <a:spLocks noGrp="1"/>
          </p:cNvSpPr>
          <p:nvPr>
            <p:ph type="title"/>
          </p:nvPr>
        </p:nvSpPr>
        <p:spPr/>
        <p:txBody>
          <a:bodyPr/>
          <a:lstStyle/>
          <a:p>
            <a:r>
              <a:rPr lang="en-US"/>
              <a:t>Evaluation of Paper Selection </a:t>
            </a:r>
          </a:p>
        </p:txBody>
      </p:sp>
      <p:sp>
        <p:nvSpPr>
          <p:cNvPr id="4" name="Slide Number Placeholder 3">
            <a:extLst>
              <a:ext uri="{FF2B5EF4-FFF2-40B4-BE49-F238E27FC236}">
                <a16:creationId xmlns:a16="http://schemas.microsoft.com/office/drawing/2014/main" id="{99A96F89-5B31-5AF2-0A09-7FD3C1572D05}"/>
              </a:ext>
            </a:extLst>
          </p:cNvPr>
          <p:cNvSpPr>
            <a:spLocks noGrp="1"/>
          </p:cNvSpPr>
          <p:nvPr>
            <p:ph type="sldNum" sz="quarter" idx="12"/>
          </p:nvPr>
        </p:nvSpPr>
        <p:spPr/>
        <p:txBody>
          <a:bodyPr/>
          <a:lstStyle/>
          <a:p>
            <a:fld id="{89C5782D-9F4E-41B2-BEC2-7E61B408EA47}" type="slidenum">
              <a:rPr lang="en-US" smtClean="0"/>
              <a:t>27</a:t>
            </a:fld>
            <a:endParaRPr lang="en-US"/>
          </a:p>
        </p:txBody>
      </p:sp>
      <p:sp>
        <p:nvSpPr>
          <p:cNvPr id="5" name="Rectangle: Rounded Corners 9">
            <a:extLst>
              <a:ext uri="{FF2B5EF4-FFF2-40B4-BE49-F238E27FC236}">
                <a16:creationId xmlns:a16="http://schemas.microsoft.com/office/drawing/2014/main" id="{F11382A4-6DD7-AB72-7101-A57D8C42B725}"/>
              </a:ext>
            </a:extLst>
          </p:cNvPr>
          <p:cNvSpPr/>
          <p:nvPr/>
        </p:nvSpPr>
        <p:spPr>
          <a:xfrm>
            <a:off x="1086173" y="2031167"/>
            <a:ext cx="4023071" cy="1617793"/>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ctr"/>
          <a:lstStyle/>
          <a:p>
            <a:pPr algn="ctr"/>
            <a:r>
              <a:rPr lang="en-US" sz="2800">
                <a:solidFill>
                  <a:schemeClr val="tx1"/>
                </a:solidFill>
              </a:rPr>
              <a:t>S</a:t>
            </a:r>
            <a:r>
              <a:rPr lang="en-US" altLang="zh-CN" sz="2800">
                <a:solidFill>
                  <a:schemeClr val="tx1"/>
                </a:solidFill>
              </a:rPr>
              <a:t>electing relevant papers is difficult for all methods.</a:t>
            </a:r>
            <a:endParaRPr lang="en-US" sz="2800">
              <a:solidFill>
                <a:schemeClr val="tx1"/>
              </a:solidFill>
            </a:endParaRPr>
          </a:p>
        </p:txBody>
      </p:sp>
      <p:pic>
        <p:nvPicPr>
          <p:cNvPr id="19" name="Picture 18" descr="A graph of different colored bars&#10;&#10;AI-generated content may be incorrect.">
            <a:extLst>
              <a:ext uri="{FF2B5EF4-FFF2-40B4-BE49-F238E27FC236}">
                <a16:creationId xmlns:a16="http://schemas.microsoft.com/office/drawing/2014/main" id="{0B58C5F4-C625-9B98-8CB0-90767EAEE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865" y="1766357"/>
            <a:ext cx="4995135" cy="4589993"/>
          </a:xfrm>
          <a:prstGeom prst="rect">
            <a:avLst/>
          </a:prstGeom>
        </p:spPr>
      </p:pic>
      <p:sp>
        <p:nvSpPr>
          <p:cNvPr id="20" name="Rectangle: Rounded Corners 9">
            <a:extLst>
              <a:ext uri="{FF2B5EF4-FFF2-40B4-BE49-F238E27FC236}">
                <a16:creationId xmlns:a16="http://schemas.microsoft.com/office/drawing/2014/main" id="{9C57A755-1A69-A0BC-4B4F-5BCB722DB982}"/>
              </a:ext>
            </a:extLst>
          </p:cNvPr>
          <p:cNvSpPr/>
          <p:nvPr/>
        </p:nvSpPr>
        <p:spPr>
          <a:xfrm>
            <a:off x="1086173" y="3989439"/>
            <a:ext cx="4023071" cy="1617793"/>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ctr"/>
          <a:lstStyle/>
          <a:p>
            <a:pPr algn="ctr"/>
            <a:r>
              <a:rPr lang="en-US" sz="2800">
                <a:solidFill>
                  <a:schemeClr val="tx1"/>
                </a:solidFill>
              </a:rPr>
              <a:t>Our method is slightly stronger than the best baseline.</a:t>
            </a:r>
          </a:p>
        </p:txBody>
      </p:sp>
      <p:sp>
        <p:nvSpPr>
          <p:cNvPr id="21" name="Rectangle 20">
            <a:extLst>
              <a:ext uri="{FF2B5EF4-FFF2-40B4-BE49-F238E27FC236}">
                <a16:creationId xmlns:a16="http://schemas.microsoft.com/office/drawing/2014/main" id="{3525923D-3CC7-49FE-A29C-F7FB008D7292}"/>
              </a:ext>
            </a:extLst>
          </p:cNvPr>
          <p:cNvSpPr/>
          <p:nvPr/>
        </p:nvSpPr>
        <p:spPr>
          <a:xfrm>
            <a:off x="6434243" y="2926080"/>
            <a:ext cx="1001575" cy="2827020"/>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9B0214-569F-060C-9A8F-BBAF88E7F847}"/>
              </a:ext>
            </a:extLst>
          </p:cNvPr>
          <p:cNvSpPr/>
          <p:nvPr/>
        </p:nvSpPr>
        <p:spPr>
          <a:xfrm>
            <a:off x="7454685" y="2247900"/>
            <a:ext cx="1030638" cy="3505200"/>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06B1C45-F628-0660-CAA0-8EBBDB59195B}"/>
              </a:ext>
            </a:extLst>
          </p:cNvPr>
          <p:cNvSpPr/>
          <p:nvPr/>
        </p:nvSpPr>
        <p:spPr>
          <a:xfrm>
            <a:off x="8485323" y="2433320"/>
            <a:ext cx="1001577" cy="3319780"/>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9FAD078-385E-ADC6-F187-C62566869864}"/>
              </a:ext>
            </a:extLst>
          </p:cNvPr>
          <p:cNvSpPr/>
          <p:nvPr/>
        </p:nvSpPr>
        <p:spPr>
          <a:xfrm>
            <a:off x="9515960" y="2031167"/>
            <a:ext cx="1001577" cy="3721933"/>
          </a:xfrm>
          <a:prstGeom prst="rect">
            <a:avLst/>
          </a:prstGeom>
          <a:solidFill>
            <a:srgbClr val="FFFFFF">
              <a:alpha val="8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34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2" presetClass="exit" presetSubtype="4" fill="hold" grpId="0" nodeType="withEffect">
                                  <p:stCondLst>
                                    <p:cond delay="0"/>
                                  </p:stCondLst>
                                  <p:childTnLst>
                                    <p:animEffect transition="out" filter="wipe(down)">
                                      <p:cBhvr>
                                        <p:cTn id="9" dur="500"/>
                                        <p:tgtEl>
                                          <p:spTgt spid="21"/>
                                        </p:tgtEl>
                                      </p:cBhvr>
                                    </p:animEffect>
                                    <p:set>
                                      <p:cBhvr>
                                        <p:cTn id="10" dur="1" fill="hold">
                                          <p:stCondLst>
                                            <p:cond delay="499"/>
                                          </p:stCondLst>
                                        </p:cTn>
                                        <p:tgtEl>
                                          <p:spTgt spid="21"/>
                                        </p:tgtEl>
                                        <p:attrNameLst>
                                          <p:attrName>style.visibility</p:attrName>
                                        </p:attrNameLst>
                                      </p:cBhvr>
                                      <p:to>
                                        <p:strVal val="hidden"/>
                                      </p:to>
                                    </p:set>
                                  </p:childTnLst>
                                </p:cTn>
                              </p:par>
                              <p:par>
                                <p:cTn id="11" presetID="22" presetClass="exit" presetSubtype="4" fill="hold" grpId="0" nodeType="withEffect">
                                  <p:stCondLst>
                                    <p:cond delay="0"/>
                                  </p:stCondLst>
                                  <p:childTnLst>
                                    <p:animEffect transition="out" filter="wipe(down)">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500"/>
                                        <p:tgtEl>
                                          <p:spTgt spid="23"/>
                                        </p:tgtEl>
                                      </p:cBhvr>
                                    </p:animEffect>
                                    <p:set>
                                      <p:cBhvr>
                                        <p:cTn id="16" dur="1" fill="hold">
                                          <p:stCondLst>
                                            <p:cond delay="499"/>
                                          </p:stCondLst>
                                        </p:cTn>
                                        <p:tgtEl>
                                          <p:spTgt spid="2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22" presetClass="exit" presetSubtype="4" fill="hold" grpId="0" nodeType="withEffect">
                                  <p:stCondLst>
                                    <p:cond delay="0"/>
                                  </p:stCondLst>
                                  <p:childTnLst>
                                    <p:animEffect transition="out" filter="wipe(down)">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1" grpId="0" animBg="1"/>
      <p:bldP spid="22" grpId="0" animBg="1"/>
      <p:bldP spid="23" grpId="0" animBg="1"/>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A9489-2614-EE09-2FA1-B5580E8319B4}"/>
              </a:ext>
            </a:extLst>
          </p:cNvPr>
          <p:cNvSpPr>
            <a:spLocks noGrp="1"/>
          </p:cNvSpPr>
          <p:nvPr>
            <p:ph type="title"/>
          </p:nvPr>
        </p:nvSpPr>
        <p:spPr>
          <a:xfrm>
            <a:off x="838200" y="365125"/>
            <a:ext cx="11112500" cy="1325563"/>
          </a:xfrm>
        </p:spPr>
        <p:txBody>
          <a:bodyPr/>
          <a:lstStyle/>
          <a:p>
            <a:r>
              <a:rPr lang="en-US"/>
              <a:t>Expert Verification of Our Automatic Evaluation</a:t>
            </a:r>
          </a:p>
        </p:txBody>
      </p:sp>
      <p:sp>
        <p:nvSpPr>
          <p:cNvPr id="3" name="Content Placeholder 2">
            <a:extLst>
              <a:ext uri="{FF2B5EF4-FFF2-40B4-BE49-F238E27FC236}">
                <a16:creationId xmlns:a16="http://schemas.microsoft.com/office/drawing/2014/main" id="{B7DDBD43-5EF5-5315-B8E7-1A462E41FF75}"/>
              </a:ext>
            </a:extLst>
          </p:cNvPr>
          <p:cNvSpPr>
            <a:spLocks noGrp="1"/>
          </p:cNvSpPr>
          <p:nvPr>
            <p:ph idx="1"/>
          </p:nvPr>
        </p:nvSpPr>
        <p:spPr/>
        <p:txBody>
          <a:bodyPr/>
          <a:lstStyle/>
          <a:p>
            <a:r>
              <a:rPr lang="en-US"/>
              <a:t>We annotate a sample of 200 QA pairs to verify that:</a:t>
            </a:r>
          </a:p>
          <a:p>
            <a:pPr lvl="1"/>
            <a:r>
              <a:rPr lang="en-US" b="1"/>
              <a:t>Source</a:t>
            </a:r>
            <a:r>
              <a:rPr lang="en-US"/>
              <a:t>: the QA pairs are synthesized correctly from the source table.</a:t>
            </a:r>
          </a:p>
          <a:p>
            <a:pPr lvl="1"/>
            <a:r>
              <a:rPr lang="en-US" b="1"/>
              <a:t>Target</a:t>
            </a:r>
            <a:r>
              <a:rPr lang="en-US"/>
              <a:t>: the QA pairs are correctly answered based on the target table.</a:t>
            </a:r>
          </a:p>
          <a:p>
            <a:pPr lvl="1"/>
            <a:endParaRPr lang="en-US"/>
          </a:p>
          <a:p>
            <a:pPr lvl="1"/>
            <a:endParaRPr lang="en-US"/>
          </a:p>
          <a:p>
            <a:pPr lvl="1"/>
            <a:endParaRPr lang="en-US"/>
          </a:p>
          <a:p>
            <a:pPr lvl="1"/>
            <a:endParaRPr lang="en-US"/>
          </a:p>
          <a:p>
            <a:pPr lvl="1"/>
            <a:endParaRPr lang="en-US"/>
          </a:p>
        </p:txBody>
      </p:sp>
      <p:pic>
        <p:nvPicPr>
          <p:cNvPr id="6" name="Picture 5">
            <a:extLst>
              <a:ext uri="{FF2B5EF4-FFF2-40B4-BE49-F238E27FC236}">
                <a16:creationId xmlns:a16="http://schemas.microsoft.com/office/drawing/2014/main" id="{0A6ABE79-B4DA-C9A1-0F87-F408D0722AC3}"/>
              </a:ext>
            </a:extLst>
          </p:cNvPr>
          <p:cNvPicPr>
            <a:picLocks noChangeAspect="1"/>
          </p:cNvPicPr>
          <p:nvPr/>
        </p:nvPicPr>
        <p:blipFill>
          <a:blip r:embed="rId2"/>
          <a:stretch>
            <a:fillRect/>
          </a:stretch>
        </p:blipFill>
        <p:spPr>
          <a:xfrm>
            <a:off x="2235600" y="3199055"/>
            <a:ext cx="7720800" cy="1776927"/>
          </a:xfrm>
          <a:prstGeom prst="rect">
            <a:avLst/>
          </a:prstGeom>
        </p:spPr>
      </p:pic>
      <p:sp>
        <p:nvSpPr>
          <p:cNvPr id="4" name="Slide Number Placeholder 3">
            <a:extLst>
              <a:ext uri="{FF2B5EF4-FFF2-40B4-BE49-F238E27FC236}">
                <a16:creationId xmlns:a16="http://schemas.microsoft.com/office/drawing/2014/main" id="{129E598A-28A9-3353-9EC4-0BF2061B7094}"/>
              </a:ext>
            </a:extLst>
          </p:cNvPr>
          <p:cNvSpPr>
            <a:spLocks noGrp="1"/>
          </p:cNvSpPr>
          <p:nvPr>
            <p:ph type="sldNum" sz="quarter" idx="12"/>
          </p:nvPr>
        </p:nvSpPr>
        <p:spPr/>
        <p:txBody>
          <a:bodyPr/>
          <a:lstStyle/>
          <a:p>
            <a:fld id="{89C5782D-9F4E-41B2-BEC2-7E61B408EA47}" type="slidenum">
              <a:rPr lang="en-US" smtClean="0"/>
              <a:t>28</a:t>
            </a:fld>
            <a:endParaRPr lang="en-US"/>
          </a:p>
        </p:txBody>
      </p:sp>
      <p:sp>
        <p:nvSpPr>
          <p:cNvPr id="5" name="Rectangle: Rounded Corners 9">
            <a:extLst>
              <a:ext uri="{FF2B5EF4-FFF2-40B4-BE49-F238E27FC236}">
                <a16:creationId xmlns:a16="http://schemas.microsoft.com/office/drawing/2014/main" id="{6002E78A-D783-D281-0DDC-E5C041E6A2EA}"/>
              </a:ext>
            </a:extLst>
          </p:cNvPr>
          <p:cNvSpPr/>
          <p:nvPr/>
        </p:nvSpPr>
        <p:spPr>
          <a:xfrm>
            <a:off x="2827164" y="5450681"/>
            <a:ext cx="6537671" cy="815975"/>
          </a:xfrm>
          <a:prstGeom prst="roundRect">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45720" rIns="0" bIns="45720" rtlCol="0" anchor="ctr"/>
          <a:lstStyle/>
          <a:p>
            <a:pPr algn="ctr"/>
            <a:r>
              <a:rPr lang="en-US" sz="2800">
                <a:solidFill>
                  <a:schemeClr val="tx1"/>
                </a:solidFill>
              </a:rPr>
              <a:t>Our LLM-based evaluation is robust. </a:t>
            </a:r>
          </a:p>
        </p:txBody>
      </p:sp>
    </p:spTree>
    <p:extLst>
      <p:ext uri="{BB962C8B-B14F-4D97-AF65-F5344CB8AC3E}">
        <p14:creationId xmlns:p14="http://schemas.microsoft.com/office/powerpoint/2010/main" val="28599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55FDF-C5C9-435D-E446-BCCB39A3455A}"/>
              </a:ext>
            </a:extLst>
          </p:cNvPr>
          <p:cNvSpPr>
            <a:spLocks noGrp="1"/>
          </p:cNvSpPr>
          <p:nvPr>
            <p:ph type="title"/>
          </p:nvPr>
        </p:nvSpPr>
        <p:spPr/>
        <p:txBody>
          <a:bodyPr/>
          <a:lstStyle/>
          <a:p>
            <a:r>
              <a:rPr lang="en-US"/>
              <a:t>Summary and Conclusion</a:t>
            </a:r>
          </a:p>
        </p:txBody>
      </p:sp>
      <p:sp>
        <p:nvSpPr>
          <p:cNvPr id="3" name="Content Placeholder 2">
            <a:extLst>
              <a:ext uri="{FF2B5EF4-FFF2-40B4-BE49-F238E27FC236}">
                <a16:creationId xmlns:a16="http://schemas.microsoft.com/office/drawing/2014/main" id="{9C0AFBEF-8151-C2E1-8298-B618ED2A8A56}"/>
              </a:ext>
            </a:extLst>
          </p:cNvPr>
          <p:cNvSpPr>
            <a:spLocks noGrp="1"/>
          </p:cNvSpPr>
          <p:nvPr>
            <p:ph idx="1"/>
          </p:nvPr>
        </p:nvSpPr>
        <p:spPr/>
        <p:txBody>
          <a:bodyPr vert="horz" lIns="91440" tIns="45720" rIns="91440" bIns="45720" rtlCol="0" anchor="t">
            <a:normAutofit/>
          </a:bodyPr>
          <a:lstStyle/>
          <a:p>
            <a:r>
              <a:rPr lang="en-US" b="1"/>
              <a:t>Motivation: </a:t>
            </a:r>
            <a:r>
              <a:rPr lang="en-US"/>
              <a:t> A more realistic pipeline for evaluating tabular summarization of science literature. </a:t>
            </a:r>
          </a:p>
          <a:p>
            <a:pPr lvl="1">
              <a:buFont typeface="Courier New" panose="020B0604020202020204" pitchFamily="34" charset="0"/>
              <a:buChar char="o"/>
            </a:pPr>
            <a:r>
              <a:rPr lang="en-US" b="1"/>
              <a:t>Why? </a:t>
            </a:r>
            <a:r>
              <a:rPr lang="en-US"/>
              <a:t>Tabular summaries are crucial framework for quickly aggregating and understanding the progress in science. </a:t>
            </a:r>
          </a:p>
          <a:p>
            <a:r>
              <a:rPr lang="en-US"/>
              <a:t>We introduce arXiv2Table, a framework for evaluating systems for tabular summarization. </a:t>
            </a:r>
          </a:p>
          <a:p>
            <a:r>
              <a:rPr lang="en-US"/>
              <a:t>We also develop a system to address the challenge posed. </a:t>
            </a:r>
          </a:p>
          <a:p>
            <a:r>
              <a:rPr lang="en-US"/>
              <a:t>Our benchmark is challenging! Give it a try!! </a:t>
            </a:r>
            <a:r>
              <a:rPr lang="en-US">
                <a:ea typeface="+mn-lt"/>
                <a:cs typeface="+mn-lt"/>
              </a:rPr>
              <a:t>🚀</a:t>
            </a:r>
            <a:endParaRPr lang="en-US"/>
          </a:p>
          <a:p>
            <a:endParaRPr lang="en-US"/>
          </a:p>
          <a:p>
            <a:endParaRPr lang="en-US"/>
          </a:p>
        </p:txBody>
      </p:sp>
      <p:sp>
        <p:nvSpPr>
          <p:cNvPr id="4" name="Slide Number Placeholder 3">
            <a:extLst>
              <a:ext uri="{FF2B5EF4-FFF2-40B4-BE49-F238E27FC236}">
                <a16:creationId xmlns:a16="http://schemas.microsoft.com/office/drawing/2014/main" id="{982E1440-D28D-5A28-D609-B0581B3D7910}"/>
              </a:ext>
            </a:extLst>
          </p:cNvPr>
          <p:cNvSpPr>
            <a:spLocks noGrp="1"/>
          </p:cNvSpPr>
          <p:nvPr>
            <p:ph type="sldNum" sz="quarter" idx="12"/>
          </p:nvPr>
        </p:nvSpPr>
        <p:spPr/>
        <p:txBody>
          <a:bodyPr/>
          <a:lstStyle/>
          <a:p>
            <a:fld id="{89C5782D-9F4E-41B2-BEC2-7E61B408EA47}" type="slidenum">
              <a:rPr lang="en-US" smtClean="0"/>
              <a:t>29</a:t>
            </a:fld>
            <a:endParaRPr lang="en-US"/>
          </a:p>
        </p:txBody>
      </p:sp>
    </p:spTree>
    <p:extLst>
      <p:ext uri="{BB962C8B-B14F-4D97-AF65-F5344CB8AC3E}">
        <p14:creationId xmlns:p14="http://schemas.microsoft.com/office/powerpoint/2010/main" val="92783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2475</TotalTime>
  <Words>2723</Words>
  <Application>Microsoft Office PowerPoint</Application>
  <PresentationFormat>Widescreen</PresentationFormat>
  <Paragraphs>460</Paragraphs>
  <Slides>29</Slides>
  <Notes>16</Notes>
  <HiddenSlides>4</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Can LLMs Generate Tabular Summaries of Science Papers? Rethinking the Evaluation Protocol</vt:lpstr>
      <vt:lpstr>Task: Generating Tabular Summary for Scientific Content</vt:lpstr>
      <vt:lpstr>Why focus on this task?</vt:lpstr>
      <vt:lpstr>what we do, briefly </vt:lpstr>
      <vt:lpstr>How good is the state-of-the-art at this task? </vt:lpstr>
      <vt:lpstr>How good is the state-of-the-art at this task? </vt:lpstr>
      <vt:lpstr>“Perhaps your query is ambiguous/underdefined?”</vt:lpstr>
      <vt:lpstr>“Wait but did you try OAI ‘Deep Search’???”</vt:lpstr>
      <vt:lpstr>PowerPoint Presentation</vt:lpstr>
      <vt:lpstr>Recent related work: ArxivDigesTables</vt:lpstr>
      <vt:lpstr>Limitations of prior work</vt:lpstr>
      <vt:lpstr>PowerPoint Presentation</vt:lpstr>
      <vt:lpstr>Limitations of prior work</vt:lpstr>
      <vt:lpstr>User Demand vs. Captions</vt:lpstr>
      <vt:lpstr>User Demand vs. Captions</vt:lpstr>
      <vt:lpstr>Limitations of prior work</vt:lpstr>
      <vt:lpstr>PowerPoint Presentation</vt:lpstr>
      <vt:lpstr>PowerPoint Presentation</vt:lpstr>
      <vt:lpstr>PowerPoint Presentation</vt:lpstr>
      <vt:lpstr>Our released data: arXiv2Table</vt:lpstr>
      <vt:lpstr>We also proposed a new approach</vt:lpstr>
      <vt:lpstr>PowerPoint Presentation</vt:lpstr>
      <vt:lpstr>Evaluation vs Number of Iterations</vt:lpstr>
      <vt:lpstr>Evaluation of the end-to-end pipeline</vt:lpstr>
      <vt:lpstr>Evaluation of the end-to-end pipeline (other models)</vt:lpstr>
      <vt:lpstr>Evaluation of Different Aspects</vt:lpstr>
      <vt:lpstr>Evaluation of Paper Selection </vt:lpstr>
      <vt:lpstr>Expert Verification of Our Automatic Evaluation</vt:lpstr>
      <vt:lpstr>Summary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Daniel Khashabi</cp:lastModifiedBy>
  <cp:revision>4</cp:revision>
  <cp:lastPrinted>2025-04-14T18:32:30Z</cp:lastPrinted>
  <dcterms:created xsi:type="dcterms:W3CDTF">2025-03-10T12:08:20Z</dcterms:created>
  <dcterms:modified xsi:type="dcterms:W3CDTF">2025-12-02T03:02:40Z</dcterms:modified>
</cp:coreProperties>
</file>