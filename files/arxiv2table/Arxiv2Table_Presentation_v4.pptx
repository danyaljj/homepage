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314" r:id="rId4"/>
    <p:sldId id="259" r:id="rId5"/>
    <p:sldId id="293" r:id="rId6"/>
    <p:sldId id="278" r:id="rId7"/>
    <p:sldId id="316" r:id="rId8"/>
    <p:sldId id="279" r:id="rId9"/>
    <p:sldId id="284" r:id="rId10"/>
    <p:sldId id="270" r:id="rId11"/>
    <p:sldId id="321" r:id="rId12"/>
    <p:sldId id="262" r:id="rId13"/>
    <p:sldId id="308" r:id="rId14"/>
    <p:sldId id="323" r:id="rId15"/>
    <p:sldId id="324" r:id="rId16"/>
    <p:sldId id="310" r:id="rId17"/>
    <p:sldId id="269" r:id="rId18"/>
    <p:sldId id="285" r:id="rId19"/>
    <p:sldId id="304" r:id="rId20"/>
    <p:sldId id="305" r:id="rId21"/>
    <p:sldId id="306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42ACD-7FA2-4393-A78B-E8FBE9B8BC34}" v="1962" dt="2025-03-13T14:58:01.636"/>
    <p1510:client id="{62DED815-ED66-3F49-8BFA-52C6477C48AE}" v="6130" dt="2025-03-13T18:47:56.676"/>
    <p1510:client id="{682754F7-F893-4049-BC9F-1031FB105009}" v="1784" dt="2025-03-13T18:48:40.664"/>
    <p1510:client id="{900A987C-D079-6EFF-0168-58C9527CD65E}" v="921" dt="2025-03-13T15:06:07.630"/>
    <p1510:client id="{E5AB33F3-915E-9C47-93D7-D4AA2395F774}" v="141" dt="2025-03-13T20:08:00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4977D-3447-4A59-BD69-454B80BB4FC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0B9B9-9338-49BE-AF7E-CCF347535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6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66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3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B2C3-BF9F-539C-85CF-BCCEB324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A9FB1-2562-0DD8-3CDD-FFB18F58B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A3B62-0C4B-9A42-2CEC-536EC83AD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784FA-212E-9A49-0C75-79A389E63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76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6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5151-EF38-207A-9DF3-00F989A3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D32DD-179A-4100-200D-1D556193B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4668E-D810-3C1A-438C-F8C8FBDC2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772BF-076E-B8CB-3734-A2C106DE0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40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0B9B9-9338-49BE-AF7E-CCF3475359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92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EFBA-C604-3387-0662-B2A1E7EEB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BA773-B217-5381-B306-88E21F7F2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7B4C5-755D-9BCF-8E16-C9C20FC0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EF559-FC09-439B-B19A-383495F4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5ECF9-DB86-BE53-9F59-D9AF9D56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508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6E12-E239-6D9E-D92A-7C77FCE8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63F3-1AC4-161C-0984-6ADA5767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F45FA-E8C3-43A0-D45D-394EF36F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1324E-E33B-C533-CD7C-7B2E39D3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84420-80EF-0483-AD39-01E3AB94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2643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158D-38B2-CD0F-D4AE-30ACB472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E5DE6-DB58-4551-4FFE-BE0AA6D79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AC6F4-6F61-28DF-B286-4FE1C37E3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A4D16-60FD-20FD-9FE8-9399630C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DF4F-84AF-2DEF-6CB9-F3A1A79D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193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9CA2-4600-D556-9523-0D1AF6DE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3A71-CBA7-C15A-8F3E-07C78F38D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BE20F-E909-3803-04F4-29CCF7101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CBA2A-9F01-EE52-B6B7-6964D531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9895F-3A78-4F6F-505C-60D1DE4E4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B6807-18FD-F981-3E63-E0445908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980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9A06-AA6A-623D-21F1-421DAA00F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9CC7-198D-941A-3866-02C9A909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6EB3E-203D-BD35-7F76-79629F39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A0531-6EEA-5ACA-A1B9-59491BD75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F653E-2D5B-1AD3-F365-8DC084D25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78FCD-2B47-BCDF-DFAC-CA5C6375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49672-72B7-1EBC-4CBF-724F8D3A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8BB98-DDF7-AFD0-6C26-B5E42C22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285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E80F-6B7D-1498-B59C-0BD8A557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323F1-9478-AE51-B08F-44DBE826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5D3AA-4BE4-90BB-801F-029DFD0E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F3D7DC-4782-6565-433F-AED497D2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6600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D4EB7-1C74-56CF-E228-0BA5B2BD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CA02D-4975-4A6A-5321-3FD376E8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94EE2-9AED-3132-C3F4-A5785A71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22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7B13-DFBE-99CC-BE53-2DE66CD4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31926-1A95-7783-BC8D-7C583441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B8F94-8512-76E7-F279-CB48DB210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8BBAA-38E4-9972-31DA-0737DF9D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D7188-A4C8-5C3F-921C-7962576C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4FA52-026E-707B-8D27-5361E1DF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8752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0E2B-2A86-8455-7931-93E8C6598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F6C92-36BF-C2A9-5C90-7FAA69CB5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7952E-374F-817C-80F0-2AF0D0E5D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26A75-3E60-C80B-D63E-E0D2B09B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3A6A4-801F-F3FE-4661-91D6E7DA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5ED7E-7741-E4E2-9B87-FFED5D42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964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FB10-AC09-016A-A2F2-C186F816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28C52-6830-20AA-B98A-80C8E58F7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A33A-C488-AECF-32A1-84FDBE4D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F825-0DC6-9F06-0D32-56CB7420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D4B7C-35AC-58F6-27F3-D9C7DD0B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841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7C9B5-35BC-9B74-BE1D-218B4CCA1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0EDE0-BD0C-E225-C91B-58266C14F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9212F-1A2D-F542-4D3C-4F8BDCB2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9E034-4C93-7882-855E-D31F7CCA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D60AC-56A3-9BB7-966C-EA1A1A23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280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6BA1C-02C2-8EFD-2EF8-7006EC36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2E208-3445-3F38-BDE2-319B81854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3AD8-AABD-DE8F-F111-150787B4A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7ACD7-C5B6-4A81-8B90-8A58174B5EE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15950-3705-6FEE-8FF4-AFC6F1D74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FDD3-580D-6D3F-6B0F-3471E7F54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5782D-9F4E-41B2-BEC2-7E61B408E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6FDA-45EA-FB0C-7589-1EC471F07C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/>
              <a:t>Can LLMs Generate Tabular Summaries of Science Papers?</a:t>
            </a:r>
            <a:br>
              <a:rPr lang="en-US" sz="4800"/>
            </a:br>
            <a:r>
              <a:rPr lang="en-US" sz="4800"/>
              <a:t>Rethinking the Evaluation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9A6F4-0670-54EB-4735-3E3263882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4222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 err="1"/>
              <a:t>W</a:t>
            </a:r>
            <a:r>
              <a:rPr lang="en-US" altLang="zh-CN" dirty="0" err="1"/>
              <a:t>eiqi</a:t>
            </a:r>
            <a:r>
              <a:rPr lang="en-US" altLang="zh-CN" dirty="0"/>
              <a:t> Wang, Jiefu Ou, </a:t>
            </a:r>
          </a:p>
          <a:p>
            <a:r>
              <a:rPr lang="en-US" altLang="zh-CN" dirty="0" err="1"/>
              <a:t>Yangqiu</a:t>
            </a:r>
            <a:r>
              <a:rPr lang="en-US" altLang="zh-CN" dirty="0"/>
              <a:t> Song, Benjamin Van Durme, Daniel Khashabi</a:t>
            </a:r>
          </a:p>
          <a:p>
            <a:r>
              <a:rPr lang="en-US" sz="2000" i="1" dirty="0"/>
              <a:t>Under Review at ACL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19FB6-DB9C-3FF0-E8A1-297E9929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2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6505-ECA4-E03D-06CC-0097E6A71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Input:</a:t>
            </a:r>
            <a:r>
              <a:rPr lang="en-US"/>
              <a:t> A user prompt seeking scientific information.</a:t>
            </a:r>
          </a:p>
          <a:p>
            <a:r>
              <a:rPr lang="en-US" b="1"/>
              <a:t>Output: </a:t>
            </a:r>
            <a:r>
              <a:rPr lang="en-US"/>
              <a:t>A table that summarizes the information/insights extracted from the relevant science papers. </a:t>
            </a:r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E27895-5411-1817-37D1-D8DADEAC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6" y="365125"/>
            <a:ext cx="11788343" cy="1325563"/>
          </a:xfrm>
        </p:spPr>
        <p:txBody>
          <a:bodyPr>
            <a:normAutofit/>
          </a:bodyPr>
          <a:lstStyle/>
          <a:p>
            <a:r>
              <a:rPr lang="en-US" sz="4000"/>
              <a:t>T</a:t>
            </a:r>
            <a:r>
              <a:rPr lang="en-US" altLang="zh-CN" sz="4000"/>
              <a:t>ask</a:t>
            </a:r>
            <a:r>
              <a:rPr lang="en-US" sz="4000"/>
              <a:t>: Generating Tabular Summary for Scientific Content</a:t>
            </a:r>
            <a:endParaRPr lang="en-US" sz="4000">
              <a:ea typeface="等线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9600A-9B2D-FDD5-CA0D-BEB5790C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59" y="4388101"/>
            <a:ext cx="5701230" cy="183437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E6B1B-577A-E1EC-C0D8-F23F8C8E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2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8EE26F-86E6-CE42-F9DE-F707CBD7EFC2}"/>
              </a:ext>
            </a:extLst>
          </p:cNvPr>
          <p:cNvGrpSpPr/>
          <p:nvPr/>
        </p:nvGrpSpPr>
        <p:grpSpPr>
          <a:xfrm>
            <a:off x="243287" y="3181178"/>
            <a:ext cx="7887455" cy="1058026"/>
            <a:chOff x="2432410" y="2867368"/>
            <a:chExt cx="7887455" cy="1058026"/>
          </a:xfrm>
        </p:grpSpPr>
        <p:pic>
          <p:nvPicPr>
            <p:cNvPr id="8" name="Picture 7" descr="A cartoon of a person sitting at a desk with a computer&#10;&#10;Description automatically generated">
              <a:extLst>
                <a:ext uri="{FF2B5EF4-FFF2-40B4-BE49-F238E27FC236}">
                  <a16:creationId xmlns:a16="http://schemas.microsoft.com/office/drawing/2014/main" id="{C7D7284C-FE9A-0FED-809D-722BE54B9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5460" y="2867368"/>
              <a:ext cx="493407" cy="51077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3721B3-B359-AA36-A0F1-9FAC80C89CE7}"/>
                </a:ext>
              </a:extLst>
            </p:cNvPr>
            <p:cNvSpPr txBox="1"/>
            <p:nvPr/>
          </p:nvSpPr>
          <p:spPr>
            <a:xfrm>
              <a:off x="2432410" y="3414616"/>
              <a:ext cx="7887455" cy="5107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/>
                <a:t>Prompt:</a:t>
              </a:r>
              <a:r>
                <a:rPr lang="en-US" sz="2400"/>
                <a:t> Generate a table comparing video dataset papers</a:t>
              </a:r>
              <a:endParaRPr lang="en-US" sz="2400">
                <a:latin typeface="Comic Sans MS"/>
              </a:endParaRPr>
            </a:p>
          </p:txBody>
        </p:sp>
      </p:grpSp>
      <p:sp>
        <p:nvSpPr>
          <p:cNvPr id="18" name="Arrow: Right 8">
            <a:extLst>
              <a:ext uri="{FF2B5EF4-FFF2-40B4-BE49-F238E27FC236}">
                <a16:creationId xmlns:a16="http://schemas.microsoft.com/office/drawing/2014/main" id="{AA2D2B9D-DC63-0924-B07E-A1A970ADF8D8}"/>
              </a:ext>
            </a:extLst>
          </p:cNvPr>
          <p:cNvSpPr/>
          <p:nvPr/>
        </p:nvSpPr>
        <p:spPr>
          <a:xfrm>
            <a:off x="2852533" y="5106867"/>
            <a:ext cx="792126" cy="45593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37EB06-6B1C-FC03-B4E1-122CCA800527}"/>
              </a:ext>
            </a:extLst>
          </p:cNvPr>
          <p:cNvGrpSpPr/>
          <p:nvPr/>
        </p:nvGrpSpPr>
        <p:grpSpPr>
          <a:xfrm>
            <a:off x="304149" y="4570505"/>
            <a:ext cx="1990767" cy="1234228"/>
            <a:chOff x="2082467" y="4536558"/>
            <a:chExt cx="2583344" cy="1606114"/>
          </a:xfrm>
        </p:grpSpPr>
        <p:sp>
          <p:nvSpPr>
            <p:cNvPr id="23" name="Rectangle: Rounded Corners 15">
              <a:extLst>
                <a:ext uri="{FF2B5EF4-FFF2-40B4-BE49-F238E27FC236}">
                  <a16:creationId xmlns:a16="http://schemas.microsoft.com/office/drawing/2014/main" id="{4706A41B-CA64-808E-B642-F498CF70B878}"/>
                </a:ext>
              </a:extLst>
            </p:cNvPr>
            <p:cNvSpPr/>
            <p:nvPr/>
          </p:nvSpPr>
          <p:spPr>
            <a:xfrm>
              <a:off x="2082467" y="4536558"/>
              <a:ext cx="2583344" cy="1606114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6" descr="Logos - arXiv info">
              <a:extLst>
                <a:ext uri="{FF2B5EF4-FFF2-40B4-BE49-F238E27FC236}">
                  <a16:creationId xmlns:a16="http://schemas.microsoft.com/office/drawing/2014/main" id="{774636BC-04A5-6AFC-296C-22AE4B32F3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14" t="20986" r="10441" b="21095"/>
            <a:stretch/>
          </p:blipFill>
          <p:spPr bwMode="auto">
            <a:xfrm>
              <a:off x="3115126" y="4714339"/>
              <a:ext cx="1352922" cy="631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4F906D74-72CD-A5C9-F5AC-573DBA53FF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4882" y="5477230"/>
              <a:ext cx="632186" cy="455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google scholar&quot; Icon - Download for free – Iconduck">
              <a:extLst>
                <a:ext uri="{FF2B5EF4-FFF2-40B4-BE49-F238E27FC236}">
                  <a16:creationId xmlns:a16="http://schemas.microsoft.com/office/drawing/2014/main" id="{6DEAFD98-CB54-8A6A-FAA1-795A67EFA3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6390" y="5539047"/>
              <a:ext cx="418754" cy="394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6CCA1A38-FF70-5092-DB05-2386AB3734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2999" y="4634373"/>
              <a:ext cx="792126" cy="792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Bent Arrow 27">
            <a:extLst>
              <a:ext uri="{FF2B5EF4-FFF2-40B4-BE49-F238E27FC236}">
                <a16:creationId xmlns:a16="http://schemas.microsoft.com/office/drawing/2014/main" id="{9575787A-FF21-7826-875E-49CE158A478D}"/>
              </a:ext>
            </a:extLst>
          </p:cNvPr>
          <p:cNvSpPr/>
          <p:nvPr/>
        </p:nvSpPr>
        <p:spPr>
          <a:xfrm flipV="1">
            <a:off x="2828967" y="4317257"/>
            <a:ext cx="792126" cy="775989"/>
          </a:xfrm>
          <a:prstGeom prst="bentArrow">
            <a:avLst>
              <a:gd name="adj1" fmla="val 32552"/>
              <a:gd name="adj2" fmla="val 31378"/>
              <a:gd name="adj3" fmla="val 25000"/>
              <a:gd name="adj4" fmla="val 4375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Right 8">
            <a:extLst>
              <a:ext uri="{FF2B5EF4-FFF2-40B4-BE49-F238E27FC236}">
                <a16:creationId xmlns:a16="http://schemas.microsoft.com/office/drawing/2014/main" id="{BB7258D1-F0BE-E5DA-53FC-5382B888C018}"/>
              </a:ext>
            </a:extLst>
          </p:cNvPr>
          <p:cNvSpPr/>
          <p:nvPr/>
        </p:nvSpPr>
        <p:spPr>
          <a:xfrm>
            <a:off x="5543951" y="5007845"/>
            <a:ext cx="396063" cy="45593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FA01A712-8C5B-8208-9B7C-EF4F8EE8F8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115" y="4679158"/>
            <a:ext cx="970688" cy="970688"/>
          </a:xfrm>
          <a:prstGeom prst="rect">
            <a:avLst/>
          </a:prstGeom>
        </p:spPr>
      </p:pic>
      <p:pic>
        <p:nvPicPr>
          <p:cNvPr id="31" name="Picture 30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13A67426-6E04-182B-13EF-9FD4C417C1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946" y="4855530"/>
            <a:ext cx="970688" cy="9706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1561F32-A7EF-D9E7-B096-49589D9F6BE3}"/>
              </a:ext>
            </a:extLst>
          </p:cNvPr>
          <p:cNvSpPr txBox="1"/>
          <p:nvPr/>
        </p:nvSpPr>
        <p:spPr>
          <a:xfrm>
            <a:off x="98856" y="5852281"/>
            <a:ext cx="2294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Repositories of science: </a:t>
            </a:r>
            <a:r>
              <a:rPr lang="en-US" err="1"/>
              <a:t>arXiv</a:t>
            </a:r>
            <a:r>
              <a:rPr lang="en-US"/>
              <a:t>, Google Scholar, etc.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D92E41-FC9E-DC28-4BA1-B20EAD97E4F2}"/>
              </a:ext>
            </a:extLst>
          </p:cNvPr>
          <p:cNvSpPr txBox="1"/>
          <p:nvPr/>
        </p:nvSpPr>
        <p:spPr>
          <a:xfrm>
            <a:off x="3504253" y="5934670"/>
            <a:ext cx="2294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Potentially </a:t>
            </a:r>
            <a:br>
              <a:rPr lang="en-US"/>
            </a:br>
            <a:r>
              <a:rPr lang="en-US"/>
              <a:t>relevant papers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F0E277-AD6E-1861-EAB9-D25698FF0388}"/>
              </a:ext>
            </a:extLst>
          </p:cNvPr>
          <p:cNvSpPr txBox="1"/>
          <p:nvPr/>
        </p:nvSpPr>
        <p:spPr>
          <a:xfrm>
            <a:off x="7351320" y="6213432"/>
            <a:ext cx="3374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Tabular summary</a:t>
            </a:r>
          </a:p>
        </p:txBody>
      </p:sp>
    </p:spTree>
    <p:extLst>
      <p:ext uri="{BB962C8B-B14F-4D97-AF65-F5344CB8AC3E}">
        <p14:creationId xmlns:p14="http://schemas.microsoft.com/office/powerpoint/2010/main" val="277418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" grpId="0" animBg="1"/>
      <p:bldP spid="29" grpId="0" animBg="1"/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0D56-994E-5933-4D95-90815661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5C2A-18EB-B509-75E2-A540F400A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54945" cy="4351338"/>
          </a:xfrm>
        </p:spPr>
        <p:txBody>
          <a:bodyPr/>
          <a:lstStyle/>
          <a:p>
            <a:r>
              <a:rPr lang="en-US" dirty="0"/>
              <a:t>Tables are widely accepted format for scientific content.</a:t>
            </a:r>
          </a:p>
          <a:p>
            <a:pPr lvl="1"/>
            <a:r>
              <a:rPr lang="en-US" dirty="0"/>
              <a:t>Improves clarity, enables comparisons</a:t>
            </a:r>
          </a:p>
          <a:p>
            <a:r>
              <a:rPr lang="en-US" dirty="0"/>
              <a:t>Integrating it into our workflow will improve quality and interpretability.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E25686-0ECB-56B7-6F50-AFD3C69A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415" y="365125"/>
            <a:ext cx="11110784" cy="1325563"/>
          </a:xfrm>
        </p:spPr>
        <p:txBody>
          <a:bodyPr/>
          <a:lstStyle/>
          <a:p>
            <a:r>
              <a:rPr lang="en-US"/>
              <a:t>Why solve this task?</a:t>
            </a:r>
            <a:endParaRPr lang="en-US">
              <a:ea typeface="等线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A3A1E-DA75-A6E6-9920-F86C38E52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59" y="4388101"/>
            <a:ext cx="5701230" cy="183437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9CBA0-B196-034B-01B3-54151C96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2BF8EC-FB06-EF21-AA4D-4520F570354A}"/>
              </a:ext>
            </a:extLst>
          </p:cNvPr>
          <p:cNvGrpSpPr/>
          <p:nvPr/>
        </p:nvGrpSpPr>
        <p:grpSpPr>
          <a:xfrm>
            <a:off x="243287" y="3181178"/>
            <a:ext cx="7887455" cy="1058026"/>
            <a:chOff x="2432410" y="2867368"/>
            <a:chExt cx="7887455" cy="1058026"/>
          </a:xfrm>
        </p:grpSpPr>
        <p:pic>
          <p:nvPicPr>
            <p:cNvPr id="8" name="Picture 7" descr="A cartoon of a person sitting at a desk with a computer&#10;&#10;Description automatically generated">
              <a:extLst>
                <a:ext uri="{FF2B5EF4-FFF2-40B4-BE49-F238E27FC236}">
                  <a16:creationId xmlns:a16="http://schemas.microsoft.com/office/drawing/2014/main" id="{269E87A4-2D53-8177-B667-F9F86E9A5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5460" y="2867368"/>
              <a:ext cx="493407" cy="51077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EBE0D1-45FB-8578-5D65-2C183A24156C}"/>
                </a:ext>
              </a:extLst>
            </p:cNvPr>
            <p:cNvSpPr txBox="1"/>
            <p:nvPr/>
          </p:nvSpPr>
          <p:spPr>
            <a:xfrm>
              <a:off x="2432410" y="3414616"/>
              <a:ext cx="7887455" cy="5107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/>
                <a:t>Prompt:</a:t>
              </a:r>
              <a:r>
                <a:rPr lang="en-US" sz="2400"/>
                <a:t> Generate a table comparing video dataset papers</a:t>
              </a:r>
              <a:endParaRPr lang="en-US" sz="2400">
                <a:latin typeface="Comic Sans MS"/>
              </a:endParaRPr>
            </a:p>
          </p:txBody>
        </p:sp>
      </p:grpSp>
      <p:sp>
        <p:nvSpPr>
          <p:cNvPr id="18" name="Arrow: Right 8">
            <a:extLst>
              <a:ext uri="{FF2B5EF4-FFF2-40B4-BE49-F238E27FC236}">
                <a16:creationId xmlns:a16="http://schemas.microsoft.com/office/drawing/2014/main" id="{E74C48FA-73D8-7C21-3901-5CD37358E427}"/>
              </a:ext>
            </a:extLst>
          </p:cNvPr>
          <p:cNvSpPr/>
          <p:nvPr/>
        </p:nvSpPr>
        <p:spPr>
          <a:xfrm>
            <a:off x="2852533" y="5106867"/>
            <a:ext cx="792126" cy="45593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3DD0DC-ECD0-7656-A4F7-EFB1B106CDA9}"/>
              </a:ext>
            </a:extLst>
          </p:cNvPr>
          <p:cNvGrpSpPr/>
          <p:nvPr/>
        </p:nvGrpSpPr>
        <p:grpSpPr>
          <a:xfrm>
            <a:off x="304149" y="4570505"/>
            <a:ext cx="1990767" cy="1234228"/>
            <a:chOff x="2082467" y="4536558"/>
            <a:chExt cx="2583344" cy="1606114"/>
          </a:xfrm>
        </p:grpSpPr>
        <p:sp>
          <p:nvSpPr>
            <p:cNvPr id="23" name="Rectangle: Rounded Corners 15">
              <a:extLst>
                <a:ext uri="{FF2B5EF4-FFF2-40B4-BE49-F238E27FC236}">
                  <a16:creationId xmlns:a16="http://schemas.microsoft.com/office/drawing/2014/main" id="{41252F8F-393C-76F4-9674-48D603FCA123}"/>
                </a:ext>
              </a:extLst>
            </p:cNvPr>
            <p:cNvSpPr/>
            <p:nvPr/>
          </p:nvSpPr>
          <p:spPr>
            <a:xfrm>
              <a:off x="2082467" y="4536558"/>
              <a:ext cx="2583344" cy="1606114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6" descr="Logos - arXiv info">
              <a:extLst>
                <a:ext uri="{FF2B5EF4-FFF2-40B4-BE49-F238E27FC236}">
                  <a16:creationId xmlns:a16="http://schemas.microsoft.com/office/drawing/2014/main" id="{0AE5C9C0-5BE7-D1CE-9688-CC6899BA0E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14" t="20986" r="10441" b="21095"/>
            <a:stretch/>
          </p:blipFill>
          <p:spPr bwMode="auto">
            <a:xfrm>
              <a:off x="3115126" y="4714339"/>
              <a:ext cx="1352922" cy="631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1E075ED1-B03B-1622-2E2A-242C9B94E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4882" y="5477230"/>
              <a:ext cx="632186" cy="455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google scholar&quot; Icon - Download for free – Iconduck">
              <a:extLst>
                <a:ext uri="{FF2B5EF4-FFF2-40B4-BE49-F238E27FC236}">
                  <a16:creationId xmlns:a16="http://schemas.microsoft.com/office/drawing/2014/main" id="{3D032AA7-B9BE-ADC1-FA02-A4E3308D5C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6390" y="5539047"/>
              <a:ext cx="418754" cy="394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DDC770FA-438B-5235-9069-C8B9307CE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2999" y="4634373"/>
              <a:ext cx="792126" cy="792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Bent Arrow 27">
            <a:extLst>
              <a:ext uri="{FF2B5EF4-FFF2-40B4-BE49-F238E27FC236}">
                <a16:creationId xmlns:a16="http://schemas.microsoft.com/office/drawing/2014/main" id="{30EE4F37-5CFB-B2A9-9052-84CDB30A404F}"/>
              </a:ext>
            </a:extLst>
          </p:cNvPr>
          <p:cNvSpPr/>
          <p:nvPr/>
        </p:nvSpPr>
        <p:spPr>
          <a:xfrm flipV="1">
            <a:off x="2828967" y="4317257"/>
            <a:ext cx="792126" cy="775989"/>
          </a:xfrm>
          <a:prstGeom prst="bentArrow">
            <a:avLst>
              <a:gd name="adj1" fmla="val 32552"/>
              <a:gd name="adj2" fmla="val 31378"/>
              <a:gd name="adj3" fmla="val 25000"/>
              <a:gd name="adj4" fmla="val 4375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Right 8">
            <a:extLst>
              <a:ext uri="{FF2B5EF4-FFF2-40B4-BE49-F238E27FC236}">
                <a16:creationId xmlns:a16="http://schemas.microsoft.com/office/drawing/2014/main" id="{EFD8B1E7-4E0F-A7FC-4033-056F8BAAFA03}"/>
              </a:ext>
            </a:extLst>
          </p:cNvPr>
          <p:cNvSpPr/>
          <p:nvPr/>
        </p:nvSpPr>
        <p:spPr>
          <a:xfrm>
            <a:off x="5543951" y="5007845"/>
            <a:ext cx="396063" cy="45593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A5B27B48-88C8-6C6B-6C99-7A063BC140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115" y="4679158"/>
            <a:ext cx="970688" cy="970688"/>
          </a:xfrm>
          <a:prstGeom prst="rect">
            <a:avLst/>
          </a:prstGeom>
        </p:spPr>
      </p:pic>
      <p:pic>
        <p:nvPicPr>
          <p:cNvPr id="31" name="Picture 30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68679836-15D2-8131-562B-808E337A6E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946" y="4855530"/>
            <a:ext cx="970688" cy="9706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2E9E037-A94F-4229-824A-C89783703498}"/>
              </a:ext>
            </a:extLst>
          </p:cNvPr>
          <p:cNvSpPr txBox="1"/>
          <p:nvPr/>
        </p:nvSpPr>
        <p:spPr>
          <a:xfrm>
            <a:off x="98856" y="5852281"/>
            <a:ext cx="2294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Repositories of science: </a:t>
            </a:r>
            <a:r>
              <a:rPr lang="en-US" err="1"/>
              <a:t>arXiv</a:t>
            </a:r>
            <a:r>
              <a:rPr lang="en-US"/>
              <a:t>, Google Scholar, etc.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A6F07F-BB02-5298-25D7-2FDF50650FAA}"/>
              </a:ext>
            </a:extLst>
          </p:cNvPr>
          <p:cNvSpPr txBox="1"/>
          <p:nvPr/>
        </p:nvSpPr>
        <p:spPr>
          <a:xfrm>
            <a:off x="3504253" y="5934670"/>
            <a:ext cx="2294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Potentially </a:t>
            </a:r>
            <a:br>
              <a:rPr lang="en-US"/>
            </a:br>
            <a:r>
              <a:rPr lang="en-US"/>
              <a:t>relevant papers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B417B9-D7C8-A4B3-F133-84690AAC78CA}"/>
              </a:ext>
            </a:extLst>
          </p:cNvPr>
          <p:cNvSpPr txBox="1"/>
          <p:nvPr/>
        </p:nvSpPr>
        <p:spPr>
          <a:xfrm>
            <a:off x="7351320" y="6213432"/>
            <a:ext cx="3374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Tabular summary</a:t>
            </a:r>
          </a:p>
        </p:txBody>
      </p:sp>
    </p:spTree>
    <p:extLst>
      <p:ext uri="{BB962C8B-B14F-4D97-AF65-F5344CB8AC3E}">
        <p14:creationId xmlns:p14="http://schemas.microsoft.com/office/powerpoint/2010/main" val="149818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F351-4CE7-87FD-7882-F7211B51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good is the state-of-the-art at this task? 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BA23AD-9818-9B18-A1EB-20EAD73C0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6" b="66333"/>
          <a:stretch/>
        </p:blipFill>
        <p:spPr>
          <a:xfrm>
            <a:off x="111710" y="1850983"/>
            <a:ext cx="5506410" cy="4375671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79440F-D504-5B93-8B1F-D0CF1B09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4</a:t>
            </a:fld>
            <a:endParaRPr lang="en-US"/>
          </a:p>
        </p:txBody>
      </p:sp>
      <p:pic>
        <p:nvPicPr>
          <p:cNvPr id="10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A280E0-F656-13DC-FEFE-55A63E31A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77" b="23512"/>
          <a:stretch/>
        </p:blipFill>
        <p:spPr>
          <a:xfrm>
            <a:off x="5311337" y="1807037"/>
            <a:ext cx="6892538" cy="4499173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8EB1C98-81D4-D5EE-52DD-9B7A991DD820}"/>
              </a:ext>
            </a:extLst>
          </p:cNvPr>
          <p:cNvSpPr/>
          <p:nvPr/>
        </p:nvSpPr>
        <p:spPr>
          <a:xfrm>
            <a:off x="5195832" y="3803711"/>
            <a:ext cx="706700" cy="55626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94693-A8C1-DBAC-FA17-667BB9F66FF7}"/>
              </a:ext>
            </a:extLst>
          </p:cNvPr>
          <p:cNvSpPr txBox="1"/>
          <p:nvPr/>
        </p:nvSpPr>
        <p:spPr>
          <a:xfrm>
            <a:off x="4090001" y="6447064"/>
            <a:ext cx="3565567" cy="323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5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retrieved on 02/27/2025</a:t>
            </a:r>
            <a:endParaRPr lang="en-US" sz="1500" i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66925-CA46-DDC5-5AD3-00A3ECAC2860}"/>
              </a:ext>
            </a:extLst>
          </p:cNvPr>
          <p:cNvSpPr txBox="1"/>
          <p:nvPr/>
        </p:nvSpPr>
        <p:spPr>
          <a:xfrm>
            <a:off x="8028451" y="1523209"/>
            <a:ext cx="145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ChatGPT </a:t>
            </a:r>
          </a:p>
        </p:txBody>
      </p:sp>
    </p:spTree>
    <p:extLst>
      <p:ext uri="{BB962C8B-B14F-4D97-AF65-F5344CB8AC3E}">
        <p14:creationId xmlns:p14="http://schemas.microsoft.com/office/powerpoint/2010/main" val="11723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1089-357E-5F93-E50E-BF526E07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6E45-04C6-B2AB-9728-979F896C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Recent related work: </a:t>
            </a:r>
            <a:r>
              <a:rPr lang="en-US" err="1"/>
              <a:t>ArxivDigesTables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249C-935F-259A-5BA8-E063B363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Extracted 2.2K tables from existing papers. </a:t>
            </a:r>
          </a:p>
          <a:p>
            <a:r>
              <a:rPr lang="en-US"/>
              <a:t>The table captions serve as the task prompts. </a:t>
            </a:r>
          </a:p>
          <a:p>
            <a:r>
              <a:rPr lang="en-US"/>
              <a:t>Rows of the table correspond to individual papers (7K)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7BBB-7544-1617-D099-7CF0C6A5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3BC08-C3DA-2F8F-21AA-CBABF0FD60BD}"/>
              </a:ext>
            </a:extLst>
          </p:cNvPr>
          <p:cNvSpPr txBox="1"/>
          <p:nvPr/>
        </p:nvSpPr>
        <p:spPr>
          <a:xfrm>
            <a:off x="8859981" y="1362243"/>
            <a:ext cx="3155353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500" i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Newman et al.  </a:t>
            </a:r>
            <a:r>
              <a:rPr lang="en-US" sz="1500" i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ArxivDIGESTables</a:t>
            </a:r>
            <a:r>
              <a:rPr lang="en-US" sz="1500" i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Synthesizing Scientific Literature into Tables using Language Models, EMNLP 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10EC8-1A92-3610-1CE4-B999C9F7B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53" t="1836" r="6173" b="54813"/>
          <a:stretch/>
        </p:blipFill>
        <p:spPr>
          <a:xfrm>
            <a:off x="845574" y="3411524"/>
            <a:ext cx="7549314" cy="2765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9138FF-FF7E-0884-74E8-1D439223846B}"/>
              </a:ext>
            </a:extLst>
          </p:cNvPr>
          <p:cNvSpPr txBox="1"/>
          <p:nvPr/>
        </p:nvSpPr>
        <p:spPr>
          <a:xfrm>
            <a:off x="8610600" y="4274622"/>
            <a:ext cx="3270448" cy="13280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/>
              <a:t>We build upon this work by addressing their weaknesses! </a:t>
            </a:r>
            <a:endParaRPr lang="en-US" sz="2400"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7358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4335-CBE0-74F8-3C46-3CB073F0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65D3-58F2-E9B6-7A2C-C049E040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9B71B-4769-3F56-2F3A-742513B24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The assumption that papers a carefully curated relevant papers are available, is idealistic in realistic scenarios.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Table captions are not appropriate task prompts.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Rely on static embedding and human annotation to evaluate generated tables.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B7865-8056-7520-E28F-B0E7F70B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84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80551C77-1350-860A-8F5B-BE485A84A0B8}"/>
              </a:ext>
            </a:extLst>
          </p:cNvPr>
          <p:cNvSpPr txBox="1"/>
          <p:nvPr/>
        </p:nvSpPr>
        <p:spPr>
          <a:xfrm>
            <a:off x="545948" y="2944617"/>
            <a:ext cx="10938362" cy="2767666"/>
          </a:xfrm>
          <a:prstGeom prst="roundRect">
            <a:avLst>
              <a:gd name="adj" fmla="val 7093"/>
            </a:avLst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endParaRPr lang="en-US" sz="2000">
              <a:latin typeface="Comic Sans M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08619-4A1C-E0B4-FA83-07176C7288FD}"/>
              </a:ext>
            </a:extLst>
          </p:cNvPr>
          <p:cNvSpPr txBox="1"/>
          <p:nvPr/>
        </p:nvSpPr>
        <p:spPr>
          <a:xfrm>
            <a:off x="555820" y="423192"/>
            <a:ext cx="10938362" cy="2397053"/>
          </a:xfrm>
          <a:prstGeom prst="roundRect">
            <a:avLst>
              <a:gd name="adj" fmla="val 7093"/>
            </a:avLst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endParaRPr lang="en-US" sz="2000">
              <a:latin typeface="Comic Sans M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C8E7-5639-8AD1-4D75-ED81C56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7</a:t>
            </a:fld>
            <a:endParaRPr lang="en-US"/>
          </a:p>
        </p:txBody>
      </p:sp>
      <p:sp>
        <p:nvSpPr>
          <p:cNvPr id="6" name="Arrow: Right 8">
            <a:extLst>
              <a:ext uri="{FF2B5EF4-FFF2-40B4-BE49-F238E27FC236}">
                <a16:creationId xmlns:a16="http://schemas.microsoft.com/office/drawing/2014/main" id="{6FC031F0-387A-EA49-E43C-5E85C6FD356A}"/>
              </a:ext>
            </a:extLst>
          </p:cNvPr>
          <p:cNvSpPr/>
          <p:nvPr/>
        </p:nvSpPr>
        <p:spPr>
          <a:xfrm>
            <a:off x="4200163" y="4121699"/>
            <a:ext cx="792126" cy="45593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A62204-CB5D-2957-E1B1-F70F8B6F3A66}"/>
              </a:ext>
            </a:extLst>
          </p:cNvPr>
          <p:cNvGrpSpPr/>
          <p:nvPr/>
        </p:nvGrpSpPr>
        <p:grpSpPr>
          <a:xfrm>
            <a:off x="1831892" y="3474498"/>
            <a:ext cx="1990767" cy="1234228"/>
            <a:chOff x="2082467" y="4536558"/>
            <a:chExt cx="2583344" cy="1606114"/>
          </a:xfrm>
        </p:grpSpPr>
        <p:sp>
          <p:nvSpPr>
            <p:cNvPr id="8" name="Rectangle: Rounded Corners 15">
              <a:extLst>
                <a:ext uri="{FF2B5EF4-FFF2-40B4-BE49-F238E27FC236}">
                  <a16:creationId xmlns:a16="http://schemas.microsoft.com/office/drawing/2014/main" id="{CC35B506-A67F-5A13-9187-EDEC34DA3C1A}"/>
                </a:ext>
              </a:extLst>
            </p:cNvPr>
            <p:cNvSpPr/>
            <p:nvPr/>
          </p:nvSpPr>
          <p:spPr>
            <a:xfrm>
              <a:off x="2082467" y="4536558"/>
              <a:ext cx="2583344" cy="1606114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6" descr="Logos - arXiv info">
              <a:extLst>
                <a:ext uri="{FF2B5EF4-FFF2-40B4-BE49-F238E27FC236}">
                  <a16:creationId xmlns:a16="http://schemas.microsoft.com/office/drawing/2014/main" id="{A8A12CEB-D3BB-3AB3-4226-842DDBF1A7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14" t="20986" r="10441" b="21095"/>
            <a:stretch/>
          </p:blipFill>
          <p:spPr bwMode="auto">
            <a:xfrm>
              <a:off x="3115126" y="4714339"/>
              <a:ext cx="1352922" cy="631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40C36FC-B441-D949-D33A-618B52D37A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4882" y="5477230"/>
              <a:ext cx="632186" cy="455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google scholar&quot; Icon - Download for free – Iconduck">
              <a:extLst>
                <a:ext uri="{FF2B5EF4-FFF2-40B4-BE49-F238E27FC236}">
                  <a16:creationId xmlns:a16="http://schemas.microsoft.com/office/drawing/2014/main" id="{34E928C8-5231-0A89-ED3C-C4E7A66C0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6390" y="5539047"/>
              <a:ext cx="418754" cy="394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D5D2ACE-1952-BDA3-A0EA-E5EE9695D4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2999" y="4634373"/>
              <a:ext cx="792126" cy="792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Bent Arrow 12">
            <a:extLst>
              <a:ext uri="{FF2B5EF4-FFF2-40B4-BE49-F238E27FC236}">
                <a16:creationId xmlns:a16="http://schemas.microsoft.com/office/drawing/2014/main" id="{9DAB1DC7-2308-F008-4AC1-750147C2C43A}"/>
              </a:ext>
            </a:extLst>
          </p:cNvPr>
          <p:cNvSpPr/>
          <p:nvPr/>
        </p:nvSpPr>
        <p:spPr>
          <a:xfrm flipV="1">
            <a:off x="4176597" y="3332089"/>
            <a:ext cx="792126" cy="775989"/>
          </a:xfrm>
          <a:prstGeom prst="bentArrow">
            <a:avLst>
              <a:gd name="adj1" fmla="val 32552"/>
              <a:gd name="adj2" fmla="val 31378"/>
              <a:gd name="adj3" fmla="val 25000"/>
              <a:gd name="adj4" fmla="val 4375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Right 8">
            <a:extLst>
              <a:ext uri="{FF2B5EF4-FFF2-40B4-BE49-F238E27FC236}">
                <a16:creationId xmlns:a16="http://schemas.microsoft.com/office/drawing/2014/main" id="{D2574237-7D28-1726-B833-B55DD1018815}"/>
              </a:ext>
            </a:extLst>
          </p:cNvPr>
          <p:cNvSpPr/>
          <p:nvPr/>
        </p:nvSpPr>
        <p:spPr>
          <a:xfrm>
            <a:off x="6754542" y="3948863"/>
            <a:ext cx="493440" cy="46736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09677789-F871-4CD4-2CF1-8BE615199F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03" y="3579644"/>
            <a:ext cx="970688" cy="970688"/>
          </a:xfrm>
          <a:prstGeom prst="rect">
            <a:avLst/>
          </a:prstGeom>
        </p:spPr>
      </p:pic>
      <p:pic>
        <p:nvPicPr>
          <p:cNvPr id="16" name="Picture 15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4E5C1FC8-44CA-C57C-D859-A52F27971D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19" y="3756016"/>
            <a:ext cx="970688" cy="9706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C77505-9118-E57F-C9E5-F1025CDAB5B4}"/>
              </a:ext>
            </a:extLst>
          </p:cNvPr>
          <p:cNvSpPr txBox="1"/>
          <p:nvPr/>
        </p:nvSpPr>
        <p:spPr>
          <a:xfrm>
            <a:off x="1709729" y="4756274"/>
            <a:ext cx="2294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Repositories of science: </a:t>
            </a:r>
            <a:r>
              <a:rPr lang="en-US" err="1"/>
              <a:t>arXiv</a:t>
            </a:r>
            <a:r>
              <a:rPr lang="en-US"/>
              <a:t>, Google Scholar, etc.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D3856E-51A8-0AC3-7008-CE31211D9D79}"/>
              </a:ext>
            </a:extLst>
          </p:cNvPr>
          <p:cNvSpPr txBox="1"/>
          <p:nvPr/>
        </p:nvSpPr>
        <p:spPr>
          <a:xfrm>
            <a:off x="4572616" y="4835156"/>
            <a:ext cx="2294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Potentially</a:t>
            </a:r>
            <a:br>
              <a:rPr lang="en-US" b="1">
                <a:solidFill>
                  <a:srgbClr val="C00000"/>
                </a:solidFill>
              </a:rPr>
            </a:br>
            <a:r>
              <a:rPr lang="en-US" b="1">
                <a:solidFill>
                  <a:srgbClr val="C00000"/>
                </a:solidFill>
              </a:rPr>
              <a:t>relevant papers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E5F5C4-30A7-0929-8F42-AD1E5DFEE905}"/>
              </a:ext>
            </a:extLst>
          </p:cNvPr>
          <p:cNvSpPr txBox="1"/>
          <p:nvPr/>
        </p:nvSpPr>
        <p:spPr>
          <a:xfrm>
            <a:off x="3853797" y="3010614"/>
            <a:ext cx="1235476" cy="4426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/>
              <a:t>Prompt</a:t>
            </a:r>
            <a:endParaRPr lang="en-US" sz="2000">
              <a:latin typeface="Comic Sans MS"/>
            </a:endParaRPr>
          </a:p>
        </p:txBody>
      </p:sp>
      <p:sp>
        <p:nvSpPr>
          <p:cNvPr id="30" name="Arrow: Right 8">
            <a:extLst>
              <a:ext uri="{FF2B5EF4-FFF2-40B4-BE49-F238E27FC236}">
                <a16:creationId xmlns:a16="http://schemas.microsoft.com/office/drawing/2014/main" id="{83F6CA7E-6AF0-C61C-588C-8ED517780902}"/>
              </a:ext>
            </a:extLst>
          </p:cNvPr>
          <p:cNvSpPr/>
          <p:nvPr/>
        </p:nvSpPr>
        <p:spPr>
          <a:xfrm>
            <a:off x="6245458" y="1163722"/>
            <a:ext cx="493440" cy="46736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53038795-33AE-E39A-3D50-3B510A743B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173" y="794503"/>
            <a:ext cx="970688" cy="970688"/>
          </a:xfrm>
          <a:prstGeom prst="rect">
            <a:avLst/>
          </a:prstGeom>
        </p:spPr>
      </p:pic>
      <p:pic>
        <p:nvPicPr>
          <p:cNvPr id="32" name="Picture 31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805FA780-2654-C962-5ACD-4BD1C6C0A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89" y="970875"/>
            <a:ext cx="970688" cy="9706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A30C0BA-6145-14D5-70CE-1385F4B10AFE}"/>
              </a:ext>
            </a:extLst>
          </p:cNvPr>
          <p:cNvSpPr txBox="1"/>
          <p:nvPr/>
        </p:nvSpPr>
        <p:spPr>
          <a:xfrm>
            <a:off x="3914718" y="2022710"/>
            <a:ext cx="2703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6"/>
                </a:solidFill>
              </a:rPr>
              <a:t>Well-curated relevant papers (gold papers)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288BB2-64E4-A057-4C25-CCB3C3B344ED}"/>
              </a:ext>
            </a:extLst>
          </p:cNvPr>
          <p:cNvSpPr txBox="1"/>
          <p:nvPr/>
        </p:nvSpPr>
        <p:spPr>
          <a:xfrm>
            <a:off x="6613151" y="2161583"/>
            <a:ext cx="3374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Tabular summary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BEA04A-25A6-4BA6-374C-A80B93462DF5}"/>
              </a:ext>
            </a:extLst>
          </p:cNvPr>
          <p:cNvSpPr txBox="1"/>
          <p:nvPr/>
        </p:nvSpPr>
        <p:spPr>
          <a:xfrm>
            <a:off x="2350650" y="1145717"/>
            <a:ext cx="1235476" cy="4426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/>
              <a:t>Prompt</a:t>
            </a:r>
            <a:endParaRPr lang="en-US" sz="2000">
              <a:latin typeface="Comic Sans M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440253-2951-0789-F2BE-1DC9BC738D4F}"/>
              </a:ext>
            </a:extLst>
          </p:cNvPr>
          <p:cNvSpPr txBox="1"/>
          <p:nvPr/>
        </p:nvSpPr>
        <p:spPr>
          <a:xfrm>
            <a:off x="517026" y="450908"/>
            <a:ext cx="277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>
                <a:solidFill>
                  <a:srgbClr val="000000"/>
                </a:solidFill>
                <a:effectLst/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Newman et al.  setup: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22F75B-5313-E35D-DBA1-DE9660A8B192}"/>
              </a:ext>
            </a:extLst>
          </p:cNvPr>
          <p:cNvSpPr txBox="1"/>
          <p:nvPr/>
        </p:nvSpPr>
        <p:spPr>
          <a:xfrm>
            <a:off x="133081" y="2951861"/>
            <a:ext cx="2497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</a:t>
            </a:r>
            <a:r>
              <a:rPr lang="en-US" sz="1800" b="1" i="0">
                <a:solidFill>
                  <a:srgbClr val="000000"/>
                </a:solidFill>
                <a:effectLst/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setup: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10F4B1-99F0-6300-732E-1E7ACED59949}"/>
              </a:ext>
            </a:extLst>
          </p:cNvPr>
          <p:cNvSpPr txBox="1"/>
          <p:nvPr/>
        </p:nvSpPr>
        <p:spPr>
          <a:xfrm>
            <a:off x="5625564" y="588195"/>
            <a:ext cx="1687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LLM </a:t>
            </a:r>
            <a:br>
              <a:rPr lang="en-US"/>
            </a:br>
            <a:r>
              <a:rPr lang="en-US"/>
              <a:t>processing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2B646B-4F24-9E76-7423-E2CBF08E6CC4}"/>
              </a:ext>
            </a:extLst>
          </p:cNvPr>
          <p:cNvSpPr txBox="1"/>
          <p:nvPr/>
        </p:nvSpPr>
        <p:spPr>
          <a:xfrm>
            <a:off x="6126018" y="3319223"/>
            <a:ext cx="1687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LLM </a:t>
            </a:r>
            <a:br>
              <a:rPr lang="en-US"/>
            </a:br>
            <a:r>
              <a:rPr lang="en-US"/>
              <a:t>processing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82E90A-D456-468C-50DE-75BEB256F8D0}"/>
              </a:ext>
            </a:extLst>
          </p:cNvPr>
          <p:cNvSpPr txBox="1"/>
          <p:nvPr/>
        </p:nvSpPr>
        <p:spPr>
          <a:xfrm>
            <a:off x="2276425" y="5797334"/>
            <a:ext cx="7943806" cy="9194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dirty="0"/>
              <a:t>We build a retrieval engine over papers and identify </a:t>
            </a:r>
            <a:r>
              <a:rPr lang="en-US" sz="2400" dirty="0">
                <a:solidFill>
                  <a:srgbClr val="C00000"/>
                </a:solidFill>
              </a:rPr>
              <a:t>hard negative candidate papers</a:t>
            </a:r>
            <a:r>
              <a:rPr lang="en-US" sz="2400" dirty="0"/>
              <a:t> to make evaluation realistic.</a:t>
            </a:r>
            <a:endParaRPr lang="en-US" sz="2400" dirty="0">
              <a:latin typeface="Comic Sans MS"/>
            </a:endParaRPr>
          </a:p>
        </p:txBody>
      </p:sp>
      <p:sp>
        <p:nvSpPr>
          <p:cNvPr id="47" name="Arrow: Right 8">
            <a:extLst>
              <a:ext uri="{FF2B5EF4-FFF2-40B4-BE49-F238E27FC236}">
                <a16:creationId xmlns:a16="http://schemas.microsoft.com/office/drawing/2014/main" id="{3F18E281-F6C6-FB50-40F1-AB8DD791F10A}"/>
              </a:ext>
            </a:extLst>
          </p:cNvPr>
          <p:cNvSpPr/>
          <p:nvPr/>
        </p:nvSpPr>
        <p:spPr>
          <a:xfrm>
            <a:off x="3828139" y="1163722"/>
            <a:ext cx="493440" cy="46736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7E9A45BA-AEDB-42F8-D767-CA9B9D41AFF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518868" y="5661475"/>
            <a:ext cx="533379" cy="12700"/>
          </a:xfrm>
          <a:prstGeom prst="curvedConnector3">
            <a:avLst>
              <a:gd name="adj1" fmla="val 50000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A colorful rectangular object with white squares&#10;&#10;Description automatically generated">
            <a:extLst>
              <a:ext uri="{FF2B5EF4-FFF2-40B4-BE49-F238E27FC236}">
                <a16:creationId xmlns:a16="http://schemas.microsoft.com/office/drawing/2014/main" id="{5CB786F2-119D-3CDD-F597-8FF51F0FA9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92" y="633025"/>
            <a:ext cx="1685621" cy="168562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325018D-CA98-F1AE-7FBC-0474C467DD6B}"/>
              </a:ext>
            </a:extLst>
          </p:cNvPr>
          <p:cNvSpPr txBox="1"/>
          <p:nvPr/>
        </p:nvSpPr>
        <p:spPr>
          <a:xfrm>
            <a:off x="7114807" y="4886557"/>
            <a:ext cx="3374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Tabular summary</a:t>
            </a:r>
          </a:p>
        </p:txBody>
      </p:sp>
      <p:pic>
        <p:nvPicPr>
          <p:cNvPr id="57" name="Picture 56" descr="A colorful rectangular object with white squares&#10;&#10;Description automatically generated">
            <a:extLst>
              <a:ext uri="{FF2B5EF4-FFF2-40B4-BE49-F238E27FC236}">
                <a16:creationId xmlns:a16="http://schemas.microsoft.com/office/drawing/2014/main" id="{738F5D9C-7F23-3371-557B-FF4D6CACB1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48" y="3357999"/>
            <a:ext cx="1685621" cy="168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0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" grpId="0" animBg="1"/>
      <p:bldP spid="13" grpId="0" animBg="1"/>
      <p:bldP spid="14" grpId="0" animBg="1"/>
      <p:bldP spid="17" grpId="0"/>
      <p:bldP spid="18" grpId="0"/>
      <p:bldP spid="20" grpId="0" animBg="1"/>
      <p:bldP spid="42" grpId="0"/>
      <p:bldP spid="45" grpId="0"/>
      <p:bldP spid="46" grpId="0" animBg="1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F987D-3D57-258F-2EF5-E45FCF7F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A160-EC9D-E5A7-6F63-6EA250FA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F36A-5B7E-0AEC-4B35-E9F863A68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The assumption that papers a carefully curated relevant papers are available, is idealistic in realistic scenarios.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Table captions are not appropriate as task prompts.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Rely on static embedding and human annotation to evaluate generated tables.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E663A-917E-0D55-5EEA-D435A5F0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4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70AE-7C5B-9499-562B-9C80FD28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Demand vs. Captions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21828-3FBC-5E43-1F6B-A070385A6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1" y="1825625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Prompts in prior work [Newman et al.] are table captions.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We replace them with </a:t>
            </a:r>
            <a:r>
              <a:rPr lang="en-US" b="1" dirty="0"/>
              <a:t>user demand </a:t>
            </a:r>
            <a:r>
              <a:rPr lang="en-US" dirty="0"/>
              <a:t>prompts:</a:t>
            </a:r>
          </a:p>
          <a:p>
            <a:pPr lvl="1"/>
            <a:endParaRPr lang="en-US" i="1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We collect these by careful prompting of LLMs to: </a:t>
            </a:r>
          </a:p>
          <a:p>
            <a:pPr lvl="2"/>
            <a:r>
              <a:rPr lang="en-US" dirty="0"/>
              <a:t>(1) obtain a more complete prompt while </a:t>
            </a:r>
          </a:p>
          <a:p>
            <a:pPr lvl="2"/>
            <a:r>
              <a:rPr lang="en-US" dirty="0"/>
              <a:t>(2) avoiding leakage of table schema/values.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E8E7B-0BA5-713D-3D2A-808C0EBF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4DC67-5B7E-343A-B36C-F323B97D4F0C}"/>
              </a:ext>
            </a:extLst>
          </p:cNvPr>
          <p:cNvSpPr txBox="1"/>
          <p:nvPr/>
        </p:nvSpPr>
        <p:spPr>
          <a:xfrm>
            <a:off x="1070704" y="2430789"/>
            <a:ext cx="854000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en-US" sz="2400" i="1">
                <a:latin typeface="Times" pitchFamily="2" charset="0"/>
              </a:rPr>
              <a:t>Comparison of Trajectory and Path Planning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D628A-C40B-168F-615B-2AD2F8037E7B}"/>
              </a:ext>
            </a:extLst>
          </p:cNvPr>
          <p:cNvSpPr txBox="1"/>
          <p:nvPr/>
        </p:nvSpPr>
        <p:spPr>
          <a:xfrm>
            <a:off x="1008793" y="3797628"/>
            <a:ext cx="8744791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2700" lvl="1" algn="ctr"/>
            <a:r>
              <a:rPr lang="en-US" sz="2400" i="1">
                <a:latin typeface="Times" pitchFamily="2" charset="0"/>
              </a:rPr>
              <a:t>Generate a table that compares different trajectory and path planning approaches. You can focus on their collision avoidance techniques, benefits, limitations, and applicable scenarios.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AF3D2E22-769F-E9E4-C7DB-DA3C4F1C0385}"/>
              </a:ext>
            </a:extLst>
          </p:cNvPr>
          <p:cNvSpPr/>
          <p:nvPr/>
        </p:nvSpPr>
        <p:spPr>
          <a:xfrm>
            <a:off x="10215563" y="2062900"/>
            <a:ext cx="1700212" cy="735778"/>
          </a:xfrm>
          <a:prstGeom prst="wedgeRoundRectCallout">
            <a:avLst>
              <a:gd name="adj1" fmla="val -70917"/>
              <a:gd name="adj2" fmla="val 3754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Brief and ambiguous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9DB8AC35-3208-9D5A-BEB5-9CEB8413AD0B}"/>
              </a:ext>
            </a:extLst>
          </p:cNvPr>
          <p:cNvSpPr/>
          <p:nvPr/>
        </p:nvSpPr>
        <p:spPr>
          <a:xfrm>
            <a:off x="10215563" y="3773730"/>
            <a:ext cx="1700212" cy="735778"/>
          </a:xfrm>
          <a:prstGeom prst="wedgeRoundRectCallout">
            <a:avLst>
              <a:gd name="adj1" fmla="val -70917"/>
              <a:gd name="adj2" fmla="val 3754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Longer and more precise</a:t>
            </a:r>
          </a:p>
        </p:txBody>
      </p:sp>
    </p:spTree>
    <p:extLst>
      <p:ext uri="{BB962C8B-B14F-4D97-AF65-F5344CB8AC3E}">
        <p14:creationId xmlns:p14="http://schemas.microsoft.com/office/powerpoint/2010/main" val="196611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6A4F-9C13-3E47-F424-E6DAF90E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Demand vs. Captions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D5FE2B-7926-13E8-4F06-0960D154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1" y="2226398"/>
            <a:ext cx="5470896" cy="32171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7C737-0DD7-1D05-02CB-4EB37C47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3A46E-523D-3970-0C5E-83B2CE4620A9}"/>
              </a:ext>
            </a:extLst>
          </p:cNvPr>
          <p:cNvSpPr txBox="1"/>
          <p:nvPr/>
        </p:nvSpPr>
        <p:spPr>
          <a:xfrm>
            <a:off x="6462662" y="3136027"/>
            <a:ext cx="5410250" cy="13280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buNone/>
            </a:pPr>
            <a:r>
              <a:rPr lang="en-US" sz="2400"/>
              <a:t>Our collected user demands feature longer context, thus including better hints to curate the table.</a:t>
            </a:r>
          </a:p>
        </p:txBody>
      </p:sp>
    </p:spTree>
    <p:extLst>
      <p:ext uri="{BB962C8B-B14F-4D97-AF65-F5344CB8AC3E}">
        <p14:creationId xmlns:p14="http://schemas.microsoft.com/office/powerpoint/2010/main" val="26979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83FFE-2A4E-2BFF-CD9C-B01E61A51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D15B-B28B-B012-21B3-40370DBE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F33B-ABC8-7A70-2D63-CCB543610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The assumption that papers a carefully curated relevant papers are available, is idealistic in realistic scenarios.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Table captions are not appropriate as task prompts.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Rely on static embedding and human annotation to evaluate generated tables.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2BEF7-DCDC-F664-D85B-F7CB010A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16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4F1195-4318-CDCA-4622-508D26B3A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24685"/>
              </p:ext>
            </p:extLst>
          </p:nvPr>
        </p:nvGraphicFramePr>
        <p:xfrm>
          <a:off x="4341458" y="119059"/>
          <a:ext cx="5385384" cy="16459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88435">
                  <a:extLst>
                    <a:ext uri="{9D8B030D-6E8A-4147-A177-3AD203B41FA5}">
                      <a16:colId xmlns:a16="http://schemas.microsoft.com/office/drawing/2014/main" val="2640610835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1595008830"/>
                    </a:ext>
                  </a:extLst>
                </a:gridCol>
                <a:gridCol w="1346346">
                  <a:extLst>
                    <a:ext uri="{9D8B030D-6E8A-4147-A177-3AD203B41FA5}">
                      <a16:colId xmlns:a16="http://schemas.microsoft.com/office/drawing/2014/main" val="617729621"/>
                    </a:ext>
                  </a:extLst>
                </a:gridCol>
                <a:gridCol w="1346346">
                  <a:extLst>
                    <a:ext uri="{9D8B030D-6E8A-4147-A177-3AD203B41FA5}">
                      <a16:colId xmlns:a16="http://schemas.microsoft.com/office/drawing/2014/main" val="22395726"/>
                    </a:ext>
                  </a:extLst>
                </a:gridCol>
              </a:tblGrid>
              <a:tr h="329334"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CBFIR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Evaluation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Loss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43297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DARN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Recall@1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TL, 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08485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CN-</a:t>
                      </a:r>
                      <a:r>
                        <a:rPr lang="en-US" sz="1600" i="1" err="1">
                          <a:latin typeface="Times" pitchFamily="2" charset="0"/>
                        </a:rPr>
                        <a:t>LexNet</a:t>
                      </a:r>
                      <a:endParaRPr lang="en-US" sz="1600" i="1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>
                          <a:latin typeface="Times" pitchFamily="2" charset="0"/>
                        </a:rPr>
                        <a:t>Shopping100K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Recall@20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CL, 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391071"/>
                  </a:ext>
                </a:extLst>
              </a:tr>
              <a:tr h="321978"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ResNet-v2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1" kern="1200" err="1">
                          <a:solidFill>
                            <a:schemeClr val="dk1"/>
                          </a:solidFill>
                          <a:effectLst/>
                          <a:latin typeface="Times" pitchFamily="2" charset="0"/>
                          <a:ea typeface="+mn-ea"/>
                          <a:cs typeface="+mn-cs"/>
                        </a:rPr>
                        <a:t>DeepFashion</a:t>
                      </a:r>
                      <a:endParaRPr lang="en-US" sz="1600" i="1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Recall@1,10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BCE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00428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6B6FAA-2B0B-B941-7954-F346C3FFC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599184"/>
              </p:ext>
            </p:extLst>
          </p:nvPr>
        </p:nvGraphicFramePr>
        <p:xfrm>
          <a:off x="4365210" y="5072961"/>
          <a:ext cx="5555467" cy="16459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49311">
                  <a:extLst>
                    <a:ext uri="{9D8B030D-6E8A-4147-A177-3AD203B41FA5}">
                      <a16:colId xmlns:a16="http://schemas.microsoft.com/office/drawing/2014/main" val="2640610835"/>
                    </a:ext>
                  </a:extLst>
                </a:gridCol>
                <a:gridCol w="1146447">
                  <a:extLst>
                    <a:ext uri="{9D8B030D-6E8A-4147-A177-3AD203B41FA5}">
                      <a16:colId xmlns:a16="http://schemas.microsoft.com/office/drawing/2014/main" val="1595008830"/>
                    </a:ext>
                  </a:extLst>
                </a:gridCol>
                <a:gridCol w="1124679">
                  <a:extLst>
                    <a:ext uri="{9D8B030D-6E8A-4147-A177-3AD203B41FA5}">
                      <a16:colId xmlns:a16="http://schemas.microsoft.com/office/drawing/2014/main" val="617729621"/>
                    </a:ext>
                  </a:extLst>
                </a:gridCol>
                <a:gridCol w="2035030">
                  <a:extLst>
                    <a:ext uri="{9D8B030D-6E8A-4147-A177-3AD203B41FA5}">
                      <a16:colId xmlns:a16="http://schemas.microsoft.com/office/drawing/2014/main" val="22395726"/>
                    </a:ext>
                  </a:extLst>
                </a:gridCol>
              </a:tblGrid>
              <a:tr h="329334"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Backbone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79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>
                          <a:latin typeface="Times" pitchFamily="2" charset="0"/>
                        </a:rPr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79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>
                          <a:latin typeface="Times" pitchFamily="2" charset="0"/>
                        </a:rPr>
                        <a:t>Datasets</a:t>
                      </a:r>
                    </a:p>
                    <a:p>
                      <a:endParaRPr lang="en-US" i="1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43297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TL+AL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DARN 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08485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 err="1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CNLexNet</a:t>
                      </a:r>
                      <a:endParaRPr lang="en-US" sz="1600" i="1" kern="1200">
                        <a:solidFill>
                          <a:schemeClr val="dk1"/>
                        </a:solidFill>
                        <a:latin typeface="Times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CL+TL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Various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Consumer-to-Shop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391071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 err="1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ResNet</a:t>
                      </a:r>
                      <a:endParaRPr lang="en-US" sz="1600" i="1" kern="1200">
                        <a:solidFill>
                          <a:schemeClr val="dk1"/>
                        </a:solidFill>
                        <a:latin typeface="Times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Various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err="1">
                          <a:latin typeface="Times" pitchFamily="2" charset="0"/>
                        </a:rPr>
                        <a:t>DeepFashion</a:t>
                      </a:r>
                      <a:endParaRPr lang="en-US" sz="1600" i="1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0042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4747C5-900E-0CB0-FF8E-735C0358A036}"/>
              </a:ext>
            </a:extLst>
          </p:cNvPr>
          <p:cNvSpPr txBox="1"/>
          <p:nvPr/>
        </p:nvSpPr>
        <p:spPr>
          <a:xfrm>
            <a:off x="9726842" y="633553"/>
            <a:ext cx="2002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>
                <a:solidFill>
                  <a:srgbClr val="C00000"/>
                </a:solidFill>
                <a:latin typeface="Aptos" panose="020B0004020202020204" pitchFamily="34" charset="0"/>
              </a:rPr>
              <a:t>Ground-truth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DC414-BB5C-661D-61F6-31D44D32EA01}"/>
              </a:ext>
            </a:extLst>
          </p:cNvPr>
          <p:cNvSpPr txBox="1"/>
          <p:nvPr/>
        </p:nvSpPr>
        <p:spPr>
          <a:xfrm>
            <a:off x="9923466" y="5677904"/>
            <a:ext cx="1741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solidFill>
                  <a:srgbClr val="C00000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US" sz="2000" b="1">
                <a:latin typeface="Aptos" panose="020B0004020202020204" pitchFamily="34" charset="0"/>
              </a:rPr>
              <a:t>Generated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673DF-CC51-C0C9-C348-02B0C680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67D67-270C-63D1-B41A-CFD9A2D2F999}"/>
              </a:ext>
            </a:extLst>
          </p:cNvPr>
          <p:cNvSpPr txBox="1"/>
          <p:nvPr/>
        </p:nvSpPr>
        <p:spPr>
          <a:xfrm>
            <a:off x="286718" y="550190"/>
            <a:ext cx="2877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Originally, we have a ground-truth table extracted from a paper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3561D9-0EBC-D144-26CC-84E3517BA696}"/>
              </a:ext>
            </a:extLst>
          </p:cNvPr>
          <p:cNvSpPr txBox="1"/>
          <p:nvPr/>
        </p:nvSpPr>
        <p:spPr>
          <a:xfrm>
            <a:off x="286719" y="5572755"/>
            <a:ext cx="287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Then, we have a table that is generated by an LLM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64AFBD-558C-A2B5-BEBE-B5E2CCC91DF8}"/>
              </a:ext>
            </a:extLst>
          </p:cNvPr>
          <p:cNvSpPr txBox="1"/>
          <p:nvPr/>
        </p:nvSpPr>
        <p:spPr>
          <a:xfrm>
            <a:off x="281546" y="2047297"/>
            <a:ext cx="2877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synthesize QA pairs from the ground-truth table about schema and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17B1C3-881E-FF53-5911-FA9A4F097CFA}"/>
              </a:ext>
            </a:extLst>
          </p:cNvPr>
          <p:cNvSpPr txBox="1"/>
          <p:nvPr/>
        </p:nvSpPr>
        <p:spPr>
          <a:xfrm>
            <a:off x="280417" y="3785304"/>
            <a:ext cx="2877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Then, we ask an LLM to answer these QAs based on the generated 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287F47-5BFC-58B5-D056-171F496C61F0}"/>
              </a:ext>
            </a:extLst>
          </p:cNvPr>
          <p:cNvSpPr txBox="1"/>
          <p:nvPr/>
        </p:nvSpPr>
        <p:spPr>
          <a:xfrm>
            <a:off x="3625989" y="2284224"/>
            <a:ext cx="208895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table </a:t>
            </a:r>
            <a:r>
              <a:rPr lang="en-US" b="1">
                <a:solidFill>
                  <a:srgbClr val="C00000"/>
                </a:solidFill>
              </a:rPr>
              <a:t>schema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/>
              <a:t> </a:t>
            </a:r>
          </a:p>
          <a:p>
            <a:pPr algn="ctr"/>
            <a:r>
              <a:rPr lang="en-US" sz="1800" i="1">
                <a:solidFill>
                  <a:schemeClr val="tx1"/>
                </a:solidFill>
                <a:latin typeface="Times" pitchFamily="2" charset="0"/>
              </a:rPr>
              <a:t>Is </a:t>
            </a:r>
            <a:r>
              <a:rPr lang="en-US" sz="1800" b="1" i="1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Dataset</a:t>
            </a:r>
            <a:r>
              <a:rPr lang="en-US" sz="1800" i="1">
                <a:solidFill>
                  <a:schemeClr val="tx1"/>
                </a:solidFill>
                <a:latin typeface="Times" pitchFamily="2" charset="0"/>
              </a:rPr>
              <a:t> included in the table schema?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F3CEE5-3BE3-F566-F4C2-21C369344FAD}"/>
              </a:ext>
            </a:extLst>
          </p:cNvPr>
          <p:cNvSpPr txBox="1"/>
          <p:nvPr/>
        </p:nvSpPr>
        <p:spPr>
          <a:xfrm>
            <a:off x="5771407" y="2287854"/>
            <a:ext cx="2553194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i="1">
                <a:solidFill>
                  <a:srgbClr val="C00000"/>
                </a:solidFill>
              </a:rPr>
              <a:t>unary</a:t>
            </a:r>
            <a:r>
              <a:rPr lang="en-US" i="1">
                <a:solidFill>
                  <a:srgbClr val="C00000"/>
                </a:solidFill>
              </a:rPr>
              <a:t> (cell) values</a:t>
            </a:r>
            <a:r>
              <a:rPr lang="en-US">
                <a:solidFill>
                  <a:schemeClr val="tx1"/>
                </a:solidFill>
              </a:rPr>
              <a:t>:  </a:t>
            </a:r>
            <a:br>
              <a:rPr lang="en-US">
                <a:solidFill>
                  <a:schemeClr val="tx1"/>
                </a:solidFill>
              </a:rPr>
            </a:br>
            <a:r>
              <a:rPr lang="en-US" sz="1800" i="1">
                <a:solidFill>
                  <a:schemeClr val="tx1"/>
                </a:solidFill>
                <a:latin typeface="Times" pitchFamily="2" charset="0"/>
              </a:rPr>
              <a:t>Is </a:t>
            </a:r>
            <a:r>
              <a:rPr lang="en-US" sz="1800" b="1" i="1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CL, TL </a:t>
            </a:r>
            <a:r>
              <a:rPr lang="en-US" sz="1800" i="1">
                <a:solidFill>
                  <a:schemeClr val="tx1"/>
                </a:solidFill>
                <a:latin typeface="Times" pitchFamily="2" charset="0"/>
              </a:rPr>
              <a:t>the loss function for paper CN-</a:t>
            </a:r>
            <a:r>
              <a:rPr lang="en-US" sz="1800" i="1" err="1">
                <a:solidFill>
                  <a:schemeClr val="tx1"/>
                </a:solidFill>
                <a:latin typeface="Times" pitchFamily="2" charset="0"/>
              </a:rPr>
              <a:t>LexNet</a:t>
            </a:r>
            <a:r>
              <a:rPr lang="en-US" sz="1800" i="1">
                <a:solidFill>
                  <a:schemeClr val="tx1"/>
                </a:solidFill>
                <a:latin typeface="Times" pitchFamily="2" charset="0"/>
              </a:rPr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13E892-C5BA-BD91-D2C2-577CCC773DA8}"/>
              </a:ext>
            </a:extLst>
          </p:cNvPr>
          <p:cNvSpPr txBox="1"/>
          <p:nvPr/>
        </p:nvSpPr>
        <p:spPr>
          <a:xfrm>
            <a:off x="8419604" y="2277306"/>
            <a:ext cx="312006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i="1">
                <a:solidFill>
                  <a:srgbClr val="C00000"/>
                </a:solidFill>
              </a:rPr>
              <a:t>pairwise</a:t>
            </a:r>
            <a:r>
              <a:rPr lang="en-US" i="1">
                <a:solidFill>
                  <a:srgbClr val="C00000"/>
                </a:solidFill>
              </a:rPr>
              <a:t> comparisons</a:t>
            </a:r>
            <a:r>
              <a:rPr lang="en-US">
                <a:solidFill>
                  <a:schemeClr val="tx1"/>
                </a:solidFill>
              </a:rPr>
              <a:t>:  </a:t>
            </a:r>
            <a:br>
              <a:rPr lang="en-US">
                <a:solidFill>
                  <a:schemeClr val="tx1"/>
                </a:solidFill>
              </a:rPr>
            </a:br>
            <a:r>
              <a:rPr lang="en-US" sz="1800" i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Is </a:t>
            </a:r>
            <a:r>
              <a:rPr lang="en-US" sz="1800" i="1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ResNet</a:t>
            </a:r>
            <a:r>
              <a:rPr lang="en-US" sz="1800" i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using </a:t>
            </a:r>
            <a:r>
              <a:rPr lang="en-US" sz="1800" b="1" i="1">
                <a:solidFill>
                  <a:schemeClr val="accent6">
                    <a:lumMod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more evaluation metrics</a:t>
            </a:r>
            <a:r>
              <a:rPr lang="en-US" sz="1800" i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than GAN?</a:t>
            </a:r>
            <a:endParaRPr lang="en-US" i="1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FDF8FC6F-4E44-5F22-468E-C179828EDE89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4662327" y="1773117"/>
            <a:ext cx="519246" cy="502969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A0A0FE7A-5C38-CA59-3AC1-9DF0E5E4FC01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9440881" y="1764978"/>
            <a:ext cx="538758" cy="512328"/>
          </a:xfrm>
          <a:prstGeom prst="curvedConnector2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D6D09BF0-5F66-CE1E-1FFE-FB37091193B5}"/>
              </a:ext>
            </a:extLst>
          </p:cNvPr>
          <p:cNvCxnSpPr>
            <a:cxnSpLocks/>
            <a:stCxn id="7" idx="2"/>
            <a:endCxn id="34" idx="0"/>
          </p:cNvCxnSpPr>
          <p:nvPr/>
        </p:nvCxnSpPr>
        <p:spPr>
          <a:xfrm rot="16200000" flipH="1">
            <a:off x="6779640" y="2019489"/>
            <a:ext cx="522875" cy="13854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0D80709F-35B5-2324-49FC-963C8D51BDBC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3731903" y="4131806"/>
            <a:ext cx="1862815" cy="14310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C49D6FD9-EF55-E654-0A81-E3B4A39BE076}"/>
              </a:ext>
            </a:extLst>
          </p:cNvPr>
          <p:cNvCxnSpPr>
            <a:cxnSpLocks/>
          </p:cNvCxnSpPr>
          <p:nvPr/>
        </p:nvCxnSpPr>
        <p:spPr>
          <a:xfrm rot="5400000">
            <a:off x="6090786" y="4131806"/>
            <a:ext cx="1862815" cy="14310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CCE980B7-2870-AEAA-9C14-BACC91F46BDF}"/>
              </a:ext>
            </a:extLst>
          </p:cNvPr>
          <p:cNvCxnSpPr>
            <a:cxnSpLocks/>
          </p:cNvCxnSpPr>
          <p:nvPr/>
        </p:nvCxnSpPr>
        <p:spPr>
          <a:xfrm rot="5400000">
            <a:off x="8478697" y="4169739"/>
            <a:ext cx="1924368" cy="12700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BC513F9-D4E4-2200-EDDC-03F9086C562D}"/>
              </a:ext>
            </a:extLst>
          </p:cNvPr>
          <p:cNvSpPr txBox="1"/>
          <p:nvPr/>
        </p:nvSpPr>
        <p:spPr>
          <a:xfrm>
            <a:off x="8095710" y="4370511"/>
            <a:ext cx="1499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Incorrect! 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❌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22CB5D-0C57-8C76-EA20-2CA24F445B26}"/>
              </a:ext>
            </a:extLst>
          </p:cNvPr>
          <p:cNvSpPr txBox="1"/>
          <p:nvPr/>
        </p:nvSpPr>
        <p:spPr>
          <a:xfrm>
            <a:off x="3404381" y="4370511"/>
            <a:ext cx="147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Correct!</a:t>
            </a:r>
            <a:r>
              <a:rPr lang="en-US"/>
              <a:t> </a:t>
            </a:r>
            <a:endParaRPr lang="en-US" sz="1800">
              <a:solidFill>
                <a:schemeClr val="tx1"/>
              </a:solidFill>
            </a:endParaRPr>
          </a:p>
          <a:p>
            <a:pPr algn="ctr"/>
            <a:r>
              <a:rPr lang="en-US" sz="1800">
                <a:solidFill>
                  <a:schemeClr val="tx1"/>
                </a:solidFill>
              </a:rPr>
              <a:t>✅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F3D9F6-CA2E-9863-FD60-FA3E4812B737}"/>
              </a:ext>
            </a:extLst>
          </p:cNvPr>
          <p:cNvSpPr txBox="1"/>
          <p:nvPr/>
        </p:nvSpPr>
        <p:spPr>
          <a:xfrm>
            <a:off x="5754660" y="4370511"/>
            <a:ext cx="147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Correct!</a:t>
            </a:r>
            <a:r>
              <a:rPr lang="en-US"/>
              <a:t> </a:t>
            </a:r>
            <a:endParaRPr lang="en-US" sz="1800">
              <a:solidFill>
                <a:schemeClr val="tx1"/>
              </a:solidFill>
            </a:endParaRPr>
          </a:p>
          <a:p>
            <a:pPr algn="ctr"/>
            <a:r>
              <a:rPr lang="en-US" sz="1800">
                <a:solidFill>
                  <a:schemeClr val="tx1"/>
                </a:solidFill>
              </a:rPr>
              <a:t>✅ </a:t>
            </a:r>
          </a:p>
        </p:txBody>
      </p:sp>
      <p:sp>
        <p:nvSpPr>
          <p:cNvPr id="68" name="Rectangle: Rounded Corners 9">
            <a:extLst>
              <a:ext uri="{FF2B5EF4-FFF2-40B4-BE49-F238E27FC236}">
                <a16:creationId xmlns:a16="http://schemas.microsoft.com/office/drawing/2014/main" id="{4AF49200-33E2-BED4-1DCD-19A1F8A281FE}"/>
              </a:ext>
            </a:extLst>
          </p:cNvPr>
          <p:cNvSpPr/>
          <p:nvPr/>
        </p:nvSpPr>
        <p:spPr>
          <a:xfrm>
            <a:off x="3869830" y="3702174"/>
            <a:ext cx="6468705" cy="576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The ratio of “Correct” indicates the </a:t>
            </a:r>
            <a:r>
              <a:rPr lang="en-US" sz="3200" b="1">
                <a:solidFill>
                  <a:srgbClr val="C00000"/>
                </a:solidFill>
              </a:rPr>
              <a:t>recall</a:t>
            </a:r>
            <a:r>
              <a:rPr lang="en-US" sz="200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259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/>
      <p:bldP spid="17" grpId="0"/>
      <p:bldP spid="18" grpId="0"/>
      <p:bldP spid="20" grpId="0"/>
      <p:bldP spid="32" grpId="0" animBg="1"/>
      <p:bldP spid="34" grpId="0" animBg="1"/>
      <p:bldP spid="36" grpId="0" animBg="1"/>
      <p:bldP spid="63" grpId="0"/>
      <p:bldP spid="65" grpId="0"/>
      <p:bldP spid="67" grpId="0"/>
      <p:bldP spid="6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5548-C9A9-1CAE-6D68-8F5ADACF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190C59-D875-F5A1-2DA9-1188362C4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54891"/>
              </p:ext>
            </p:extLst>
          </p:nvPr>
        </p:nvGraphicFramePr>
        <p:xfrm>
          <a:off x="4459803" y="5138273"/>
          <a:ext cx="5385384" cy="16459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88435">
                  <a:extLst>
                    <a:ext uri="{9D8B030D-6E8A-4147-A177-3AD203B41FA5}">
                      <a16:colId xmlns:a16="http://schemas.microsoft.com/office/drawing/2014/main" val="2640610835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1595008830"/>
                    </a:ext>
                  </a:extLst>
                </a:gridCol>
                <a:gridCol w="1346346">
                  <a:extLst>
                    <a:ext uri="{9D8B030D-6E8A-4147-A177-3AD203B41FA5}">
                      <a16:colId xmlns:a16="http://schemas.microsoft.com/office/drawing/2014/main" val="617729621"/>
                    </a:ext>
                  </a:extLst>
                </a:gridCol>
                <a:gridCol w="1346346">
                  <a:extLst>
                    <a:ext uri="{9D8B030D-6E8A-4147-A177-3AD203B41FA5}">
                      <a16:colId xmlns:a16="http://schemas.microsoft.com/office/drawing/2014/main" val="22395726"/>
                    </a:ext>
                  </a:extLst>
                </a:gridCol>
              </a:tblGrid>
              <a:tr h="329334"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CBFIR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Evaluation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Loss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43297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DARN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Recall@1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TL, 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08485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CN-</a:t>
                      </a:r>
                      <a:r>
                        <a:rPr lang="en-US" sz="1600" i="1" err="1">
                          <a:latin typeface="Times" pitchFamily="2" charset="0"/>
                        </a:rPr>
                        <a:t>LexNet</a:t>
                      </a:r>
                      <a:endParaRPr lang="en-US" sz="1600" i="1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>
                          <a:latin typeface="Times" pitchFamily="2" charset="0"/>
                        </a:rPr>
                        <a:t>Shopping100K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Recall@20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CL, 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391071"/>
                  </a:ext>
                </a:extLst>
              </a:tr>
              <a:tr h="321978"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ResNet-v2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1" kern="1200" err="1">
                          <a:solidFill>
                            <a:schemeClr val="dk1"/>
                          </a:solidFill>
                          <a:effectLst/>
                          <a:latin typeface="Times" pitchFamily="2" charset="0"/>
                          <a:ea typeface="+mn-ea"/>
                          <a:cs typeface="+mn-cs"/>
                        </a:rPr>
                        <a:t>DeepFashion</a:t>
                      </a:r>
                      <a:endParaRPr lang="en-US" sz="1600" i="1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Recall@1,10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BCE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00428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1A06A7-A39D-FD80-9ED6-345BD3E17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730686"/>
              </p:ext>
            </p:extLst>
          </p:nvPr>
        </p:nvGraphicFramePr>
        <p:xfrm>
          <a:off x="4459803" y="125273"/>
          <a:ext cx="5555467" cy="16459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49311">
                  <a:extLst>
                    <a:ext uri="{9D8B030D-6E8A-4147-A177-3AD203B41FA5}">
                      <a16:colId xmlns:a16="http://schemas.microsoft.com/office/drawing/2014/main" val="2640610835"/>
                    </a:ext>
                  </a:extLst>
                </a:gridCol>
                <a:gridCol w="1146447">
                  <a:extLst>
                    <a:ext uri="{9D8B030D-6E8A-4147-A177-3AD203B41FA5}">
                      <a16:colId xmlns:a16="http://schemas.microsoft.com/office/drawing/2014/main" val="1595008830"/>
                    </a:ext>
                  </a:extLst>
                </a:gridCol>
                <a:gridCol w="1124679">
                  <a:extLst>
                    <a:ext uri="{9D8B030D-6E8A-4147-A177-3AD203B41FA5}">
                      <a16:colId xmlns:a16="http://schemas.microsoft.com/office/drawing/2014/main" val="617729621"/>
                    </a:ext>
                  </a:extLst>
                </a:gridCol>
                <a:gridCol w="2035030">
                  <a:extLst>
                    <a:ext uri="{9D8B030D-6E8A-4147-A177-3AD203B41FA5}">
                      <a16:colId xmlns:a16="http://schemas.microsoft.com/office/drawing/2014/main" val="22395726"/>
                    </a:ext>
                  </a:extLst>
                </a:gridCol>
              </a:tblGrid>
              <a:tr h="329334"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Backbone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>
                          <a:latin typeface="Times" pitchFamily="2" charset="0"/>
                        </a:rPr>
                        <a:t>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79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>
                          <a:latin typeface="Times" pitchFamily="2" charset="0"/>
                        </a:rPr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79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>
                          <a:latin typeface="Times" pitchFamily="2" charset="0"/>
                        </a:rPr>
                        <a:t>Datasets</a:t>
                      </a:r>
                    </a:p>
                    <a:p>
                      <a:endParaRPr lang="en-US" i="1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43297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TL+AL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DARN 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08485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 err="1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CNLexNet</a:t>
                      </a:r>
                      <a:endParaRPr lang="en-US" sz="1600" i="1" kern="1200">
                        <a:solidFill>
                          <a:schemeClr val="dk1"/>
                        </a:solidFill>
                        <a:latin typeface="Times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CL+TL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Various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>
                          <a:latin typeface="Times" pitchFamily="2" charset="0"/>
                        </a:rPr>
                        <a:t>Consumer-to-Shop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391071"/>
                  </a:ext>
                </a:extLst>
              </a:tr>
              <a:tr h="329334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 err="1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ResNet</a:t>
                      </a:r>
                      <a:endParaRPr lang="en-US" sz="1600" i="1" kern="1200">
                        <a:solidFill>
                          <a:schemeClr val="dk1"/>
                        </a:solidFill>
                        <a:latin typeface="Times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i="1" kern="1200">
                          <a:solidFill>
                            <a:schemeClr val="dk1"/>
                          </a:solidFill>
                          <a:latin typeface="Times" pitchFamily="2" charset="0"/>
                          <a:ea typeface="+mn-ea"/>
                          <a:cs typeface="+mn-cs"/>
                        </a:rPr>
                        <a:t>Various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err="1">
                          <a:latin typeface="Times" pitchFamily="2" charset="0"/>
                        </a:rPr>
                        <a:t>DeepFashion</a:t>
                      </a:r>
                      <a:endParaRPr lang="en-US" sz="1600" i="1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0042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0F441B4-6E67-E794-6783-AD29AA4B89F7}"/>
              </a:ext>
            </a:extLst>
          </p:cNvPr>
          <p:cNvSpPr txBox="1"/>
          <p:nvPr/>
        </p:nvSpPr>
        <p:spPr>
          <a:xfrm>
            <a:off x="9845187" y="5652767"/>
            <a:ext cx="2002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>
                <a:solidFill>
                  <a:srgbClr val="C00000"/>
                </a:solidFill>
                <a:latin typeface="Aptos" panose="020B0004020202020204" pitchFamily="34" charset="0"/>
              </a:rPr>
              <a:t>Ground-truth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5EB0E-A936-7AA0-002E-90CA0E740F67}"/>
              </a:ext>
            </a:extLst>
          </p:cNvPr>
          <p:cNvSpPr txBox="1"/>
          <p:nvPr/>
        </p:nvSpPr>
        <p:spPr>
          <a:xfrm>
            <a:off x="9975612" y="731015"/>
            <a:ext cx="1741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solidFill>
                  <a:srgbClr val="C00000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US" sz="2000" b="1">
                <a:latin typeface="Aptos" panose="020B0004020202020204" pitchFamily="34" charset="0"/>
              </a:rPr>
              <a:t>Generated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4A22F7-8351-E115-C403-AE3CC297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13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967F9A-6751-8CBF-5A93-BB4A296D6F91}"/>
              </a:ext>
            </a:extLst>
          </p:cNvPr>
          <p:cNvSpPr txBox="1"/>
          <p:nvPr/>
        </p:nvSpPr>
        <p:spPr>
          <a:xfrm>
            <a:off x="3625989" y="2284224"/>
            <a:ext cx="208895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table </a:t>
            </a:r>
            <a:r>
              <a:rPr lang="en-US" b="1">
                <a:solidFill>
                  <a:srgbClr val="C00000"/>
                </a:solidFill>
              </a:rPr>
              <a:t>schema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/>
              <a:t> </a:t>
            </a:r>
          </a:p>
          <a:p>
            <a:pPr algn="ctr"/>
            <a:r>
              <a:rPr lang="en-US" i="1">
                <a:latin typeface="Times" pitchFamily="2" charset="0"/>
              </a:rPr>
              <a:t>Is </a:t>
            </a:r>
            <a:r>
              <a:rPr lang="en-US" b="1" i="1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Attributes</a:t>
            </a:r>
            <a:r>
              <a:rPr lang="en-US" i="1">
                <a:latin typeface="Times" pitchFamily="2" charset="0"/>
              </a:rPr>
              <a:t> included in the table schema?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FB3D29-6877-4245-27A2-509B8885A46D}"/>
              </a:ext>
            </a:extLst>
          </p:cNvPr>
          <p:cNvSpPr txBox="1"/>
          <p:nvPr/>
        </p:nvSpPr>
        <p:spPr>
          <a:xfrm>
            <a:off x="5771407" y="2287854"/>
            <a:ext cx="2553194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i="1">
                <a:solidFill>
                  <a:srgbClr val="C00000"/>
                </a:solidFill>
              </a:rPr>
              <a:t>unary</a:t>
            </a:r>
            <a:r>
              <a:rPr lang="en-US" i="1">
                <a:solidFill>
                  <a:srgbClr val="C00000"/>
                </a:solidFill>
              </a:rPr>
              <a:t> (cell) values</a:t>
            </a:r>
            <a:r>
              <a:rPr lang="en-US">
                <a:solidFill>
                  <a:schemeClr val="tx1"/>
                </a:solidFill>
              </a:rPr>
              <a:t>:  </a:t>
            </a:r>
            <a:br>
              <a:rPr lang="en-US">
                <a:solidFill>
                  <a:schemeClr val="tx1"/>
                </a:solidFill>
              </a:rPr>
            </a:br>
            <a:r>
              <a:rPr lang="en-US" i="1">
                <a:latin typeface="Times" pitchFamily="2" charset="0"/>
              </a:rPr>
              <a:t>Is </a:t>
            </a:r>
            <a:r>
              <a:rPr lang="en-US" b="1" i="1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DARN Color </a:t>
            </a:r>
            <a:r>
              <a:rPr lang="en-US" i="1">
                <a:latin typeface="Times" pitchFamily="2" charset="0"/>
              </a:rPr>
              <a:t>used in GAN?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7BA7F-12B0-7502-6E7E-812EEF1A2634}"/>
              </a:ext>
            </a:extLst>
          </p:cNvPr>
          <p:cNvSpPr txBox="1"/>
          <p:nvPr/>
        </p:nvSpPr>
        <p:spPr>
          <a:xfrm>
            <a:off x="8419605" y="2277306"/>
            <a:ext cx="3049644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i="1">
                <a:solidFill>
                  <a:srgbClr val="C00000"/>
                </a:solidFill>
              </a:rPr>
              <a:t>pairwise</a:t>
            </a:r>
            <a:r>
              <a:rPr lang="en-US" i="1">
                <a:solidFill>
                  <a:srgbClr val="C00000"/>
                </a:solidFill>
              </a:rPr>
              <a:t> comparisons</a:t>
            </a:r>
            <a:r>
              <a:rPr lang="en-US">
                <a:solidFill>
                  <a:schemeClr val="tx1"/>
                </a:solidFill>
              </a:rPr>
              <a:t>:  </a:t>
            </a:r>
            <a:br>
              <a:rPr lang="en-US">
                <a:solidFill>
                  <a:schemeClr val="tx1"/>
                </a:solidFill>
              </a:rPr>
            </a:br>
            <a:r>
              <a:rPr lang="en-US" i="1">
                <a:latin typeface="Times" panose="02020603050405020304" pitchFamily="18" charset="0"/>
                <a:cs typeface="Times" panose="02020603050405020304" pitchFamily="18" charset="0"/>
              </a:rPr>
              <a:t>Is </a:t>
            </a:r>
            <a:r>
              <a:rPr lang="en-US" i="1" err="1">
                <a:latin typeface="Times" panose="02020603050405020304" pitchFamily="18" charset="0"/>
                <a:cs typeface="Times" panose="02020603050405020304" pitchFamily="18" charset="0"/>
              </a:rPr>
              <a:t>ResNet</a:t>
            </a:r>
            <a:r>
              <a:rPr lang="en-US" i="1">
                <a:latin typeface="Times" panose="02020603050405020304" pitchFamily="18" charset="0"/>
                <a:cs typeface="Times" panose="02020603050405020304" pitchFamily="18" charset="0"/>
              </a:rPr>
              <a:t> using </a:t>
            </a:r>
            <a:r>
              <a:rPr lang="en-US" b="1" i="1">
                <a:solidFill>
                  <a:schemeClr val="accent6">
                    <a:lumMod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fewer losses </a:t>
            </a:r>
            <a:r>
              <a:rPr lang="en-US" i="1">
                <a:latin typeface="Times" panose="02020603050405020304" pitchFamily="18" charset="0"/>
                <a:cs typeface="Times" panose="02020603050405020304" pitchFamily="18" charset="0"/>
              </a:rPr>
              <a:t>than GAN?</a:t>
            </a:r>
            <a:endParaRPr lang="en-US" i="1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4FC79FE-62D2-AFFF-8386-D625B0CDD145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4662327" y="1773117"/>
            <a:ext cx="519246" cy="502969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28718664-34C3-3AC1-492F-B20EE6ECED0B}"/>
              </a:ext>
            </a:extLst>
          </p:cNvPr>
          <p:cNvCxnSpPr>
            <a:cxnSpLocks/>
            <a:endCxn id="36" idx="0"/>
          </p:cNvCxnSpPr>
          <p:nvPr/>
        </p:nvCxnSpPr>
        <p:spPr>
          <a:xfrm rot="16200000" flipH="1">
            <a:off x="9436491" y="1769369"/>
            <a:ext cx="512327" cy="503546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1285681A-8BC8-D6BC-9243-F39BD041926C}"/>
              </a:ext>
            </a:extLst>
          </p:cNvPr>
          <p:cNvCxnSpPr>
            <a:cxnSpLocks/>
            <a:endCxn id="34" idx="0"/>
          </p:cNvCxnSpPr>
          <p:nvPr/>
        </p:nvCxnSpPr>
        <p:spPr>
          <a:xfrm rot="5400000">
            <a:off x="6789677" y="2029522"/>
            <a:ext cx="516659" cy="4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ADB8090E-2180-F44B-583D-2658E2A01C1B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3731903" y="4131806"/>
            <a:ext cx="1862815" cy="14310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E50B15DE-1F85-0C0E-3B3F-FF2C54B362C3}"/>
              </a:ext>
            </a:extLst>
          </p:cNvPr>
          <p:cNvCxnSpPr>
            <a:cxnSpLocks/>
          </p:cNvCxnSpPr>
          <p:nvPr/>
        </p:nvCxnSpPr>
        <p:spPr>
          <a:xfrm rot="5400000">
            <a:off x="6090786" y="4131806"/>
            <a:ext cx="1862815" cy="14310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B5E78140-35DD-A40D-3ACB-2CAD24D37378}"/>
              </a:ext>
            </a:extLst>
          </p:cNvPr>
          <p:cNvCxnSpPr>
            <a:cxnSpLocks/>
          </p:cNvCxnSpPr>
          <p:nvPr/>
        </p:nvCxnSpPr>
        <p:spPr>
          <a:xfrm rot="5400000">
            <a:off x="8446483" y="4143874"/>
            <a:ext cx="1982447" cy="6350"/>
          </a:xfrm>
          <a:prstGeom prst="curvedConnector3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6D8324C-4D55-E763-7571-4197D11830BA}"/>
              </a:ext>
            </a:extLst>
          </p:cNvPr>
          <p:cNvSpPr txBox="1"/>
          <p:nvPr/>
        </p:nvSpPr>
        <p:spPr>
          <a:xfrm>
            <a:off x="3330178" y="4385435"/>
            <a:ext cx="1499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Incorrect! 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❌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68" name="Rectangle: Rounded Corners 9">
            <a:extLst>
              <a:ext uri="{FF2B5EF4-FFF2-40B4-BE49-F238E27FC236}">
                <a16:creationId xmlns:a16="http://schemas.microsoft.com/office/drawing/2014/main" id="{D23CFCBF-9102-5C31-5123-08740938473F}"/>
              </a:ext>
            </a:extLst>
          </p:cNvPr>
          <p:cNvSpPr/>
          <p:nvPr/>
        </p:nvSpPr>
        <p:spPr>
          <a:xfrm>
            <a:off x="3869830" y="3702174"/>
            <a:ext cx="6468705" cy="576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ratio of “Correct” indicates the </a:t>
            </a:r>
            <a:r>
              <a:rPr lang="en-US" sz="3200" b="1" dirty="0">
                <a:solidFill>
                  <a:srgbClr val="C00000"/>
                </a:solidFill>
              </a:rPr>
              <a:t>precision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5ED2E3-08FD-F6C3-F3B8-62833F8984EA}"/>
              </a:ext>
            </a:extLst>
          </p:cNvPr>
          <p:cNvSpPr txBox="1"/>
          <p:nvPr/>
        </p:nvSpPr>
        <p:spPr>
          <a:xfrm>
            <a:off x="280416" y="521912"/>
            <a:ext cx="2877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Similarly, we can reverse the process by starting with the generated table.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0D20F2-CB81-F3C5-0DE6-C08B0E2A00D6}"/>
              </a:ext>
            </a:extLst>
          </p:cNvPr>
          <p:cNvSpPr txBox="1"/>
          <p:nvPr/>
        </p:nvSpPr>
        <p:spPr>
          <a:xfrm>
            <a:off x="280417" y="5711255"/>
            <a:ext cx="287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And answer QAs using our ground-truth table.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5E487-35B9-E0C5-6A4D-007DFB69A939}"/>
              </a:ext>
            </a:extLst>
          </p:cNvPr>
          <p:cNvSpPr txBox="1"/>
          <p:nvPr/>
        </p:nvSpPr>
        <p:spPr>
          <a:xfrm>
            <a:off x="94532" y="2299957"/>
            <a:ext cx="3249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Again, we synthesize QAs based on the generated table.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3B8DDA-6A77-686E-C402-5CCBF1BAB83D}"/>
              </a:ext>
            </a:extLst>
          </p:cNvPr>
          <p:cNvSpPr txBox="1"/>
          <p:nvPr/>
        </p:nvSpPr>
        <p:spPr>
          <a:xfrm>
            <a:off x="200733" y="3971441"/>
            <a:ext cx="287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But answer them using the ground-truth table.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BDC0B9-8F02-06DE-0FE1-71E043FF13ED}"/>
              </a:ext>
            </a:extLst>
          </p:cNvPr>
          <p:cNvSpPr txBox="1"/>
          <p:nvPr/>
        </p:nvSpPr>
        <p:spPr>
          <a:xfrm>
            <a:off x="5700632" y="4385435"/>
            <a:ext cx="1499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Incorrect! 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❌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C5E018-CD6A-33B7-13EB-74E0BBD9A4B9}"/>
              </a:ext>
            </a:extLst>
          </p:cNvPr>
          <p:cNvSpPr txBox="1"/>
          <p:nvPr/>
        </p:nvSpPr>
        <p:spPr>
          <a:xfrm>
            <a:off x="8220109" y="4385435"/>
            <a:ext cx="147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Correct!</a:t>
            </a:r>
            <a:r>
              <a:rPr lang="en-US"/>
              <a:t> </a:t>
            </a:r>
            <a:endParaRPr lang="en-US" sz="1800">
              <a:solidFill>
                <a:schemeClr val="tx1"/>
              </a:solidFill>
            </a:endParaRPr>
          </a:p>
          <a:p>
            <a:pPr algn="ctr"/>
            <a:r>
              <a:rPr lang="en-US" sz="1800">
                <a:solidFill>
                  <a:schemeClr val="tx1"/>
                </a:solidFill>
              </a:rPr>
              <a:t>✅ </a:t>
            </a:r>
          </a:p>
        </p:txBody>
      </p:sp>
    </p:spTree>
    <p:extLst>
      <p:ext uri="{BB962C8B-B14F-4D97-AF65-F5344CB8AC3E}">
        <p14:creationId xmlns:p14="http://schemas.microsoft.com/office/powerpoint/2010/main" val="389235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6E2A-C27C-72F6-0346-CEA7B6A2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released data: </a:t>
            </a:r>
            <a:r>
              <a:rPr lang="en-US" b="1" dirty="0"/>
              <a:t>arXiv2Table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2AD65-B4F5-B61F-94D5-9F032A30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Expanded version of Newman et al. 2024.</a:t>
            </a:r>
          </a:p>
          <a:p>
            <a:r>
              <a:rPr lang="en-US" dirty="0"/>
              <a:t>Contains </a:t>
            </a:r>
          </a:p>
          <a:p>
            <a:pPr lvl="1"/>
            <a:r>
              <a:rPr lang="en-US" dirty="0"/>
              <a:t>2.1K user demand prompts </a:t>
            </a:r>
          </a:p>
          <a:p>
            <a:pPr lvl="1"/>
            <a:r>
              <a:rPr lang="en-US" dirty="0"/>
              <a:t>2.1K tables (inherited from </a:t>
            </a:r>
            <a:r>
              <a:rPr lang="en-US" dirty="0" err="1"/>
              <a:t>arXivDigestable</a:t>
            </a:r>
            <a:r>
              <a:rPr lang="en-US" dirty="0"/>
              <a:t>).  </a:t>
            </a:r>
          </a:p>
          <a:p>
            <a:pPr lvl="2"/>
            <a:r>
              <a:rPr lang="en-US" dirty="0"/>
              <a:t>Dropped few low-quality tables. </a:t>
            </a:r>
          </a:p>
          <a:p>
            <a:pPr lvl="1"/>
            <a:r>
              <a:rPr lang="en-US" dirty="0"/>
              <a:t>Each prompt comes with it a set of candidate (distractor + gold) papers. </a:t>
            </a:r>
          </a:p>
          <a:p>
            <a:pPr lvl="1"/>
            <a:r>
              <a:rPr lang="en-US" dirty="0"/>
              <a:t>Evaluation framework based on utilization. 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B6808-BA1E-5D29-C064-96D0E008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07138EF2-E6E2-76FB-3338-9DB67F204094}"/>
              </a:ext>
            </a:extLst>
          </p:cNvPr>
          <p:cNvSpPr/>
          <p:nvPr/>
        </p:nvSpPr>
        <p:spPr>
          <a:xfrm>
            <a:off x="1545772" y="5034598"/>
            <a:ext cx="9144000" cy="9027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Dataset will be on </a:t>
            </a:r>
            <a:r>
              <a:rPr lang="en-US" sz="2800" dirty="0" err="1">
                <a:solidFill>
                  <a:srgbClr val="000000"/>
                </a:solidFill>
              </a:rPr>
              <a:t>arXiv</a:t>
            </a:r>
            <a:r>
              <a:rPr lang="en-US" sz="2800" dirty="0">
                <a:solidFill>
                  <a:srgbClr val="000000"/>
                </a:solidFill>
              </a:rPr>
              <a:t> on coming weeks!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98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72E4-4446-B78C-38B6-202030C8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also proposed a new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6C083-FE49-A67A-441D-ACBB4F756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inference-time algorithm that iteratively digests and organizes papers in tabular 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6FB78-55C8-0B5E-7656-339CAB3F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05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rrow: Bent-Up 142">
            <a:extLst>
              <a:ext uri="{FF2B5EF4-FFF2-40B4-BE49-F238E27FC236}">
                <a16:creationId xmlns:a16="http://schemas.microsoft.com/office/drawing/2014/main" id="{0546B84F-279F-CEA0-2DDF-0F57F7F68BA4}"/>
              </a:ext>
            </a:extLst>
          </p:cNvPr>
          <p:cNvSpPr/>
          <p:nvPr/>
        </p:nvSpPr>
        <p:spPr>
          <a:xfrm rot="5400000">
            <a:off x="1410353" y="5303335"/>
            <a:ext cx="1196733" cy="713308"/>
          </a:xfrm>
          <a:prstGeom prst="bent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6" descr="Logos - arXiv info">
            <a:extLst>
              <a:ext uri="{FF2B5EF4-FFF2-40B4-BE49-F238E27FC236}">
                <a16:creationId xmlns:a16="http://schemas.microsoft.com/office/drawing/2014/main" id="{C4884300-391B-8646-01D9-A240AC87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79" y="664881"/>
            <a:ext cx="1767496" cy="10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720AE-A2E9-1398-B3E8-5CA45B77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3FFED573-E995-E26E-9ADD-3E435740C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096" y="1426161"/>
            <a:ext cx="584377" cy="584377"/>
          </a:xfrm>
          <a:prstGeom prst="rect">
            <a:avLst/>
          </a:prstGeom>
        </p:spPr>
      </p:pic>
      <p:pic>
        <p:nvPicPr>
          <p:cNvPr id="12" name="Picture 11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B14AC938-5CAC-F5CD-3350-D20C7D488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866" y="1096252"/>
            <a:ext cx="584377" cy="584377"/>
          </a:xfrm>
          <a:prstGeom prst="rect">
            <a:avLst/>
          </a:prstGeom>
        </p:spPr>
      </p:pic>
      <p:pic>
        <p:nvPicPr>
          <p:cNvPr id="13" name="Picture 12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B6DC3CDE-9B36-21E9-6CC4-BDA560D88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945" y="729852"/>
            <a:ext cx="584377" cy="584377"/>
          </a:xfrm>
          <a:prstGeom prst="rect">
            <a:avLst/>
          </a:prstGeom>
        </p:spPr>
      </p:pic>
      <p:pic>
        <p:nvPicPr>
          <p:cNvPr id="14" name="Picture 13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AC71B49C-7E65-5CD4-7D1A-98BCA546B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86" y="412610"/>
            <a:ext cx="584377" cy="584377"/>
          </a:xfrm>
          <a:prstGeom prst="rect">
            <a:avLst/>
          </a:prstGeom>
        </p:spPr>
      </p:pic>
      <p:pic>
        <p:nvPicPr>
          <p:cNvPr id="15" name="Picture 14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E39B243D-98AE-A487-B431-A32707D95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787" y="725210"/>
            <a:ext cx="584377" cy="584377"/>
          </a:xfrm>
          <a:prstGeom prst="rect">
            <a:avLst/>
          </a:prstGeom>
        </p:spPr>
      </p:pic>
      <p:pic>
        <p:nvPicPr>
          <p:cNvPr id="16" name="Picture 15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AB8009BA-6D5C-A00D-8A55-8BC5C3F23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977" y="723293"/>
            <a:ext cx="584377" cy="584377"/>
          </a:xfrm>
          <a:prstGeom prst="rect">
            <a:avLst/>
          </a:prstGeom>
        </p:spPr>
      </p:pic>
      <p:pic>
        <p:nvPicPr>
          <p:cNvPr id="17" name="Picture 16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DE96E1E9-E17E-A171-D2B1-433323A8A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482" y="339857"/>
            <a:ext cx="584377" cy="584377"/>
          </a:xfrm>
          <a:prstGeom prst="rect">
            <a:avLst/>
          </a:prstGeom>
        </p:spPr>
      </p:pic>
      <p:pic>
        <p:nvPicPr>
          <p:cNvPr id="18" name="Picture 17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4E3F90AD-6873-FD5E-6E90-F42930114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18" y="115564"/>
            <a:ext cx="584377" cy="584377"/>
          </a:xfrm>
          <a:prstGeom prst="rect">
            <a:avLst/>
          </a:prstGeom>
        </p:spPr>
      </p:pic>
      <p:pic>
        <p:nvPicPr>
          <p:cNvPr id="19" name="Picture 18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4C2C56C0-295D-92D5-CEB3-B8B7446D3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588" y="46432"/>
            <a:ext cx="584377" cy="584377"/>
          </a:xfrm>
          <a:prstGeom prst="rect">
            <a:avLst/>
          </a:prstGeom>
        </p:spPr>
      </p:pic>
      <p:pic>
        <p:nvPicPr>
          <p:cNvPr id="20" name="Picture 19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DE76B257-6F3E-BAB6-93DE-FC956E5FB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69" y="49555"/>
            <a:ext cx="584377" cy="584377"/>
          </a:xfrm>
          <a:prstGeom prst="rect">
            <a:avLst/>
          </a:prstGeom>
        </p:spPr>
      </p:pic>
      <p:pic>
        <p:nvPicPr>
          <p:cNvPr id="21" name="Picture 20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1A069B39-3641-A51F-99F0-F41353E06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374" y="188101"/>
            <a:ext cx="584377" cy="584377"/>
          </a:xfrm>
          <a:prstGeom prst="rect">
            <a:avLst/>
          </a:prstGeom>
        </p:spPr>
      </p:pic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7589EFA-51A4-7D45-F4AC-A48EAC85B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070958"/>
              </p:ext>
            </p:extLst>
          </p:nvPr>
        </p:nvGraphicFramePr>
        <p:xfrm>
          <a:off x="2413836" y="5322367"/>
          <a:ext cx="3689547" cy="1371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92309">
                  <a:extLst>
                    <a:ext uri="{9D8B030D-6E8A-4147-A177-3AD203B41FA5}">
                      <a16:colId xmlns:a16="http://schemas.microsoft.com/office/drawing/2014/main" val="2640610835"/>
                    </a:ext>
                  </a:extLst>
                </a:gridCol>
                <a:gridCol w="910604">
                  <a:extLst>
                    <a:ext uri="{9D8B030D-6E8A-4147-A177-3AD203B41FA5}">
                      <a16:colId xmlns:a16="http://schemas.microsoft.com/office/drawing/2014/main" val="1595008830"/>
                    </a:ext>
                  </a:extLst>
                </a:gridCol>
                <a:gridCol w="893317">
                  <a:extLst>
                    <a:ext uri="{9D8B030D-6E8A-4147-A177-3AD203B41FA5}">
                      <a16:colId xmlns:a16="http://schemas.microsoft.com/office/drawing/2014/main" val="617729621"/>
                    </a:ext>
                  </a:extLst>
                </a:gridCol>
                <a:gridCol w="893317">
                  <a:extLst>
                    <a:ext uri="{9D8B030D-6E8A-4147-A177-3AD203B41FA5}">
                      <a16:colId xmlns:a16="http://schemas.microsoft.com/office/drawing/2014/main" val="2768176607"/>
                    </a:ext>
                  </a:extLst>
                </a:gridCol>
              </a:tblGrid>
              <a:tr h="294520"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79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mic Sans MS" panose="030F0702030302020204" pitchFamily="66" charset="0"/>
                        </a:rP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79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mic Sans MS" panose="030F0702030302020204" pitchFamily="66" charset="0"/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43297"/>
                  </a:ext>
                </a:extLst>
              </a:tr>
              <a:tr h="269182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08485"/>
                  </a:ext>
                </a:extLst>
              </a:tr>
              <a:tr h="269182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391071"/>
                  </a:ext>
                </a:extLst>
              </a:tr>
              <a:tr h="269182"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7966" rtl="0" eaLnBrk="1" latinLnBrk="0" hangingPunct="1"/>
                      <a:r>
                        <a:rPr lang="en-US" sz="1600" kern="1200">
                          <a:solidFill>
                            <a:schemeClr val="dk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399565"/>
                  </a:ext>
                </a:extLst>
              </a:tr>
            </a:tbl>
          </a:graphicData>
        </a:graphic>
      </p:graphicFrame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E414316-1A94-908D-FEC2-7BAA6C58D21A}"/>
              </a:ext>
            </a:extLst>
          </p:cNvPr>
          <p:cNvGrpSpPr/>
          <p:nvPr/>
        </p:nvGrpSpPr>
        <p:grpSpPr>
          <a:xfrm>
            <a:off x="470587" y="2857653"/>
            <a:ext cx="7759620" cy="2187194"/>
            <a:chOff x="196625" y="2866732"/>
            <a:chExt cx="7759620" cy="218719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E6978A2-CB5B-A2C8-D9F6-FF4E1ECA43FE}"/>
                </a:ext>
              </a:extLst>
            </p:cNvPr>
            <p:cNvSpPr/>
            <p:nvPr/>
          </p:nvSpPr>
          <p:spPr>
            <a:xfrm>
              <a:off x="198478" y="2866732"/>
              <a:ext cx="7757767" cy="2187194"/>
            </a:xfrm>
            <a:prstGeom prst="roundRect">
              <a:avLst>
                <a:gd name="adj" fmla="val 852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>
                <a:solidFill>
                  <a:schemeClr val="tx1"/>
                </a:solidFill>
              </a:endParaRPr>
            </a:p>
          </p:txBody>
        </p:sp>
        <p:pic>
          <p:nvPicPr>
            <p:cNvPr id="9" name="Picture 2" descr="iOS 17.4">
              <a:extLst>
                <a:ext uri="{FF2B5EF4-FFF2-40B4-BE49-F238E27FC236}">
                  <a16:creationId xmlns:a16="http://schemas.microsoft.com/office/drawing/2014/main" id="{74EBEF6F-324D-B5D0-2C7D-3768756C31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1657" y="4223624"/>
              <a:ext cx="726639" cy="7266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cartoon of a person sitting at a desk with a computer&#10;&#10;Description automatically generated">
              <a:extLst>
                <a:ext uri="{FF2B5EF4-FFF2-40B4-BE49-F238E27FC236}">
                  <a16:creationId xmlns:a16="http://schemas.microsoft.com/office/drawing/2014/main" id="{4E0DA485-9479-98A3-F5D0-CDC616E87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260" y="3361684"/>
              <a:ext cx="765556" cy="765556"/>
            </a:xfrm>
            <a:prstGeom prst="rect">
              <a:avLst/>
            </a:prstGeom>
          </p:spPr>
        </p:pic>
        <p:sp>
          <p:nvSpPr>
            <p:cNvPr id="40" name="Speech Bubble: Rectangle with Corners Rounded 39">
              <a:extLst>
                <a:ext uri="{FF2B5EF4-FFF2-40B4-BE49-F238E27FC236}">
                  <a16:creationId xmlns:a16="http://schemas.microsoft.com/office/drawing/2014/main" id="{0F6F5EF5-7D0C-78B9-652C-0CF908CB8F78}"/>
                </a:ext>
              </a:extLst>
            </p:cNvPr>
            <p:cNvSpPr/>
            <p:nvPr/>
          </p:nvSpPr>
          <p:spPr>
            <a:xfrm>
              <a:off x="1292274" y="3266276"/>
              <a:ext cx="6283008" cy="957292"/>
            </a:xfrm>
            <a:prstGeom prst="wedgeRoundRectCallout">
              <a:avLst>
                <a:gd name="adj1" fmla="val -54908"/>
                <a:gd name="adj2" fmla="val -19190"/>
                <a:gd name="adj3" fmla="val 16667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Based on the current batch of papers, </a:t>
              </a:r>
              <a:r>
                <a:rPr lang="en-US" sz="20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 select papers that match the user demand</a:t>
              </a:r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n-US" sz="20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 update the table based on the selected papers</a:t>
              </a:r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E0E4D7BE-5670-032C-02E9-64421018F4E7}"/>
                </a:ext>
              </a:extLst>
            </p:cNvPr>
            <p:cNvSpPr/>
            <p:nvPr/>
          </p:nvSpPr>
          <p:spPr>
            <a:xfrm>
              <a:off x="286434" y="4321238"/>
              <a:ext cx="6546618" cy="653691"/>
            </a:xfrm>
            <a:prstGeom prst="wedgeRoundRectCallout">
              <a:avLst>
                <a:gd name="adj1" fmla="val 54141"/>
                <a:gd name="adj2" fmla="val -34435"/>
                <a:gd name="adj3" fmla="val 16667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Two papers in this batch can be included, one column can be inserted. Updating the table: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9C0A218-8DC5-2B9C-F3F9-0089CA1D21A9}"/>
                </a:ext>
              </a:extLst>
            </p:cNvPr>
            <p:cNvSpPr txBox="1"/>
            <p:nvPr/>
          </p:nvSpPr>
          <p:spPr>
            <a:xfrm>
              <a:off x="196625" y="2896888"/>
              <a:ext cx="4940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Aptos" panose="020B0004020202020204" pitchFamily="34" charset="0"/>
                </a:rPr>
                <a:t>Paper Selection and Table Refinement </a:t>
              </a:r>
            </a:p>
          </p:txBody>
        </p:sp>
      </p:grpSp>
      <p:pic>
        <p:nvPicPr>
          <p:cNvPr id="56" name="Picture 55" descr="A cartoon of 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A0F4F869-E544-975E-C941-3E29B969B3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89" y="298108"/>
            <a:ext cx="701922" cy="726636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5F78D8B9-D43F-5758-9A94-2B1963D3F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517" y="976544"/>
            <a:ext cx="632186" cy="45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google scholar&quot; Icon - Download for free – Iconduck">
            <a:extLst>
              <a:ext uri="{FF2B5EF4-FFF2-40B4-BE49-F238E27FC236}">
                <a16:creationId xmlns:a16="http://schemas.microsoft.com/office/drawing/2014/main" id="{7856D8CD-4EC3-AC7A-E236-3D3775C68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80" y="414759"/>
            <a:ext cx="418754" cy="39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AF3BD38F-6719-6D42-CBF7-625C936B2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317" y="199778"/>
            <a:ext cx="792126" cy="79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965C3A1-695E-0313-5A10-352C6764F8E4}"/>
              </a:ext>
            </a:extLst>
          </p:cNvPr>
          <p:cNvSpPr/>
          <p:nvPr/>
        </p:nvSpPr>
        <p:spPr>
          <a:xfrm>
            <a:off x="2986080" y="275591"/>
            <a:ext cx="2061494" cy="13004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60F3C628-2B6F-1167-18A3-58F2AD060265}"/>
              </a:ext>
            </a:extLst>
          </p:cNvPr>
          <p:cNvSpPr/>
          <p:nvPr/>
        </p:nvSpPr>
        <p:spPr>
          <a:xfrm>
            <a:off x="2036758" y="661033"/>
            <a:ext cx="760610" cy="4056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A258C22B-8A39-3EDD-CCB1-BA987E4FB56F}"/>
              </a:ext>
            </a:extLst>
          </p:cNvPr>
          <p:cNvSpPr/>
          <p:nvPr/>
        </p:nvSpPr>
        <p:spPr>
          <a:xfrm>
            <a:off x="5205591" y="661033"/>
            <a:ext cx="760610" cy="4056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04E5946-73D6-14B5-F5B7-F6D59C18BE10}"/>
              </a:ext>
            </a:extLst>
          </p:cNvPr>
          <p:cNvSpPr/>
          <p:nvPr/>
        </p:nvSpPr>
        <p:spPr>
          <a:xfrm>
            <a:off x="6711163" y="-46365"/>
            <a:ext cx="4981214" cy="2242132"/>
          </a:xfrm>
          <a:custGeom>
            <a:avLst/>
            <a:gdLst>
              <a:gd name="csX0" fmla="*/ 0 w 4981214"/>
              <a:gd name="csY0" fmla="*/ 1121066 h 2242132"/>
              <a:gd name="csX1" fmla="*/ 2490607 w 4981214"/>
              <a:gd name="csY1" fmla="*/ 0 h 2242132"/>
              <a:gd name="csX2" fmla="*/ 4981214 w 4981214"/>
              <a:gd name="csY2" fmla="*/ 1121066 h 2242132"/>
              <a:gd name="csX3" fmla="*/ 2490607 w 4981214"/>
              <a:gd name="csY3" fmla="*/ 2242132 h 2242132"/>
              <a:gd name="csX4" fmla="*/ 0 w 4981214"/>
              <a:gd name="csY4" fmla="*/ 1121066 h 2242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81214" h="2242132" extrusionOk="0">
                <a:moveTo>
                  <a:pt x="0" y="1121066"/>
                </a:moveTo>
                <a:cubicBezTo>
                  <a:pt x="-73878" y="358189"/>
                  <a:pt x="879593" y="252074"/>
                  <a:pt x="2490607" y="0"/>
                </a:cubicBezTo>
                <a:cubicBezTo>
                  <a:pt x="4002716" y="82229"/>
                  <a:pt x="4904458" y="356247"/>
                  <a:pt x="4981214" y="1121066"/>
                </a:cubicBezTo>
                <a:cubicBezTo>
                  <a:pt x="4740249" y="1689583"/>
                  <a:pt x="3891551" y="2038512"/>
                  <a:pt x="2490607" y="2242132"/>
                </a:cubicBezTo>
                <a:cubicBezTo>
                  <a:pt x="1072310" y="2183176"/>
                  <a:pt x="14263" y="1720687"/>
                  <a:pt x="0" y="1121066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41724470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C627B69E-5EEE-D102-27FD-C9D137DB4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246" y="1482754"/>
            <a:ext cx="584377" cy="584377"/>
          </a:xfrm>
          <a:prstGeom prst="rect">
            <a:avLst/>
          </a:prstGeom>
        </p:spPr>
      </p:pic>
      <p:pic>
        <p:nvPicPr>
          <p:cNvPr id="67" name="Picture 66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BAE7922F-5E06-8029-B00D-62E78C1C0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11" y="1154108"/>
            <a:ext cx="584377" cy="584377"/>
          </a:xfrm>
          <a:prstGeom prst="rect">
            <a:avLst/>
          </a:prstGeom>
        </p:spPr>
      </p:pic>
      <p:sp>
        <p:nvSpPr>
          <p:cNvPr id="68" name="Arrow: Right 67">
            <a:extLst>
              <a:ext uri="{FF2B5EF4-FFF2-40B4-BE49-F238E27FC236}">
                <a16:creationId xmlns:a16="http://schemas.microsoft.com/office/drawing/2014/main" id="{E861E541-6ABF-4367-061F-B4C291C93760}"/>
              </a:ext>
            </a:extLst>
          </p:cNvPr>
          <p:cNvSpPr/>
          <p:nvPr/>
        </p:nvSpPr>
        <p:spPr>
          <a:xfrm rot="5400000">
            <a:off x="10168026" y="2302514"/>
            <a:ext cx="633446" cy="4949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091176B-69F6-671F-733A-348CCBA51C36}"/>
              </a:ext>
            </a:extLst>
          </p:cNvPr>
          <p:cNvGrpSpPr/>
          <p:nvPr/>
        </p:nvGrpSpPr>
        <p:grpSpPr>
          <a:xfrm>
            <a:off x="9129672" y="3011818"/>
            <a:ext cx="2499842" cy="888007"/>
            <a:chOff x="9162331" y="3011818"/>
            <a:chExt cx="2499842" cy="888007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271FABAA-C4AF-1ED1-9806-39EBB93FF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59256" y="3151006"/>
              <a:ext cx="584377" cy="584377"/>
            </a:xfrm>
            <a:prstGeom prst="rect">
              <a:avLst/>
            </a:prstGeom>
          </p:spPr>
        </p:pic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882FBD9D-984C-6351-5FB9-57322141A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43633" y="3151006"/>
              <a:ext cx="584377" cy="584377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3A9953F1-FE89-9468-99CF-E6A85A1FF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38251" y="3167849"/>
              <a:ext cx="584377" cy="584377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C6F74ED2-5AA7-6800-531D-3681BD7F1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22627" y="3167848"/>
              <a:ext cx="584377" cy="584377"/>
            </a:xfrm>
            <a:prstGeom prst="rect">
              <a:avLst/>
            </a:prstGeom>
          </p:spPr>
        </p:pic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8E4B793-E4E9-EE0D-F590-9E5CC1B32047}"/>
                </a:ext>
              </a:extLst>
            </p:cNvPr>
            <p:cNvSpPr/>
            <p:nvPr/>
          </p:nvSpPr>
          <p:spPr>
            <a:xfrm>
              <a:off x="9162331" y="3011818"/>
              <a:ext cx="2499842" cy="88800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8" name="Picture 117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D63FA101-3A43-A76A-EB21-EC6C03AE0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209" y="1414200"/>
            <a:ext cx="584377" cy="584377"/>
          </a:xfrm>
          <a:prstGeom prst="rect">
            <a:avLst/>
          </a:prstGeom>
        </p:spPr>
      </p:pic>
      <p:pic>
        <p:nvPicPr>
          <p:cNvPr id="119" name="Picture 118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AB4D05A0-69F4-65C5-D78A-E236B9745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17" y="704799"/>
            <a:ext cx="584377" cy="584377"/>
          </a:xfrm>
          <a:prstGeom prst="rect">
            <a:avLst/>
          </a:prstGeom>
        </p:spPr>
      </p:pic>
      <p:pic>
        <p:nvPicPr>
          <p:cNvPr id="120" name="Picture 119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281697BA-8663-A2CA-9809-25016C0F5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014" y="719811"/>
            <a:ext cx="584377" cy="584377"/>
          </a:xfrm>
          <a:prstGeom prst="rect">
            <a:avLst/>
          </a:prstGeom>
        </p:spPr>
      </p:pic>
      <p:pic>
        <p:nvPicPr>
          <p:cNvPr id="121" name="Picture 120" descr="A graphic of a paper with a pie chart and graph&#10;&#10;Description automatically generated">
            <a:extLst>
              <a:ext uri="{FF2B5EF4-FFF2-40B4-BE49-F238E27FC236}">
                <a16:creationId xmlns:a16="http://schemas.microsoft.com/office/drawing/2014/main" id="{FCD22331-51A9-44F5-7FB7-92B27AB72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249" y="1108316"/>
            <a:ext cx="584377" cy="58437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3F395351-80D3-672D-5FD7-C22A43ACCDD2}"/>
              </a:ext>
            </a:extLst>
          </p:cNvPr>
          <p:cNvSpPr txBox="1"/>
          <p:nvPr/>
        </p:nvSpPr>
        <p:spPr>
          <a:xfrm>
            <a:off x="9850334" y="4773373"/>
            <a:ext cx="1137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>
                <a:latin typeface="Comic Sans MS" panose="030F0702030302020204" pitchFamily="66" charset="0"/>
              </a:rPr>
              <a:t>……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4AE143A-C616-7431-4CB7-4FBC569F25DE}"/>
              </a:ext>
            </a:extLst>
          </p:cNvPr>
          <p:cNvGrpSpPr/>
          <p:nvPr/>
        </p:nvGrpSpPr>
        <p:grpSpPr>
          <a:xfrm>
            <a:off x="9127958" y="4058459"/>
            <a:ext cx="2499842" cy="888007"/>
            <a:chOff x="9160617" y="4058459"/>
            <a:chExt cx="2499842" cy="888007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444C9D8D-DF63-DD0F-AD0C-6B2CC783D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57542" y="4197647"/>
              <a:ext cx="584377" cy="584377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84AAFCB-9380-5F24-758B-2404B2CC1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41919" y="4197647"/>
              <a:ext cx="584377" cy="584377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3BD0EB25-20C7-AE21-C61E-40DA6FDAE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36537" y="4214490"/>
              <a:ext cx="584377" cy="584377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5D6BFEC0-010B-28A1-1642-DCDF26FE5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20913" y="4214489"/>
              <a:ext cx="584377" cy="584377"/>
            </a:xfrm>
            <a:prstGeom prst="rect">
              <a:avLst/>
            </a:prstGeom>
          </p:spPr>
        </p:pic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7EC61C7F-8A75-BC83-7370-241E7E54217C}"/>
                </a:ext>
              </a:extLst>
            </p:cNvPr>
            <p:cNvSpPr/>
            <p:nvPr/>
          </p:nvSpPr>
          <p:spPr>
            <a:xfrm>
              <a:off x="9160617" y="4058459"/>
              <a:ext cx="2499842" cy="88800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3912C1B-100C-6C5B-1BD1-4E4806DB54D2}"/>
              </a:ext>
            </a:extLst>
          </p:cNvPr>
          <p:cNvGrpSpPr/>
          <p:nvPr/>
        </p:nvGrpSpPr>
        <p:grpSpPr>
          <a:xfrm>
            <a:off x="9118664" y="5374592"/>
            <a:ext cx="2499842" cy="888007"/>
            <a:chOff x="9162331" y="5488348"/>
            <a:chExt cx="2499842" cy="888007"/>
          </a:xfrm>
        </p:grpSpPr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2B9AEE42-F822-C998-3E1D-4B6CD01B6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59256" y="5627536"/>
              <a:ext cx="584377" cy="584377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196E36E-39CE-653B-FD88-99361972D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43633" y="5627536"/>
              <a:ext cx="584377" cy="584377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447D41F8-8A54-82DD-5634-EE1DF07F2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38251" y="5644379"/>
              <a:ext cx="584377" cy="584377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011D37FA-BA5F-4C8B-60B4-B04FE58A4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22627" y="5644378"/>
              <a:ext cx="584377" cy="584377"/>
            </a:xfrm>
            <a:prstGeom prst="rect">
              <a:avLst/>
            </a:prstGeom>
          </p:spPr>
        </p:pic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8084C3FC-8566-2954-B6D9-7315EB8A2265}"/>
                </a:ext>
              </a:extLst>
            </p:cNvPr>
            <p:cNvSpPr/>
            <p:nvPr/>
          </p:nvSpPr>
          <p:spPr>
            <a:xfrm>
              <a:off x="9162331" y="5488348"/>
              <a:ext cx="2499842" cy="88800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482C8AF3-3278-1C69-6365-FA6CEE570725}"/>
              </a:ext>
            </a:extLst>
          </p:cNvPr>
          <p:cNvSpPr txBox="1"/>
          <p:nvPr/>
        </p:nvSpPr>
        <p:spPr>
          <a:xfrm>
            <a:off x="2314590" y="1606149"/>
            <a:ext cx="340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Aptos" panose="020B0004020202020204" pitchFamily="34" charset="0"/>
              </a:rPr>
              <a:t>Candidate Paper Retrieval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2E17119-304B-C637-2B10-6D3D7961AFCE}"/>
              </a:ext>
            </a:extLst>
          </p:cNvPr>
          <p:cNvSpPr txBox="1"/>
          <p:nvPr/>
        </p:nvSpPr>
        <p:spPr>
          <a:xfrm>
            <a:off x="10390830" y="2405454"/>
            <a:ext cx="190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>
                <a:solidFill>
                  <a:srgbClr val="C00000"/>
                </a:solidFill>
                <a:latin typeface="Aptos" panose="020B0004020202020204" pitchFamily="34" charset="0"/>
              </a:rPr>
              <a:t>Batching</a:t>
            </a:r>
          </a:p>
        </p:txBody>
      </p: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C88DC4C1-BB69-BAED-D96C-ED2E2B0B1903}"/>
              </a:ext>
            </a:extLst>
          </p:cNvPr>
          <p:cNvSpPr/>
          <p:nvPr/>
        </p:nvSpPr>
        <p:spPr>
          <a:xfrm rot="20149020">
            <a:off x="8291328" y="3388603"/>
            <a:ext cx="715000" cy="374414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Arrow: Bent-Up 143">
            <a:extLst>
              <a:ext uri="{FF2B5EF4-FFF2-40B4-BE49-F238E27FC236}">
                <a16:creationId xmlns:a16="http://schemas.microsoft.com/office/drawing/2014/main" id="{0F5B982D-FD9C-B0A1-0A4D-C8CA288CBB24}"/>
              </a:ext>
            </a:extLst>
          </p:cNvPr>
          <p:cNvSpPr/>
          <p:nvPr/>
        </p:nvSpPr>
        <p:spPr>
          <a:xfrm>
            <a:off x="6113624" y="5081291"/>
            <a:ext cx="933141" cy="1157395"/>
          </a:xfrm>
          <a:prstGeom prst="bentUpArrow">
            <a:avLst>
              <a:gd name="adj1" fmla="val 19284"/>
              <a:gd name="adj2" fmla="val 22142"/>
              <a:gd name="adj3" fmla="val 25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Arrow: Left 144">
            <a:extLst>
              <a:ext uri="{FF2B5EF4-FFF2-40B4-BE49-F238E27FC236}">
                <a16:creationId xmlns:a16="http://schemas.microsoft.com/office/drawing/2014/main" id="{D4419A7F-9430-52B5-AC5C-67E4EA3D7635}"/>
              </a:ext>
            </a:extLst>
          </p:cNvPr>
          <p:cNvSpPr/>
          <p:nvPr/>
        </p:nvSpPr>
        <p:spPr>
          <a:xfrm>
            <a:off x="8334007" y="4302628"/>
            <a:ext cx="715000" cy="374414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968AD4-B56A-D369-569A-690B9CEBCC24}"/>
              </a:ext>
            </a:extLst>
          </p:cNvPr>
          <p:cNvSpPr txBox="1"/>
          <p:nvPr/>
        </p:nvSpPr>
        <p:spPr>
          <a:xfrm>
            <a:off x="489140" y="1065586"/>
            <a:ext cx="1235476" cy="4426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/>
              <a:t>Prompt</a:t>
            </a:r>
            <a:endParaRPr lang="en-US" sz="2000" dirty="0">
              <a:latin typeface="Comic Sans MS"/>
            </a:endParaRPr>
          </a:p>
        </p:txBody>
      </p:sp>
      <p:sp>
        <p:nvSpPr>
          <p:cNvPr id="5" name="Arrow: Left 144">
            <a:extLst>
              <a:ext uri="{FF2B5EF4-FFF2-40B4-BE49-F238E27FC236}">
                <a16:creationId xmlns:a16="http://schemas.microsoft.com/office/drawing/2014/main" id="{D7B5DD4B-CEC7-EC7B-A16E-D9FED46C807E}"/>
              </a:ext>
            </a:extLst>
          </p:cNvPr>
          <p:cNvSpPr/>
          <p:nvPr/>
        </p:nvSpPr>
        <p:spPr>
          <a:xfrm rot="1050911">
            <a:off x="8273712" y="5414722"/>
            <a:ext cx="715000" cy="374414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7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62" grpId="0" animBg="1"/>
      <p:bldP spid="63" grpId="0" animBg="1"/>
      <p:bldP spid="64" grpId="0" animBg="1"/>
      <p:bldP spid="65" grpId="0" animBg="1"/>
      <p:bldP spid="68" grpId="0" animBg="1"/>
      <p:bldP spid="122" grpId="0"/>
      <p:bldP spid="133" grpId="0"/>
      <p:bldP spid="135" grpId="0"/>
      <p:bldP spid="136" grpId="0" animBg="1"/>
      <p:bldP spid="136" grpId="1" animBg="1"/>
      <p:bldP spid="144" grpId="0" animBg="1"/>
      <p:bldP spid="145" grpId="0" animBg="1"/>
      <p:bldP spid="145" grpId="1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5B72-EA4B-212F-BC9B-F8C34A9D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vs Number of Iterations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D916F-AABD-D4EA-97BB-AB788648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C2F13D90-0DF2-D4AF-9FB2-DFD15025B01B}"/>
              </a:ext>
            </a:extLst>
          </p:cNvPr>
          <p:cNvSpPr/>
          <p:nvPr/>
        </p:nvSpPr>
        <p:spPr>
          <a:xfrm>
            <a:off x="7970664" y="2768228"/>
            <a:ext cx="4023071" cy="2070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With more iterations, all aspects of the generated tables improves 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>(up to </a:t>
            </a:r>
            <a:r>
              <a:rPr lang="en-US" sz="2800" err="1">
                <a:solidFill>
                  <a:schemeClr val="tx1"/>
                </a:solidFill>
              </a:rPr>
              <a:t>iter</a:t>
            </a:r>
            <a:r>
              <a:rPr lang="en-US" sz="2800">
                <a:solidFill>
                  <a:schemeClr val="tx1"/>
                </a:solidFill>
              </a:rPr>
              <a:t> ~4).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B75803E-FF00-3AB1-72C2-83DB4C6E0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78" y="1744656"/>
            <a:ext cx="6987718" cy="470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31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3F9B-E45C-FD22-4956-831AEF91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of the end-to-end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83AC-6795-F849-689B-4459FC7F9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Model: </a:t>
            </a:r>
            <a:r>
              <a:rPr lang="en-US" dirty="0"/>
              <a:t>Llama 3.3 (70B)</a:t>
            </a:r>
          </a:p>
          <a:p>
            <a:r>
              <a:rPr lang="en-US" b="1" dirty="0"/>
              <a:t>Baseline 1:</a:t>
            </a:r>
            <a:r>
              <a:rPr lang="en-US" dirty="0"/>
              <a:t> </a:t>
            </a:r>
            <a:r>
              <a:rPr lang="en-US" sz="2800" dirty="0"/>
              <a:t>All papers </a:t>
            </a:r>
            <a:r>
              <a:rPr lang="en-US" dirty="0"/>
              <a:t>processed</a:t>
            </a:r>
            <a:br>
              <a:rPr lang="en-US" dirty="0"/>
            </a:br>
            <a:r>
              <a:rPr lang="en-US" dirty="0"/>
              <a:t>in</a:t>
            </a:r>
            <a:r>
              <a:rPr lang="en-US" sz="2800" dirty="0"/>
              <a:t> one conversation</a:t>
            </a:r>
            <a:r>
              <a:rPr lang="en-US" dirty="0"/>
              <a:t> round. </a:t>
            </a:r>
          </a:p>
          <a:p>
            <a:r>
              <a:rPr lang="en-US" b="1" dirty="0"/>
              <a:t>Baseline 2: </a:t>
            </a:r>
            <a:r>
              <a:rPr lang="en-US" dirty="0"/>
              <a:t>One-conversation </a:t>
            </a:r>
            <a:br>
              <a:rPr lang="en-US" dirty="0"/>
            </a:br>
            <a:r>
              <a:rPr lang="en-US" dirty="0"/>
              <a:t>round</a:t>
            </a:r>
            <a:r>
              <a:rPr lang="en-US" b="1" dirty="0"/>
              <a:t> </a:t>
            </a:r>
            <a:r>
              <a:rPr lang="en-US" dirty="0"/>
              <a:t>per paper. </a:t>
            </a:r>
          </a:p>
          <a:p>
            <a:r>
              <a:rPr lang="en-US" b="1" dirty="0"/>
              <a:t>Newman et al.: </a:t>
            </a:r>
            <a:r>
              <a:rPr lang="en-US" dirty="0"/>
              <a:t>Two stages;</a:t>
            </a:r>
            <a:br>
              <a:rPr lang="en-US" dirty="0"/>
            </a:br>
            <a:r>
              <a:rPr lang="en-US" dirty="0"/>
              <a:t>define schema in the first round, </a:t>
            </a:r>
            <a:br>
              <a:rPr lang="en-US" dirty="0"/>
            </a:br>
            <a:r>
              <a:rPr lang="en-US" dirty="0"/>
              <a:t>then fill in the values.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B2364-F752-C947-582A-52CB3818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18</a:t>
            </a:fld>
            <a:endParaRPr lang="en-US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2DF07594-B3EB-47A6-8786-BA9D71642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412" y="1328434"/>
            <a:ext cx="5042388" cy="435133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DF4745-DD93-9242-7F33-E040FCF30A19}"/>
              </a:ext>
            </a:extLst>
          </p:cNvPr>
          <p:cNvSpPr/>
          <p:nvPr/>
        </p:nvSpPr>
        <p:spPr>
          <a:xfrm>
            <a:off x="1854614" y="5826870"/>
            <a:ext cx="9144000" cy="7911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Our proposed approach outperforms existing results.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E3C46-BA8C-90ED-20B6-4D4F7B7E2093}"/>
              </a:ext>
            </a:extLst>
          </p:cNvPr>
          <p:cNvSpPr/>
          <p:nvPr/>
        </p:nvSpPr>
        <p:spPr>
          <a:xfrm>
            <a:off x="6924427" y="2308785"/>
            <a:ext cx="1047530" cy="2221026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06E676-34D7-CD16-33D9-132909146313}"/>
              </a:ext>
            </a:extLst>
          </p:cNvPr>
          <p:cNvSpPr/>
          <p:nvPr/>
        </p:nvSpPr>
        <p:spPr>
          <a:xfrm>
            <a:off x="8086830" y="2879022"/>
            <a:ext cx="886048" cy="1650788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E9988-5DC2-10F5-F897-98965CD69804}"/>
              </a:ext>
            </a:extLst>
          </p:cNvPr>
          <p:cNvSpPr/>
          <p:nvPr/>
        </p:nvSpPr>
        <p:spPr>
          <a:xfrm>
            <a:off x="9124636" y="2308784"/>
            <a:ext cx="906233" cy="2221026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7E60C-565E-E859-7B7E-4A350CBF28EC}"/>
              </a:ext>
            </a:extLst>
          </p:cNvPr>
          <p:cNvSpPr/>
          <p:nvPr/>
        </p:nvSpPr>
        <p:spPr>
          <a:xfrm>
            <a:off x="10184370" y="1662850"/>
            <a:ext cx="906233" cy="2866959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84B31-A3E2-80F3-B599-EBDA8E9A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D98C625C-F34C-64DC-FA24-4ECA10A33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2322" y="1545316"/>
            <a:ext cx="3091853" cy="2668120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43F0B560-D482-4056-61FC-E5352EDE8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4175" y="1574179"/>
            <a:ext cx="3091852" cy="2668120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77459EF0-194B-D88A-5CAF-D3E6A1FFB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13223" y="4012797"/>
            <a:ext cx="3112876" cy="2686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B6997A-27D6-3C07-5117-FC819FD0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54633" cy="1335655"/>
          </a:xfrm>
        </p:spPr>
        <p:txBody>
          <a:bodyPr/>
          <a:lstStyle/>
          <a:p>
            <a:r>
              <a:rPr lang="en-US"/>
              <a:t>Evaluation of the end-to-end pipeline </a:t>
            </a:r>
            <a:r>
              <a:rPr lang="en-US" sz="2400"/>
              <a:t>(other models)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5C686-D012-C24C-4BC8-C429935B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19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A4056E-03D8-8B4F-C7A4-21C3123AD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513" y="3972381"/>
            <a:ext cx="3159710" cy="272667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4363FA-5C15-0570-4FA6-7E5983A6788C}"/>
              </a:ext>
            </a:extLst>
          </p:cNvPr>
          <p:cNvSpPr/>
          <p:nvPr/>
        </p:nvSpPr>
        <p:spPr>
          <a:xfrm>
            <a:off x="600233" y="1870659"/>
            <a:ext cx="4204704" cy="14691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rgbClr val="000000"/>
                </a:solidFill>
              </a:rPr>
              <a:t>The gains of our approach is consistent across different models. 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F8C14C-7E25-5354-AF4B-0E963FB70B29}"/>
              </a:ext>
            </a:extLst>
          </p:cNvPr>
          <p:cNvSpPr/>
          <p:nvPr/>
        </p:nvSpPr>
        <p:spPr>
          <a:xfrm>
            <a:off x="597491" y="4246825"/>
            <a:ext cx="4210188" cy="14691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rgbClr val="000000"/>
                </a:solidFill>
              </a:rPr>
              <a:t>The task remains challenging for all these approaches.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6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7F79-D3FA-327C-6F8B-6C40DEE4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of Different Aspects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600BA3-8F2A-0A5C-D9FA-62B2F1196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5616" y="1918615"/>
            <a:ext cx="543818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89745-2B43-949B-4B9D-C7C88336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F37D-4916-4064-F6A7-86E2C80B541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Different aspects: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Schema: </a:t>
            </a:r>
            <a:r>
              <a:rPr lang="en-US"/>
              <a:t>whether we got the </a:t>
            </a:r>
            <a:br>
              <a:rPr lang="en-US"/>
            </a:br>
            <a:r>
              <a:rPr lang="en-US"/>
              <a:t>right table headings.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Unary: </a:t>
            </a:r>
            <a:r>
              <a:rPr lang="en-US"/>
              <a:t>whether we got the </a:t>
            </a:r>
            <a:br>
              <a:rPr lang="en-US"/>
            </a:br>
            <a:r>
              <a:rPr lang="en-US"/>
              <a:t>cell values.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Pairwise: </a:t>
            </a:r>
            <a:r>
              <a:rPr lang="en-US"/>
              <a:t>whether comparison </a:t>
            </a:r>
            <a:br>
              <a:rPr lang="en-US"/>
            </a:br>
            <a:r>
              <a:rPr lang="en-US"/>
              <a:t>between the cells are found. 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572519F6-AE71-4784-E7A8-F58A84E424FD}"/>
              </a:ext>
            </a:extLst>
          </p:cNvPr>
          <p:cNvSpPr/>
          <p:nvPr/>
        </p:nvSpPr>
        <p:spPr>
          <a:xfrm>
            <a:off x="838200" y="4807796"/>
            <a:ext cx="4934088" cy="14691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rgbClr val="000000"/>
                </a:solidFill>
              </a:rPr>
              <a:t>Pairwise value comparisons is a more challenging metric than unary values.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55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045A-FCC6-DC66-F998-FF1EE71A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of Paper Selection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96F89-5B31-5AF2-0A09-7FD3C1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F11382A4-6DD7-AB72-7101-A57D8C42B725}"/>
              </a:ext>
            </a:extLst>
          </p:cNvPr>
          <p:cNvSpPr/>
          <p:nvPr/>
        </p:nvSpPr>
        <p:spPr>
          <a:xfrm>
            <a:off x="1086173" y="2031167"/>
            <a:ext cx="4023071" cy="161779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</a:t>
            </a:r>
            <a:r>
              <a:rPr lang="en-US" altLang="zh-CN" sz="2800">
                <a:solidFill>
                  <a:schemeClr val="tx1"/>
                </a:solidFill>
              </a:rPr>
              <a:t>electing relevant papers is difficult for all methods.</a:t>
            </a:r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19" name="Picture 1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B58C5F4-C625-9B98-8CB0-90767EAEE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65" y="1766357"/>
            <a:ext cx="4995135" cy="4589993"/>
          </a:xfrm>
          <a:prstGeom prst="rect">
            <a:avLst/>
          </a:prstGeom>
        </p:spPr>
      </p:pic>
      <p:sp>
        <p:nvSpPr>
          <p:cNvPr id="20" name="Rectangle: Rounded Corners 9">
            <a:extLst>
              <a:ext uri="{FF2B5EF4-FFF2-40B4-BE49-F238E27FC236}">
                <a16:creationId xmlns:a16="http://schemas.microsoft.com/office/drawing/2014/main" id="{9C57A755-1A69-A0BC-4B4F-5BCB722DB982}"/>
              </a:ext>
            </a:extLst>
          </p:cNvPr>
          <p:cNvSpPr/>
          <p:nvPr/>
        </p:nvSpPr>
        <p:spPr>
          <a:xfrm>
            <a:off x="1086173" y="3989439"/>
            <a:ext cx="4023071" cy="161779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Our method is slightly stronger than the best baseline.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25923D-3CC7-49FE-A29C-F7FB008D7292}"/>
              </a:ext>
            </a:extLst>
          </p:cNvPr>
          <p:cNvSpPr/>
          <p:nvPr/>
        </p:nvSpPr>
        <p:spPr>
          <a:xfrm>
            <a:off x="6434243" y="2926080"/>
            <a:ext cx="1001575" cy="2827020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9B0214-569F-060C-9A8F-BBAF88E7F847}"/>
              </a:ext>
            </a:extLst>
          </p:cNvPr>
          <p:cNvSpPr/>
          <p:nvPr/>
        </p:nvSpPr>
        <p:spPr>
          <a:xfrm>
            <a:off x="7454685" y="2247900"/>
            <a:ext cx="1030638" cy="3505200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6B1C45-F628-0660-CAA0-8EBBDB59195B}"/>
              </a:ext>
            </a:extLst>
          </p:cNvPr>
          <p:cNvSpPr/>
          <p:nvPr/>
        </p:nvSpPr>
        <p:spPr>
          <a:xfrm>
            <a:off x="8485323" y="2433320"/>
            <a:ext cx="1001577" cy="3319780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FAD078-385E-ADC6-F187-C62566869864}"/>
              </a:ext>
            </a:extLst>
          </p:cNvPr>
          <p:cNvSpPr/>
          <p:nvPr/>
        </p:nvSpPr>
        <p:spPr>
          <a:xfrm>
            <a:off x="9515960" y="2031167"/>
            <a:ext cx="1001577" cy="3721933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9489-2614-EE09-2FA1-B5580E831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12500" cy="1325563"/>
          </a:xfrm>
        </p:spPr>
        <p:txBody>
          <a:bodyPr/>
          <a:lstStyle/>
          <a:p>
            <a:r>
              <a:rPr lang="en-US"/>
              <a:t>Expert Verification of Our Automatic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DBD43-5EF5-5315-B8E7-1A462E41F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annotate a sample of 200 QA pairs to verify that:</a:t>
            </a:r>
          </a:p>
          <a:p>
            <a:pPr lvl="1"/>
            <a:r>
              <a:rPr lang="en-US" b="1"/>
              <a:t>Source</a:t>
            </a:r>
            <a:r>
              <a:rPr lang="en-US"/>
              <a:t>: the QA pairs are synthesized correctly from the source table.</a:t>
            </a:r>
          </a:p>
          <a:p>
            <a:pPr lvl="1"/>
            <a:r>
              <a:rPr lang="en-US" b="1"/>
              <a:t>Target</a:t>
            </a:r>
            <a:r>
              <a:rPr lang="en-US"/>
              <a:t>: the QA pairs are correctly answered based on the target table.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6ABE79-B4DA-C9A1-0F87-F408D0722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00" y="3199055"/>
            <a:ext cx="7720800" cy="17769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E598A-28A9-3353-9EC4-0BF2061B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6002E78A-D783-D281-0DDC-E5C041E6A2EA}"/>
              </a:ext>
            </a:extLst>
          </p:cNvPr>
          <p:cNvSpPr/>
          <p:nvPr/>
        </p:nvSpPr>
        <p:spPr>
          <a:xfrm>
            <a:off x="2827164" y="5450681"/>
            <a:ext cx="6537671" cy="8159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Our LLM-based evaluation is robust. </a:t>
            </a:r>
          </a:p>
        </p:txBody>
      </p:sp>
    </p:spTree>
    <p:extLst>
      <p:ext uri="{BB962C8B-B14F-4D97-AF65-F5344CB8AC3E}">
        <p14:creationId xmlns:p14="http://schemas.microsoft.com/office/powerpoint/2010/main" val="285998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5FDF-C5C9-435D-E446-BCCB39A3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FBEF-8151-C2E1-8298-B618ED2A8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Motivation: </a:t>
            </a:r>
            <a:r>
              <a:rPr lang="en-US" dirty="0"/>
              <a:t> A more realistic pipeline for evaluating tabular summarization of science literature.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Why? </a:t>
            </a:r>
            <a:r>
              <a:rPr lang="en-US" dirty="0"/>
              <a:t>Tabular summaries are crucial framework for quickly aggregating and understanding the progress in science. </a:t>
            </a:r>
          </a:p>
          <a:p>
            <a:r>
              <a:rPr lang="en-US" dirty="0"/>
              <a:t>We introduce arXiv2Table, a framework for evaluating systems for tabular summarization. </a:t>
            </a:r>
          </a:p>
          <a:p>
            <a:r>
              <a:rPr lang="en-US" dirty="0"/>
              <a:t>We also develop a system to address the challenge posed. </a:t>
            </a:r>
          </a:p>
          <a:p>
            <a:r>
              <a:rPr lang="en-US" dirty="0"/>
              <a:t>Our benchmark is challenging! Give it a try!! </a:t>
            </a:r>
            <a:r>
              <a:rPr lang="en-US" dirty="0">
                <a:ea typeface="+mn-lt"/>
                <a:cs typeface="+mn-lt"/>
              </a:rPr>
              <a:t>🚀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E1440-D28D-5A28-D609-B0581B3D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82D-9F4E-41B2-BEC2-7E61B408EA4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3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Widescreen</PresentationFormat>
  <Paragraphs>274</Paragraphs>
  <Slides>23</Slides>
  <Notes>7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Can LLMs Generate Tabular Summaries of Science Papers? Rethinking the Evaluation Protocol</vt:lpstr>
      <vt:lpstr>Task: Generating Tabular Summary for Scientific Content</vt:lpstr>
      <vt:lpstr>Why solve this task?</vt:lpstr>
      <vt:lpstr>How good is the state-of-the-art at this task? </vt:lpstr>
      <vt:lpstr>Recent related work: ArxivDigesTables</vt:lpstr>
      <vt:lpstr>Limitations of prior work</vt:lpstr>
      <vt:lpstr>PowerPoint Presentation</vt:lpstr>
      <vt:lpstr>Limitations of prior work</vt:lpstr>
      <vt:lpstr>User Demand vs. Captions</vt:lpstr>
      <vt:lpstr>User Demand vs. Captions</vt:lpstr>
      <vt:lpstr>Limitations of prior work</vt:lpstr>
      <vt:lpstr>PowerPoint Presentation</vt:lpstr>
      <vt:lpstr>PowerPoint Presentation</vt:lpstr>
      <vt:lpstr>Our released data: arXiv2Table</vt:lpstr>
      <vt:lpstr>We also proposed a new approach</vt:lpstr>
      <vt:lpstr>PowerPoint Presentation</vt:lpstr>
      <vt:lpstr>Evaluation vs Number of Iterations</vt:lpstr>
      <vt:lpstr>Evaluation of the end-to-end pipeline</vt:lpstr>
      <vt:lpstr>Evaluation of the end-to-end pipeline (other models)</vt:lpstr>
      <vt:lpstr>Evaluation of Different Aspects</vt:lpstr>
      <vt:lpstr>Evaluation of Paper Selection </vt:lpstr>
      <vt:lpstr>Expert Verification of Our Automatic Evaluation</vt:lpstr>
      <vt:lpstr>Summary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Weiqi WANG</dc:creator>
  <cp:lastModifiedBy>Daniel Khashabi</cp:lastModifiedBy>
  <cp:revision>2</cp:revision>
  <dcterms:created xsi:type="dcterms:W3CDTF">2025-03-12T16:02:01Z</dcterms:created>
  <dcterms:modified xsi:type="dcterms:W3CDTF">2025-12-02T03:03:06Z</dcterms:modified>
</cp:coreProperties>
</file>