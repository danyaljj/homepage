
<file path=[Content_Types].xml><?xml version="1.0" encoding="utf-8"?>
<Types xmlns="http://schemas.openxmlformats.org/package/2006/content-types"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comments/modernComment_BFF_4211C85F.xml" ContentType="application/vnd.ms-powerpoint.comments+xml"/>
  <Override PartName="/ppt/notesSlides/notesSlide109.xml" ContentType="application/vnd.openxmlformats-officedocument.presentationml.notesSlide+xml"/>
  <Override PartName="/ppt/comments/modernComment_C00_6C58D866.xml" ContentType="application/vnd.ms-powerpoint.comments+xml"/>
  <Override PartName="/ppt/notesSlides/notesSlide110.xml" ContentType="application/vnd.openxmlformats-officedocument.presentationml.notesSlide+xml"/>
  <Override PartName="/ppt/comments/modernComment_C01_5A494B75.xml" ContentType="application/vnd.ms-powerpoint.comments+xml"/>
  <Override PartName="/ppt/notesSlides/notesSlide111.xml" ContentType="application/vnd.openxmlformats-officedocument.presentationml.notesSlide+xml"/>
  <Override PartName="/ppt/comments/modernComment_C02_1A60B65F.xml" ContentType="application/vnd.ms-powerpoint.comments+xml"/>
  <Override PartName="/ppt/notesSlides/notesSlide112.xml" ContentType="application/vnd.openxmlformats-officedocument.presentationml.notesSlide+xml"/>
  <Override PartName="/ppt/comments/modernComment_C03_DE58BABF.xml" ContentType="application/vnd.ms-powerpoint.comments+xml"/>
  <Override PartName="/ppt/notesSlides/notesSlide113.xml" ContentType="application/vnd.openxmlformats-officedocument.presentationml.notesSlide+xml"/>
  <Override PartName="/ppt/comments/modernComment_C04_88618B90.xml" ContentType="application/vnd.ms-powerpoint.comments+xml"/>
  <Override PartName="/ppt/notesSlides/notesSlide114.xml" ContentType="application/vnd.openxmlformats-officedocument.presentationml.notesSlide+xml"/>
  <Override PartName="/ppt/comments/modernComment_C05_CA09DC9D.xml" ContentType="application/vnd.ms-powerpoint.comments+xml"/>
  <Override PartName="/ppt/notesSlides/notesSlide115.xml" ContentType="application/vnd.openxmlformats-officedocument.presentationml.notesSlide+xml"/>
  <Override PartName="/ppt/comments/modernComment_C06_CA471288.xml" ContentType="application/vnd.ms-powerpoint.comments+xml"/>
  <Override PartName="/ppt/notesSlides/notesSlide116.xml" ContentType="application/vnd.openxmlformats-officedocument.presentationml.notesSlide+xml"/>
  <Override PartName="/ppt/comments/modernComment_C07_29606C9F.xml" ContentType="application/vnd.ms-powerpoint.comments+xml"/>
  <Override PartName="/ppt/notesSlides/notesSlide117.xml" ContentType="application/vnd.openxmlformats-officedocument.presentationml.notesSlide+xml"/>
  <Override PartName="/ppt/comments/modernComment_C08_B6BFD99E.xml" ContentType="application/vnd.ms-powerpoint.comments+xml"/>
  <Override PartName="/ppt/notesSlides/notesSlide118.xml" ContentType="application/vnd.openxmlformats-officedocument.presentationml.notesSlide+xml"/>
  <Override PartName="/ppt/comments/modernComment_C09_F01CAE6A.xml" ContentType="application/vnd.ms-powerpoint.comments+xml"/>
  <Override PartName="/ppt/notesSlides/notesSlide119.xml" ContentType="application/vnd.openxmlformats-officedocument.presentationml.notesSlide+xml"/>
  <Override PartName="/ppt/comments/modernComment_C0A_2D30D1BE.xml" ContentType="application/vnd.ms-powerpoint.comments+xml"/>
  <Override PartName="/ppt/notesSlides/notesSlide120.xml" ContentType="application/vnd.openxmlformats-officedocument.presentationml.notesSlide+xml"/>
  <Override PartName="/ppt/comments/modernComment_C0B_AB33CB4A.xml" ContentType="application/vnd.ms-powerpoint.comments+xml"/>
  <Override PartName="/ppt/notesSlides/notesSlide121.xml" ContentType="application/vnd.openxmlformats-officedocument.presentationml.notesSlide+xml"/>
  <Override PartName="/ppt/comments/modernComment_C0C_B87F084D.xml" ContentType="application/vnd.ms-powerpoint.comments+xml"/>
  <Override PartName="/ppt/notesSlides/notesSlide122.xml" ContentType="application/vnd.openxmlformats-officedocument.presentationml.notesSlide+xml"/>
  <Override PartName="/ppt/comments/modernComment_C0D_BBE1A8B9.xml" ContentType="application/vnd.ms-powerpoint.comments+xml"/>
  <Override PartName="/ppt/notesSlides/notesSlide123.xml" ContentType="application/vnd.openxmlformats-officedocument.presentationml.notesSlide+xml"/>
  <Override PartName="/ppt/comments/modernComment_C0E_1F2582A.xml" ContentType="application/vnd.ms-powerpoint.comments+xml"/>
  <Override PartName="/ppt/notesSlides/notesSlide124.xml" ContentType="application/vnd.openxmlformats-officedocument.presentationml.notesSlide+xml"/>
  <Override PartName="/ppt/comments/modernComment_C0F_B80E35F7.xml" ContentType="application/vnd.ms-powerpoint.comments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charts/chart1.xml" ContentType="application/vnd.openxmlformats-officedocument.drawingml.chart+xml"/>
  <Override PartName="/ppt/notesSlides/notesSlide159.xml" ContentType="application/vnd.openxmlformats-officedocument.presentationml.notesSlide+xml"/>
  <Override PartName="/ppt/charts/chart2.xml" ContentType="application/vnd.openxmlformats-officedocument.drawingml.chart+xml"/>
  <Override PartName="/ppt/notesSlides/notesSlide160.xml" ContentType="application/vnd.openxmlformats-officedocument.presentationml.notesSlide+xml"/>
  <Override PartName="/ppt/charts/chart3.xml" ContentType="application/vnd.openxmlformats-officedocument.drawingml.chart+xml"/>
  <Override PartName="/ppt/notesSlides/notesSlide161.xml" ContentType="application/vnd.openxmlformats-officedocument.presentationml.notesSlide+xml"/>
  <Override PartName="/ppt/charts/chart4.xml" ContentType="application/vnd.openxmlformats-officedocument.drawingml.chart+xml"/>
  <Override PartName="/ppt/notesSlides/notesSlide16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6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6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65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6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2"/>
  </p:notesMasterIdLst>
  <p:sldIdLst>
    <p:sldId id="2964" r:id="rId2"/>
    <p:sldId id="2965" r:id="rId3"/>
    <p:sldId id="2966" r:id="rId4"/>
    <p:sldId id="2967" r:id="rId5"/>
    <p:sldId id="2968" r:id="rId6"/>
    <p:sldId id="2969" r:id="rId7"/>
    <p:sldId id="2970" r:id="rId8"/>
    <p:sldId id="2971" r:id="rId9"/>
    <p:sldId id="2972" r:id="rId10"/>
    <p:sldId id="2973" r:id="rId11"/>
    <p:sldId id="2974" r:id="rId12"/>
    <p:sldId id="2975" r:id="rId13"/>
    <p:sldId id="2976" r:id="rId14"/>
    <p:sldId id="2977" r:id="rId15"/>
    <p:sldId id="2978" r:id="rId16"/>
    <p:sldId id="2979" r:id="rId17"/>
    <p:sldId id="2980" r:id="rId18"/>
    <p:sldId id="2981" r:id="rId19"/>
    <p:sldId id="2982" r:id="rId20"/>
    <p:sldId id="2983" r:id="rId21"/>
    <p:sldId id="2984" r:id="rId22"/>
    <p:sldId id="2985" r:id="rId23"/>
    <p:sldId id="2986" r:id="rId24"/>
    <p:sldId id="2987" r:id="rId25"/>
    <p:sldId id="2988" r:id="rId26"/>
    <p:sldId id="2989" r:id="rId27"/>
    <p:sldId id="2990" r:id="rId28"/>
    <p:sldId id="2991" r:id="rId29"/>
    <p:sldId id="2992" r:id="rId30"/>
    <p:sldId id="2993" r:id="rId31"/>
    <p:sldId id="2994" r:id="rId32"/>
    <p:sldId id="2995" r:id="rId33"/>
    <p:sldId id="2996" r:id="rId34"/>
    <p:sldId id="2997" r:id="rId35"/>
    <p:sldId id="2998" r:id="rId36"/>
    <p:sldId id="2999" r:id="rId37"/>
    <p:sldId id="3000" r:id="rId38"/>
    <p:sldId id="3001" r:id="rId39"/>
    <p:sldId id="3002" r:id="rId40"/>
    <p:sldId id="3003" r:id="rId41"/>
    <p:sldId id="3004" r:id="rId42"/>
    <p:sldId id="3005" r:id="rId43"/>
    <p:sldId id="3006" r:id="rId44"/>
    <p:sldId id="3007" r:id="rId45"/>
    <p:sldId id="3008" r:id="rId46"/>
    <p:sldId id="3009" r:id="rId47"/>
    <p:sldId id="3010" r:id="rId48"/>
    <p:sldId id="3011" r:id="rId49"/>
    <p:sldId id="3012" r:id="rId50"/>
    <p:sldId id="3013" r:id="rId51"/>
    <p:sldId id="3014" r:id="rId52"/>
    <p:sldId id="3015" r:id="rId53"/>
    <p:sldId id="3016" r:id="rId54"/>
    <p:sldId id="3017" r:id="rId55"/>
    <p:sldId id="3018" r:id="rId56"/>
    <p:sldId id="3019" r:id="rId57"/>
    <p:sldId id="3020" r:id="rId58"/>
    <p:sldId id="3021" r:id="rId59"/>
    <p:sldId id="3022" r:id="rId60"/>
    <p:sldId id="3023" r:id="rId61"/>
    <p:sldId id="3024" r:id="rId62"/>
    <p:sldId id="3025" r:id="rId63"/>
    <p:sldId id="3026" r:id="rId64"/>
    <p:sldId id="3027" r:id="rId65"/>
    <p:sldId id="3028" r:id="rId66"/>
    <p:sldId id="3029" r:id="rId67"/>
    <p:sldId id="3030" r:id="rId68"/>
    <p:sldId id="3031" r:id="rId69"/>
    <p:sldId id="3032" r:id="rId70"/>
    <p:sldId id="3033" r:id="rId71"/>
    <p:sldId id="3034" r:id="rId72"/>
    <p:sldId id="3035" r:id="rId73"/>
    <p:sldId id="3036" r:id="rId74"/>
    <p:sldId id="3037" r:id="rId75"/>
    <p:sldId id="3038" r:id="rId76"/>
    <p:sldId id="3039" r:id="rId77"/>
    <p:sldId id="3040" r:id="rId78"/>
    <p:sldId id="3041" r:id="rId79"/>
    <p:sldId id="3042" r:id="rId80"/>
    <p:sldId id="3043" r:id="rId81"/>
    <p:sldId id="3044" r:id="rId82"/>
    <p:sldId id="3045" r:id="rId83"/>
    <p:sldId id="3046" r:id="rId84"/>
    <p:sldId id="3047" r:id="rId85"/>
    <p:sldId id="3048" r:id="rId86"/>
    <p:sldId id="3049" r:id="rId87"/>
    <p:sldId id="3050" r:id="rId88"/>
    <p:sldId id="3051" r:id="rId89"/>
    <p:sldId id="3052" r:id="rId90"/>
    <p:sldId id="3053" r:id="rId91"/>
    <p:sldId id="3054" r:id="rId92"/>
    <p:sldId id="3055" r:id="rId93"/>
    <p:sldId id="3056" r:id="rId94"/>
    <p:sldId id="3057" r:id="rId95"/>
    <p:sldId id="3058" r:id="rId96"/>
    <p:sldId id="3059" r:id="rId97"/>
    <p:sldId id="3060" r:id="rId98"/>
    <p:sldId id="3061" r:id="rId99"/>
    <p:sldId id="3062" r:id="rId100"/>
    <p:sldId id="3063" r:id="rId101"/>
    <p:sldId id="3064" r:id="rId102"/>
    <p:sldId id="3065" r:id="rId103"/>
    <p:sldId id="3066" r:id="rId104"/>
    <p:sldId id="3067" r:id="rId105"/>
    <p:sldId id="3068" r:id="rId106"/>
    <p:sldId id="3069" r:id="rId107"/>
    <p:sldId id="3070" r:id="rId108"/>
    <p:sldId id="3071" r:id="rId109"/>
    <p:sldId id="3072" r:id="rId110"/>
    <p:sldId id="3073" r:id="rId111"/>
    <p:sldId id="3074" r:id="rId112"/>
    <p:sldId id="3075" r:id="rId113"/>
    <p:sldId id="3076" r:id="rId114"/>
    <p:sldId id="3077" r:id="rId115"/>
    <p:sldId id="3078" r:id="rId116"/>
    <p:sldId id="3079" r:id="rId117"/>
    <p:sldId id="3080" r:id="rId118"/>
    <p:sldId id="3081" r:id="rId119"/>
    <p:sldId id="3082" r:id="rId120"/>
    <p:sldId id="3083" r:id="rId121"/>
    <p:sldId id="3084" r:id="rId122"/>
    <p:sldId id="3085" r:id="rId123"/>
    <p:sldId id="3086" r:id="rId124"/>
    <p:sldId id="3087" r:id="rId125"/>
    <p:sldId id="3088" r:id="rId126"/>
    <p:sldId id="3089" r:id="rId127"/>
    <p:sldId id="3090" r:id="rId128"/>
    <p:sldId id="3091" r:id="rId129"/>
    <p:sldId id="3092" r:id="rId130"/>
    <p:sldId id="3093" r:id="rId131"/>
    <p:sldId id="3094" r:id="rId132"/>
    <p:sldId id="3095" r:id="rId133"/>
    <p:sldId id="3096" r:id="rId134"/>
    <p:sldId id="3097" r:id="rId135"/>
    <p:sldId id="3098" r:id="rId136"/>
    <p:sldId id="3099" r:id="rId137"/>
    <p:sldId id="3100" r:id="rId138"/>
    <p:sldId id="3101" r:id="rId139"/>
    <p:sldId id="3102" r:id="rId140"/>
    <p:sldId id="3103" r:id="rId141"/>
    <p:sldId id="3104" r:id="rId142"/>
    <p:sldId id="3105" r:id="rId143"/>
    <p:sldId id="3106" r:id="rId144"/>
    <p:sldId id="3107" r:id="rId145"/>
    <p:sldId id="3108" r:id="rId146"/>
    <p:sldId id="3109" r:id="rId147"/>
    <p:sldId id="3110" r:id="rId148"/>
    <p:sldId id="3111" r:id="rId149"/>
    <p:sldId id="3112" r:id="rId150"/>
    <p:sldId id="3113" r:id="rId151"/>
    <p:sldId id="3114" r:id="rId152"/>
    <p:sldId id="3115" r:id="rId153"/>
    <p:sldId id="3116" r:id="rId154"/>
    <p:sldId id="3117" r:id="rId155"/>
    <p:sldId id="3118" r:id="rId156"/>
    <p:sldId id="3119" r:id="rId157"/>
    <p:sldId id="3120" r:id="rId158"/>
    <p:sldId id="3121" r:id="rId159"/>
    <p:sldId id="3122" r:id="rId160"/>
    <p:sldId id="3123" r:id="rId161"/>
    <p:sldId id="3124" r:id="rId162"/>
    <p:sldId id="3125" r:id="rId163"/>
    <p:sldId id="3126" r:id="rId164"/>
    <p:sldId id="3127" r:id="rId165"/>
    <p:sldId id="3128" r:id="rId166"/>
    <p:sldId id="3129" r:id="rId167"/>
    <p:sldId id="3130" r:id="rId168"/>
    <p:sldId id="3131" r:id="rId169"/>
    <p:sldId id="3132" r:id="rId170"/>
    <p:sldId id="3133" r:id="rId171"/>
    <p:sldId id="3134" r:id="rId172"/>
    <p:sldId id="3135" r:id="rId173"/>
    <p:sldId id="3136" r:id="rId174"/>
    <p:sldId id="3137" r:id="rId175"/>
    <p:sldId id="3138" r:id="rId176"/>
    <p:sldId id="3139" r:id="rId177"/>
    <p:sldId id="3140" r:id="rId178"/>
    <p:sldId id="3141" r:id="rId179"/>
    <p:sldId id="3142" r:id="rId180"/>
    <p:sldId id="3143" r:id="rId18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97BE05-7214-46BD-569F-A0959E827800}" name="Daniel Khashabi" initials="DK" userId="S::dkhasha1@jh.edu::62390808-c838-45e6-be59-d6fd0d208bc8" providerId="AD"/>
  <p188:author id="{CC7901B2-AA95-7F71-1AE9-930C15FFDB5A}" name="Muhan Gao" initials="MG" userId="S::mgao38@jh.edu::d9422188-f87e-4b1a-b204-cc34f11d7e5e" providerId="AD"/>
  <p188:author id="{CCF597F8-0F90-52B1-F925-7EE32040DA8A}" name="Tianjian Li" initials="TL" userId="S::tli104@jh.edu::503e8ea7-3d63-4c0d-9464-605bc52cb3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FDC"/>
    <a:srgbClr val="B4FFBF"/>
    <a:srgbClr val="DBFFDB"/>
    <a:srgbClr val="DBFFED"/>
    <a:srgbClr val="D72222"/>
    <a:srgbClr val="07833C"/>
    <a:srgbClr val="D62222"/>
    <a:srgbClr val="191B2A"/>
    <a:srgbClr val="E9FFF5"/>
    <a:srgbClr val="E1F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00"/>
    <p:restoredTop sz="68219"/>
  </p:normalViewPr>
  <p:slideViewPr>
    <p:cSldViewPr snapToGrid="0">
      <p:cViewPr varScale="1">
        <p:scale>
          <a:sx n="80" d="100"/>
          <a:sy n="80" d="100"/>
        </p:scale>
        <p:origin x="1464" y="184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microsoft.com/office/2018/10/relationships/authors" Target="author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danielk/Desktop/web_benchmark_results%20(1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339362422255026E-2"/>
          <c:y val="0.57218021328689084"/>
          <c:w val="0.96047411259502158"/>
          <c:h val="0.366116909936026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 Summary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1"/>
        <c:axPos val="l"/>
        <c:numFmt formatCode="0" sourceLinked="0"/>
        <c:majorTickMark val="out"/>
        <c:minorTickMark val="none"/>
        <c:tickLblPos val="nextTo"/>
        <c:crossAx val="1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8.27293516495409E-2"/>
          <c:y val="0.17195299078166018"/>
          <c:w val="0.80579519677002487"/>
          <c:h val="0.26494895833333332"/>
        </c:manualLayout>
      </c:layout>
      <c:overlay val="0"/>
      <c:txPr>
        <a:bodyPr/>
        <a:lstStyle/>
        <a:p>
          <a:pPr>
            <a:defRPr sz="2600"/>
          </a:pPr>
          <a:endParaRPr lang="en-US"/>
        </a:p>
      </c:txPr>
    </c:legend>
    <c:plotVisOnly val="1"/>
    <c:dispBlanksAs val="gap"/>
    <c:showDLblsOverMax val="1"/>
  </c:chart>
  <c:spPr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339362422255026E-2"/>
          <c:y val="0.57218021328689084"/>
          <c:w val="0.96047411259502158"/>
          <c:h val="0.366116909936026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 Summary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1"/>
        <c:axPos val="l"/>
        <c:numFmt formatCode="0" sourceLinked="0"/>
        <c:majorTickMark val="out"/>
        <c:minorTickMark val="none"/>
        <c:tickLblPos val="nextTo"/>
        <c:crossAx val="1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8.27293516495409E-2"/>
          <c:y val="0.17195299078166018"/>
          <c:w val="0.80579519677002487"/>
          <c:h val="0.26494895833333332"/>
        </c:manualLayout>
      </c:layout>
      <c:overlay val="0"/>
      <c:txPr>
        <a:bodyPr/>
        <a:lstStyle/>
        <a:p>
          <a:pPr>
            <a:defRPr sz="2600"/>
          </a:pPr>
          <a:endParaRPr lang="en-US"/>
        </a:p>
      </c:txPr>
    </c:legend>
    <c:plotVisOnly val="1"/>
    <c:dispBlanksAs val="gap"/>
    <c:showDLblsOverMax val="1"/>
  </c:chart>
  <c:spPr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339362422255026E-2"/>
          <c:y val="0.57218021328689084"/>
          <c:w val="0.96047411259502158"/>
          <c:h val="0.366116909936026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 Summary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1"/>
        <c:axPos val="l"/>
        <c:numFmt formatCode="0" sourceLinked="0"/>
        <c:majorTickMark val="out"/>
        <c:minorTickMark val="none"/>
        <c:tickLblPos val="nextTo"/>
        <c:crossAx val="1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8.27293516495409E-2"/>
          <c:y val="0.17195299078166018"/>
          <c:w val="0.80579519677002487"/>
          <c:h val="0.26494895833333332"/>
        </c:manualLayout>
      </c:layout>
      <c:overlay val="0"/>
      <c:txPr>
        <a:bodyPr/>
        <a:lstStyle/>
        <a:p>
          <a:pPr>
            <a:defRPr sz="2600"/>
          </a:pPr>
          <a:endParaRPr lang="en-US"/>
        </a:p>
      </c:txPr>
    </c:legend>
    <c:plotVisOnly val="1"/>
    <c:dispBlanksAs val="gap"/>
    <c:showDLblsOverMax val="1"/>
  </c:chart>
  <c:spPr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339362422255026E-2"/>
          <c:y val="0.57218021328689084"/>
          <c:w val="0.96047411259502158"/>
          <c:h val="0.366116909936026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 Summary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1"/>
        <c:axPos val="l"/>
        <c:numFmt formatCode="0" sourceLinked="0"/>
        <c:majorTickMark val="out"/>
        <c:minorTickMark val="none"/>
        <c:tickLblPos val="nextTo"/>
        <c:crossAx val="1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8.27293516495409E-2"/>
          <c:y val="0.17195299078166018"/>
          <c:w val="0.80579519677002487"/>
          <c:h val="0.26494895833333332"/>
        </c:manualLayout>
      </c:layout>
      <c:overlay val="0"/>
      <c:txPr>
        <a:bodyPr/>
        <a:lstStyle/>
        <a:p>
          <a:pPr>
            <a:defRPr sz="2600"/>
          </a:pPr>
          <a:endParaRPr lang="en-US"/>
        </a:p>
      </c:txPr>
    </c:legend>
    <c:plotVisOnly val="1"/>
    <c:dispBlanksAs val="gap"/>
    <c:showDLblsOverMax val="1"/>
  </c:chart>
  <c:spPr>
    <a:ln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Accuracy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2245644491288983"/>
          <c:y val="9.9044727672202529E-2"/>
          <c:w val="0.84867216401099466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Acc. ↑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Cost</a:t>
            </a:r>
          </a:p>
        </c:rich>
      </c:tx>
      <c:layout>
        <c:manualLayout>
          <c:xMode val="edge"/>
          <c:yMode val="edge"/>
          <c:x val="0.40616111111111103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0867439546124802"/>
          <c:y val="9.9044727672202529E-2"/>
          <c:w val="0.86245834187435111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Cost!$A$19</c:f>
              <c:strCache>
                <c:ptCount val="1"/>
                <c:pt idx="0">
                  <c:v>No Compaction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Cost!$B$19:$E$19</c:f>
              <c:numCache>
                <c:formatCode>0.00</c:formatCode>
                <c:ptCount val="4"/>
                <c:pt idx="0">
                  <c:v>0.27</c:v>
                </c:pt>
                <c:pt idx="1">
                  <c:v>0.24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971-B842-B884-CCCF4DBC9CB1}"/>
            </c:ext>
          </c:extLst>
        </c:ser>
        <c:ser>
          <c:idx val="1"/>
          <c:order val="1"/>
          <c:tx>
            <c:strRef>
              <c:f>Cost!$A$20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Cost!$B$20:$E$20</c:f>
              <c:numCache>
                <c:formatCode>0.00</c:formatCode>
                <c:ptCount val="4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971-B842-B884-CCCF4DBC9CB1}"/>
            </c:ext>
          </c:extLst>
        </c:ser>
        <c:ser>
          <c:idx val="2"/>
          <c:order val="2"/>
          <c:tx>
            <c:strRef>
              <c:f>Cost!$A$21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Cost!$B$21:$E$21</c:f>
              <c:numCache>
                <c:formatCode>0.00</c:formatCode>
                <c:ptCount val="4"/>
                <c:pt idx="0">
                  <c:v>0.11</c:v>
                </c:pt>
                <c:pt idx="1">
                  <c:v>0.16</c:v>
                </c:pt>
                <c:pt idx="2">
                  <c:v>0.13</c:v>
                </c:pt>
                <c:pt idx="3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971-B842-B884-CCCF4DBC9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Cost ↓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Accuracy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2245644491288983"/>
          <c:y val="9.9044727672202529E-2"/>
          <c:w val="0.84867216401099466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Acc. ↑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Cost</a:t>
            </a:r>
          </a:p>
        </c:rich>
      </c:tx>
      <c:layout>
        <c:manualLayout>
          <c:xMode val="edge"/>
          <c:yMode val="edge"/>
          <c:x val="0.40616111111111103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0867439546124802"/>
          <c:y val="9.9044727672202529E-2"/>
          <c:w val="0.86245834187435111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Cost!$A$19</c:f>
              <c:strCache>
                <c:ptCount val="1"/>
                <c:pt idx="0">
                  <c:v>No Compaction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Cost!$B$19:$E$19</c:f>
              <c:numCache>
                <c:formatCode>0.00</c:formatCode>
                <c:ptCount val="4"/>
                <c:pt idx="0">
                  <c:v>0.27</c:v>
                </c:pt>
                <c:pt idx="1">
                  <c:v>0.24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971-B842-B884-CCCF4DBC9CB1}"/>
            </c:ext>
          </c:extLst>
        </c:ser>
        <c:ser>
          <c:idx val="1"/>
          <c:order val="1"/>
          <c:tx>
            <c:strRef>
              <c:f>Cost!$A$20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Cost!$B$20:$E$20</c:f>
              <c:numCache>
                <c:formatCode>0.00</c:formatCode>
                <c:ptCount val="4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971-B842-B884-CCCF4DBC9CB1}"/>
            </c:ext>
          </c:extLst>
        </c:ser>
        <c:ser>
          <c:idx val="2"/>
          <c:order val="2"/>
          <c:tx>
            <c:strRef>
              <c:f>Cost!$A$21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Cost!$B$21:$E$21</c:f>
              <c:numCache>
                <c:formatCode>0.00</c:formatCode>
                <c:ptCount val="4"/>
                <c:pt idx="0">
                  <c:v>0.11</c:v>
                </c:pt>
                <c:pt idx="1">
                  <c:v>0.16</c:v>
                </c:pt>
                <c:pt idx="2">
                  <c:v>0.13</c:v>
                </c:pt>
                <c:pt idx="3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971-B842-B884-CCCF4DBC9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Cost ↓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Accuracy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2245644491288983"/>
          <c:y val="9.9044727672202529E-2"/>
          <c:w val="0.84867216401099466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Acc. ↑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Cost</a:t>
            </a:r>
          </a:p>
        </c:rich>
      </c:tx>
      <c:layout>
        <c:manualLayout>
          <c:xMode val="edge"/>
          <c:yMode val="edge"/>
          <c:x val="0.40616111111111103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0867439546124802"/>
          <c:y val="9.9044727672202529E-2"/>
          <c:w val="0.86245834187435111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Cost!$A$19</c:f>
              <c:strCache>
                <c:ptCount val="1"/>
                <c:pt idx="0">
                  <c:v>No Compaction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Cost!$B$19:$E$19</c:f>
              <c:numCache>
                <c:formatCode>0.00</c:formatCode>
                <c:ptCount val="4"/>
                <c:pt idx="0">
                  <c:v>0.27</c:v>
                </c:pt>
                <c:pt idx="1">
                  <c:v>0.24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971-B842-B884-CCCF4DBC9CB1}"/>
            </c:ext>
          </c:extLst>
        </c:ser>
        <c:ser>
          <c:idx val="1"/>
          <c:order val="1"/>
          <c:tx>
            <c:strRef>
              <c:f>Cost!$A$20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Cost!$B$20:$E$20</c:f>
              <c:numCache>
                <c:formatCode>0.00</c:formatCode>
                <c:ptCount val="4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971-B842-B884-CCCF4DBC9CB1}"/>
            </c:ext>
          </c:extLst>
        </c:ser>
        <c:ser>
          <c:idx val="2"/>
          <c:order val="2"/>
          <c:tx>
            <c:strRef>
              <c:f>Cost!$A$21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Cost!$B$21:$E$21</c:f>
              <c:numCache>
                <c:formatCode>0.00</c:formatCode>
                <c:ptCount val="4"/>
                <c:pt idx="0">
                  <c:v>0.11</c:v>
                </c:pt>
                <c:pt idx="1">
                  <c:v>0.16</c:v>
                </c:pt>
                <c:pt idx="2">
                  <c:v>0.13</c:v>
                </c:pt>
                <c:pt idx="3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971-B842-B884-CCCF4DBC9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Cost ↓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Accuracy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2245644491288983"/>
          <c:y val="9.9044727672202529E-2"/>
          <c:w val="0.84867216401099466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Acc. ↑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Cost</a:t>
            </a:r>
          </a:p>
        </c:rich>
      </c:tx>
      <c:layout>
        <c:manualLayout>
          <c:xMode val="edge"/>
          <c:yMode val="edge"/>
          <c:x val="0.40616111111111103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0867439546124802"/>
          <c:y val="9.9044727672202529E-2"/>
          <c:w val="0.86245834187435111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Cost!$A$19</c:f>
              <c:strCache>
                <c:ptCount val="1"/>
                <c:pt idx="0">
                  <c:v>No Compaction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Cost!$B$19:$E$19</c:f>
              <c:numCache>
                <c:formatCode>0.00</c:formatCode>
                <c:ptCount val="4"/>
                <c:pt idx="0">
                  <c:v>0.27</c:v>
                </c:pt>
                <c:pt idx="1">
                  <c:v>0.24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971-B842-B884-CCCF4DBC9CB1}"/>
            </c:ext>
          </c:extLst>
        </c:ser>
        <c:ser>
          <c:idx val="1"/>
          <c:order val="1"/>
          <c:tx>
            <c:strRef>
              <c:f>Cost!$A$20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Cost!$B$20:$E$20</c:f>
              <c:numCache>
                <c:formatCode>0.00</c:formatCode>
                <c:ptCount val="4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971-B842-B884-CCCF4DBC9CB1}"/>
            </c:ext>
          </c:extLst>
        </c:ser>
        <c:ser>
          <c:idx val="2"/>
          <c:order val="2"/>
          <c:tx>
            <c:strRef>
              <c:f>Cost!$A$21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Cost!$B$21:$E$21</c:f>
              <c:numCache>
                <c:formatCode>0.00</c:formatCode>
                <c:ptCount val="4"/>
                <c:pt idx="0">
                  <c:v>0.11</c:v>
                </c:pt>
                <c:pt idx="1">
                  <c:v>0.16</c:v>
                </c:pt>
                <c:pt idx="2">
                  <c:v>0.13</c:v>
                </c:pt>
                <c:pt idx="3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971-B842-B884-CCCF4DBC9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Cost ↓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Accuracy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2245644491288983"/>
          <c:y val="9.9044727672202529E-2"/>
          <c:w val="0.84867216401099466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Accuracy!$A$19</c:f>
              <c:strCache>
                <c:ptCount val="1"/>
                <c:pt idx="0">
                  <c:v>No Compaction 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Accuracy!$B$19:$E$19</c:f>
              <c:numCache>
                <c:formatCode>0</c:formatCode>
                <c:ptCount val="4"/>
                <c:pt idx="0">
                  <c:v>42.7</c:v>
                </c:pt>
                <c:pt idx="1">
                  <c:v>57.6</c:v>
                </c:pt>
                <c:pt idx="2">
                  <c:v>46.5</c:v>
                </c:pt>
                <c:pt idx="3">
                  <c:v>48.9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4A-E244-AF21-729023C3BAE8}"/>
            </c:ext>
          </c:extLst>
        </c:ser>
        <c:ser>
          <c:idx val="1"/>
          <c:order val="1"/>
          <c:tx>
            <c:strRef>
              <c:f>Accuracy!$A$20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Accuracy!$B$20:$E$20</c:f>
              <c:numCache>
                <c:formatCode>0</c:formatCode>
                <c:ptCount val="4"/>
                <c:pt idx="0">
                  <c:v>51.6</c:v>
                </c:pt>
                <c:pt idx="1">
                  <c:v>60.2</c:v>
                </c:pt>
                <c:pt idx="2">
                  <c:v>52.3</c:v>
                </c:pt>
                <c:pt idx="3">
                  <c:v>54.7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4A-E244-AF21-729023C3BAE8}"/>
            </c:ext>
          </c:extLst>
        </c:ser>
        <c:ser>
          <c:idx val="2"/>
          <c:order val="2"/>
          <c:tx>
            <c:strRef>
              <c:f>Accuracy!$A$21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Accuracy!$B$18:$E$18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Accuracy!$B$21:$E$21</c:f>
              <c:numCache>
                <c:formatCode>0</c:formatCode>
                <c:ptCount val="4"/>
                <c:pt idx="0">
                  <c:v>57.9</c:v>
                </c:pt>
                <c:pt idx="1">
                  <c:v>62.9</c:v>
                </c:pt>
                <c:pt idx="2">
                  <c:v>56.8</c:v>
                </c:pt>
                <c:pt idx="3">
                  <c:v>59.2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4A-E244-AF21-729023C3B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in val="35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Acc. ↑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/>
              </a:defRPr>
            </a:pPr>
            <a:r>
              <a:rPr lang="en-US" sz="1400"/>
              <a:t>Cost</a:t>
            </a:r>
          </a:p>
        </c:rich>
      </c:tx>
      <c:layout>
        <c:manualLayout>
          <c:xMode val="edge"/>
          <c:yMode val="edge"/>
          <c:x val="0.40616111111111103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0867439546124802"/>
          <c:y val="9.9044727672202529E-2"/>
          <c:w val="0.86245834187435111"/>
          <c:h val="0.7070894826840580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Cost!$A$19</c:f>
              <c:strCache>
                <c:ptCount val="1"/>
                <c:pt idx="0">
                  <c:v>No Compaction</c:v>
                </c:pt>
              </c:strCache>
            </c:strRef>
          </c:tx>
          <c:spPr>
            <a:solidFill>
              <a:srgbClr val="9ECAE1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Cost!$B$19:$E$19</c:f>
              <c:numCache>
                <c:formatCode>0.00</c:formatCode>
                <c:ptCount val="4"/>
                <c:pt idx="0">
                  <c:v>0.27</c:v>
                </c:pt>
                <c:pt idx="1">
                  <c:v>0.24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971-B842-B884-CCCF4DBC9CB1}"/>
            </c:ext>
          </c:extLst>
        </c:ser>
        <c:ser>
          <c:idx val="1"/>
          <c:order val="1"/>
          <c:tx>
            <c:strRef>
              <c:f>Cost!$A$20</c:f>
              <c:strCache>
                <c:ptCount val="1"/>
                <c:pt idx="0">
                  <c:v>Fixed-Interval</c:v>
                </c:pt>
              </c:strCache>
            </c:strRef>
          </c:tx>
          <c:spPr>
            <a:solidFill>
              <a:srgbClr val="FDAE6B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Cost!$B$20:$E$20</c:f>
              <c:numCache>
                <c:formatCode>0.00</c:formatCode>
                <c:ptCount val="4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971-B842-B884-CCCF4DBC9CB1}"/>
            </c:ext>
          </c:extLst>
        </c:ser>
        <c:ser>
          <c:idx val="2"/>
          <c:order val="2"/>
          <c:tx>
            <c:strRef>
              <c:f>Cost!$A$21</c:f>
              <c:strCache>
                <c:ptCount val="1"/>
                <c:pt idx="0">
                  <c:v>SelfCompact (Ours)</c:v>
                </c:pt>
              </c:strCache>
            </c:strRef>
          </c:tx>
          <c:spPr>
            <a:solidFill>
              <a:srgbClr val="E84545"/>
            </a:solidFill>
            <a:ln>
              <a:solidFill>
                <a:srgbClr val="40404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Cost!$B$18:$E$18</c:f>
              <c:strCache>
                <c:ptCount val="4"/>
                <c:pt idx="0">
                  <c:v>BrowseComp</c:v>
                </c:pt>
                <c:pt idx="1">
                  <c:v>BrowseComp-Plus</c:v>
                </c:pt>
                <c:pt idx="2">
                  <c:v>DeepSearchQA</c:v>
                </c:pt>
                <c:pt idx="3">
                  <c:v>Overall</c:v>
                </c:pt>
              </c:strCache>
            </c:strRef>
          </c:cat>
          <c:val>
            <c:numRef>
              <c:f>Cost!$B$21:$E$21</c:f>
              <c:numCache>
                <c:formatCode>0.00</c:formatCode>
                <c:ptCount val="4"/>
                <c:pt idx="0">
                  <c:v>0.11</c:v>
                </c:pt>
                <c:pt idx="1">
                  <c:v>0.16</c:v>
                </c:pt>
                <c:pt idx="2">
                  <c:v>0.13</c:v>
                </c:pt>
                <c:pt idx="3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0404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971-B842-B884-CCCF4DBC9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95959"/>
            </a:solidFill>
          </a:ln>
        </c:sp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latin typeface="Arial"/>
                  </a:defRPr>
                </a:pPr>
                <a:r>
                  <a:rPr lang="en-US"/>
                  <a:t>Cost ↓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595959"/>
            </a:solidFill>
          </a:ln>
        </c:spPr>
        <c:crossAx val="1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spPr>
    <a:ln>
      <a:solidFill>
        <a:schemeClr val="bg1">
          <a:lumMod val="85000"/>
        </a:schemeClr>
      </a:solidFill>
    </a:ln>
  </c:spPr>
  <c:externalData r:id="rId1">
    <c:autoUpdate val="0"/>
  </c:externalData>
</c:chartSpace>
</file>

<file path=ppt/comments/modernComment_BFF_4211C8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0_6C58D8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A_2D30D1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B_AB33CB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C_B87F08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D_BBE1A8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E_1F2582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F_B80E35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1B1489-1C40-244E-AFF5-318054FBA5C2}" authorId="{AC97BE05-7214-46BD-569F-A0959E827800}" status="resolved" created="2026-06-29T18:32:05.641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1_5A494B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2_1A60B6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3_DE58BA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4_88618B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5_CA09DC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6_CA4712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7_29606C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8_B6BFD9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comments/modernComment_C09_F01CAE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6FCF30-B11C-F941-A718-0D2F3B0C6C18}" authorId="{AC97BE05-7214-46BD-569F-A0959E827800}" status="resolved" created="2026-06-29T18:32:05.641" complete="100000">
    <pc:sldMkLst xmlns:pc="http://schemas.microsoft.com/office/powerpoint/2013/main/command">
      <pc:docMk/>
      <pc:sldMk cId="1538795637" sldId="2902"/>
    </pc:sldMkLst>
    <p188:txBody>
      <a:bodyPr/>
      <a:lstStyle/>
      <a:p>
        <a:r>
          <a:rPr lang="en-US"/>
          <a:t>Add reference references here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venir Book" panose="02000503020000020003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venir Book" panose="02000503020000020003" pitchFamily="2" charset="0"/>
              </a:defRPr>
            </a:lvl1pPr>
          </a:lstStyle>
          <a:p>
            <a:fld id="{42BC4B6E-97D4-384E-8346-04988064FF86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venir Book" panose="02000503020000020003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venir Book" panose="02000503020000020003" pitchFamily="2" charset="0"/>
              </a:defRPr>
            </a:lvl1pPr>
          </a:lstStyle>
          <a:p>
            <a:fld id="{7E3EFFCD-2707-464E-8668-7D1BDDA98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7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venir Book" panose="02000503020000020003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venir Book" panose="02000503020000020003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venir Book" panose="02000503020000020003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venir Book" panose="02000503020000020003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venir Book" panose="02000503020000020003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A282-654C-5321-7ACA-A83B933D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B59FC-02EA-33D0-6256-0B09BABCC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D1DEB-2837-4DDB-2DFE-6A9B2EEDE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Hi, am going to talk about 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C0A97-8CD6-ABC8-349F-B3B4697E6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19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Let’s start with the state of today.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Agents are all the rage, and we see them in various places.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example, coding agents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they implement features, runs tests, and uses the failures to decide what to try next.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96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Let’s start with the state of today.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Agents are all the rage, and we see them in various places.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example, coding agents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they implement features, runs tests, and uses the failures to decide what to try next.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96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have seen day-to-day co-pilots, track email, documents, and past conversations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8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have seen day-to-day co-pilots, track email, documents, and past conversations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finally, research agents have shown lots of promising results by developing hypotheses and running experiments.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These are examples of what amazing things agents can do </a:t>
            </a:r>
            <a:r>
              <a:rPr lang="en-US" b="1" dirty="0"/>
              <a:t>today.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83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finally, research agents have shown lots of promising results by developing hypotheses and running experiments.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These are examples of what amazing things agents can do </a:t>
            </a:r>
            <a:r>
              <a:rPr lang="en-US" b="1" dirty="0"/>
              <a:t>today.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83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these capabilities are impressive, we also see clear gaps in the overall ecosystems.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highlight the issue: This is my recent chat history—and I suspect yours also looks similar: hundreds of isolated conversations.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this may seem like a minor organizational issue, this is a symptom of a broader gap: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 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We, humans, are still the ones connecting the pieces of information over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8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these capabilities are impressive, we also see clear gaps in the overall ecosystems.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highlight the issue: This is my recent chat history—and I suspect yours also looks similar: hundreds of isolated conversations.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this may seem like a minor organizational issue, this is a symptom of a broader gap: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 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We, humans, are still the ones connecting the pieces of information over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8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these capabilities are impressive, we also see clear gaps in the overall ecosystems.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highlight the issue: This is my recent chat history—and I suspect yours also looks similar: hundreds of isolated conversations.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this may seem like a minor organizational issue, this is a symptom of a broader gap: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 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We, humans, are still the ones connecting the pieces of information over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8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these capabilities are impressive, we also see clear gaps in the overall ecosystems.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highlight the issue: This is my recent chat history—and I suspect yours also looks similar: hundreds of isolated conversations.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this may seem like a minor organizational issue, this is a symptom of a broader gap: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 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We, humans, are still the ones connecting the pieces of information over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8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these capabilities are impressive, we also see clear gaps in the overall ecosystems.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highlight the issue: This is my recent chat history—and I suspect yours also looks similar: hundreds of isolated conversations.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this may seem like a minor organizational issue, this is a symptom of a broader gap: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 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We, humans, are still the ones connecting the pieces of information over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8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future is ever-longer-running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Agents that 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agent that coordinated last month’s event, should remember those and plan for the next phase.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(transition): So how do we ...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73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future is ever-longer-running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Agents that 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agent that coordinated last month’s event, should remember those and plan for the next phase.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(transition): So how do we ...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73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future is ever-longer-running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Agents that 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agent that coordinated last month’s event, should remember those and plan for the next phase.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(transition): So how do we ...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73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future is ever-longer-running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Agents that 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agent that coordinated last month’s event, should remember those and plan for the next phase.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(read...)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(transition): So how do we ...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73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As agents work longer, their history grows.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different bets on how to handle that.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to expand context, keeping more history directly available.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Another is to manage a bounded context through compression and retrieval.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Each bet comes with its own tradeoffs, such as cost and effectiveness.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For the next few minutes, our goal is to explore some of these challenges.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99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As agents work longer, their history grows.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different bets on how to handle that.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to expand context, keeping more history directly available.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Another is to manage a bounded context through compression and retrieval.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Each bet comes with its own tradeoffs, such as cost and effectiveness.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For the next few minutes, our goal is to explore some of these challenges.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99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As agents work longer, their history grows.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different bets on how to handle that.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to expand context, keeping more history directly available.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Another is to manage a bounded context through compression and retrieval.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Each bet comes with its own tradeoffs, such as cost and effectiveness.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For the next few minutes, our goal is to explore some of these challenges.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99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that brings me to our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05AA2-565C-6150-1609-054460F6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9AD93-0A1C-BF29-61A4-B0AB01D7E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3AFC0-A511-BE3E-8DD9-126ADAB0A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Let’s start with expanding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2CA21-4465-4E97-8F02-494DD5F42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637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first bet is to expand context to keep an ever-growing history of agent’s reasoning/actions/observations, in the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indeed, there has been remarkable progress on this front: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79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first bet is to expand context to keep an ever-growing history of agent’s reasoning/actions/observations, in the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indeed, there has been remarkable progress on this front: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79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F998-F6F1-62BC-DA79-EBD59C0F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22220-766D-DBCD-3D76-91E8A819C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2D141-AE7D-EE4A-05BC-164B216B9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Even if we look the progress over time, we see a consistent march forward.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we do also see a slowdown since last.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CE9CB-1FE4-E50C-64C9-D9A04ECF7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53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F998-F6F1-62BC-DA79-EBD59C0F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22220-766D-DBCD-3D76-91E8A819C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2D141-AE7D-EE4A-05BC-164B216B9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Even if we look the progress over time, we see a consistent march forward.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we do also see a slowdown since last.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CE9CB-1FE4-E50C-64C9-D9A04ECF7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539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F998-F6F1-62BC-DA79-EBD59C0F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22220-766D-DBCD-3D76-91E8A819C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2D141-AE7D-EE4A-05BC-164B216B9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Even if we look the progress over time, we see a consistent march forward.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we do also see a slowdown since last.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CE9CB-1FE4-E50C-64C9-D9A04ECF7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539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8575-71D4-6E78-29D8-F86E13E6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D063-4E7B-0C80-2C95-A4EC3E5A1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2C8E4-A26E-1C00-12B1-4ED0AFA09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So, for us planning for long-running agents, it’s a natural question to ask (read…)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what would it take to keep scaling context?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at least two practical barriers: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is the cost barrier: processing longer documents takes quadratically more operations, and also quadratic memory. This is a very real barrier but not the focus here.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2nd barrier which is relevant to our discussion is data. High-quality long-data is a scarce commodity..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42CC7-807D-6B47-EF1F-E6DEA0204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968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8575-71D4-6E78-29D8-F86E13E6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D063-4E7B-0C80-2C95-A4EC3E5A1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2C8E4-A26E-1C00-12B1-4ED0AFA09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So, for us planning for long-running agents, it’s a natural question to ask (read…)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what would it take to keep scaling context?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at least two practical barriers: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is the cost barrier: processing longer documents takes quadratically more operations, and also quadratic memory. This is a very real barrier but not the focus here.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2nd barrier which is relevant to our discussion is data. High-quality long-data is a scarce commodity..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42CC7-807D-6B47-EF1F-E6DEA0204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968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8575-71D4-6E78-29D8-F86E13E6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D063-4E7B-0C80-2C95-A4EC3E5A1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2C8E4-A26E-1C00-12B1-4ED0AFA09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So, for us planning for long-running agents, it’s a natural question to ask (read…)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what would it take to keep scaling context?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at least two practical barriers: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is the cost barrier: processing longer documents takes quadratically more operations, and also quadratic memory. This is a very real barrier but not the focus here.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2nd barrier which is relevant to our discussion is data. High-quality long-data is a scarce commodity..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42CC7-807D-6B47-EF1F-E6DEA0204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968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8575-71D4-6E78-29D8-F86E13E6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D063-4E7B-0C80-2C95-A4EC3E5A1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2C8E4-A26E-1C00-12B1-4ED0AFA09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So, for us planning for long-running agents, it’s a natural question to ask (read…)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what would it take to keep scaling context?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 are at least two practical barriers: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is the cost barrier: processing longer documents takes quadratically more operations, and also quadratic memory. This is a very real barrier but not the focus here.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2nd barrier which is relevant to our discussion is data. High-quality long-data is a scarce commodity..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42CC7-807D-6B47-EF1F-E6DEA0204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968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consider this thought experiment: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suppose we had an unlimited supply of suitable long-context data and enough compute to train on it.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… (read the slide)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744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consider this thought experiment: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suppose we had an unlimited supply of suitable long-context data and enough compute to train on it.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… (read the slide)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744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consider this thought experiment: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suppose we had an unlimited supply of suitable long-context data and enough compute to train on it.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… (read the slide)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744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consider this thought experiment: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Let’s suppose we had an unlimited supply of suitable long-context data and enough compute to train on it.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… (read the slide)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744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reason to hesitate comes from cognitive offloading in humans.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information remains readily available, we may remember less of it ourselves.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 example of this observed years ago among users of Google: ….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back to our thought experiment on LLM context expansion: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something similar happen during training?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access to more context during training reduce what a model internalizes?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71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reason to hesitate comes from cognitive offloading in humans.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information remains readily available, we may remember less of it ourselves.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 example of this observed years ago among users of Google: ….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back to our thought experiment on LLM context expansion: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something similar happen during training?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access to more context during training reduce what a model internalizes?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71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reason to hesitate comes from cognitive offloading in humans.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information remains readily available, we may remember less of it ourselves.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 example of this observed years ago among users of Google: ….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back to our thought experiment on LLM context expansion: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something similar happen during training?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access to more context during training reduce what a model internalizes?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71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reason to hesitate comes from cognitive offloading in humans.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information remains readily available, we may remember less of it ourselves.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 example of this observed years ago among users of Google: ….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back to our thought experiment on LLM context expansion: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something similar happen during training?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access to more context during training reduce what a model internalizes?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71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test a controlled version of this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each model size, we hold the data, token count, and update count fixed, and vary the training window from 512 to 32K.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then evaluate what these models learned on the same evaluation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the question is 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308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test a controlled version of this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each model size, we hold the data, token count, and update count fixed, and vary the training window from 512 to 32K.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then evaluate what these models learned on the same evaluation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the question is 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308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test a controlled version of this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each model size, we hold the data, token count, and update count fixed, and vary the training window from 512 to 32K.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then evaluate what these models learned on the same evaluation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the question is 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308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test a controlled version of this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each model size, we hold the data, token count, and update count fixed, and vary the training window from 512 to 32K.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then evaluate what these models learned on the same evaluation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the question is 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308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test a controlled version of this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each model size, we hold the data, token count, and update count fixed, and vary the training window from 512 to 32K.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then evaluate what these models learned on the same evaluation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the question is 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308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test a controlled version of this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each model size, we hold the data, token count, and update count fixed, and vary the training window from 512 to 32K.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then evaluate what these models learned on the same evaluation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the question is 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308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8E1D-295E-C152-35E7-4A8727B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2A82-1CF0-F922-84CB-613E1F908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B09E-1638-8D15-4A74-EB67F1A3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this audience it should not a surprise, but allow me briefly define the setup just to make sure we’re all on the same page.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During autoregressive training, the model are trained to predicts each token from the preceding tokens available within its input.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maximum sequence length used during training is what we’ll call </a:t>
            </a:r>
            <a:r>
              <a:rPr lang="en-US" dirty="0" err="1"/>
              <a:t>W_train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evaluation, we can provide a different amount of context (call it </a:t>
            </a:r>
            <a:r>
              <a:rPr lang="en-US" dirty="0" err="1"/>
              <a:t>W_test</a:t>
            </a:r>
            <a:r>
              <a:rPr lang="en-US" dirty="0"/>
              <a:t>), based on which we would make predictions.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essentially the setup.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71F6-BB5B-D88C-1AEA-5EDE759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54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dbc38ab6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dbc38ab6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6F59BBE-05AD-7F04-B4EC-30DC39D3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dbc38ab6_0_180:notes">
            <a:extLst>
              <a:ext uri="{FF2B5EF4-FFF2-40B4-BE49-F238E27FC236}">
                <a16:creationId xmlns:a16="http://schemas.microsoft.com/office/drawing/2014/main" id="{6AAEEA39-C8ED-6ED6-D774-29D9986E7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dbc38ab6_0_180:notes">
            <a:extLst>
              <a:ext uri="{FF2B5EF4-FFF2-40B4-BE49-F238E27FC236}">
                <a16:creationId xmlns:a16="http://schemas.microsoft.com/office/drawing/2014/main" id="{FA38E248-ECF6-F419-966F-9944F3C43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220827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6F59BBE-05AD-7F04-B4EC-30DC39D3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dbc38ab6_0_180:notes">
            <a:extLst>
              <a:ext uri="{FF2B5EF4-FFF2-40B4-BE49-F238E27FC236}">
                <a16:creationId xmlns:a16="http://schemas.microsoft.com/office/drawing/2014/main" id="{6AAEEA39-C8ED-6ED6-D774-29D9986E7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dbc38ab6_0_180:notes">
            <a:extLst>
              <a:ext uri="{FF2B5EF4-FFF2-40B4-BE49-F238E27FC236}">
                <a16:creationId xmlns:a16="http://schemas.microsoft.com/office/drawing/2014/main" id="{FA38E248-ECF6-F419-966F-9944F3C43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22082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6F59BBE-05AD-7F04-B4EC-30DC39D3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dbc38ab6_0_180:notes">
            <a:extLst>
              <a:ext uri="{FF2B5EF4-FFF2-40B4-BE49-F238E27FC236}">
                <a16:creationId xmlns:a16="http://schemas.microsoft.com/office/drawing/2014/main" id="{6AAEEA39-C8ED-6ED6-D774-29D9986E7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dbc38ab6_0_180:notes">
            <a:extLst>
              <a:ext uri="{FF2B5EF4-FFF2-40B4-BE49-F238E27FC236}">
                <a16:creationId xmlns:a16="http://schemas.microsoft.com/office/drawing/2014/main" id="{FA38E248-ECF6-F419-966F-9944F3C43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22082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944B92C1-CEAD-B937-4DA2-4B52D40E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dbc38ab6_0_180:notes">
            <a:extLst>
              <a:ext uri="{FF2B5EF4-FFF2-40B4-BE49-F238E27FC236}">
                <a16:creationId xmlns:a16="http://schemas.microsoft.com/office/drawing/2014/main" id="{4179EA3E-F798-C010-183A-8C456E35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dbc38ab6_0_180:notes">
            <a:extLst>
              <a:ext uri="{FF2B5EF4-FFF2-40B4-BE49-F238E27FC236}">
                <a16:creationId xmlns:a16="http://schemas.microsoft.com/office/drawing/2014/main" id="{6BF24774-04F0-9034-1E41-9D46FB10C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456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5683A111-DB63-03ED-4DB5-72F971F9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dbc38ab6_0_180:notes">
            <a:extLst>
              <a:ext uri="{FF2B5EF4-FFF2-40B4-BE49-F238E27FC236}">
                <a16:creationId xmlns:a16="http://schemas.microsoft.com/office/drawing/2014/main" id="{5DDC6A76-F87F-C876-489C-587B3F5B0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dbc38ab6_0_180:notes">
            <a:extLst>
              <a:ext uri="{FF2B5EF4-FFF2-40B4-BE49-F238E27FC236}">
                <a16:creationId xmlns:a16="http://schemas.microsoft.com/office/drawing/2014/main" id="{DA9073FD-3686-2F97-8876-DE588893C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110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42EB-1244-4557-D12D-9EB58C6F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8AC56-7126-3AB4-E2B4-2A32D957F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0454C-398E-9310-72FD-CB5B890BD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formalize these observations as what my student Arda calls the </a:t>
            </a:r>
            <a:r>
              <a:rPr lang="en-US" b="1" dirty="0"/>
              <a:t>Information Abundance Paradox</a:t>
            </a:r>
            <a:r>
              <a:rPr lang="en-U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having more information available in context may reduce what a model internalizes.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496D8-6E69-A457-2D36-EA5607CA6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6568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42EB-1244-4557-D12D-9EB58C6F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8AC56-7126-3AB4-E2B4-2A32D957F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0454C-398E-9310-72FD-CB5B890BD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formalize these observations as what my student Arda calls the </a:t>
            </a:r>
            <a:r>
              <a:rPr lang="en-US" b="1" dirty="0"/>
              <a:t>Information Abundance Paradox</a:t>
            </a:r>
            <a:r>
              <a:rPr lang="en-U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having more information available in context may reduce what a model internalizes.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496D8-6E69-A457-2D36-EA5607CA6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6568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84EA-20DD-CAE3-D43A-ADE74999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FB08A-9137-7AF9-1DA5-FC3F01E2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A788A-8C29-378D-86F7-EB3B859A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way to understand this paradox is to consider two routes to better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model can improve prediction by internalizing information, or by using information already available in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certain experimental settings that (read..)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hypothesis is that (read...)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0BBC3-1E91-98EE-8102-9C9F284B9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704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84EA-20DD-CAE3-D43A-ADE74999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FB08A-9137-7AF9-1DA5-FC3F01E2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A788A-8C29-378D-86F7-EB3B859A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way to understand this paradox is to consider two routes to better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model can improve prediction by internalizing information, or by using information already available in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certain experimental settings that (read..)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hypothesis is that (read...)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0BBC3-1E91-98EE-8102-9C9F284B9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704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84EA-20DD-CAE3-D43A-ADE74999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FB08A-9137-7AF9-1DA5-FC3F01E2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A788A-8C29-378D-86F7-EB3B859A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way to understand this paradox is to consider two routes to better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model can improve prediction by internalizing information, or by using information already available in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certain experimental settings that (read..)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hypothesis is that (read...)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0BBC3-1E91-98EE-8102-9C9F284B9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704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84EA-20DD-CAE3-D43A-ADE74999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FB08A-9137-7AF9-1DA5-FC3F01E2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A788A-8C29-378D-86F7-EB3B859A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way to understand this paradox is to consider two routes to better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model can improve prediction by internalizing information, or by using information already available in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certain experimental settings that (read..)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hypothesis is that (read...)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0BBC3-1E91-98EE-8102-9C9F284B9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70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84EA-20DD-CAE3-D43A-ADE74999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FB08A-9137-7AF9-1DA5-FC3F01E2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A788A-8C29-378D-86F7-EB3B859A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way to understand this paradox is to consider two routes to better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model can improve prediction by internalizing information, or by using information already available in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certain experimental settings that (read..)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hypothesis is that (read...)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0BBC3-1E91-98EE-8102-9C9F284B9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70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84EA-20DD-CAE3-D43A-ADE74999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FB08A-9137-7AF9-1DA5-FC3F01E2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A788A-8C29-378D-86F7-EB3B859A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way to understand this paradox is to consider two routes to better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model can improve prediction by internalizing information, or by using information already available in context.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certain experimental settings that (read..)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hypothesis is that (read...)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0BBC3-1E91-98EE-8102-9C9F284B9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70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a tension between using information in context and internalizing it in parameters.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We’re not saying that very-long-context models are impossible.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We’re saying the recipe is more subtle than simply throwing longer data at a model.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perhaps a smarter training strategy will help models do both better in both contextualization and internalization.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756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a tension between using information in context and internalizing it in parameters.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We’re not saying that very-long-context models are impossible.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We’re saying the recipe is more subtle than simply throwing longer data at a model.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perhaps a smarter training strategy will help models do both better in both contextualization and internalization.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756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a tension between using information in context and internalizing it in parameters.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We’re not saying that very-long-context models are impossible.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We’re saying the recipe is more subtle than simply throwing longer data at a model.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perhaps a smarter training strategy will help models do both better in both contextualization and internalization.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7567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C0E2-B055-E8B1-123B-41E85C1E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1BAE4-1D4A-F7B3-E6B9-789598DBF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62147-2FB8-7219-A8B8-08D4F577A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With that 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8BD2F-7EAA-1914-8FF3-8AF4A80FE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362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B0959-FBC8-063C-ACC9-50F877A2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FCB3A-1621-50EF-E4F3-917044435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BF4A5-B220-F67A-AAD3-481D9A01D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Now let’s turn to the second bet: managing a bounded context.”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9E31F-8EB2-C364-25FA-C47B2454D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514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Let’s talk about why we may prefer a bounded context.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As just saw that scaling context window faces fundamental challenges (as we saw earlier).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1560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Let’s talk about why we may prefer a bounded context.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As just saw that scaling context window faces fundamental challenges (as we saw earlier).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1560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Second, it’s costly to load long text in our GPUs.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4776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And finally, even for the existing so-called long models, … (read)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3633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And finally, even for the existing so-called long models, … (read)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3633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5217-A03B-F5C6-9871-3E953B71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7B0A6-6C7B-7117-09C7-EE98D381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06DE5-2E6A-A932-07CF-04142C775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most common mechanism to maintaining a short context is ”compaction” and let’s define it to be precise.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91FF0-2FF3-5AB7-2EBB-CC75938A4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2283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5217-A03B-F5C6-9871-3E953B71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7B0A6-6C7B-7117-09C7-EE98D381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06DE5-2E6A-A932-07CF-04142C775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most common mechanism to maintaining a short context is ”compaction” and let’s define it to be precise.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91FF0-2FF3-5AB7-2EBB-CC75938A4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2283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5217-A03B-F5C6-9871-3E953B71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7B0A6-6C7B-7117-09C7-EE98D381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06DE5-2E6A-A932-07CF-04142C775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most common mechanism to maintaining a short context is ”compaction” and let’s define it to be precise.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91FF0-2FF3-5AB7-2EBB-CC75938A4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228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5217-A03B-F5C6-9871-3E953B71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7B0A6-6C7B-7117-09C7-EE98D381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06DE5-2E6A-A932-07CF-04142C775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most common mechanism to maintaining a short context is ”compaction” and let’s define it to be precise.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91FF0-2FF3-5AB7-2EBB-CC75938A4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2283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5217-A03B-F5C6-9871-3E953B71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7B0A6-6C7B-7117-09C7-EE98D381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06DE5-2E6A-A932-07CF-04142C775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most common mechanism to maintaining a short context is ”compaction” and let’s define it to be precise.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91FF0-2FF3-5AB7-2EBB-CC75938A4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2283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Compaction is already part of many agent systems (such as Claude code and codex).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used to be that they triggered at particular intervals, but now it happens more frequently and sometimes invisibly.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point is that, despite compaction happening regularly,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Compactions far from perfect and one needs be studied carefully.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need study them scientifically.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Most of these features are developed somewhat rushed and best practices are not fully understood.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And to that end, to make this a scientific study, let’s define what our question is…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8110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Compaction is already part of many agent systems (such as Claude code and codex).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used to be that they triggered at particular intervals, but now it happens more frequently and sometimes invisibly.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point is that, despite compaction happening regularly,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Compactions far from perfect and one needs be studied carefully.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need study them scientifically.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Most of these features are developed somewhat rushed and best practices are not fully understood.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And to that end, to make this a scientific study, let’s define what our question is…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8110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Compaction is already part of many agent systems (such as Claude code and codex).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used to be that they triggered at particular intervals, but now it happens more frequently and sometimes invisibly.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point is that, despite compaction happening regularly,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Compactions far from perfect and one needs be studied carefully.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need study them scientifically.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Most of these features are developed somewhat rushed and best practices are not fully understood.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And to that end, to make this a scientific study, let’s define what our question is…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811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Compaction is already part of many agent systems (such as Claude code and codex).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used to be that they triggered at particular intervals, but now it happens more frequently and sometimes invisibly.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point is that, despite compaction happening regularly,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Compactions far from perfect and one needs be studied carefully.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need study them scientifically.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Most of these features are developed somewhat rushed and best practices are not fully understood.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And to that end, to make this a scientific study, let’s define what our question is…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8110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question here is 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I’d emphasize that there are two elements here: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the question of “when to compact” and the question of “how to compact”.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Getting either wrong is costly; for example,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Compaction occurs too late → context gets polluted with stale tokens.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Too early / mid-derivation → results in discarding the partial result you still needed.</a:t>
            </a:r>
          </a:p>
          <a:p>
            <a:endParaRPr lang="en-US" dirty="0"/>
          </a:p>
          <a:p>
            <a:r>
              <a:rPr lang="en-US" dirty="0"/>
              <a:t>Let’s make this more concrete with our running examples… </a:t>
            </a:r>
          </a:p>
          <a:p>
            <a:endParaRPr lang="en-US" dirty="0"/>
          </a:p>
          <a:p>
            <a:r>
              <a:rPr lang="en-US" dirty="0"/>
              <a:t>---- </a:t>
            </a:r>
          </a:p>
          <a:p>
            <a:r>
              <a:rPr lang="en-US" dirty="0"/>
              <a:t>- </a:t>
            </a:r>
            <a:r>
              <a:rPr lang="en-US" b="1" dirty="0"/>
              <a:t>is training necessary</a:t>
            </a:r>
            <a:r>
              <a:rPr lang="en-US" dirty="0"/>
              <a:t> to get good timing, or can a lightweight scaffold elicit it for free? </a:t>
            </a:r>
          </a:p>
          <a:p>
            <a:endParaRPr lang="en-US" dirty="0"/>
          </a:p>
          <a:p>
            <a:r>
              <a:rPr lang="en-US" dirty="0"/>
              <a:t>The whole game comes down to two decisions — and getting either wrong is costly.</a:t>
            </a:r>
          </a:p>
          <a:p>
            <a:r>
              <a:rPr lang="en-US" b="1" dirty="0"/>
              <a:t>WHEN to fire: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Too late → context is already polluted with stale tokens (the Friday moment).</a:t>
            </a:r>
          </a:p>
          <a:p>
            <a:pPr lvl="1"/>
            <a:r>
              <a:rPr lang="en-US" dirty="0"/>
              <a:t>Too early / mid-derivation → you discard the partial result you still needed.</a:t>
            </a:r>
          </a:p>
          <a:p>
            <a:r>
              <a:rPr lang="en-US" b="1" dirty="0"/>
              <a:t>HOW to summarize: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Drop the wrong things → you lose a verified fact and have to re-derive it.</a:t>
            </a:r>
          </a:p>
          <a:p>
            <a:r>
              <a:rPr lang="en-US" b="1" dirty="0"/>
              <a:t>Asymmetric cost:</a:t>
            </a:r>
            <a:r>
              <a:rPr lang="en-US" dirty="0"/>
              <a:t> a poorly-timed call discards the work you </a:t>
            </a:r>
            <a:r>
              <a:rPr lang="en-US" i="1" dirty="0"/>
              <a:t>needed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2044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question here is 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I’d emphasize that there are two elements here: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the question of “when to compact” and the question of “how to compact”.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Getting either wrong is costly; for example,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Compaction occurs too late → context gets polluted with stale tokens.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Too early / mid-derivation → results in discarding the partial result you still needed.</a:t>
            </a:r>
          </a:p>
          <a:p>
            <a:endParaRPr lang="en-US" dirty="0"/>
          </a:p>
          <a:p>
            <a:r>
              <a:rPr lang="en-US" dirty="0"/>
              <a:t>Let’s make this more concrete with our running examples… </a:t>
            </a:r>
          </a:p>
          <a:p>
            <a:endParaRPr lang="en-US" dirty="0"/>
          </a:p>
          <a:p>
            <a:r>
              <a:rPr lang="en-US" dirty="0"/>
              <a:t>---- </a:t>
            </a:r>
          </a:p>
          <a:p>
            <a:r>
              <a:rPr lang="en-US" dirty="0"/>
              <a:t>- </a:t>
            </a:r>
            <a:r>
              <a:rPr lang="en-US" b="1" dirty="0"/>
              <a:t>is training necessary</a:t>
            </a:r>
            <a:r>
              <a:rPr lang="en-US" dirty="0"/>
              <a:t> to get good timing, or can a lightweight scaffold elicit it for free? </a:t>
            </a:r>
          </a:p>
          <a:p>
            <a:endParaRPr lang="en-US" dirty="0"/>
          </a:p>
          <a:p>
            <a:r>
              <a:rPr lang="en-US" dirty="0"/>
              <a:t>The whole game comes down to two decisions — and getting either wrong is costly.</a:t>
            </a:r>
          </a:p>
          <a:p>
            <a:r>
              <a:rPr lang="en-US" b="1" dirty="0"/>
              <a:t>WHEN to fire: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Too late → context is already polluted with stale tokens (the Friday moment).</a:t>
            </a:r>
          </a:p>
          <a:p>
            <a:pPr lvl="1"/>
            <a:r>
              <a:rPr lang="en-US" dirty="0"/>
              <a:t>Too early / mid-derivation → you discard the partial result you still needed.</a:t>
            </a:r>
          </a:p>
          <a:p>
            <a:r>
              <a:rPr lang="en-US" b="1" dirty="0"/>
              <a:t>HOW to summarize: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Drop the wrong things → you lose a verified fact and have to re-derive it.</a:t>
            </a:r>
          </a:p>
          <a:p>
            <a:r>
              <a:rPr lang="en-US" b="1" dirty="0"/>
              <a:t>Asymmetric cost:</a:t>
            </a:r>
            <a:r>
              <a:rPr lang="en-US" dirty="0"/>
              <a:t> a poorly-timed call discards the work you </a:t>
            </a:r>
            <a:r>
              <a:rPr lang="en-US" i="1" dirty="0"/>
              <a:t>needed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2044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question here is 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I’d emphasize that there are two elements here: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the question of “when to compact” and the question of “how to compact”.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Getting either wrong is costly; for example,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Compaction occurs too late → context gets polluted with stale tokens.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Too early / mid-derivation → results in discarding the partial result you still needed.</a:t>
            </a:r>
          </a:p>
          <a:p>
            <a:endParaRPr lang="en-US" dirty="0"/>
          </a:p>
          <a:p>
            <a:r>
              <a:rPr lang="en-US" dirty="0"/>
              <a:t>Let’s make this more concrete with our running examples… </a:t>
            </a:r>
          </a:p>
          <a:p>
            <a:endParaRPr lang="en-US" dirty="0"/>
          </a:p>
          <a:p>
            <a:r>
              <a:rPr lang="en-US" dirty="0"/>
              <a:t>---- </a:t>
            </a:r>
          </a:p>
          <a:p>
            <a:r>
              <a:rPr lang="en-US" dirty="0"/>
              <a:t>- </a:t>
            </a:r>
            <a:r>
              <a:rPr lang="en-US" b="1" dirty="0"/>
              <a:t>is training necessary</a:t>
            </a:r>
            <a:r>
              <a:rPr lang="en-US" dirty="0"/>
              <a:t> to get good timing, or can a lightweight scaffold elicit it for free? </a:t>
            </a:r>
          </a:p>
          <a:p>
            <a:endParaRPr lang="en-US" dirty="0"/>
          </a:p>
          <a:p>
            <a:r>
              <a:rPr lang="en-US" dirty="0"/>
              <a:t>The whole game comes down to two decisions — and getting either wrong is costly.</a:t>
            </a:r>
          </a:p>
          <a:p>
            <a:r>
              <a:rPr lang="en-US" b="1" dirty="0"/>
              <a:t>WHEN to fire: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Too late → context is already polluted with stale tokens (the Friday moment).</a:t>
            </a:r>
          </a:p>
          <a:p>
            <a:pPr lvl="1"/>
            <a:r>
              <a:rPr lang="en-US" dirty="0"/>
              <a:t>Too early / mid-derivation → you discard the partial result you still needed.</a:t>
            </a:r>
          </a:p>
          <a:p>
            <a:r>
              <a:rPr lang="en-US" b="1" dirty="0"/>
              <a:t>HOW to summarize: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Drop the wrong things → you lose a verified fact and have to re-derive it.</a:t>
            </a:r>
          </a:p>
          <a:p>
            <a:r>
              <a:rPr lang="en-US" b="1" dirty="0"/>
              <a:t>Asymmetric cost:</a:t>
            </a:r>
            <a:r>
              <a:rPr lang="en-US" dirty="0"/>
              <a:t> a poorly-timed call discards the work you </a:t>
            </a:r>
            <a:r>
              <a:rPr lang="en-US" i="1" dirty="0"/>
              <a:t>needed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2044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question here is (read…)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I’d emphasize that there are two elements here: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 is the question of “when to compact” and the question of “how to compact”.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Getting either wrong is costly; for example,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Compaction occurs too late → context gets polluted with stale tokens.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Too early / mid-derivation → results in discarding the partial result you still needed.</a:t>
            </a:r>
          </a:p>
          <a:p>
            <a:endParaRPr lang="en-US" dirty="0"/>
          </a:p>
          <a:p>
            <a:r>
              <a:rPr lang="en-US" dirty="0"/>
              <a:t>Let’s make this more concrete with our running examples… </a:t>
            </a:r>
          </a:p>
          <a:p>
            <a:endParaRPr lang="en-US" dirty="0"/>
          </a:p>
          <a:p>
            <a:r>
              <a:rPr lang="en-US" dirty="0"/>
              <a:t>---- </a:t>
            </a:r>
          </a:p>
          <a:p>
            <a:r>
              <a:rPr lang="en-US" dirty="0"/>
              <a:t>- </a:t>
            </a:r>
            <a:r>
              <a:rPr lang="en-US" b="1" dirty="0"/>
              <a:t>is training necessary</a:t>
            </a:r>
            <a:r>
              <a:rPr lang="en-US" dirty="0"/>
              <a:t> to get good timing, or can a lightweight scaffold elicit it for free? </a:t>
            </a:r>
          </a:p>
          <a:p>
            <a:endParaRPr lang="en-US" dirty="0"/>
          </a:p>
          <a:p>
            <a:r>
              <a:rPr lang="en-US" dirty="0"/>
              <a:t>The whole game comes down to two decisions — and getting either wrong is costly.</a:t>
            </a:r>
          </a:p>
          <a:p>
            <a:r>
              <a:rPr lang="en-US" b="1" dirty="0"/>
              <a:t>WHEN to fire: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Too late → context is already polluted with stale tokens (the Friday moment).</a:t>
            </a:r>
          </a:p>
          <a:p>
            <a:pPr lvl="1"/>
            <a:r>
              <a:rPr lang="en-US" dirty="0"/>
              <a:t>Too early / mid-derivation → you discard the partial result you still needed.</a:t>
            </a:r>
          </a:p>
          <a:p>
            <a:r>
              <a:rPr lang="en-US" b="1" dirty="0"/>
              <a:t>HOW to summarize: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Drop the wrong things → you lose a verified fact and have to re-derive it.</a:t>
            </a:r>
          </a:p>
          <a:p>
            <a:r>
              <a:rPr lang="en-US" b="1" dirty="0"/>
              <a:t>Asymmetric cost:</a:t>
            </a:r>
            <a:r>
              <a:rPr lang="en-US" dirty="0"/>
              <a:t> a poorly-timed call discards the work you </a:t>
            </a:r>
            <a:r>
              <a:rPr lang="en-US" i="1" dirty="0"/>
              <a:t>needed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2044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A32-585C-FD25-8251-6A3E5CF8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7F3B4-69FF-5234-11F1-029C285C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1A9F-71ED-93F1-4585-9903EBE1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you can see an example I have taken from </a:t>
            </a:r>
            <a:r>
              <a:rPr lang="en-US" dirty="0" err="1"/>
              <a:t>BrowseComp</a:t>
            </a:r>
            <a:r>
              <a:rPr lang="en-US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question statement is a complex question.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 let’s simulate various baselines.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DE20-EDC6-1D46-F8BB-901C02C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100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D84-10C1-905B-AEC1-FC8BDE90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3C4F-C9D0-A944-6FC8-8961AB73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2F25B-0631-75CD-9692-995C72C6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(read and show the demo …) 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idea is quite simple and elegant.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Which is why the majority of the studies on context compaction use such framing.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E795-C7EE-0828-66CA-92E75B5C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305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23E2-354B-425A-1418-15233A73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3723E-24A3-FBAB-8CDC-3670B2577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146CB-718D-F0E4-850D-8EAA1858A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the big issue with this paradigm is that, because it commits to pre-determined intervals, it is not surprised that some of the compactions may be poorly-timed. So we think that we should be able to do better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04668-A6DF-E01C-F6CC-DE3E42BAC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3633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alternative that we’re proposing is Sel-co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687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alternative that we’re proposing is Self-Compact and it’s a very simple algorithm.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Here is a </a:t>
            </a:r>
            <a:r>
              <a:rPr lang="en-US" dirty="0" err="1"/>
              <a:t>psudocode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(read)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99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946-6929-83BA-868A-A4490455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99E43-E2E1-D3B7-145E-3B650D4FF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3116B-EAFA-A842-8B28-DACCCEF6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AAA7-5943-F27B-BF85-764779FE4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4599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946-6929-83BA-868A-A4490455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99E43-E2E1-D3B7-145E-3B650D4FF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3116B-EAFA-A842-8B28-DACCCEF6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AAA7-5943-F27B-BF85-764779FE4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4599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946-6929-83BA-868A-A4490455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99E43-E2E1-D3B7-145E-3B650D4FF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3116B-EAFA-A842-8B28-DACCCEF6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AAA7-5943-F27B-BF85-764779FE4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4599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946-6929-83BA-868A-A4490455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99E43-E2E1-D3B7-145E-3B650D4FF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3116B-EAFA-A842-8B28-DACCCEF6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AAA7-5943-F27B-BF85-764779FE4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45994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946-6929-83BA-868A-A4490455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99E43-E2E1-D3B7-145E-3B650D4FF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3116B-EAFA-A842-8B28-DACCCEF6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AAA7-5943-F27B-BF85-764779FE4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45994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B608-7142-6C84-76AB-A58275BB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DA074-3E86-8397-D858-AF36E7A98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7DC61-A919-D77C-31B4-4847FF2EA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FF3CA-11E3-945D-0B43-BE7AD8221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16665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C316-2EE7-A261-6CAF-C5F287D0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2A041-ECFD-4390-BD12-F6C13286A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3D8FD-C0D1-F8D3-3BAD-CC379F704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72EA8-CF89-4BD2-37D4-84A356F99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05937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C316-2EE7-A261-6CAF-C5F287D0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2A041-ECFD-4390-BD12-F6C13286A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3D8FD-C0D1-F8D3-3BAD-CC379F704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72EA8-CF89-4BD2-37D4-84A356F99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05937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346C-1EDF-8234-620F-C45F786E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0AFD5-1CCB-9CCF-9B75-83768373A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1DD40-4482-22AD-C884-FAE634981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6D2EC-5368-24EA-420D-1E823A0EA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9509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EA62-7BC3-3793-C577-CBF4073F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D519C-5997-9C5D-64DC-B30F25436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B9E6A-6C5F-8875-1FB5-972596E79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0FF47-BFEB-808E-741A-01DDBB111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4198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EA62-7BC3-3793-C577-CBF4073F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D519C-5997-9C5D-64DC-B30F25436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B9E6A-6C5F-8875-1FB5-972596E79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0FF47-BFEB-808E-741A-01DDBB111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4198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EA62-7BC3-3793-C577-CBF4073F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D519C-5997-9C5D-64DC-B30F25436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B9E6A-6C5F-8875-1FB5-972596E79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0FF47-BFEB-808E-741A-01DDBB111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4198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D4C71-7C27-B5ED-702C-0DFF159D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2F16D-BD6C-0842-1853-236E4D97E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34A73-F855-AB38-902C-F6E33B3C0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C70D7-7BC3-0814-7712-EB04A1B4E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96344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4C49-F7E4-BA96-9B16-F2629C31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5175-B103-F928-16CE-FA70627E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45E1-A934-34E5-D3DC-CFD7F4D6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E55B-4933-2BAC-7ACB-B1B1DFD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8647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4C49-F7E4-BA96-9B16-F2629C31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5175-B103-F928-16CE-FA70627E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45E1-A934-34E5-D3DC-CFD7F4D6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E55B-4933-2BAC-7ACB-B1B1DFD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8647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4C49-F7E4-BA96-9B16-F2629C31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5175-B103-F928-16CE-FA70627E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45E1-A934-34E5-D3DC-CFD7F4D6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E55B-4933-2BAC-7ACB-B1B1DFD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864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4C49-F7E4-BA96-9B16-F2629C31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5175-B103-F928-16CE-FA70627E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45E1-A934-34E5-D3DC-CFD7F4D6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E55B-4933-2BAC-7ACB-B1B1DFD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8647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4C49-F7E4-BA96-9B16-F2629C31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5175-B103-F928-16CE-FA70627E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45E1-A934-34E5-D3DC-CFD7F4D6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E55B-4933-2BAC-7ACB-B1B1DFD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864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4C49-F7E4-BA96-9B16-F2629C31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5175-B103-F928-16CE-FA70627E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45E1-A934-34E5-D3DC-CFD7F4D6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E55B-4933-2BAC-7ACB-B1B1DFD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0466-020E-8441-865C-4627A90EBD5B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8647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Before I show any empirical results, one thing that I want to briefly elaborate on other insights that make Self-Compact 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Obviously, our design is a scaffold around the off-the-shelf models.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there is no model training.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signal is coming is coming from the prompts. (the models had to be capable of tool-following)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the rubric prompt is playing a key role in making things work.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Specifically, we found two useful patterns in the prompt: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details that signal when a subtask is complete. So, the model can compact, before moving on to the next sub-task.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The other details is informing the model about when it may be stuck. This also happens sometimes that the models end up in a </a:t>
            </a:r>
            <a:r>
              <a:rPr lang="en-US" dirty="0" err="1"/>
              <a:t>doomsloop</a:t>
            </a:r>
            <a:r>
              <a:rPr lang="en-US" dirty="0"/>
              <a:t>. When stuck, consolidate the findings so the agent can reconsider its next step.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these were two patterns that were particularly helpful for making the rubric prompt effective.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817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Before I show any empirical results, one thing that I want to briefly elaborate on other insights that make Self-Compact 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Obviously, our design is a scaffold around the off-the-shelf models.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there is no model training.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signal is coming is coming from the prompts. (the models had to be capable of tool-following)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the rubric prompt is playing a key role in making things work.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Specifically, we found two useful patterns in the prompt: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details that signal when a subtask is complete. So, the model can compact, before moving on to the next sub-task.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The other details is informing the model about when it may be stuck. This also happens sometimes that the models end up in a </a:t>
            </a:r>
            <a:r>
              <a:rPr lang="en-US" dirty="0" err="1"/>
              <a:t>doomsloop</a:t>
            </a:r>
            <a:r>
              <a:rPr lang="en-US" dirty="0"/>
              <a:t>. When stuck, consolidate the findings so the agent can reconsider its next step.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these were two patterns that were particularly helpful for making the rubric prompt effective.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81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Before I show any empirical results, one thing that I want to briefly elaborate on other insights that make Self-Compact 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Obviously, our design is a scaffold around the off-the-shelf models.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there is no model training.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signal is coming is coming from the prompts. (the models had to be capable of tool-following)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the rubric prompt is playing a key role in making things work.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Specifically, we found two useful patterns in the prompt: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details that signal when a subtask is complete. So, the model can compact, before moving on to the next sub-task.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The other details is informing the model about when it may be stuck. This also happens sometimes that the models end up in a </a:t>
            </a:r>
            <a:r>
              <a:rPr lang="en-US" dirty="0" err="1"/>
              <a:t>doomsloop</a:t>
            </a:r>
            <a:r>
              <a:rPr lang="en-US" dirty="0"/>
              <a:t>. When stuck, consolidate the findings so the agent can reconsider its next step.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these were two patterns that were particularly helpful for making the rubric prompt effective.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817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Before I show any empirical results, one thing that I want to briefly elaborate on other insights that make Self-Compact 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Obviously, our design is a scaffold around the off-the-shelf models.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there is no model training.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signal is coming is coming from the prompts. (the models had to be capable of tool-following)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And the rubric prompt is playing a key role in making things work.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Specifically, we found two useful patterns in the prompt: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1. One is details that signal when a subtask is complete. So, the model can compact, before moving on to the next sub-task.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2. The other details is informing the model about when it may be stuck. This also happens sometimes that the models end up in a </a:t>
            </a:r>
            <a:r>
              <a:rPr lang="en-US" dirty="0" err="1"/>
              <a:t>doomsloop</a:t>
            </a:r>
            <a:r>
              <a:rPr lang="en-US" dirty="0"/>
              <a:t>. When stuck, consolidate the findings so the agent can reconsider its next step.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these were two patterns that were particularly helpful for making the rubric prompt effective.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817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96338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96338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96338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96338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Strongest method on all three: +5–9 points over no-compaction — </a:t>
            </a:r>
            <a:r>
              <a:rPr lang="en-US" i="1" dirty="0"/>
              <a:t>and</a:t>
            </a:r>
            <a:r>
              <a:rPr lang="en-US" dirty="0"/>
              <a:t> 30–70% cheaper per question.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4968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8700-F413-61AE-0193-5A667C06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1C4AD-C071-8634-D60D-525312520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63C6B-B990-4EDC-32FA-42A39B353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Strongest method on all three: +5–9 points over no-compaction — </a:t>
            </a:r>
            <a:r>
              <a:rPr lang="en-US" i="1" dirty="0"/>
              <a:t>and</a:t>
            </a:r>
            <a:r>
              <a:rPr lang="en-US" dirty="0"/>
              <a:t> 30–70% cheaper per question.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EBDE-ADB2-9FB5-8741-9DEB4EEC1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6580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95B9-ADD9-9875-676E-2346041E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8B274-D999-C77F-2793-22BD3BE13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31DC2-127E-254B-A057-97D11D655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Strongest method on all three: +5–9 points over no-compaction — </a:t>
            </a:r>
            <a:r>
              <a:rPr lang="en-US" i="1" dirty="0"/>
              <a:t>and</a:t>
            </a:r>
            <a:r>
              <a:rPr lang="en-US" dirty="0"/>
              <a:t> 30–70% cheaper per question.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25354-1B6B-1425-471E-8DBA029CB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58099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4362-E58F-9903-C9B1-22A497EF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A9329-74B8-4869-CBEE-D0755C645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606CE-0E70-611E-0703-8BA0C7EB0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Strongest method on all three: +5–9 points over no-compaction — </a:t>
            </a:r>
            <a:r>
              <a:rPr lang="en-US" i="1" dirty="0"/>
              <a:t>and</a:t>
            </a:r>
            <a:r>
              <a:rPr lang="en-US" dirty="0"/>
              <a:t> 30–70% cheaper per question.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F510-7331-4E73-0750-E9FD1357C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84563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4362-E58F-9903-C9B1-22A497EF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A9329-74B8-4869-CBEE-D0755C645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606CE-0E70-611E-0703-8BA0C7EB0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Strongest method on all three: +5–9 points over no-compaction — </a:t>
            </a:r>
            <a:r>
              <a:rPr lang="en-US" i="1" dirty="0"/>
              <a:t>and</a:t>
            </a:r>
            <a:r>
              <a:rPr lang="en-US" dirty="0"/>
              <a:t> 30–70% cheaper per question.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F510-7331-4E73-0750-E9FD1357C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84563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of context length when a summary fires in </a:t>
            </a:r>
            <a:r>
              <a:rPr lang="en-US" dirty="0" err="1"/>
              <a:t>BrowseComp</a:t>
            </a:r>
            <a:r>
              <a:rPr lang="en-US" dirty="0"/>
              <a:t> Plus. Top: </a:t>
            </a:r>
            <a:r>
              <a:rPr lang="en-US" dirty="0" err="1"/>
              <a:t>FixedInterval</a:t>
            </a:r>
            <a:r>
              <a:rPr lang="en-US" dirty="0"/>
              <a:t>: the policy compresses at a hard 30%-of-max-context budget (red dashed). Bottom: SELF-</a:t>
            </a:r>
          </a:p>
          <a:p>
            <a:r>
              <a:rPr lang="en-US" dirty="0"/>
              <a:t>COMPACT — the rubric fires when the model judges a sub-question resolved. Fixed-Interval pins</a:t>
            </a:r>
          </a:p>
          <a:p>
            <a:r>
              <a:rPr lang="en-US" dirty="0"/>
              <a:t>triggers at the threshold by construction; SELFCOMPACT spreads them across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3619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of context length when a summary fires in </a:t>
            </a:r>
            <a:r>
              <a:rPr lang="en-US" dirty="0" err="1"/>
              <a:t>BrowseComp</a:t>
            </a:r>
            <a:r>
              <a:rPr lang="en-US" dirty="0"/>
              <a:t> Plus. Top: </a:t>
            </a:r>
            <a:r>
              <a:rPr lang="en-US" dirty="0" err="1"/>
              <a:t>FixedInterval</a:t>
            </a:r>
            <a:r>
              <a:rPr lang="en-US" dirty="0"/>
              <a:t>: the policy compresses at a hard 30%-of-max-context budget (red dashed). Bottom: SELF-</a:t>
            </a:r>
          </a:p>
          <a:p>
            <a:r>
              <a:rPr lang="en-US" dirty="0"/>
              <a:t>COMPACT — the rubric fires when the model judges a sub-question resolved. Fixed-Interval pins</a:t>
            </a:r>
          </a:p>
          <a:p>
            <a:r>
              <a:rPr lang="en-US" dirty="0"/>
              <a:t>triggers at the threshold by construction; SELFCOMPACT spreads them across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3619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90358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90358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90358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1A79-7B3C-423D-7FB7-F23376CF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E58A2-8FC4-FF7E-445D-304CDE9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E7FD-51A7-B194-65D3-A24139C8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C848-428F-5E93-8FAC-0D022FFE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72184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1A79-7B3C-423D-7FB7-F23376CF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E58A2-8FC4-FF7E-445D-304CDE9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E7FD-51A7-B194-65D3-A24139C8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C848-428F-5E93-8FAC-0D022FFE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72184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1A79-7B3C-423D-7FB7-F23376CF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E58A2-8FC4-FF7E-445D-304CDE9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E7FD-51A7-B194-65D3-A24139C8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C848-428F-5E93-8FAC-0D022FFE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72184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1A79-7B3C-423D-7FB7-F23376CF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E58A2-8FC4-FF7E-445D-304CDE9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E7FD-51A7-B194-65D3-A24139C8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C848-428F-5E93-8FAC-0D022FFE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72184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1A79-7B3C-423D-7FB7-F23376CF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E58A2-8FC4-FF7E-445D-304CDE9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E7FD-51A7-B194-65D3-A24139C8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C848-428F-5E93-8FAC-0D022FFE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72184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1A79-7B3C-423D-7FB7-F23376CF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E58A2-8FC4-FF7E-445D-304CDE9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E7FD-51A7-B194-65D3-A24139C8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C848-428F-5E93-8FAC-0D022FFE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EFFCD-2707-464E-8668-7D1BDDA9873E}" type="slidenum">
              <a:rPr lang="en-US" smtClean="0"/>
              <a:pPr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7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50428" y="2091617"/>
            <a:ext cx="9159765" cy="1909762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50428" y="4198386"/>
            <a:ext cx="9159765" cy="8340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something extra to this if you like</a:t>
            </a:r>
          </a:p>
        </p:txBody>
      </p:sp>
    </p:spTree>
    <p:extLst>
      <p:ext uri="{BB962C8B-B14F-4D97-AF65-F5344CB8AC3E}">
        <p14:creationId xmlns:p14="http://schemas.microsoft.com/office/powerpoint/2010/main" val="265900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DC36-8356-5740-92A0-F32405C3E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963807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BB3F7-BD50-304A-8949-9A499BFD2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2771" y="3602038"/>
            <a:ext cx="9758855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669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DC36-8356-5740-92A0-F32405C3E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906" y="304239"/>
            <a:ext cx="10914926" cy="1748158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BB3F7-BD50-304A-8949-9A499BFD2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256" y="479423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25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D929-0714-2648-8C25-0283B166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221756"/>
            <a:ext cx="11830050" cy="100647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7F10-A93F-6241-8C35-0375AF297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DC71061-0BFF-3847-9AC2-9B89AD1B0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56084" y="6497505"/>
            <a:ext cx="530225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6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238F4E-C287-2836-630C-203C88D54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B7A92-5EF2-F5B5-406A-8A6E16952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56084" y="6497505"/>
            <a:ext cx="530225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ADF71D-1518-5EC2-1E2E-C1D0C164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221755"/>
            <a:ext cx="11830050" cy="100647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483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294A-189C-ED42-BA56-CA9AC5EF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2B1B7-9947-3845-B8E0-2012946C5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974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083EC3A-EB3E-7345-B46A-27ACBD087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3721" y="6326005"/>
            <a:ext cx="5302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6B2A9-E175-7F40-B993-EC9D598FC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94F01B-B209-594F-BAFD-824E7CC2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8865"/>
            <a:ext cx="10515600" cy="2288865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997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083EC3A-EB3E-7345-B46A-27ACBD087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7017"/>
            <a:ext cx="5302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6B2A9-E175-7F40-B993-EC9D598FC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4B19BE-D489-B545-8B09-E36213AE6617}"/>
              </a:ext>
            </a:extLst>
          </p:cNvPr>
          <p:cNvSpPr/>
          <p:nvPr userDrawn="1"/>
        </p:nvSpPr>
        <p:spPr>
          <a:xfrm>
            <a:off x="0" y="735980"/>
            <a:ext cx="12192000" cy="2693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solidFill>
                <a:schemeClr val="tx2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A8ACAB-4798-2148-B6FB-DF61A847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10"/>
            <a:ext cx="10515600" cy="2288865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D1FE82-8E3B-0A46-AD93-005C43A09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115" y="4248165"/>
            <a:ext cx="10929769" cy="1482250"/>
          </a:xfrm>
        </p:spPr>
        <p:txBody>
          <a:bodyPr>
            <a:normAutofit/>
          </a:bodyPr>
          <a:lstStyle>
            <a:lvl1pPr marL="0" indent="0" algn="ctr">
              <a:buNone/>
              <a:defRPr sz="2100" b="0">
                <a:solidFill>
                  <a:srgbClr val="57595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8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3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A3AE55B-C10E-6E47-8794-001829270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4440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CF84D15-F03F-D54A-9E48-12212D4D4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55378"/>
            <a:ext cx="10515600" cy="4824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563D-C0A6-CD4E-A739-F924D1FC0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5924" y="6479918"/>
            <a:ext cx="6260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solidFill>
                  <a:schemeClr val="tx1">
                    <a:tint val="75000"/>
                  </a:schemeClr>
                </a:solidFill>
                <a:latin typeface="Avenir Book" panose="02000503020000020003" pitchFamily="2" charset="0"/>
              </a:defRPr>
            </a:lvl1pPr>
          </a:lstStyle>
          <a:p>
            <a:pPr>
              <a:defRPr/>
            </a:pPr>
            <a:fld id="{0DBE22DD-494E-1849-B805-BC38FDC97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14" r:id="rId2"/>
    <p:sldLayoutId id="2147483726" r:id="rId3"/>
    <p:sldLayoutId id="2147483715" r:id="rId4"/>
    <p:sldLayoutId id="2147483694" r:id="rId5"/>
    <p:sldLayoutId id="2147483716" r:id="rId6"/>
    <p:sldLayoutId id="2147483706" r:id="rId7"/>
    <p:sldLayoutId id="2147483710" r:id="rId8"/>
    <p:sldLayoutId id="2147483727" r:id="rId9"/>
  </p:sldLayoutIdLst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44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org&amp;utm_campaign=index&amp;utm_content=thumbnai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org&amp;utm_campaign=index&amp;utm_content=thumbnai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org&amp;utm_campaign=index&amp;utm_content=thumbnai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org&amp;utm_campaign=index&amp;utm_content=thumbnai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9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BFF_4211C85F.xm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0_6C58D866.xm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1_5A494B75.xm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2_1A60B65F.xm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3_DE58BABF.xml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4_88618B90.xml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5_CA09DC9D.xml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6_CA471288.xml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9.xml"/></Relationships>
</file>

<file path=ppt/slides/_rels/slide1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7_29606C9F.xml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9.xml"/></Relationships>
</file>

<file path=ppt/slides/_rels/slide1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8_B6BFD99E.xml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9.xml"/></Relationships>
</file>

<file path=ppt/slides/_rels/slide1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9_F01CAE6A.xml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9.xml"/></Relationships>
</file>

<file path=ppt/slides/_rels/slide1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A_2D30D1BE.xml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B_AB33CB4A.xml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9.xml"/></Relationships>
</file>

<file path=ppt/slides/_rels/slide1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C_B87F084D.xml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D_BBE1A8B9.xm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9.xml"/></Relationships>
</file>

<file path=ppt/slides/_rels/slide1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E_1F2582A.xm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9.xml"/></Relationships>
</file>

<file path=ppt/slides/_rels/slide1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F_B80E35F7.xml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9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9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9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9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9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9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9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9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9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9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9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9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9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9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9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9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5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5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6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8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0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4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64">
    <p:spTree>
      <p:nvGrpSpPr>
        <p:cNvPr id="1" name="">
          <a:extLst>
            <a:ext uri="{FF2B5EF4-FFF2-40B4-BE49-F238E27FC236}">
              <a16:creationId xmlns:a16="http://schemas.microsoft.com/office/drawing/2014/main" id="{548E1BDB-4716-ED94-ECE3-35933A87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D797-60EF-3175-B992-1CE3EFE56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17" y="1983741"/>
            <a:ext cx="11658600" cy="19097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tx2"/>
                </a:solidFill>
              </a:rPr>
              <a:t>Long-running agents: </a:t>
            </a:r>
            <a:br>
              <a:rPr lang="en-US" sz="5400" dirty="0">
                <a:solidFill>
                  <a:schemeClr val="tx2"/>
                </a:solidFill>
              </a:rPr>
            </a:br>
            <a:r>
              <a:rPr lang="en-US" sz="5400" dirty="0">
                <a:solidFill>
                  <a:schemeClr val="tx2"/>
                </a:solidFill>
              </a:rPr>
              <a:t>the long and short of it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C05F-5462-1120-B789-AD06EB9A9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3519" y="4740827"/>
            <a:ext cx="8551090" cy="834038"/>
          </a:xfrm>
        </p:spPr>
        <p:txBody>
          <a:bodyPr/>
          <a:lstStyle/>
          <a:p>
            <a:pPr algn="ctr"/>
            <a:r>
              <a:rPr lang="en-US" dirty="0"/>
              <a:t>Daniel Khashabi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  <p:pic>
        <p:nvPicPr>
          <p:cNvPr id="4" name="Google Shape;13;p2">
            <a:extLst>
              <a:ext uri="{FF2B5EF4-FFF2-40B4-BE49-F238E27FC236}">
                <a16:creationId xmlns:a16="http://schemas.microsoft.com/office/drawing/2014/main" id="{8AEC2524-7369-179D-9239-8562ECBD8B9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620" y="5243671"/>
            <a:ext cx="2443038" cy="662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805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7DF2-9360-6444-E8C2-83F2F0CA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today: agents are all the rage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90D18-0F49-1B0B-AEF3-5AB1334B0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9" name="Google Shape;68;p15">
            <a:extLst>
              <a:ext uri="{FF2B5EF4-FFF2-40B4-BE49-F238E27FC236}">
                <a16:creationId xmlns:a16="http://schemas.microsoft.com/office/drawing/2014/main" id="{97AA7E7A-BC0F-0171-A83C-3B1245E8E6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4" y="2080923"/>
            <a:ext cx="1755833" cy="175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B7607D53-9EED-837D-9D24-87CD8880DD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302" t="3286" r="4165" b="5181"/>
          <a:stretch/>
        </p:blipFill>
        <p:spPr>
          <a:xfrm>
            <a:off x="7058710" y="2080934"/>
            <a:ext cx="1755835" cy="175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5">
            <a:extLst>
              <a:ext uri="{FF2B5EF4-FFF2-40B4-BE49-F238E27FC236}">
                <a16:creationId xmlns:a16="http://schemas.microsoft.com/office/drawing/2014/main" id="{78CA37B2-40B6-CF03-EFD7-6FDAAACDCEFE}"/>
              </a:ext>
            </a:extLst>
          </p:cNvPr>
          <p:cNvSpPr txBox="1"/>
          <p:nvPr/>
        </p:nvSpPr>
        <p:spPr>
          <a:xfrm>
            <a:off x="5094335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Claude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71;p15">
            <a:extLst>
              <a:ext uri="{FF2B5EF4-FFF2-40B4-BE49-F238E27FC236}">
                <a16:creationId xmlns:a16="http://schemas.microsoft.com/office/drawing/2014/main" id="{733127E7-308A-2F36-FB87-501AF5E573DC}"/>
              </a:ext>
            </a:extLst>
          </p:cNvPr>
          <p:cNvSpPr txBox="1"/>
          <p:nvPr/>
        </p:nvSpPr>
        <p:spPr>
          <a:xfrm>
            <a:off x="6982427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Codex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" name="Picture 21" descr="Gemini CLI - Terminal AI Coding Agent - Terminal Trove">
            <a:extLst>
              <a:ext uri="{FF2B5EF4-FFF2-40B4-BE49-F238E27FC236}">
                <a16:creationId xmlns:a16="http://schemas.microsoft.com/office/drawing/2014/main" id="{07F870E3-7CAB-377E-BA0B-05CC1D942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10" y="2014860"/>
            <a:ext cx="1998832" cy="1998832"/>
          </a:xfrm>
          <a:prstGeom prst="rect">
            <a:avLst/>
          </a:prstGeom>
        </p:spPr>
      </p:pic>
      <p:sp>
        <p:nvSpPr>
          <p:cNvPr id="23" name="Google Shape;70;p15">
            <a:extLst>
              <a:ext uri="{FF2B5EF4-FFF2-40B4-BE49-F238E27FC236}">
                <a16:creationId xmlns:a16="http://schemas.microsoft.com/office/drawing/2014/main" id="{19664DBE-58D7-46E5-7619-C8DCAEEFD836}"/>
              </a:ext>
            </a:extLst>
          </p:cNvPr>
          <p:cNvSpPr txBox="1"/>
          <p:nvPr/>
        </p:nvSpPr>
        <p:spPr>
          <a:xfrm>
            <a:off x="3261982" y="368514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Gemini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  <p:extLst>
      <p:ext uri="{BB962C8B-B14F-4D97-AF65-F5344CB8AC3E}">
        <p14:creationId xmlns:p14="http://schemas.microsoft.com/office/powerpoint/2010/main" val="2477467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7DF2-9360-6444-E8C2-83F2F0CA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today: agents are all the rage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90D18-0F49-1B0B-AEF3-5AB1334B0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9" name="Google Shape;68;p15">
            <a:extLst>
              <a:ext uri="{FF2B5EF4-FFF2-40B4-BE49-F238E27FC236}">
                <a16:creationId xmlns:a16="http://schemas.microsoft.com/office/drawing/2014/main" id="{97AA7E7A-BC0F-0171-A83C-3B1245E8E6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4" y="2080923"/>
            <a:ext cx="1755833" cy="175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B7607D53-9EED-837D-9D24-87CD8880DD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302" t="3286" r="4165" b="5181"/>
          <a:stretch/>
        </p:blipFill>
        <p:spPr>
          <a:xfrm>
            <a:off x="7058710" y="2080934"/>
            <a:ext cx="1755835" cy="175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5">
            <a:extLst>
              <a:ext uri="{FF2B5EF4-FFF2-40B4-BE49-F238E27FC236}">
                <a16:creationId xmlns:a16="http://schemas.microsoft.com/office/drawing/2014/main" id="{78CA37B2-40B6-CF03-EFD7-6FDAAACDCEFE}"/>
              </a:ext>
            </a:extLst>
          </p:cNvPr>
          <p:cNvSpPr txBox="1"/>
          <p:nvPr/>
        </p:nvSpPr>
        <p:spPr>
          <a:xfrm>
            <a:off x="5094335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Claude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71;p15">
            <a:extLst>
              <a:ext uri="{FF2B5EF4-FFF2-40B4-BE49-F238E27FC236}">
                <a16:creationId xmlns:a16="http://schemas.microsoft.com/office/drawing/2014/main" id="{733127E7-308A-2F36-FB87-501AF5E573DC}"/>
              </a:ext>
            </a:extLst>
          </p:cNvPr>
          <p:cNvSpPr txBox="1"/>
          <p:nvPr/>
        </p:nvSpPr>
        <p:spPr>
          <a:xfrm>
            <a:off x="6982427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Codex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" name="Picture 21" descr="Gemini CLI - Terminal AI Coding Agent - Terminal Trove">
            <a:extLst>
              <a:ext uri="{FF2B5EF4-FFF2-40B4-BE49-F238E27FC236}">
                <a16:creationId xmlns:a16="http://schemas.microsoft.com/office/drawing/2014/main" id="{07F870E3-7CAB-377E-BA0B-05CC1D942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10" y="2014860"/>
            <a:ext cx="1998832" cy="1998832"/>
          </a:xfrm>
          <a:prstGeom prst="rect">
            <a:avLst/>
          </a:prstGeom>
        </p:spPr>
      </p:pic>
      <p:sp>
        <p:nvSpPr>
          <p:cNvPr id="23" name="Google Shape;70;p15">
            <a:extLst>
              <a:ext uri="{FF2B5EF4-FFF2-40B4-BE49-F238E27FC236}">
                <a16:creationId xmlns:a16="http://schemas.microsoft.com/office/drawing/2014/main" id="{19664DBE-58D7-46E5-7619-C8DCAEEFD836}"/>
              </a:ext>
            </a:extLst>
          </p:cNvPr>
          <p:cNvSpPr txBox="1"/>
          <p:nvPr/>
        </p:nvSpPr>
        <p:spPr>
          <a:xfrm>
            <a:off x="3261982" y="368514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Gemini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9CEB9167-7E00-43D0-CB92-ABF2D44BE24E}"/>
              </a:ext>
            </a:extLst>
          </p:cNvPr>
          <p:cNvSpPr/>
          <p:nvPr/>
        </p:nvSpPr>
        <p:spPr>
          <a:xfrm>
            <a:off x="3732243" y="4689448"/>
            <a:ext cx="5162725" cy="1768881"/>
          </a:xfrm>
          <a:prstGeom prst="wedgeRoundRectCallout">
            <a:avLst>
              <a:gd name="adj1" fmla="val -15037"/>
              <a:gd name="adj2" fmla="val -7292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agents: 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a feature, run tests, and revise until it works.</a:t>
            </a:r>
          </a:p>
        </p:txBody>
      </p:sp>
    </p:spTree>
    <p:extLst>
      <p:ext uri="{BB962C8B-B14F-4D97-AF65-F5344CB8AC3E}">
        <p14:creationId xmlns:p14="http://schemas.microsoft.com/office/powerpoint/2010/main" val="58193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67">
    <p:spTree>
      <p:nvGrpSpPr>
        <p:cNvPr id="1" name="">
          <a:extLst>
            <a:ext uri="{FF2B5EF4-FFF2-40B4-BE49-F238E27FC236}">
              <a16:creationId xmlns:a16="http://schemas.microsoft.com/office/drawing/2014/main" id="{52B83297-CCA8-38D0-4D2A-3DCA8FE9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C58F-03DC-1E52-F0C9-8C83ADFD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today: agents are all the rage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59428-6BD5-D133-9927-A6EFB0927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9" name="Google Shape;68;p15">
            <a:extLst>
              <a:ext uri="{FF2B5EF4-FFF2-40B4-BE49-F238E27FC236}">
                <a16:creationId xmlns:a16="http://schemas.microsoft.com/office/drawing/2014/main" id="{551561B8-1869-9E11-9C07-20893A279C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4" y="2080923"/>
            <a:ext cx="1755833" cy="175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88A8F907-146A-C56D-2859-8ED924F212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302" t="3286" r="4165" b="5181"/>
          <a:stretch/>
        </p:blipFill>
        <p:spPr>
          <a:xfrm>
            <a:off x="7058710" y="2080934"/>
            <a:ext cx="1755835" cy="175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5">
            <a:extLst>
              <a:ext uri="{FF2B5EF4-FFF2-40B4-BE49-F238E27FC236}">
                <a16:creationId xmlns:a16="http://schemas.microsoft.com/office/drawing/2014/main" id="{602E70F4-99BD-A013-AF06-F92A41EA3E89}"/>
              </a:ext>
            </a:extLst>
          </p:cNvPr>
          <p:cNvSpPr txBox="1"/>
          <p:nvPr/>
        </p:nvSpPr>
        <p:spPr>
          <a:xfrm>
            <a:off x="5094335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Claude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71;p15">
            <a:extLst>
              <a:ext uri="{FF2B5EF4-FFF2-40B4-BE49-F238E27FC236}">
                <a16:creationId xmlns:a16="http://schemas.microsoft.com/office/drawing/2014/main" id="{B8888232-6299-8B07-F6A3-B0E812D4E74B}"/>
              </a:ext>
            </a:extLst>
          </p:cNvPr>
          <p:cNvSpPr txBox="1"/>
          <p:nvPr/>
        </p:nvSpPr>
        <p:spPr>
          <a:xfrm>
            <a:off x="6982427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Codex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" name="Picture 21" descr="Gemini CLI - Terminal AI Coding Agent - Terminal Trove">
            <a:extLst>
              <a:ext uri="{FF2B5EF4-FFF2-40B4-BE49-F238E27FC236}">
                <a16:creationId xmlns:a16="http://schemas.microsoft.com/office/drawing/2014/main" id="{3212B113-F3A0-0F3C-2215-6C5F880AF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10" y="2014860"/>
            <a:ext cx="1998832" cy="1998832"/>
          </a:xfrm>
          <a:prstGeom prst="rect">
            <a:avLst/>
          </a:prstGeom>
        </p:spPr>
      </p:pic>
      <p:sp>
        <p:nvSpPr>
          <p:cNvPr id="23" name="Google Shape;70;p15">
            <a:extLst>
              <a:ext uri="{FF2B5EF4-FFF2-40B4-BE49-F238E27FC236}">
                <a16:creationId xmlns:a16="http://schemas.microsoft.com/office/drawing/2014/main" id="{85681A26-B56F-7D7B-884E-6129E64CFAF3}"/>
              </a:ext>
            </a:extLst>
          </p:cNvPr>
          <p:cNvSpPr txBox="1"/>
          <p:nvPr/>
        </p:nvSpPr>
        <p:spPr>
          <a:xfrm>
            <a:off x="3261982" y="368514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Gemini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" name="Google Shape;87;p17">
            <a:extLst>
              <a:ext uri="{FF2B5EF4-FFF2-40B4-BE49-F238E27FC236}">
                <a16:creationId xmlns:a16="http://schemas.microsoft.com/office/drawing/2014/main" id="{18D23FBC-B8D9-82E4-279B-4BC1A7725B99}"/>
              </a:ext>
            </a:extLst>
          </p:cNvPr>
          <p:cNvSpPr txBox="1"/>
          <p:nvPr/>
        </p:nvSpPr>
        <p:spPr>
          <a:xfrm>
            <a:off x="615877" y="3708744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Copilots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" name="Picture 6" descr="File:Google Gemini icon 2025.svg - Wikimedia Commons">
            <a:extLst>
              <a:ext uri="{FF2B5EF4-FFF2-40B4-BE49-F238E27FC236}">
                <a16:creationId xmlns:a16="http://schemas.microsoft.com/office/drawing/2014/main" id="{2FF7B75F-38EA-4D63-525E-9B6704A2E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10" y="2374335"/>
            <a:ext cx="1348665" cy="13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3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68">
    <p:spTree>
      <p:nvGrpSpPr>
        <p:cNvPr id="1" name="">
          <a:extLst>
            <a:ext uri="{FF2B5EF4-FFF2-40B4-BE49-F238E27FC236}">
              <a16:creationId xmlns:a16="http://schemas.microsoft.com/office/drawing/2014/main" id="{52B83297-CCA8-38D0-4D2A-3DCA8FE9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C58F-03DC-1E52-F0C9-8C83ADFD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today: agents are all the rage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59428-6BD5-D133-9927-A6EFB0927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9" name="Google Shape;68;p15">
            <a:extLst>
              <a:ext uri="{FF2B5EF4-FFF2-40B4-BE49-F238E27FC236}">
                <a16:creationId xmlns:a16="http://schemas.microsoft.com/office/drawing/2014/main" id="{551561B8-1869-9E11-9C07-20893A279C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4" y="2080923"/>
            <a:ext cx="1755833" cy="175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88A8F907-146A-C56D-2859-8ED924F212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302" t="3286" r="4165" b="5181"/>
          <a:stretch/>
        </p:blipFill>
        <p:spPr>
          <a:xfrm>
            <a:off x="7058710" y="2080934"/>
            <a:ext cx="1755835" cy="175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5">
            <a:extLst>
              <a:ext uri="{FF2B5EF4-FFF2-40B4-BE49-F238E27FC236}">
                <a16:creationId xmlns:a16="http://schemas.microsoft.com/office/drawing/2014/main" id="{602E70F4-99BD-A013-AF06-F92A41EA3E89}"/>
              </a:ext>
            </a:extLst>
          </p:cNvPr>
          <p:cNvSpPr txBox="1"/>
          <p:nvPr/>
        </p:nvSpPr>
        <p:spPr>
          <a:xfrm>
            <a:off x="5094335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Claude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71;p15">
            <a:extLst>
              <a:ext uri="{FF2B5EF4-FFF2-40B4-BE49-F238E27FC236}">
                <a16:creationId xmlns:a16="http://schemas.microsoft.com/office/drawing/2014/main" id="{B8888232-6299-8B07-F6A3-B0E812D4E74B}"/>
              </a:ext>
            </a:extLst>
          </p:cNvPr>
          <p:cNvSpPr txBox="1"/>
          <p:nvPr/>
        </p:nvSpPr>
        <p:spPr>
          <a:xfrm>
            <a:off x="6982427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Codex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" name="Picture 21" descr="Gemini CLI - Terminal AI Coding Agent - Terminal Trove">
            <a:extLst>
              <a:ext uri="{FF2B5EF4-FFF2-40B4-BE49-F238E27FC236}">
                <a16:creationId xmlns:a16="http://schemas.microsoft.com/office/drawing/2014/main" id="{3212B113-F3A0-0F3C-2215-6C5F880AF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10" y="2014860"/>
            <a:ext cx="1998832" cy="1998832"/>
          </a:xfrm>
          <a:prstGeom prst="rect">
            <a:avLst/>
          </a:prstGeom>
        </p:spPr>
      </p:pic>
      <p:sp>
        <p:nvSpPr>
          <p:cNvPr id="23" name="Google Shape;70;p15">
            <a:extLst>
              <a:ext uri="{FF2B5EF4-FFF2-40B4-BE49-F238E27FC236}">
                <a16:creationId xmlns:a16="http://schemas.microsoft.com/office/drawing/2014/main" id="{85681A26-B56F-7D7B-884E-6129E64CFAF3}"/>
              </a:ext>
            </a:extLst>
          </p:cNvPr>
          <p:cNvSpPr txBox="1"/>
          <p:nvPr/>
        </p:nvSpPr>
        <p:spPr>
          <a:xfrm>
            <a:off x="3261982" y="368514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Gemini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FCF7D822-C906-62A5-BE6D-9B3BBDF28F75}"/>
              </a:ext>
            </a:extLst>
          </p:cNvPr>
          <p:cNvSpPr/>
          <p:nvPr/>
        </p:nvSpPr>
        <p:spPr>
          <a:xfrm>
            <a:off x="597023" y="4645905"/>
            <a:ext cx="4907665" cy="1804757"/>
          </a:xfrm>
          <a:prstGeom prst="wedgeRoundRectCallout">
            <a:avLst>
              <a:gd name="adj1" fmla="val -27490"/>
              <a:gd name="adj2" fmla="val -6587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tr" sz="2800" b="1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Day-to-day copilots: </a:t>
            </a:r>
          </a:p>
          <a:p>
            <a:pPr algn="ctr"/>
            <a:r>
              <a:rPr lang="tr" sz="28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Coordinating across users, their emails, documents, and interaction history.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87;p17">
            <a:extLst>
              <a:ext uri="{FF2B5EF4-FFF2-40B4-BE49-F238E27FC236}">
                <a16:creationId xmlns:a16="http://schemas.microsoft.com/office/drawing/2014/main" id="{18D23FBC-B8D9-82E4-279B-4BC1A7725B99}"/>
              </a:ext>
            </a:extLst>
          </p:cNvPr>
          <p:cNvSpPr txBox="1"/>
          <p:nvPr/>
        </p:nvSpPr>
        <p:spPr>
          <a:xfrm>
            <a:off x="615877" y="3708744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Copilots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" name="Picture 6" descr="File:Google Gemini icon 2025.svg - Wikimedia Commons">
            <a:extLst>
              <a:ext uri="{FF2B5EF4-FFF2-40B4-BE49-F238E27FC236}">
                <a16:creationId xmlns:a16="http://schemas.microsoft.com/office/drawing/2014/main" id="{2FF7B75F-38EA-4D63-525E-9B6704A2E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10" y="2374335"/>
            <a:ext cx="1348665" cy="13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69">
    <p:spTree>
      <p:nvGrpSpPr>
        <p:cNvPr id="1" name="">
          <a:extLst>
            <a:ext uri="{FF2B5EF4-FFF2-40B4-BE49-F238E27FC236}">
              <a16:creationId xmlns:a16="http://schemas.microsoft.com/office/drawing/2014/main" id="{97823FA4-A1E2-1848-39ED-2D9C9272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60C2-A796-61A5-6678-C29C9DD8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today: agents are all the rage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E9050-A664-9738-4C1D-61643E8CF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9" name="Google Shape;68;p15">
            <a:extLst>
              <a:ext uri="{FF2B5EF4-FFF2-40B4-BE49-F238E27FC236}">
                <a16:creationId xmlns:a16="http://schemas.microsoft.com/office/drawing/2014/main" id="{24AC27ED-EF75-8B27-554B-D175714821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4" y="2080923"/>
            <a:ext cx="1755833" cy="175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C9BBA09F-E213-959A-C611-149BE6DF07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302" t="3286" r="4165" b="5181"/>
          <a:stretch/>
        </p:blipFill>
        <p:spPr>
          <a:xfrm>
            <a:off x="7058710" y="2080934"/>
            <a:ext cx="1755835" cy="175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5">
            <a:extLst>
              <a:ext uri="{FF2B5EF4-FFF2-40B4-BE49-F238E27FC236}">
                <a16:creationId xmlns:a16="http://schemas.microsoft.com/office/drawing/2014/main" id="{ED6E1729-C142-F75A-FFAE-D99060357722}"/>
              </a:ext>
            </a:extLst>
          </p:cNvPr>
          <p:cNvSpPr txBox="1"/>
          <p:nvPr/>
        </p:nvSpPr>
        <p:spPr>
          <a:xfrm>
            <a:off x="5094335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Claude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71;p15">
            <a:extLst>
              <a:ext uri="{FF2B5EF4-FFF2-40B4-BE49-F238E27FC236}">
                <a16:creationId xmlns:a16="http://schemas.microsoft.com/office/drawing/2014/main" id="{236665B8-A34F-3879-86F9-E7B97E631E7F}"/>
              </a:ext>
            </a:extLst>
          </p:cNvPr>
          <p:cNvSpPr txBox="1"/>
          <p:nvPr/>
        </p:nvSpPr>
        <p:spPr>
          <a:xfrm>
            <a:off x="6982427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Codex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" name="Picture 21" descr="Gemini CLI - Terminal AI Coding Agent - Terminal Trove">
            <a:extLst>
              <a:ext uri="{FF2B5EF4-FFF2-40B4-BE49-F238E27FC236}">
                <a16:creationId xmlns:a16="http://schemas.microsoft.com/office/drawing/2014/main" id="{1AA6A917-B302-462D-A8AC-47DB177B9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10" y="2014860"/>
            <a:ext cx="1998832" cy="1998832"/>
          </a:xfrm>
          <a:prstGeom prst="rect">
            <a:avLst/>
          </a:prstGeom>
        </p:spPr>
      </p:pic>
      <p:sp>
        <p:nvSpPr>
          <p:cNvPr id="23" name="Google Shape;70;p15">
            <a:extLst>
              <a:ext uri="{FF2B5EF4-FFF2-40B4-BE49-F238E27FC236}">
                <a16:creationId xmlns:a16="http://schemas.microsoft.com/office/drawing/2014/main" id="{E82B7F55-5755-9B69-6660-7EB79264DA80}"/>
              </a:ext>
            </a:extLst>
          </p:cNvPr>
          <p:cNvSpPr txBox="1"/>
          <p:nvPr/>
        </p:nvSpPr>
        <p:spPr>
          <a:xfrm>
            <a:off x="3261982" y="368514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Gemini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" name="Google Shape;78;p16">
            <a:extLst>
              <a:ext uri="{FF2B5EF4-FFF2-40B4-BE49-F238E27FC236}">
                <a16:creationId xmlns:a16="http://schemas.microsoft.com/office/drawing/2014/main" id="{12B06452-0081-AA9F-43AF-2F6AD62A6FC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41089" y="2328269"/>
            <a:ext cx="1393623" cy="13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7;p17">
            <a:extLst>
              <a:ext uri="{FF2B5EF4-FFF2-40B4-BE49-F238E27FC236}">
                <a16:creationId xmlns:a16="http://schemas.microsoft.com/office/drawing/2014/main" id="{C97A04EC-C44B-EA3F-4744-A8D1079D7F7B}"/>
              </a:ext>
            </a:extLst>
          </p:cNvPr>
          <p:cNvSpPr txBox="1"/>
          <p:nvPr/>
        </p:nvSpPr>
        <p:spPr>
          <a:xfrm>
            <a:off x="615877" y="3708744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Copilots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" name="Picture 6" descr="File:Google Gemini icon 2025.svg - Wikimedia Commons">
            <a:extLst>
              <a:ext uri="{FF2B5EF4-FFF2-40B4-BE49-F238E27FC236}">
                <a16:creationId xmlns:a16="http://schemas.microsoft.com/office/drawing/2014/main" id="{2EC58104-5DA9-E107-D406-656DFCF290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10" y="2374335"/>
            <a:ext cx="1348665" cy="13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5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0">
    <p:spTree>
      <p:nvGrpSpPr>
        <p:cNvPr id="1" name="">
          <a:extLst>
            <a:ext uri="{FF2B5EF4-FFF2-40B4-BE49-F238E27FC236}">
              <a16:creationId xmlns:a16="http://schemas.microsoft.com/office/drawing/2014/main" id="{97823FA4-A1E2-1848-39ED-2D9C9272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60C2-A796-61A5-6678-C29C9DD8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today: agents are all the rage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E9050-A664-9738-4C1D-61643E8CF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9" name="Google Shape;68;p15">
            <a:extLst>
              <a:ext uri="{FF2B5EF4-FFF2-40B4-BE49-F238E27FC236}">
                <a16:creationId xmlns:a16="http://schemas.microsoft.com/office/drawing/2014/main" id="{24AC27ED-EF75-8B27-554B-D175714821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4" y="2080923"/>
            <a:ext cx="1755833" cy="175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C9BBA09F-E213-959A-C611-149BE6DF07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302" t="3286" r="4165" b="5181"/>
          <a:stretch/>
        </p:blipFill>
        <p:spPr>
          <a:xfrm>
            <a:off x="7058710" y="2080934"/>
            <a:ext cx="1755835" cy="175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5">
            <a:extLst>
              <a:ext uri="{FF2B5EF4-FFF2-40B4-BE49-F238E27FC236}">
                <a16:creationId xmlns:a16="http://schemas.microsoft.com/office/drawing/2014/main" id="{ED6E1729-C142-F75A-FFAE-D99060357722}"/>
              </a:ext>
            </a:extLst>
          </p:cNvPr>
          <p:cNvSpPr txBox="1"/>
          <p:nvPr/>
        </p:nvSpPr>
        <p:spPr>
          <a:xfrm>
            <a:off x="5094335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Claude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71;p15">
            <a:extLst>
              <a:ext uri="{FF2B5EF4-FFF2-40B4-BE49-F238E27FC236}">
                <a16:creationId xmlns:a16="http://schemas.microsoft.com/office/drawing/2014/main" id="{236665B8-A34F-3879-86F9-E7B97E631E7F}"/>
              </a:ext>
            </a:extLst>
          </p:cNvPr>
          <p:cNvSpPr txBox="1"/>
          <p:nvPr/>
        </p:nvSpPr>
        <p:spPr>
          <a:xfrm>
            <a:off x="6982427" y="367286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Codex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" name="Picture 21" descr="Gemini CLI - Terminal AI Coding Agent - Terminal Trove">
            <a:extLst>
              <a:ext uri="{FF2B5EF4-FFF2-40B4-BE49-F238E27FC236}">
                <a16:creationId xmlns:a16="http://schemas.microsoft.com/office/drawing/2014/main" id="{1AA6A917-B302-462D-A8AC-47DB177B9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10" y="2014860"/>
            <a:ext cx="1998832" cy="1998832"/>
          </a:xfrm>
          <a:prstGeom prst="rect">
            <a:avLst/>
          </a:prstGeom>
        </p:spPr>
      </p:pic>
      <p:sp>
        <p:nvSpPr>
          <p:cNvPr id="23" name="Google Shape;70;p15">
            <a:extLst>
              <a:ext uri="{FF2B5EF4-FFF2-40B4-BE49-F238E27FC236}">
                <a16:creationId xmlns:a16="http://schemas.microsoft.com/office/drawing/2014/main" id="{E82B7F55-5755-9B69-6660-7EB79264DA80}"/>
              </a:ext>
            </a:extLst>
          </p:cNvPr>
          <p:cNvSpPr txBox="1"/>
          <p:nvPr/>
        </p:nvSpPr>
        <p:spPr>
          <a:xfrm>
            <a:off x="3261982" y="3685148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Gemini Code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56E5DD89-B16C-BBEB-CC83-51D2009925A5}"/>
              </a:ext>
            </a:extLst>
          </p:cNvPr>
          <p:cNvSpPr/>
          <p:nvPr/>
        </p:nvSpPr>
        <p:spPr>
          <a:xfrm>
            <a:off x="5137877" y="4517824"/>
            <a:ext cx="6635055" cy="1929733"/>
          </a:xfrm>
          <a:prstGeom prst="wedgeRoundRectCallout">
            <a:avLst>
              <a:gd name="adj1" fmla="val 29885"/>
              <a:gd name="adj2" fmla="val -6836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Research and discovery agents: 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Develop hypotheses, run experiments, and revise plans as evidence arrives.</a:t>
            </a:r>
          </a:p>
        </p:txBody>
      </p:sp>
      <p:pic>
        <p:nvPicPr>
          <p:cNvPr id="3" name="Google Shape;78;p16">
            <a:extLst>
              <a:ext uri="{FF2B5EF4-FFF2-40B4-BE49-F238E27FC236}">
                <a16:creationId xmlns:a16="http://schemas.microsoft.com/office/drawing/2014/main" id="{12B06452-0081-AA9F-43AF-2F6AD62A6FC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41089" y="2328269"/>
            <a:ext cx="1393623" cy="13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7;p17">
            <a:extLst>
              <a:ext uri="{FF2B5EF4-FFF2-40B4-BE49-F238E27FC236}">
                <a16:creationId xmlns:a16="http://schemas.microsoft.com/office/drawing/2014/main" id="{C97A04EC-C44B-EA3F-4744-A8D1079D7F7B}"/>
              </a:ext>
            </a:extLst>
          </p:cNvPr>
          <p:cNvSpPr txBox="1"/>
          <p:nvPr/>
        </p:nvSpPr>
        <p:spPr>
          <a:xfrm>
            <a:off x="615877" y="3708744"/>
            <a:ext cx="1908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" dirty="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Copilots</a:t>
            </a:r>
            <a:endParaRPr dirty="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" name="Picture 6" descr="File:Google Gemini icon 2025.svg - Wikimedia Commons">
            <a:extLst>
              <a:ext uri="{FF2B5EF4-FFF2-40B4-BE49-F238E27FC236}">
                <a16:creationId xmlns:a16="http://schemas.microsoft.com/office/drawing/2014/main" id="{2EC58104-5DA9-E107-D406-656DFCF290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10" y="2374335"/>
            <a:ext cx="1348665" cy="13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4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93EC-7927-AB97-5E8D-49A97B5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today: work fragmented across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6ED5-176C-3C1E-68E1-AC257414F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53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93EC-7927-AB97-5E8D-49A97B5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today: work fragmented across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6ED5-176C-3C1E-68E1-AC257414F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67BEA0-433F-89A1-478E-3129C1053B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46"/>
          <a:stretch>
            <a:fillRect/>
          </a:stretch>
        </p:blipFill>
        <p:spPr>
          <a:xfrm>
            <a:off x="6463629" y="1242990"/>
            <a:ext cx="2333732" cy="55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9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93EC-7927-AB97-5E8D-49A97B5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today: work fragmented across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6ED5-176C-3C1E-68E1-AC257414F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B3C3F-E4C3-08EC-CFF0-CCE18261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595" y="1242991"/>
            <a:ext cx="3090918" cy="5577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67BEA0-433F-89A1-478E-3129C1053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6"/>
          <a:stretch>
            <a:fillRect/>
          </a:stretch>
        </p:blipFill>
        <p:spPr>
          <a:xfrm>
            <a:off x="6463629" y="1242990"/>
            <a:ext cx="2333732" cy="55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93EC-7927-AB97-5E8D-49A97B5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today: work fragmented across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6ED5-176C-3C1E-68E1-AC257414F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B3C3F-E4C3-08EC-CFF0-CCE18261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595" y="1242991"/>
            <a:ext cx="3090918" cy="5577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67BEA0-433F-89A1-478E-3129C1053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6"/>
          <a:stretch>
            <a:fillRect/>
          </a:stretch>
        </p:blipFill>
        <p:spPr>
          <a:xfrm>
            <a:off x="6463629" y="1242990"/>
            <a:ext cx="2333732" cy="5577223"/>
          </a:xfrm>
          <a:prstGeom prst="rect">
            <a:avLst/>
          </a:prstGeom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0E630991-EC51-59A0-BE97-D56B89999331}"/>
              </a:ext>
            </a:extLst>
          </p:cNvPr>
          <p:cNvSpPr/>
          <p:nvPr/>
        </p:nvSpPr>
        <p:spPr>
          <a:xfrm>
            <a:off x="755703" y="1911927"/>
            <a:ext cx="5193385" cy="1354122"/>
          </a:xfrm>
          <a:prstGeom prst="wedgeRoundRectCallout">
            <a:avLst>
              <a:gd name="adj1" fmla="val 53817"/>
              <a:gd name="adj2" fmla="val 2427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Today’s agents organize work into separate chats, projects, and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41722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93EC-7927-AB97-5E8D-49A97B5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today: work fragmented across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6ED5-176C-3C1E-68E1-AC257414F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B3C3F-E4C3-08EC-CFF0-CCE18261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595" y="1242991"/>
            <a:ext cx="3090918" cy="5577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67BEA0-433F-89A1-478E-3129C1053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6"/>
          <a:stretch>
            <a:fillRect/>
          </a:stretch>
        </p:blipFill>
        <p:spPr>
          <a:xfrm>
            <a:off x="6463629" y="1242990"/>
            <a:ext cx="2333732" cy="5577223"/>
          </a:xfrm>
          <a:prstGeom prst="rect">
            <a:avLst/>
          </a:prstGeom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0E630991-EC51-59A0-BE97-D56B89999331}"/>
              </a:ext>
            </a:extLst>
          </p:cNvPr>
          <p:cNvSpPr/>
          <p:nvPr/>
        </p:nvSpPr>
        <p:spPr>
          <a:xfrm>
            <a:off x="755703" y="1911927"/>
            <a:ext cx="5193385" cy="1354122"/>
          </a:xfrm>
          <a:prstGeom prst="wedgeRoundRectCallout">
            <a:avLst>
              <a:gd name="adj1" fmla="val 53817"/>
              <a:gd name="adj2" fmla="val 2427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Today’s agents organize work into separate chats, projects, and environments.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5266DA82-C27A-B080-9A80-F08C8BBFC697}"/>
              </a:ext>
            </a:extLst>
          </p:cNvPr>
          <p:cNvSpPr/>
          <p:nvPr/>
        </p:nvSpPr>
        <p:spPr>
          <a:xfrm>
            <a:off x="755703" y="4163214"/>
            <a:ext cx="5193385" cy="1354122"/>
          </a:xfrm>
          <a:prstGeom prst="wedgeRoundRectCallout">
            <a:avLst>
              <a:gd name="adj1" fmla="val 53962"/>
              <a:gd name="adj2" fmla="val -3209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What is learned or decided in one session doesn’t reliably carry into others as the work evolves.</a:t>
            </a:r>
          </a:p>
        </p:txBody>
      </p:sp>
    </p:spTree>
    <p:extLst>
      <p:ext uri="{BB962C8B-B14F-4D97-AF65-F5344CB8AC3E}">
        <p14:creationId xmlns:p14="http://schemas.microsoft.com/office/powerpoint/2010/main" val="2839098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F396-8CBF-AC0A-1A5E-D7BE0110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is </a:t>
            </a:r>
            <a:r>
              <a:rPr lang="en-US" i="1" dirty="0"/>
              <a:t>ever-longer-running</a:t>
            </a:r>
            <a:r>
              <a:rPr lang="en-US" dirty="0"/>
              <a:t> agents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F20D-F078-E6C6-E00C-4A6D8E0F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Agents that reason and adapt, 24/7, over weeks and months.</a:t>
            </a:r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The agent that coordinated last month’s kickoff remembers decisions, tracks commitments, and adapts plans for the next phase.</a:t>
            </a:r>
          </a:p>
          <a:p>
            <a:pPr lvl="1"/>
            <a:endParaRPr lang="en-US" b="1" dirty="0"/>
          </a:p>
          <a:p>
            <a:r>
              <a:rPr lang="en-US" b="1" dirty="0"/>
              <a:t>One </a:t>
            </a:r>
            <a:r>
              <a:rPr lang="en-US" dirty="0"/>
              <a:t>agent throughout; not many isolated chats/projects.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38F9-90A4-2B32-BE99-D6869DE0A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2037A-7913-A6F8-D6DE-9A235F66B00A}"/>
              </a:ext>
            </a:extLst>
          </p:cNvPr>
          <p:cNvSpPr/>
          <p:nvPr/>
        </p:nvSpPr>
        <p:spPr>
          <a:xfrm>
            <a:off x="445239" y="1514475"/>
            <a:ext cx="11301521" cy="1106923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D551D-8B6B-1E33-9CAB-A4380F1FEC35}"/>
              </a:ext>
            </a:extLst>
          </p:cNvPr>
          <p:cNvSpPr/>
          <p:nvPr/>
        </p:nvSpPr>
        <p:spPr>
          <a:xfrm>
            <a:off x="619675" y="2621398"/>
            <a:ext cx="11301521" cy="196528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CC7F2-EE15-5834-05B4-B6E6F54C9641}"/>
              </a:ext>
            </a:extLst>
          </p:cNvPr>
          <p:cNvSpPr/>
          <p:nvPr/>
        </p:nvSpPr>
        <p:spPr>
          <a:xfrm>
            <a:off x="619674" y="4211679"/>
            <a:ext cx="11301521" cy="196528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9644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F396-8CBF-AC0A-1A5E-D7BE0110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is </a:t>
            </a:r>
            <a:r>
              <a:rPr lang="en-US" i="1" dirty="0"/>
              <a:t>ever-longer-running</a:t>
            </a:r>
            <a:r>
              <a:rPr lang="en-US" dirty="0"/>
              <a:t> agents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F20D-F078-E6C6-E00C-4A6D8E0F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Agents that reason and adapt, 24/7, over weeks and months.</a:t>
            </a:r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The agent that coordinated last month’s kickoff remembers decisions, tracks commitments, and adapts plans for the next phase.</a:t>
            </a:r>
          </a:p>
          <a:p>
            <a:pPr lvl="1"/>
            <a:endParaRPr lang="en-US" b="1" dirty="0"/>
          </a:p>
          <a:p>
            <a:r>
              <a:rPr lang="en-US" b="1" dirty="0"/>
              <a:t>One </a:t>
            </a:r>
            <a:r>
              <a:rPr lang="en-US" dirty="0"/>
              <a:t>agent throughout; not many isolated chats/projects.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38F9-90A4-2B32-BE99-D6869DE0A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D551D-8B6B-1E33-9CAB-A4380F1FEC35}"/>
              </a:ext>
            </a:extLst>
          </p:cNvPr>
          <p:cNvSpPr/>
          <p:nvPr/>
        </p:nvSpPr>
        <p:spPr>
          <a:xfrm>
            <a:off x="619675" y="2621398"/>
            <a:ext cx="11301521" cy="196528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CC7F2-EE15-5834-05B4-B6E6F54C9641}"/>
              </a:ext>
            </a:extLst>
          </p:cNvPr>
          <p:cNvSpPr/>
          <p:nvPr/>
        </p:nvSpPr>
        <p:spPr>
          <a:xfrm>
            <a:off x="619674" y="4211679"/>
            <a:ext cx="11301521" cy="196528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13943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F396-8CBF-AC0A-1A5E-D7BE0110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is </a:t>
            </a:r>
            <a:r>
              <a:rPr lang="en-US" i="1" dirty="0"/>
              <a:t>ever-longer-running</a:t>
            </a:r>
            <a:r>
              <a:rPr lang="en-US" dirty="0"/>
              <a:t> agents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F20D-F078-E6C6-E00C-4A6D8E0F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Agents that reason and adapt, 24/7, over weeks and months.</a:t>
            </a:r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The agent that coordinated last month’s kickoff remembers decisions, tracks commitments, and adapts plans for the next phase.</a:t>
            </a:r>
          </a:p>
          <a:p>
            <a:pPr lvl="1"/>
            <a:endParaRPr lang="en-US" b="1" dirty="0"/>
          </a:p>
          <a:p>
            <a:r>
              <a:rPr lang="en-US" b="1" dirty="0"/>
              <a:t>One </a:t>
            </a:r>
            <a:r>
              <a:rPr lang="en-US" dirty="0"/>
              <a:t>agent throughout; not many isolated chats/projects.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38F9-90A4-2B32-BE99-D6869DE0A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CC7F2-EE15-5834-05B4-B6E6F54C9641}"/>
              </a:ext>
            </a:extLst>
          </p:cNvPr>
          <p:cNvSpPr/>
          <p:nvPr/>
        </p:nvSpPr>
        <p:spPr>
          <a:xfrm>
            <a:off x="619674" y="4211679"/>
            <a:ext cx="11301521" cy="196528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36859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F396-8CBF-AC0A-1A5E-D7BE0110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is </a:t>
            </a:r>
            <a:r>
              <a:rPr lang="en-US" i="1" dirty="0"/>
              <a:t>ever-longer-running</a:t>
            </a:r>
            <a:r>
              <a:rPr lang="en-US" dirty="0"/>
              <a:t> agents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F20D-F078-E6C6-E00C-4A6D8E0F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Agents that reason and adapt, 24/7, over weeks and months.</a:t>
            </a:r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The agent that coordinated last month’s kickoff remembers decisions, tracks commitments, and adapts plans for the next phase.</a:t>
            </a:r>
          </a:p>
          <a:p>
            <a:pPr lvl="1"/>
            <a:endParaRPr lang="en-US" b="1" dirty="0"/>
          </a:p>
          <a:p>
            <a:r>
              <a:rPr lang="en-US" b="1" dirty="0"/>
              <a:t>One </a:t>
            </a:r>
            <a:r>
              <a:rPr lang="en-US" dirty="0"/>
              <a:t>agent throughout; not many isolated chats/projects.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38F9-90A4-2B32-BE99-D6869DE0A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84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219F-3C00-570B-2411-A1C31892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scale long-running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3235B-8B59-1E07-954B-5112881A8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4E1C8-AEB6-C758-9796-3BCDA50CE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6D864-AAFF-322D-8DDE-8839064D891E}"/>
              </a:ext>
            </a:extLst>
          </p:cNvPr>
          <p:cNvSpPr/>
          <p:nvPr/>
        </p:nvSpPr>
        <p:spPr>
          <a:xfrm>
            <a:off x="609515" y="1856124"/>
            <a:ext cx="11301521" cy="132583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5C5DA-6B98-41AC-28AE-A5C8186FCAC9}"/>
              </a:ext>
            </a:extLst>
          </p:cNvPr>
          <p:cNvSpPr/>
          <p:nvPr/>
        </p:nvSpPr>
        <p:spPr>
          <a:xfrm>
            <a:off x="728554" y="3353623"/>
            <a:ext cx="11301521" cy="132583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35247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219F-3C00-570B-2411-A1C31892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scale long-running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3235B-8B59-1E07-954B-5112881A8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4E1C8-AEB6-C758-9796-3BCDA50CE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5C5DA-6B98-41AC-28AE-A5C8186FCAC9}"/>
              </a:ext>
            </a:extLst>
          </p:cNvPr>
          <p:cNvSpPr/>
          <p:nvPr/>
        </p:nvSpPr>
        <p:spPr>
          <a:xfrm>
            <a:off x="728554" y="3353623"/>
            <a:ext cx="11301521" cy="132583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861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219F-3C00-570B-2411-A1C31892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scale long-running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3235B-8B59-1E07-954B-5112881A8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4E1C8-AEB6-C758-9796-3BCDA50CE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12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387741-A01D-E350-C3A5-638FAE25A52C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DB749-480E-89E6-0EC0-B9951B3B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Roadmap:</a:t>
            </a:r>
            <a:r>
              <a:rPr lang="en-US" dirty="0"/>
              <a:t> long-running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B03C-7BBB-526D-CDAF-8D060BC4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BFE61-669A-F096-1BD5-8DD2057E3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01A3B0C-AC10-5E08-99A1-F3A6ABA01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737" y="1548773"/>
            <a:ext cx="1413740" cy="146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03E00A-B23E-8EE6-F06E-4895C14848D3}"/>
              </a:ext>
            </a:extLst>
          </p:cNvPr>
          <p:cNvSpPr/>
          <p:nvPr/>
        </p:nvSpPr>
        <p:spPr>
          <a:xfrm>
            <a:off x="193636" y="6858000"/>
            <a:ext cx="11799035" cy="325518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37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4">
    <p:spTree>
      <p:nvGrpSpPr>
        <p:cNvPr id="1" name="">
          <a:extLst>
            <a:ext uri="{FF2B5EF4-FFF2-40B4-BE49-F238E27FC236}">
              <a16:creationId xmlns:a16="http://schemas.microsoft.com/office/drawing/2014/main" id="{A41AB6DB-0E4C-1365-283F-78DF9CB1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6F9486-E357-9870-D3A0-41F5B6962605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45C72-6342-BB4F-3BCB-96DB4508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Roadmap:</a:t>
            </a:r>
            <a:r>
              <a:rPr lang="en-US" dirty="0"/>
              <a:t> long-running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9DC54-6806-C24C-E077-0CD09EF4B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36D2-A9AC-5873-FDBC-2CC20D9D6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50FF069-F355-D8C0-74B9-D8649482F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737" y="1548773"/>
            <a:ext cx="1413740" cy="146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C47A2F-C828-AFB0-884B-9BD781DDC82A}"/>
              </a:ext>
            </a:extLst>
          </p:cNvPr>
          <p:cNvSpPr/>
          <p:nvPr/>
        </p:nvSpPr>
        <p:spPr>
          <a:xfrm>
            <a:off x="593966" y="3381063"/>
            <a:ext cx="10437641" cy="325518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0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563F-68B0-CE7D-C8E1-6DB33BA6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DDD1E-6C86-40D0-1AE4-15B6651D6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more of an agent’s history directly available.</a:t>
            </a:r>
          </a:p>
          <a:p>
            <a:endParaRPr lang="en-US" dirty="0"/>
          </a:p>
          <a:p>
            <a:r>
              <a:rPr lang="en-US" dirty="0"/>
              <a:t>Most SOTA LLMs* have context window of &gt;1M tokens. </a:t>
            </a:r>
          </a:p>
          <a:p>
            <a:pPr lvl="1"/>
            <a:r>
              <a:rPr lang="en-US" dirty="0"/>
              <a:t>GPT6-Astra, Opus 5, Gemini 3.8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2BA7C-556C-3B84-DE2C-F55042E26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17A125-1C32-05A0-FBB4-25CCF5F2D1B6}"/>
              </a:ext>
            </a:extLst>
          </p:cNvPr>
          <p:cNvSpPr/>
          <p:nvPr/>
        </p:nvSpPr>
        <p:spPr>
          <a:xfrm>
            <a:off x="619675" y="2628284"/>
            <a:ext cx="11301521" cy="132583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66395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563F-68B0-CE7D-C8E1-6DB33BA6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DDD1E-6C86-40D0-1AE4-15B6651D6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more of an agent’s history directly available.</a:t>
            </a:r>
          </a:p>
          <a:p>
            <a:endParaRPr lang="en-US" dirty="0"/>
          </a:p>
          <a:p>
            <a:r>
              <a:rPr lang="en-US" dirty="0"/>
              <a:t>Most SOTA LLMs* have context window of &gt;1M tokens. </a:t>
            </a:r>
          </a:p>
          <a:p>
            <a:pPr lvl="1"/>
            <a:r>
              <a:rPr lang="en-US" dirty="0"/>
              <a:t>GPT6-Astra, Opus 5, Gemini 3.8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2BA7C-556C-3B84-DE2C-F55042E26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83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7">
    <p:spTree>
      <p:nvGrpSpPr>
        <p:cNvPr id="1" name="">
          <a:extLst>
            <a:ext uri="{FF2B5EF4-FFF2-40B4-BE49-F238E27FC236}">
              <a16:creationId xmlns:a16="http://schemas.microsoft.com/office/drawing/2014/main" id="{E717782E-6964-970A-D919-C70926E8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7126-A625-6060-DC12-BA263DD2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DAB21-CB9C-9F58-9D21-985BEC613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C75BA1-0705-E54B-815F-FDEC90D1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6" y="1208394"/>
            <a:ext cx="11538473" cy="461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02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8">
    <p:spTree>
      <p:nvGrpSpPr>
        <p:cNvPr id="1" name="">
          <a:extLst>
            <a:ext uri="{FF2B5EF4-FFF2-40B4-BE49-F238E27FC236}">
              <a16:creationId xmlns:a16="http://schemas.microsoft.com/office/drawing/2014/main" id="{E717782E-6964-970A-D919-C70926E8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7126-A625-6060-DC12-BA263DD2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DAB21-CB9C-9F58-9D21-985BEC613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C75BA1-0705-E54B-815F-FDEC90D1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6" y="1208394"/>
            <a:ext cx="11538473" cy="4615389"/>
          </a:xfrm>
          <a:prstGeom prst="rect">
            <a:avLst/>
          </a:prstGeom>
        </p:spPr>
      </p:pic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037D1AB0-0E9D-1626-E809-39AF633A280E}"/>
              </a:ext>
            </a:extLst>
          </p:cNvPr>
          <p:cNvSpPr/>
          <p:nvPr/>
        </p:nvSpPr>
        <p:spPr>
          <a:xfrm>
            <a:off x="1430767" y="5974389"/>
            <a:ext cx="4066390" cy="673724"/>
          </a:xfrm>
          <a:prstGeom prst="wedgeRoundRectCallout">
            <a:avLst>
              <a:gd name="adj1" fmla="val 32308"/>
              <a:gd name="adj2" fmla="val -89384"/>
              <a:gd name="adj3" fmla="val 16667"/>
            </a:avLst>
          </a:prstGeom>
          <a:solidFill>
            <a:srgbClr val="E2FFDC"/>
          </a:solidFill>
          <a:ln>
            <a:solidFill>
              <a:srgbClr val="B4F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growth over time</a:t>
            </a:r>
          </a:p>
        </p:txBody>
      </p:sp>
    </p:spTree>
    <p:extLst>
      <p:ext uri="{BB962C8B-B14F-4D97-AF65-F5344CB8AC3E}">
        <p14:creationId xmlns:p14="http://schemas.microsoft.com/office/powerpoint/2010/main" val="1073070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89">
    <p:spTree>
      <p:nvGrpSpPr>
        <p:cNvPr id="1" name="">
          <a:extLst>
            <a:ext uri="{FF2B5EF4-FFF2-40B4-BE49-F238E27FC236}">
              <a16:creationId xmlns:a16="http://schemas.microsoft.com/office/drawing/2014/main" id="{E717782E-6964-970A-D919-C70926E8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7126-A625-6060-DC12-BA263DD2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DAB21-CB9C-9F58-9D21-985BEC613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C75BA1-0705-E54B-815F-FDEC90D1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6" y="1208394"/>
            <a:ext cx="11538473" cy="4615389"/>
          </a:xfrm>
          <a:prstGeom prst="rect">
            <a:avLst/>
          </a:prstGeom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AA66DA75-CBCC-B0D3-2D32-15E12CD62962}"/>
              </a:ext>
            </a:extLst>
          </p:cNvPr>
          <p:cNvSpPr/>
          <p:nvPr/>
        </p:nvSpPr>
        <p:spPr>
          <a:xfrm>
            <a:off x="7189937" y="5974389"/>
            <a:ext cx="4337055" cy="673724"/>
          </a:xfrm>
          <a:prstGeom prst="wedgeRoundRectCallout">
            <a:avLst>
              <a:gd name="adj1" fmla="val -32623"/>
              <a:gd name="adj2" fmla="val -76610"/>
              <a:gd name="adj3" fmla="val 16667"/>
            </a:avLst>
          </a:prstGeom>
          <a:solidFill>
            <a:srgbClr val="FFE1E2"/>
          </a:solidFill>
          <a:ln>
            <a:solidFill>
              <a:srgbClr val="FFC9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dwindling progress? 🤔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037D1AB0-0E9D-1626-E809-39AF633A280E}"/>
              </a:ext>
            </a:extLst>
          </p:cNvPr>
          <p:cNvSpPr/>
          <p:nvPr/>
        </p:nvSpPr>
        <p:spPr>
          <a:xfrm>
            <a:off x="1430767" y="5974389"/>
            <a:ext cx="4066390" cy="673724"/>
          </a:xfrm>
          <a:prstGeom prst="wedgeRoundRectCallout">
            <a:avLst>
              <a:gd name="adj1" fmla="val 32308"/>
              <a:gd name="adj2" fmla="val -89384"/>
              <a:gd name="adj3" fmla="val 16667"/>
            </a:avLst>
          </a:prstGeom>
          <a:solidFill>
            <a:srgbClr val="E2FFDC"/>
          </a:solidFill>
          <a:ln>
            <a:solidFill>
              <a:srgbClr val="B4F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growth over time</a:t>
            </a:r>
          </a:p>
        </p:txBody>
      </p:sp>
    </p:spTree>
    <p:extLst>
      <p:ext uri="{BB962C8B-B14F-4D97-AF65-F5344CB8AC3E}">
        <p14:creationId xmlns:p14="http://schemas.microsoft.com/office/powerpoint/2010/main" val="3169349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0">
    <p:spTree>
      <p:nvGrpSpPr>
        <p:cNvPr id="1" name="">
          <a:extLst>
            <a:ext uri="{FF2B5EF4-FFF2-40B4-BE49-F238E27FC236}">
              <a16:creationId xmlns:a16="http://schemas.microsoft.com/office/drawing/2014/main" id="{BD0772A6-0EF6-8EF1-9B22-DB75610D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4501-9079-4D76-B54F-318811A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72AA-6E8E-E4CE-5A1D-FAA478F2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916920" cy="4662488"/>
          </a:xfrm>
        </p:spPr>
        <p:txBody>
          <a:bodyPr/>
          <a:lstStyle/>
          <a:p>
            <a:r>
              <a:rPr lang="en-US" dirty="0"/>
              <a:t>What needs to be unlocked to continue to scale it?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Efficiency barrier:</a:t>
            </a:r>
            <a:r>
              <a:rPr lang="en-US" dirty="0"/>
              <a:t> going beyond the </a:t>
            </a:r>
            <a:r>
              <a:rPr lang="en-US" i="1" dirty="0"/>
              <a:t>quadratic </a:t>
            </a:r>
            <a:r>
              <a:rPr lang="en-US" dirty="0"/>
              <a:t>cost.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barrier:</a:t>
            </a:r>
            <a:r>
              <a:rPr lang="en-US" dirty="0"/>
              <a:t> quality long-context data is </a:t>
            </a:r>
            <a:r>
              <a:rPr lang="en-US" i="1" dirty="0"/>
              <a:t>scarce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E788-C583-236C-4E4E-FC436DCAB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4BC35-CC24-D9AA-6044-D4D366C2E184}"/>
              </a:ext>
            </a:extLst>
          </p:cNvPr>
          <p:cNvSpPr/>
          <p:nvPr/>
        </p:nvSpPr>
        <p:spPr>
          <a:xfrm>
            <a:off x="619675" y="2225778"/>
            <a:ext cx="11301521" cy="1006476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E8EA3-D9C1-0994-C502-C97369B315CA}"/>
              </a:ext>
            </a:extLst>
          </p:cNvPr>
          <p:cNvSpPr/>
          <p:nvPr/>
        </p:nvSpPr>
        <p:spPr>
          <a:xfrm>
            <a:off x="728554" y="3359630"/>
            <a:ext cx="11301521" cy="1006476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78331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1">
    <p:spTree>
      <p:nvGrpSpPr>
        <p:cNvPr id="1" name="">
          <a:extLst>
            <a:ext uri="{FF2B5EF4-FFF2-40B4-BE49-F238E27FC236}">
              <a16:creationId xmlns:a16="http://schemas.microsoft.com/office/drawing/2014/main" id="{BD0772A6-0EF6-8EF1-9B22-DB75610D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4501-9079-4D76-B54F-318811A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72AA-6E8E-E4CE-5A1D-FAA478F2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916920" cy="4662488"/>
          </a:xfrm>
        </p:spPr>
        <p:txBody>
          <a:bodyPr/>
          <a:lstStyle/>
          <a:p>
            <a:r>
              <a:rPr lang="en-US" dirty="0"/>
              <a:t>What needs to be unlocked to continue to scale it?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Efficiency barrier:</a:t>
            </a:r>
            <a:r>
              <a:rPr lang="en-US" dirty="0"/>
              <a:t> going beyond the </a:t>
            </a:r>
            <a:r>
              <a:rPr lang="en-US" i="1" dirty="0"/>
              <a:t>quadratic </a:t>
            </a:r>
            <a:r>
              <a:rPr lang="en-US" dirty="0"/>
              <a:t>cost.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barrier:</a:t>
            </a:r>
            <a:r>
              <a:rPr lang="en-US" dirty="0"/>
              <a:t> quality long-context data is </a:t>
            </a:r>
            <a:r>
              <a:rPr lang="en-US" i="1" dirty="0"/>
              <a:t>scarce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E788-C583-236C-4E4E-FC436DCAB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E8EA3-D9C1-0994-C502-C97369B315CA}"/>
              </a:ext>
            </a:extLst>
          </p:cNvPr>
          <p:cNvSpPr/>
          <p:nvPr/>
        </p:nvSpPr>
        <p:spPr>
          <a:xfrm>
            <a:off x="728554" y="3359630"/>
            <a:ext cx="11301521" cy="1006476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57728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2">
    <p:spTree>
      <p:nvGrpSpPr>
        <p:cNvPr id="1" name="">
          <a:extLst>
            <a:ext uri="{FF2B5EF4-FFF2-40B4-BE49-F238E27FC236}">
              <a16:creationId xmlns:a16="http://schemas.microsoft.com/office/drawing/2014/main" id="{BD0772A6-0EF6-8EF1-9B22-DB75610D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4501-9079-4D76-B54F-318811A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72AA-6E8E-E4CE-5A1D-FAA478F2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916920" cy="4662488"/>
          </a:xfrm>
        </p:spPr>
        <p:txBody>
          <a:bodyPr/>
          <a:lstStyle/>
          <a:p>
            <a:r>
              <a:rPr lang="en-US" dirty="0"/>
              <a:t>What needs to be unlocked to continue to scale it?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Efficiency barrier:</a:t>
            </a:r>
            <a:r>
              <a:rPr lang="en-US" dirty="0"/>
              <a:t> going beyond the </a:t>
            </a:r>
            <a:r>
              <a:rPr lang="en-US" i="1" dirty="0"/>
              <a:t>quadratic </a:t>
            </a:r>
            <a:r>
              <a:rPr lang="en-US" dirty="0"/>
              <a:t>cost.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barrier:</a:t>
            </a:r>
            <a:r>
              <a:rPr lang="en-US" dirty="0"/>
              <a:t> quality long-context data is </a:t>
            </a:r>
            <a:r>
              <a:rPr lang="en-US" i="1" dirty="0"/>
              <a:t>scarce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E788-C583-236C-4E4E-FC436DCAB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72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3">
    <p:spTree>
      <p:nvGrpSpPr>
        <p:cNvPr id="1" name="">
          <a:extLst>
            <a:ext uri="{FF2B5EF4-FFF2-40B4-BE49-F238E27FC236}">
              <a16:creationId xmlns:a16="http://schemas.microsoft.com/office/drawing/2014/main" id="{BD0772A6-0EF6-8EF1-9B22-DB75610D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4501-9079-4D76-B54F-318811A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 on ever-scaling context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72AA-6E8E-E4CE-5A1D-FAA478F2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916920" cy="4662488"/>
          </a:xfrm>
        </p:spPr>
        <p:txBody>
          <a:bodyPr/>
          <a:lstStyle/>
          <a:p>
            <a:r>
              <a:rPr lang="en-US" dirty="0"/>
              <a:t>What needs to be unlocked to continue to scale it?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Efficiency barrier:</a:t>
            </a:r>
            <a:r>
              <a:rPr lang="en-US" dirty="0"/>
              <a:t> going beyond the </a:t>
            </a:r>
            <a:r>
              <a:rPr lang="en-US" i="1" dirty="0"/>
              <a:t>quadratic </a:t>
            </a:r>
            <a:r>
              <a:rPr lang="en-US" dirty="0"/>
              <a:t>cost.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barrier:</a:t>
            </a:r>
            <a:r>
              <a:rPr lang="en-US" dirty="0"/>
              <a:t> quality long-context data is </a:t>
            </a:r>
            <a:r>
              <a:rPr lang="en-US" i="1" dirty="0"/>
              <a:t>scarce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E788-C583-236C-4E4E-FC436DCAB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6829C6F4-4CE1-265F-92A9-62C97DFE47DD}"/>
              </a:ext>
            </a:extLst>
          </p:cNvPr>
          <p:cNvSpPr/>
          <p:nvPr/>
        </p:nvSpPr>
        <p:spPr>
          <a:xfrm>
            <a:off x="1324434" y="4493482"/>
            <a:ext cx="6141398" cy="673724"/>
          </a:xfrm>
          <a:prstGeom prst="wedgeRoundRectCallout">
            <a:avLst>
              <a:gd name="adj1" fmla="val -26608"/>
              <a:gd name="adj2" fmla="val -85467"/>
              <a:gd name="adj3" fmla="val 16667"/>
            </a:avLst>
          </a:prstGeom>
          <a:solidFill>
            <a:srgbClr val="FFE1E2"/>
          </a:solidFill>
          <a:ln>
            <a:solidFill>
              <a:srgbClr val="FFC9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long data is abundant (one day)?</a:t>
            </a:r>
          </a:p>
        </p:txBody>
      </p:sp>
    </p:spTree>
    <p:extLst>
      <p:ext uri="{BB962C8B-B14F-4D97-AF65-F5344CB8AC3E}">
        <p14:creationId xmlns:p14="http://schemas.microsoft.com/office/powerpoint/2010/main" val="154527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A83E-DBF6-23F6-81EE-0F942AAE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thought experiment on context scaling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3156-60E3-CC35-01A0-1D9C2A654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hypothetical</a:t>
            </a:r>
            <a:r>
              <a:rPr lang="en-US" dirty="0"/>
              <a:t> future: </a:t>
            </a:r>
          </a:p>
          <a:p>
            <a:pPr lvl="1"/>
            <a:r>
              <a:rPr lang="en-US" dirty="0"/>
              <a:t>Assume we have </a:t>
            </a:r>
            <a:r>
              <a:rPr lang="en-US" dirty="0">
                <a:solidFill>
                  <a:srgbClr val="07833C"/>
                </a:solidFill>
              </a:rPr>
              <a:t>endless long-context data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Also, assume sufficient </a:t>
            </a:r>
            <a:r>
              <a:rPr lang="en-US" dirty="0">
                <a:solidFill>
                  <a:srgbClr val="07833C"/>
                </a:solidFill>
              </a:rPr>
              <a:t>compute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74836-697D-4745-03DE-128B57C5F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F72B73-88B6-8B73-E227-482838191C91}"/>
              </a:ext>
            </a:extLst>
          </p:cNvPr>
          <p:cNvSpPr/>
          <p:nvPr/>
        </p:nvSpPr>
        <p:spPr>
          <a:xfrm>
            <a:off x="547444" y="1463675"/>
            <a:ext cx="11301521" cy="66431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821BB-B32D-9D59-D4F9-CC75D9A7766A}"/>
              </a:ext>
            </a:extLst>
          </p:cNvPr>
          <p:cNvSpPr/>
          <p:nvPr/>
        </p:nvSpPr>
        <p:spPr>
          <a:xfrm>
            <a:off x="619675" y="2127985"/>
            <a:ext cx="11301521" cy="147043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55179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A83E-DBF6-23F6-81EE-0F942AAE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thought experiment on context scaling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3156-60E3-CC35-01A0-1D9C2A654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hypothetical</a:t>
            </a:r>
            <a:r>
              <a:rPr lang="en-US" dirty="0"/>
              <a:t> future: </a:t>
            </a:r>
          </a:p>
          <a:p>
            <a:pPr lvl="1"/>
            <a:r>
              <a:rPr lang="en-US" dirty="0"/>
              <a:t>Assume we have </a:t>
            </a:r>
            <a:r>
              <a:rPr lang="en-US" dirty="0">
                <a:solidFill>
                  <a:srgbClr val="07833C"/>
                </a:solidFill>
              </a:rPr>
              <a:t>endless long-context data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Also, assume sufficient </a:t>
            </a:r>
            <a:r>
              <a:rPr lang="en-US" dirty="0">
                <a:solidFill>
                  <a:srgbClr val="07833C"/>
                </a:solidFill>
              </a:rPr>
              <a:t>compute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74836-697D-4745-03DE-128B57C5F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821BB-B32D-9D59-D4F9-CC75D9A7766A}"/>
              </a:ext>
            </a:extLst>
          </p:cNvPr>
          <p:cNvSpPr/>
          <p:nvPr/>
        </p:nvSpPr>
        <p:spPr>
          <a:xfrm>
            <a:off x="619675" y="2127985"/>
            <a:ext cx="11301521" cy="147043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48184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A83E-DBF6-23F6-81EE-0F942AAE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thought experiment on context scaling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3156-60E3-CC35-01A0-1D9C2A654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hypothetical</a:t>
            </a:r>
            <a:r>
              <a:rPr lang="en-US" dirty="0"/>
              <a:t> future: </a:t>
            </a:r>
          </a:p>
          <a:p>
            <a:pPr lvl="1"/>
            <a:r>
              <a:rPr lang="en-US" dirty="0"/>
              <a:t>Assume we have </a:t>
            </a:r>
            <a:r>
              <a:rPr lang="en-US" dirty="0">
                <a:solidFill>
                  <a:srgbClr val="07833C"/>
                </a:solidFill>
              </a:rPr>
              <a:t>endless long-context data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Also, assume sufficient </a:t>
            </a:r>
            <a:r>
              <a:rPr lang="en-US" dirty="0">
                <a:solidFill>
                  <a:srgbClr val="07833C"/>
                </a:solidFill>
              </a:rPr>
              <a:t>compute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74836-697D-4745-03DE-128B57C5F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31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A83E-DBF6-23F6-81EE-0F942AAE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thought experiment on context scaling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3156-60E3-CC35-01A0-1D9C2A654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hypothetical</a:t>
            </a:r>
            <a:r>
              <a:rPr lang="en-US" dirty="0"/>
              <a:t> future: </a:t>
            </a:r>
          </a:p>
          <a:p>
            <a:pPr lvl="1"/>
            <a:r>
              <a:rPr lang="en-US" dirty="0"/>
              <a:t>Assume we have </a:t>
            </a:r>
            <a:r>
              <a:rPr lang="en-US" dirty="0">
                <a:solidFill>
                  <a:srgbClr val="07833C"/>
                </a:solidFill>
              </a:rPr>
              <a:t>endless long-context data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Also, assume sufficient </a:t>
            </a:r>
            <a:r>
              <a:rPr lang="en-US" dirty="0">
                <a:solidFill>
                  <a:srgbClr val="07833C"/>
                </a:solidFill>
              </a:rPr>
              <a:t>compute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74836-697D-4745-03DE-128B57C5F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2D0F84-8173-35EC-3BE6-8118CE0AA386}"/>
              </a:ext>
            </a:extLst>
          </p:cNvPr>
          <p:cNvSpPr/>
          <p:nvPr/>
        </p:nvSpPr>
        <p:spPr>
          <a:xfrm>
            <a:off x="1223186" y="3605641"/>
            <a:ext cx="9970358" cy="1470435"/>
          </a:xfrm>
          <a:prstGeom prst="roundRect">
            <a:avLst/>
          </a:prstGeom>
          <a:solidFill>
            <a:srgbClr val="FCFCD1"/>
          </a:solidFill>
          <a:ln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simply increasing the training window reliably improve what the model learns?</a:t>
            </a:r>
          </a:p>
        </p:txBody>
      </p:sp>
    </p:spTree>
    <p:extLst>
      <p:ext uri="{BB962C8B-B14F-4D97-AF65-F5344CB8AC3E}">
        <p14:creationId xmlns:p14="http://schemas.microsoft.com/office/powerpoint/2010/main" val="2046776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BA75-C64C-6864-CF00-32CD17C7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275388" algn="l"/>
              </a:tabLst>
            </a:pPr>
            <a:r>
              <a:rPr lang="en-US" dirty="0"/>
              <a:t>A skeptical 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2E0E-9F25-3977-FFCF-21AD29A1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37" y="1380631"/>
            <a:ext cx="11046375" cy="4948732"/>
          </a:xfrm>
        </p:spPr>
        <p:txBody>
          <a:bodyPr/>
          <a:lstStyle/>
          <a:p>
            <a:r>
              <a:rPr lang="en-US" b="1" dirty="0"/>
              <a:t>Cognitive offloading :=</a:t>
            </a:r>
            <a:r>
              <a:rPr lang="en-US" dirty="0"/>
              <a:t> the tendency (of humans) to use external resources (notes, phones, search engines) to reduce mental effort. 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The “Google effect” (or "digital amnesia") </a:t>
            </a:r>
          </a:p>
          <a:p>
            <a:pPr lvl="2"/>
            <a:r>
              <a:rPr lang="en-US" dirty="0"/>
              <a:t>People who expect info to remain accessible, remember less.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Reaction to the context scaling thought experiment: </a:t>
            </a:r>
          </a:p>
          <a:p>
            <a:pPr lvl="1"/>
            <a:r>
              <a:rPr lang="en-US" dirty="0"/>
              <a:t>Could more available context reduce what a model internalizes?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93F45-0B75-42F7-7592-D2E24885A9A7}"/>
              </a:ext>
            </a:extLst>
          </p:cNvPr>
          <p:cNvSpPr txBox="1"/>
          <p:nvPr/>
        </p:nvSpPr>
        <p:spPr>
          <a:xfrm>
            <a:off x="200025" y="3228985"/>
            <a:ext cx="11555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Sparrow et al. Google effects on memory: cognitive consequences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having information at our fingertips, 2011.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4CD9D-1F9D-900E-F125-37419E0BDFD8}"/>
              </a:ext>
            </a:extLst>
          </p:cNvPr>
          <p:cNvSpPr/>
          <p:nvPr/>
        </p:nvSpPr>
        <p:spPr>
          <a:xfrm>
            <a:off x="654063" y="1390791"/>
            <a:ext cx="11301521" cy="87488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A2827-2149-B16E-D6C6-31020AA67305}"/>
              </a:ext>
            </a:extLst>
          </p:cNvPr>
          <p:cNvSpPr/>
          <p:nvPr/>
        </p:nvSpPr>
        <p:spPr>
          <a:xfrm>
            <a:off x="781637" y="2354096"/>
            <a:ext cx="11301521" cy="15778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69B41-7EAF-4F92-E4B5-07FC49356F6F}"/>
              </a:ext>
            </a:extLst>
          </p:cNvPr>
          <p:cNvSpPr/>
          <p:nvPr/>
        </p:nvSpPr>
        <p:spPr>
          <a:xfrm>
            <a:off x="654062" y="4052485"/>
            <a:ext cx="11301521" cy="15778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78308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29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BA75-C64C-6864-CF00-32CD17C7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275388" algn="l"/>
              </a:tabLst>
            </a:pPr>
            <a:r>
              <a:rPr lang="en-US" dirty="0"/>
              <a:t>A skeptical 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2E0E-9F25-3977-FFCF-21AD29A1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37" y="1380631"/>
            <a:ext cx="11046375" cy="4948732"/>
          </a:xfrm>
        </p:spPr>
        <p:txBody>
          <a:bodyPr/>
          <a:lstStyle/>
          <a:p>
            <a:r>
              <a:rPr lang="en-US" b="1" dirty="0"/>
              <a:t>Cognitive offloading :=</a:t>
            </a:r>
            <a:r>
              <a:rPr lang="en-US" dirty="0"/>
              <a:t> the tendency (of humans) to use external resources (notes, phones, search engines) to reduce mental effort. 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The “Google effect” (or "digital amnesia") </a:t>
            </a:r>
          </a:p>
          <a:p>
            <a:pPr lvl="2"/>
            <a:r>
              <a:rPr lang="en-US" dirty="0"/>
              <a:t>People who expect info to remain accessible, remember less.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Reaction to the context scaling thought experiment: </a:t>
            </a:r>
          </a:p>
          <a:p>
            <a:pPr lvl="1"/>
            <a:r>
              <a:rPr lang="en-US" dirty="0"/>
              <a:t>Could more available context reduce what a model internalizes?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93F45-0B75-42F7-7592-D2E24885A9A7}"/>
              </a:ext>
            </a:extLst>
          </p:cNvPr>
          <p:cNvSpPr txBox="1"/>
          <p:nvPr/>
        </p:nvSpPr>
        <p:spPr>
          <a:xfrm>
            <a:off x="200025" y="3228985"/>
            <a:ext cx="11555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Sparrow et al. Google effects on memory: cognitive consequences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having information at our fingertips, 2011.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A2827-2149-B16E-D6C6-31020AA67305}"/>
              </a:ext>
            </a:extLst>
          </p:cNvPr>
          <p:cNvSpPr/>
          <p:nvPr/>
        </p:nvSpPr>
        <p:spPr>
          <a:xfrm>
            <a:off x="781637" y="2354096"/>
            <a:ext cx="11301521" cy="15778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69B41-7EAF-4F92-E4B5-07FC49356F6F}"/>
              </a:ext>
            </a:extLst>
          </p:cNvPr>
          <p:cNvSpPr/>
          <p:nvPr/>
        </p:nvSpPr>
        <p:spPr>
          <a:xfrm>
            <a:off x="654062" y="4052485"/>
            <a:ext cx="11301521" cy="15778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40431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BA75-C64C-6864-CF00-32CD17C7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275388" algn="l"/>
              </a:tabLst>
            </a:pPr>
            <a:r>
              <a:rPr lang="en-US" dirty="0"/>
              <a:t>A skeptical 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2E0E-9F25-3977-FFCF-21AD29A1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37" y="1380631"/>
            <a:ext cx="11046375" cy="4948732"/>
          </a:xfrm>
        </p:spPr>
        <p:txBody>
          <a:bodyPr/>
          <a:lstStyle/>
          <a:p>
            <a:r>
              <a:rPr lang="en-US" b="1" dirty="0"/>
              <a:t>Cognitive offloading :=</a:t>
            </a:r>
            <a:r>
              <a:rPr lang="en-US" dirty="0"/>
              <a:t> the tendency (of humans) to use external resources (notes, phones, search engines) to reduce mental effort. 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The “Google effect” (or "digital amnesia") </a:t>
            </a:r>
          </a:p>
          <a:p>
            <a:pPr lvl="2"/>
            <a:r>
              <a:rPr lang="en-US" dirty="0"/>
              <a:t>People who expect info to remain accessible, remember less.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Reaction to the context scaling thought experiment: </a:t>
            </a:r>
          </a:p>
          <a:p>
            <a:pPr lvl="1"/>
            <a:r>
              <a:rPr lang="en-US" dirty="0"/>
              <a:t>Could more available context reduce what a model internalizes?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93F45-0B75-42F7-7592-D2E24885A9A7}"/>
              </a:ext>
            </a:extLst>
          </p:cNvPr>
          <p:cNvSpPr txBox="1"/>
          <p:nvPr/>
        </p:nvSpPr>
        <p:spPr>
          <a:xfrm>
            <a:off x="200025" y="3228985"/>
            <a:ext cx="11555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Sparrow et al. Google effects on memory: cognitive consequences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having information at our fingertips, 2011.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69B41-7EAF-4F92-E4B5-07FC49356F6F}"/>
              </a:ext>
            </a:extLst>
          </p:cNvPr>
          <p:cNvSpPr/>
          <p:nvPr/>
        </p:nvSpPr>
        <p:spPr>
          <a:xfrm>
            <a:off x="654062" y="4052485"/>
            <a:ext cx="11301521" cy="15778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05177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BA75-C64C-6864-CF00-32CD17C7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275388" algn="l"/>
              </a:tabLst>
            </a:pPr>
            <a:r>
              <a:rPr lang="en-US" dirty="0"/>
              <a:t>A skeptical 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2E0E-9F25-3977-FFCF-21AD29A1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37" y="1380631"/>
            <a:ext cx="11046375" cy="4948732"/>
          </a:xfrm>
        </p:spPr>
        <p:txBody>
          <a:bodyPr/>
          <a:lstStyle/>
          <a:p>
            <a:r>
              <a:rPr lang="en-US" b="1" dirty="0"/>
              <a:t>Cognitive offloading :=</a:t>
            </a:r>
            <a:r>
              <a:rPr lang="en-US" dirty="0"/>
              <a:t> the tendency (of humans) to use external resources (notes, phones, search engines) to reduce mental effort. 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The “Google effect” (or "digital amnesia") </a:t>
            </a:r>
          </a:p>
          <a:p>
            <a:pPr lvl="2"/>
            <a:r>
              <a:rPr lang="en-US" dirty="0"/>
              <a:t>People who expect info to remain accessible, remember less.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Reaction to the context scaling thought experiment: </a:t>
            </a:r>
          </a:p>
          <a:p>
            <a:pPr lvl="1"/>
            <a:r>
              <a:rPr lang="en-US" dirty="0"/>
              <a:t>Could more available context reduce what a model internalizes?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93F45-0B75-42F7-7592-D2E24885A9A7}"/>
              </a:ext>
            </a:extLst>
          </p:cNvPr>
          <p:cNvSpPr txBox="1"/>
          <p:nvPr/>
        </p:nvSpPr>
        <p:spPr>
          <a:xfrm>
            <a:off x="200025" y="3228985"/>
            <a:ext cx="11555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Sparrow et al. Google effects on memory: cognitive consequences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having information at our fingertips, 2011.</a:t>
            </a:r>
          </a:p>
        </p:txBody>
      </p:sp>
    </p:spTree>
    <p:extLst>
      <p:ext uri="{BB962C8B-B14F-4D97-AF65-F5344CB8AC3E}">
        <p14:creationId xmlns:p14="http://schemas.microsoft.com/office/powerpoint/2010/main" val="17545262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E3D-EC21-43B4-75CE-E590019E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Fixed Data: </a:t>
                </a:r>
                <a:r>
                  <a:rPr lang="en-US" dirty="0"/>
                  <a:t>Long documents from Project Gutenberg</a:t>
                </a:r>
              </a:p>
              <a:p>
                <a:r>
                  <a:rPr lang="en-US" b="1" dirty="0"/>
                  <a:t>Fixed token budget: </a:t>
                </a:r>
                <a:r>
                  <a:rPr lang="en-US" dirty="0"/>
                  <a:t>10B tokens </a:t>
                </a:r>
              </a:p>
              <a:p>
                <a:r>
                  <a:rPr lang="en-US" b="1" dirty="0"/>
                  <a:t>Vary the training window size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sz="2800" b="1" dirty="0"/>
                  <a:t> ∈ </a:t>
                </a:r>
                <a:r>
                  <a:rPr lang="en-US" sz="2800" dirty="0"/>
                  <a:t>{512, 1K, 2K, 4K, 8K, 16K, 32K} </a:t>
                </a:r>
                <a:r>
                  <a:rPr lang="en-US" sz="2800" b="1" dirty="0"/>
                  <a:t> </a:t>
                </a:r>
              </a:p>
              <a:p>
                <a:r>
                  <a:rPr lang="en-US" b="1" dirty="0"/>
                  <a:t>Evaluation:</a:t>
                </a:r>
                <a:r>
                  <a:rPr lang="en-US" dirty="0"/>
                  <a:t> existing (not-very-long) tasks.</a:t>
                </a:r>
              </a:p>
              <a:p>
                <a:r>
                  <a:rPr lang="en-US" b="1" dirty="0"/>
                  <a:t>Q: </a:t>
                </a:r>
                <a:r>
                  <a:rPr lang="en-US" dirty="0"/>
                  <a:t>How does this control manifest itself in downstream evals?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3C19-E937-AF67-4B9D-DB4F8215C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3F202-8D2D-A269-65E9-8FA1931C5EB4}"/>
              </a:ext>
            </a:extLst>
          </p:cNvPr>
          <p:cNvSpPr txBox="1"/>
          <p:nvPr/>
        </p:nvSpPr>
        <p:spPr>
          <a:xfrm>
            <a:off x="838200" y="5972181"/>
            <a:ext cx="10251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(*another variable is compute-per-model; longer models require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compute, despite being token-matched.)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BF81B6-3CC7-2A6E-AD22-0EC598375F59}"/>
              </a:ext>
            </a:extLst>
          </p:cNvPr>
          <p:cNvSpPr/>
          <p:nvPr/>
        </p:nvSpPr>
        <p:spPr>
          <a:xfrm>
            <a:off x="728554" y="1428115"/>
            <a:ext cx="11301521" cy="707886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D898B-F71A-FC7E-990D-2AEE546C4E2A}"/>
              </a:ext>
            </a:extLst>
          </p:cNvPr>
          <p:cNvSpPr/>
          <p:nvPr/>
        </p:nvSpPr>
        <p:spPr>
          <a:xfrm>
            <a:off x="619675" y="2125841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B7D8D-2E00-E7E8-8CAD-5C26874A60F5}"/>
              </a:ext>
            </a:extLst>
          </p:cNvPr>
          <p:cNvSpPr/>
          <p:nvPr/>
        </p:nvSpPr>
        <p:spPr>
          <a:xfrm>
            <a:off x="728554" y="2679668"/>
            <a:ext cx="11301521" cy="998252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D645A-C266-E645-C9E6-581A87DAD2B6}"/>
              </a:ext>
            </a:extLst>
          </p:cNvPr>
          <p:cNvSpPr/>
          <p:nvPr/>
        </p:nvSpPr>
        <p:spPr>
          <a:xfrm>
            <a:off x="464289" y="3617775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0A41E6-6445-F194-7BF0-D048C27D6CC0}"/>
              </a:ext>
            </a:extLst>
          </p:cNvPr>
          <p:cNvSpPr/>
          <p:nvPr/>
        </p:nvSpPr>
        <p:spPr>
          <a:xfrm>
            <a:off x="619674" y="4250691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4C3EBB-B849-663D-2D3E-794D8F2DFF8A}"/>
              </a:ext>
            </a:extLst>
          </p:cNvPr>
          <p:cNvSpPr/>
          <p:nvPr/>
        </p:nvSpPr>
        <p:spPr>
          <a:xfrm>
            <a:off x="838200" y="5972181"/>
            <a:ext cx="11301521" cy="84595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11010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E3D-EC21-43B4-75CE-E590019E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Fixed Data: </a:t>
                </a:r>
                <a:r>
                  <a:rPr lang="en-US" dirty="0"/>
                  <a:t>Long documents from Project Gutenberg</a:t>
                </a:r>
              </a:p>
              <a:p>
                <a:r>
                  <a:rPr lang="en-US" b="1" dirty="0"/>
                  <a:t>Fixed token budget: </a:t>
                </a:r>
                <a:r>
                  <a:rPr lang="en-US" dirty="0"/>
                  <a:t>10B tokens </a:t>
                </a:r>
              </a:p>
              <a:p>
                <a:r>
                  <a:rPr lang="en-US" b="1" dirty="0"/>
                  <a:t>Vary the training window size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sz="2800" b="1" dirty="0"/>
                  <a:t> ∈ </a:t>
                </a:r>
                <a:r>
                  <a:rPr lang="en-US" sz="2800" dirty="0"/>
                  <a:t>{512, 1K, 2K, 4K, 8K, 16K, 32K} </a:t>
                </a:r>
                <a:r>
                  <a:rPr lang="en-US" sz="2800" b="1" dirty="0"/>
                  <a:t> </a:t>
                </a:r>
              </a:p>
              <a:p>
                <a:r>
                  <a:rPr lang="en-US" b="1" dirty="0"/>
                  <a:t>Evaluation:</a:t>
                </a:r>
                <a:r>
                  <a:rPr lang="en-US" dirty="0"/>
                  <a:t> existing (not-very-long) tasks.</a:t>
                </a:r>
              </a:p>
              <a:p>
                <a:r>
                  <a:rPr lang="en-US" b="1" dirty="0"/>
                  <a:t>Q: </a:t>
                </a:r>
                <a:r>
                  <a:rPr lang="en-US" dirty="0"/>
                  <a:t>How does this control manifest itself in downstream evals?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3C19-E937-AF67-4B9D-DB4F8215C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3F202-8D2D-A269-65E9-8FA1931C5EB4}"/>
              </a:ext>
            </a:extLst>
          </p:cNvPr>
          <p:cNvSpPr txBox="1"/>
          <p:nvPr/>
        </p:nvSpPr>
        <p:spPr>
          <a:xfrm>
            <a:off x="838200" y="5972181"/>
            <a:ext cx="10251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(*another variable is compute-per-model; longer models require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compute, despite being token-matched.)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D898B-F71A-FC7E-990D-2AEE546C4E2A}"/>
              </a:ext>
            </a:extLst>
          </p:cNvPr>
          <p:cNvSpPr/>
          <p:nvPr/>
        </p:nvSpPr>
        <p:spPr>
          <a:xfrm>
            <a:off x="619675" y="2125841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B7D8D-2E00-E7E8-8CAD-5C26874A60F5}"/>
              </a:ext>
            </a:extLst>
          </p:cNvPr>
          <p:cNvSpPr/>
          <p:nvPr/>
        </p:nvSpPr>
        <p:spPr>
          <a:xfrm>
            <a:off x="728554" y="2679668"/>
            <a:ext cx="11301521" cy="998252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D645A-C266-E645-C9E6-581A87DAD2B6}"/>
              </a:ext>
            </a:extLst>
          </p:cNvPr>
          <p:cNvSpPr/>
          <p:nvPr/>
        </p:nvSpPr>
        <p:spPr>
          <a:xfrm>
            <a:off x="464289" y="3617775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0A41E6-6445-F194-7BF0-D048C27D6CC0}"/>
              </a:ext>
            </a:extLst>
          </p:cNvPr>
          <p:cNvSpPr/>
          <p:nvPr/>
        </p:nvSpPr>
        <p:spPr>
          <a:xfrm>
            <a:off x="619674" y="4250691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4C3EBB-B849-663D-2D3E-794D8F2DFF8A}"/>
              </a:ext>
            </a:extLst>
          </p:cNvPr>
          <p:cNvSpPr/>
          <p:nvPr/>
        </p:nvSpPr>
        <p:spPr>
          <a:xfrm>
            <a:off x="838200" y="5972181"/>
            <a:ext cx="11301521" cy="84595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15726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E3D-EC21-43B4-75CE-E590019E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Fixed Data: </a:t>
                </a:r>
                <a:r>
                  <a:rPr lang="en-US" dirty="0"/>
                  <a:t>Long documents from Project Gutenberg</a:t>
                </a:r>
              </a:p>
              <a:p>
                <a:r>
                  <a:rPr lang="en-US" b="1" dirty="0"/>
                  <a:t>Fixed token budget: </a:t>
                </a:r>
                <a:r>
                  <a:rPr lang="en-US" dirty="0"/>
                  <a:t>10B tokens </a:t>
                </a:r>
              </a:p>
              <a:p>
                <a:r>
                  <a:rPr lang="en-US" b="1" dirty="0"/>
                  <a:t>Vary the training window size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sz="2800" b="1" dirty="0"/>
                  <a:t> ∈ </a:t>
                </a:r>
                <a:r>
                  <a:rPr lang="en-US" sz="2800" dirty="0"/>
                  <a:t>{512, 1K, 2K, 4K, 8K, 16K, 32K} </a:t>
                </a:r>
                <a:r>
                  <a:rPr lang="en-US" sz="2800" b="1" dirty="0"/>
                  <a:t> </a:t>
                </a:r>
              </a:p>
              <a:p>
                <a:r>
                  <a:rPr lang="en-US" b="1" dirty="0"/>
                  <a:t>Evaluation:</a:t>
                </a:r>
                <a:r>
                  <a:rPr lang="en-US" dirty="0"/>
                  <a:t> existing (not-very-long) tasks.</a:t>
                </a:r>
              </a:p>
              <a:p>
                <a:r>
                  <a:rPr lang="en-US" b="1" dirty="0"/>
                  <a:t>Q: </a:t>
                </a:r>
                <a:r>
                  <a:rPr lang="en-US" dirty="0"/>
                  <a:t>How does this control manifest itself in downstream evals?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3C19-E937-AF67-4B9D-DB4F8215C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3F202-8D2D-A269-65E9-8FA1931C5EB4}"/>
              </a:ext>
            </a:extLst>
          </p:cNvPr>
          <p:cNvSpPr txBox="1"/>
          <p:nvPr/>
        </p:nvSpPr>
        <p:spPr>
          <a:xfrm>
            <a:off x="838200" y="5972181"/>
            <a:ext cx="10251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(*another variable is compute-per-model; longer models require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compute, despite being token-matched.)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B7D8D-2E00-E7E8-8CAD-5C26874A60F5}"/>
              </a:ext>
            </a:extLst>
          </p:cNvPr>
          <p:cNvSpPr/>
          <p:nvPr/>
        </p:nvSpPr>
        <p:spPr>
          <a:xfrm>
            <a:off x="728554" y="2679668"/>
            <a:ext cx="11301521" cy="998252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D645A-C266-E645-C9E6-581A87DAD2B6}"/>
              </a:ext>
            </a:extLst>
          </p:cNvPr>
          <p:cNvSpPr/>
          <p:nvPr/>
        </p:nvSpPr>
        <p:spPr>
          <a:xfrm>
            <a:off x="464289" y="3617775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0A41E6-6445-F194-7BF0-D048C27D6CC0}"/>
              </a:ext>
            </a:extLst>
          </p:cNvPr>
          <p:cNvSpPr/>
          <p:nvPr/>
        </p:nvSpPr>
        <p:spPr>
          <a:xfrm>
            <a:off x="619674" y="4250691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4C3EBB-B849-663D-2D3E-794D8F2DFF8A}"/>
              </a:ext>
            </a:extLst>
          </p:cNvPr>
          <p:cNvSpPr/>
          <p:nvPr/>
        </p:nvSpPr>
        <p:spPr>
          <a:xfrm>
            <a:off x="838200" y="5972181"/>
            <a:ext cx="11301521" cy="84595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5032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E3D-EC21-43B4-75CE-E590019E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Fixed Data: </a:t>
                </a:r>
                <a:r>
                  <a:rPr lang="en-US" dirty="0"/>
                  <a:t>Long documents from Project Gutenberg</a:t>
                </a:r>
              </a:p>
              <a:p>
                <a:r>
                  <a:rPr lang="en-US" b="1" dirty="0"/>
                  <a:t>Fixed token budget: </a:t>
                </a:r>
                <a:r>
                  <a:rPr lang="en-US" dirty="0"/>
                  <a:t>10B tokens </a:t>
                </a:r>
              </a:p>
              <a:p>
                <a:r>
                  <a:rPr lang="en-US" b="1" dirty="0"/>
                  <a:t>Vary the training window size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sz="2800" b="1" dirty="0"/>
                  <a:t> ∈ </a:t>
                </a:r>
                <a:r>
                  <a:rPr lang="en-US" sz="2800" dirty="0"/>
                  <a:t>{512, 1K, 2K, 4K, 8K, 16K, 32K} </a:t>
                </a:r>
                <a:r>
                  <a:rPr lang="en-US" sz="2800" b="1" dirty="0"/>
                  <a:t> </a:t>
                </a:r>
              </a:p>
              <a:p>
                <a:r>
                  <a:rPr lang="en-US" b="1" dirty="0"/>
                  <a:t>Evaluation:</a:t>
                </a:r>
                <a:r>
                  <a:rPr lang="en-US" dirty="0"/>
                  <a:t> existing (not-very-long) tasks.</a:t>
                </a:r>
              </a:p>
              <a:p>
                <a:r>
                  <a:rPr lang="en-US" b="1" dirty="0"/>
                  <a:t>Q: </a:t>
                </a:r>
                <a:r>
                  <a:rPr lang="en-US" dirty="0"/>
                  <a:t>How does this control manifest itself in downstream evals?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3C19-E937-AF67-4B9D-DB4F8215C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3F202-8D2D-A269-65E9-8FA1931C5EB4}"/>
              </a:ext>
            </a:extLst>
          </p:cNvPr>
          <p:cNvSpPr txBox="1"/>
          <p:nvPr/>
        </p:nvSpPr>
        <p:spPr>
          <a:xfrm>
            <a:off x="838200" y="5972181"/>
            <a:ext cx="10251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(*another variable is compute-per-model; longer models require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compute, despite being token-matched.)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D645A-C266-E645-C9E6-581A87DAD2B6}"/>
              </a:ext>
            </a:extLst>
          </p:cNvPr>
          <p:cNvSpPr/>
          <p:nvPr/>
        </p:nvSpPr>
        <p:spPr>
          <a:xfrm>
            <a:off x="464289" y="3617775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0A41E6-6445-F194-7BF0-D048C27D6CC0}"/>
              </a:ext>
            </a:extLst>
          </p:cNvPr>
          <p:cNvSpPr/>
          <p:nvPr/>
        </p:nvSpPr>
        <p:spPr>
          <a:xfrm>
            <a:off x="619674" y="4250691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64433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E3D-EC21-43B4-75CE-E590019E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Fixed Data: </a:t>
                </a:r>
                <a:r>
                  <a:rPr lang="en-US" dirty="0"/>
                  <a:t>Long documents from Project Gutenberg</a:t>
                </a:r>
              </a:p>
              <a:p>
                <a:r>
                  <a:rPr lang="en-US" b="1" dirty="0"/>
                  <a:t>Fixed token budget: </a:t>
                </a:r>
                <a:r>
                  <a:rPr lang="en-US" dirty="0"/>
                  <a:t>10B tokens </a:t>
                </a:r>
              </a:p>
              <a:p>
                <a:r>
                  <a:rPr lang="en-US" b="1" dirty="0"/>
                  <a:t>Vary the training window size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sz="2800" b="1" dirty="0"/>
                  <a:t> ∈ </a:t>
                </a:r>
                <a:r>
                  <a:rPr lang="en-US" sz="2800" dirty="0"/>
                  <a:t>{512, 1K, 2K, 4K, 8K, 16K, 32K} </a:t>
                </a:r>
                <a:r>
                  <a:rPr lang="en-US" sz="2800" b="1" dirty="0"/>
                  <a:t> </a:t>
                </a:r>
              </a:p>
              <a:p>
                <a:r>
                  <a:rPr lang="en-US" b="1" dirty="0"/>
                  <a:t>Evaluation:</a:t>
                </a:r>
                <a:r>
                  <a:rPr lang="en-US" dirty="0"/>
                  <a:t> existing (not-very-long) tasks.</a:t>
                </a:r>
              </a:p>
              <a:p>
                <a:r>
                  <a:rPr lang="en-US" b="1" dirty="0"/>
                  <a:t>Q: </a:t>
                </a:r>
                <a:r>
                  <a:rPr lang="en-US" dirty="0"/>
                  <a:t>How does this control manifest itself in downstream evals?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3C19-E937-AF67-4B9D-DB4F8215C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3F202-8D2D-A269-65E9-8FA1931C5EB4}"/>
              </a:ext>
            </a:extLst>
          </p:cNvPr>
          <p:cNvSpPr txBox="1"/>
          <p:nvPr/>
        </p:nvSpPr>
        <p:spPr>
          <a:xfrm>
            <a:off x="838200" y="5972181"/>
            <a:ext cx="10251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(*another variable is compute-per-model; longer models require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compute, despite being token-matched.)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0A41E6-6445-F194-7BF0-D048C27D6CC0}"/>
              </a:ext>
            </a:extLst>
          </p:cNvPr>
          <p:cNvSpPr/>
          <p:nvPr/>
        </p:nvSpPr>
        <p:spPr>
          <a:xfrm>
            <a:off x="619674" y="4250691"/>
            <a:ext cx="11301521" cy="62339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89750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E3D-EC21-43B4-75CE-E590019E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Fixed Data: </a:t>
                </a:r>
                <a:r>
                  <a:rPr lang="en-US" dirty="0"/>
                  <a:t>Long documents from Project Gutenberg</a:t>
                </a:r>
              </a:p>
              <a:p>
                <a:r>
                  <a:rPr lang="en-US" b="1" dirty="0"/>
                  <a:t>Fixed token budget: </a:t>
                </a:r>
                <a:r>
                  <a:rPr lang="en-US" dirty="0"/>
                  <a:t>10B tokens </a:t>
                </a:r>
              </a:p>
              <a:p>
                <a:r>
                  <a:rPr lang="en-US" b="1" dirty="0"/>
                  <a:t>Vary the training window size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sz="2800" b="1" dirty="0"/>
                  <a:t> ∈ </a:t>
                </a:r>
                <a:r>
                  <a:rPr lang="en-US" sz="2800" dirty="0"/>
                  <a:t>{512, 1K, 2K, 4K, 8K, 16K, 32K} </a:t>
                </a:r>
                <a:r>
                  <a:rPr lang="en-US" sz="2800" b="1" dirty="0"/>
                  <a:t> </a:t>
                </a:r>
              </a:p>
              <a:p>
                <a:r>
                  <a:rPr lang="en-US" b="1" dirty="0"/>
                  <a:t>Evaluation:</a:t>
                </a:r>
                <a:r>
                  <a:rPr lang="en-US" dirty="0"/>
                  <a:t> existing (not-very-long) tasks.</a:t>
                </a:r>
              </a:p>
              <a:p>
                <a:r>
                  <a:rPr lang="en-US" b="1" dirty="0"/>
                  <a:t>Q: </a:t>
                </a:r>
                <a:r>
                  <a:rPr lang="en-US" dirty="0"/>
                  <a:t>How does this control manifest itself in downstream evals?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4662C-E95F-0527-744C-85AD372C8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3C19-E937-AF67-4B9D-DB4F8215C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3F202-8D2D-A269-65E9-8FA1931C5EB4}"/>
              </a:ext>
            </a:extLst>
          </p:cNvPr>
          <p:cNvSpPr txBox="1"/>
          <p:nvPr/>
        </p:nvSpPr>
        <p:spPr>
          <a:xfrm>
            <a:off x="838200" y="5972181"/>
            <a:ext cx="10251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(*another variable is compute-per-model; longer models require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compute, despite being token-matched.)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5689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8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252296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09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57565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0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59229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1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53049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2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4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25525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3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5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8006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4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/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00" name="Curved Connector 5399">
            <a:extLst>
              <a:ext uri="{FF2B5EF4-FFF2-40B4-BE49-F238E27FC236}">
                <a16:creationId xmlns:a16="http://schemas.microsoft.com/office/drawing/2014/main" id="{A2FD3C74-CD1D-CBDE-90C0-140EBF6F38EB}"/>
              </a:ext>
            </a:extLst>
          </p:cNvPr>
          <p:cNvCxnSpPr>
            <a:cxnSpLocks/>
            <a:stCxn id="5399" idx="2"/>
            <a:endCxn id="5" idx="3"/>
          </p:cNvCxnSpPr>
          <p:nvPr/>
        </p:nvCxnSpPr>
        <p:spPr>
          <a:xfrm rot="5400000">
            <a:off x="9888122" y="3689389"/>
            <a:ext cx="1206782" cy="178704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6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026026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5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/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00" name="Curved Connector 5399">
            <a:extLst>
              <a:ext uri="{FF2B5EF4-FFF2-40B4-BE49-F238E27FC236}">
                <a16:creationId xmlns:a16="http://schemas.microsoft.com/office/drawing/2014/main" id="{A2FD3C74-CD1D-CBDE-90C0-140EBF6F38EB}"/>
              </a:ext>
            </a:extLst>
          </p:cNvPr>
          <p:cNvCxnSpPr>
            <a:cxnSpLocks/>
            <a:stCxn id="5399" idx="2"/>
            <a:endCxn id="5" idx="3"/>
          </p:cNvCxnSpPr>
          <p:nvPr/>
        </p:nvCxnSpPr>
        <p:spPr>
          <a:xfrm rot="5400000">
            <a:off x="9888122" y="3689389"/>
            <a:ext cx="1206782" cy="178704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6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6" name="Right Brace 5415">
            <a:extLst>
              <a:ext uri="{FF2B5EF4-FFF2-40B4-BE49-F238E27FC236}">
                <a16:creationId xmlns:a16="http://schemas.microsoft.com/office/drawing/2014/main" id="{30A0DC49-2ECF-5AE1-EDB7-E6A180460E30}"/>
              </a:ext>
            </a:extLst>
          </p:cNvPr>
          <p:cNvSpPr/>
          <p:nvPr/>
        </p:nvSpPr>
        <p:spPr>
          <a:xfrm rot="5400000">
            <a:off x="8900507" y="4900107"/>
            <a:ext cx="178008" cy="2441613"/>
          </a:xfrm>
          <a:prstGeom prst="rightBrace">
            <a:avLst>
              <a:gd name="adj1" fmla="val 18577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/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the window available during training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blipFill>
                <a:blip r:embed="rId8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9971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6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/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00" name="Curved Connector 5399">
            <a:extLst>
              <a:ext uri="{FF2B5EF4-FFF2-40B4-BE49-F238E27FC236}">
                <a16:creationId xmlns:a16="http://schemas.microsoft.com/office/drawing/2014/main" id="{A2FD3C74-CD1D-CBDE-90C0-140EBF6F38EB}"/>
              </a:ext>
            </a:extLst>
          </p:cNvPr>
          <p:cNvCxnSpPr>
            <a:cxnSpLocks/>
            <a:stCxn id="5399" idx="2"/>
            <a:endCxn id="5" idx="3"/>
          </p:cNvCxnSpPr>
          <p:nvPr/>
        </p:nvCxnSpPr>
        <p:spPr>
          <a:xfrm rot="5400000">
            <a:off x="9888122" y="3689389"/>
            <a:ext cx="1206782" cy="178704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6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6" name="Right Brace 5415">
            <a:extLst>
              <a:ext uri="{FF2B5EF4-FFF2-40B4-BE49-F238E27FC236}">
                <a16:creationId xmlns:a16="http://schemas.microsoft.com/office/drawing/2014/main" id="{30A0DC49-2ECF-5AE1-EDB7-E6A180460E30}"/>
              </a:ext>
            </a:extLst>
          </p:cNvPr>
          <p:cNvSpPr/>
          <p:nvPr/>
        </p:nvSpPr>
        <p:spPr>
          <a:xfrm rot="5400000">
            <a:off x="8900507" y="4900107"/>
            <a:ext cx="178008" cy="2441613"/>
          </a:xfrm>
          <a:prstGeom prst="rightBrace">
            <a:avLst>
              <a:gd name="adj1" fmla="val 18577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  <p:sp>
        <p:nvSpPr>
          <p:cNvPr id="5723" name="Down Arrow 5722">
            <a:extLst>
              <a:ext uri="{FF2B5EF4-FFF2-40B4-BE49-F238E27FC236}">
                <a16:creationId xmlns:a16="http://schemas.microsoft.com/office/drawing/2014/main" id="{87E7E0EA-53C5-A7A2-D6A3-DAB8965475E5}"/>
              </a:ext>
            </a:extLst>
          </p:cNvPr>
          <p:cNvSpPr/>
          <p:nvPr/>
        </p:nvSpPr>
        <p:spPr>
          <a:xfrm rot="5400000">
            <a:off x="5498837" y="4109882"/>
            <a:ext cx="961428" cy="5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/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the window available during training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blipFill>
                <a:blip r:embed="rId8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9279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7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/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00" name="Curved Connector 5399">
            <a:extLst>
              <a:ext uri="{FF2B5EF4-FFF2-40B4-BE49-F238E27FC236}">
                <a16:creationId xmlns:a16="http://schemas.microsoft.com/office/drawing/2014/main" id="{A2FD3C74-CD1D-CBDE-90C0-140EBF6F38EB}"/>
              </a:ext>
            </a:extLst>
          </p:cNvPr>
          <p:cNvCxnSpPr>
            <a:cxnSpLocks/>
            <a:stCxn id="5399" idx="2"/>
            <a:endCxn id="5" idx="3"/>
          </p:cNvCxnSpPr>
          <p:nvPr/>
        </p:nvCxnSpPr>
        <p:spPr>
          <a:xfrm rot="5400000">
            <a:off x="9888122" y="3689389"/>
            <a:ext cx="1206782" cy="178704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6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6" name="Right Brace 5415">
            <a:extLst>
              <a:ext uri="{FF2B5EF4-FFF2-40B4-BE49-F238E27FC236}">
                <a16:creationId xmlns:a16="http://schemas.microsoft.com/office/drawing/2014/main" id="{30A0DC49-2ECF-5AE1-EDB7-E6A180460E30}"/>
              </a:ext>
            </a:extLst>
          </p:cNvPr>
          <p:cNvSpPr/>
          <p:nvPr/>
        </p:nvSpPr>
        <p:spPr>
          <a:xfrm rot="5400000">
            <a:off x="8900507" y="4900107"/>
            <a:ext cx="178008" cy="2441613"/>
          </a:xfrm>
          <a:prstGeom prst="rightBrace">
            <a:avLst>
              <a:gd name="adj1" fmla="val 18577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  <p:grpSp>
        <p:nvGrpSpPr>
          <p:cNvPr id="5724" name="Group 5723">
            <a:extLst>
              <a:ext uri="{FF2B5EF4-FFF2-40B4-BE49-F238E27FC236}">
                <a16:creationId xmlns:a16="http://schemas.microsoft.com/office/drawing/2014/main" id="{45827ABF-3F7F-429F-851F-686CF894A6EE}"/>
              </a:ext>
            </a:extLst>
          </p:cNvPr>
          <p:cNvGrpSpPr/>
          <p:nvPr/>
        </p:nvGrpSpPr>
        <p:grpSpPr>
          <a:xfrm>
            <a:off x="1761701" y="3789387"/>
            <a:ext cx="2527636" cy="1189537"/>
            <a:chOff x="1972348" y="3789387"/>
            <a:chExt cx="2527636" cy="1189537"/>
          </a:xfrm>
        </p:grpSpPr>
        <p:sp>
          <p:nvSpPr>
            <p:cNvPr id="5678" name="Rounded Rectangle 5677">
              <a:extLst>
                <a:ext uri="{FF2B5EF4-FFF2-40B4-BE49-F238E27FC236}">
                  <a16:creationId xmlns:a16="http://schemas.microsoft.com/office/drawing/2014/main" id="{ABB89725-19DC-0ED1-D55D-1CC76E45403E}"/>
                </a:ext>
              </a:extLst>
            </p:cNvPr>
            <p:cNvSpPr/>
            <p:nvPr/>
          </p:nvSpPr>
          <p:spPr>
            <a:xfrm>
              <a:off x="1972348" y="3789387"/>
              <a:ext cx="2527636" cy="118549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latin typeface="Avenir Book" panose="02000503020000020003" pitchFamily="2" charset="0"/>
                </a:rPr>
                <a:t>LM</a:t>
              </a:r>
            </a:p>
          </p:txBody>
        </p:sp>
        <p:sp>
          <p:nvSpPr>
            <p:cNvPr id="5721" name="TextBox 5720">
              <a:extLst>
                <a:ext uri="{FF2B5EF4-FFF2-40B4-BE49-F238E27FC236}">
                  <a16:creationId xmlns:a16="http://schemas.microsoft.com/office/drawing/2014/main" id="{6D6BE3C7-B100-E410-70AC-613E8DB87FF2}"/>
                </a:ext>
              </a:extLst>
            </p:cNvPr>
            <p:cNvSpPr txBox="1"/>
            <p:nvPr/>
          </p:nvSpPr>
          <p:spPr>
            <a:xfrm>
              <a:off x="2799131" y="4609592"/>
              <a:ext cx="9966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trained</a:t>
              </a:r>
            </a:p>
          </p:txBody>
        </p:sp>
      </p:grpSp>
      <p:sp>
        <p:nvSpPr>
          <p:cNvPr id="5722" name="TextBox 5721">
            <a:extLst>
              <a:ext uri="{FF2B5EF4-FFF2-40B4-BE49-F238E27FC236}">
                <a16:creationId xmlns:a16="http://schemas.microsoft.com/office/drawing/2014/main" id="{0816A1D9-BFFC-7A60-A904-763C37D9FF7E}"/>
              </a:ext>
            </a:extLst>
          </p:cNvPr>
          <p:cNvSpPr txBox="1"/>
          <p:nvPr/>
        </p:nvSpPr>
        <p:spPr>
          <a:xfrm>
            <a:off x="1790982" y="1509104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Test time</a:t>
            </a:r>
            <a:endParaRPr lang="en-US" sz="2400" b="1" dirty="0"/>
          </a:p>
        </p:txBody>
      </p:sp>
      <p:sp>
        <p:nvSpPr>
          <p:cNvPr id="5723" name="Down Arrow 5722">
            <a:extLst>
              <a:ext uri="{FF2B5EF4-FFF2-40B4-BE49-F238E27FC236}">
                <a16:creationId xmlns:a16="http://schemas.microsoft.com/office/drawing/2014/main" id="{87E7E0EA-53C5-A7A2-D6A3-DAB8965475E5}"/>
              </a:ext>
            </a:extLst>
          </p:cNvPr>
          <p:cNvSpPr/>
          <p:nvPr/>
        </p:nvSpPr>
        <p:spPr>
          <a:xfrm rot="5400000">
            <a:off x="5498837" y="4109882"/>
            <a:ext cx="961428" cy="5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/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the window available during training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blipFill>
                <a:blip r:embed="rId8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8120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8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/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00" name="Curved Connector 5399">
            <a:extLst>
              <a:ext uri="{FF2B5EF4-FFF2-40B4-BE49-F238E27FC236}">
                <a16:creationId xmlns:a16="http://schemas.microsoft.com/office/drawing/2014/main" id="{A2FD3C74-CD1D-CBDE-90C0-140EBF6F38EB}"/>
              </a:ext>
            </a:extLst>
          </p:cNvPr>
          <p:cNvCxnSpPr>
            <a:cxnSpLocks/>
            <a:stCxn id="5399" idx="2"/>
            <a:endCxn id="5" idx="3"/>
          </p:cNvCxnSpPr>
          <p:nvPr/>
        </p:nvCxnSpPr>
        <p:spPr>
          <a:xfrm rot="5400000">
            <a:off x="9888122" y="3689389"/>
            <a:ext cx="1206782" cy="178704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6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6" name="Right Brace 5415">
            <a:extLst>
              <a:ext uri="{FF2B5EF4-FFF2-40B4-BE49-F238E27FC236}">
                <a16:creationId xmlns:a16="http://schemas.microsoft.com/office/drawing/2014/main" id="{30A0DC49-2ECF-5AE1-EDB7-E6A180460E30}"/>
              </a:ext>
            </a:extLst>
          </p:cNvPr>
          <p:cNvSpPr/>
          <p:nvPr/>
        </p:nvSpPr>
        <p:spPr>
          <a:xfrm rot="5400000">
            <a:off x="8900507" y="4900107"/>
            <a:ext cx="178008" cy="2441613"/>
          </a:xfrm>
          <a:prstGeom prst="rightBrace">
            <a:avLst>
              <a:gd name="adj1" fmla="val 18577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  <p:sp>
        <p:nvSpPr>
          <p:cNvPr id="5679" name="Down Arrow 5678">
            <a:extLst>
              <a:ext uri="{FF2B5EF4-FFF2-40B4-BE49-F238E27FC236}">
                <a16:creationId xmlns:a16="http://schemas.microsoft.com/office/drawing/2014/main" id="{BFD81F2D-6EFB-A859-0148-1CE763532E74}"/>
              </a:ext>
            </a:extLst>
          </p:cNvPr>
          <p:cNvSpPr/>
          <p:nvPr/>
        </p:nvSpPr>
        <p:spPr>
          <a:xfrm rot="10800000">
            <a:off x="3663453" y="344170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680" name="Group 5679">
            <a:extLst>
              <a:ext uri="{FF2B5EF4-FFF2-40B4-BE49-F238E27FC236}">
                <a16:creationId xmlns:a16="http://schemas.microsoft.com/office/drawing/2014/main" id="{E2834AA7-76B9-7641-D3F6-D624D7650F03}"/>
              </a:ext>
            </a:extLst>
          </p:cNvPr>
          <p:cNvGrpSpPr>
            <a:grpSpLocks noChangeAspect="1"/>
          </p:cNvGrpSpPr>
          <p:nvPr/>
        </p:nvGrpSpPr>
        <p:grpSpPr>
          <a:xfrm>
            <a:off x="3595084" y="3276081"/>
            <a:ext cx="293997" cy="104174"/>
            <a:chOff x="7316835" y="187982"/>
            <a:chExt cx="1490982" cy="528309"/>
          </a:xfrm>
        </p:grpSpPr>
        <p:grpSp>
          <p:nvGrpSpPr>
            <p:cNvPr id="5681" name="object 14">
              <a:extLst>
                <a:ext uri="{FF2B5EF4-FFF2-40B4-BE49-F238E27FC236}">
                  <a16:creationId xmlns:a16="http://schemas.microsoft.com/office/drawing/2014/main" id="{7756AAAA-D5B3-1507-5040-FA711AB2F8CB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685" name="object 16">
                <a:extLst>
                  <a:ext uri="{FF2B5EF4-FFF2-40B4-BE49-F238E27FC236}">
                    <a16:creationId xmlns:a16="http://schemas.microsoft.com/office/drawing/2014/main" id="{8B702378-E48A-7E3E-695B-FE2AE2B34CB1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6" name="object 17">
                <a:extLst>
                  <a:ext uri="{FF2B5EF4-FFF2-40B4-BE49-F238E27FC236}">
                    <a16:creationId xmlns:a16="http://schemas.microsoft.com/office/drawing/2014/main" id="{E07F274D-10E3-7A2A-BD7B-EA9972DC2A4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7" name="object 18">
                <a:extLst>
                  <a:ext uri="{FF2B5EF4-FFF2-40B4-BE49-F238E27FC236}">
                    <a16:creationId xmlns:a16="http://schemas.microsoft.com/office/drawing/2014/main" id="{DF37431F-C902-6F72-1955-539F3B218B89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8" name="object 19">
                <a:extLst>
                  <a:ext uri="{FF2B5EF4-FFF2-40B4-BE49-F238E27FC236}">
                    <a16:creationId xmlns:a16="http://schemas.microsoft.com/office/drawing/2014/main" id="{C6114F4F-0A25-0D07-E4D7-1CF3619A3E6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9" name="object 20">
                <a:extLst>
                  <a:ext uri="{FF2B5EF4-FFF2-40B4-BE49-F238E27FC236}">
                    <a16:creationId xmlns:a16="http://schemas.microsoft.com/office/drawing/2014/main" id="{A815D8BD-E307-178D-D83B-94C0F7F11B5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0" name="object 21">
                <a:extLst>
                  <a:ext uri="{FF2B5EF4-FFF2-40B4-BE49-F238E27FC236}">
                    <a16:creationId xmlns:a16="http://schemas.microsoft.com/office/drawing/2014/main" id="{B868AA11-FCE5-FC54-5C7C-F65420443AE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1" name="object 22">
                <a:extLst>
                  <a:ext uri="{FF2B5EF4-FFF2-40B4-BE49-F238E27FC236}">
                    <a16:creationId xmlns:a16="http://schemas.microsoft.com/office/drawing/2014/main" id="{EDBB5980-3A74-8709-4AAB-39F0CF008FE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2" name="object 23">
                <a:extLst>
                  <a:ext uri="{FF2B5EF4-FFF2-40B4-BE49-F238E27FC236}">
                    <a16:creationId xmlns:a16="http://schemas.microsoft.com/office/drawing/2014/main" id="{00604B8A-5A38-7033-059B-8F00BEC6D7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3" name="object 24">
                <a:extLst>
                  <a:ext uri="{FF2B5EF4-FFF2-40B4-BE49-F238E27FC236}">
                    <a16:creationId xmlns:a16="http://schemas.microsoft.com/office/drawing/2014/main" id="{D513DE3C-316C-1FE8-BD96-069A2C0039D2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4" name="object 25">
                <a:extLst>
                  <a:ext uri="{FF2B5EF4-FFF2-40B4-BE49-F238E27FC236}">
                    <a16:creationId xmlns:a16="http://schemas.microsoft.com/office/drawing/2014/main" id="{F9C90A85-A279-E6C1-6D3B-39CA8CB74C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5" name="object 26">
                <a:extLst>
                  <a:ext uri="{FF2B5EF4-FFF2-40B4-BE49-F238E27FC236}">
                    <a16:creationId xmlns:a16="http://schemas.microsoft.com/office/drawing/2014/main" id="{F6BCD703-CF29-75B5-1446-1A9B772ECD76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6" name="object 27">
                <a:extLst>
                  <a:ext uri="{FF2B5EF4-FFF2-40B4-BE49-F238E27FC236}">
                    <a16:creationId xmlns:a16="http://schemas.microsoft.com/office/drawing/2014/main" id="{1E0CE015-E3D8-CF78-1A2C-7B2E9A36DBF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7" name="object 28">
                <a:extLst>
                  <a:ext uri="{FF2B5EF4-FFF2-40B4-BE49-F238E27FC236}">
                    <a16:creationId xmlns:a16="http://schemas.microsoft.com/office/drawing/2014/main" id="{68099EA6-F019-3D4F-A5BD-E626640CC83D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8" name="object 29">
                <a:extLst>
                  <a:ext uri="{FF2B5EF4-FFF2-40B4-BE49-F238E27FC236}">
                    <a16:creationId xmlns:a16="http://schemas.microsoft.com/office/drawing/2014/main" id="{8A5BA923-0FF9-143B-1ABC-F6024F8CE64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9" name="object 30">
                <a:extLst>
                  <a:ext uri="{FF2B5EF4-FFF2-40B4-BE49-F238E27FC236}">
                    <a16:creationId xmlns:a16="http://schemas.microsoft.com/office/drawing/2014/main" id="{6543DC7C-B5B0-AF91-2207-DBE5196FD98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0" name="object 31">
                <a:extLst>
                  <a:ext uri="{FF2B5EF4-FFF2-40B4-BE49-F238E27FC236}">
                    <a16:creationId xmlns:a16="http://schemas.microsoft.com/office/drawing/2014/main" id="{45BAFC0A-3A2F-10B5-33D2-2B36D8CD1A8B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1" name="object 32">
                <a:extLst>
                  <a:ext uri="{FF2B5EF4-FFF2-40B4-BE49-F238E27FC236}">
                    <a16:creationId xmlns:a16="http://schemas.microsoft.com/office/drawing/2014/main" id="{0E2472D8-3688-0BAA-319E-2B344CCC08E6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2" name="object 33">
                <a:extLst>
                  <a:ext uri="{FF2B5EF4-FFF2-40B4-BE49-F238E27FC236}">
                    <a16:creationId xmlns:a16="http://schemas.microsoft.com/office/drawing/2014/main" id="{C4A75E0C-72BE-E036-95A7-5F98465850B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3" name="object 34">
                <a:extLst>
                  <a:ext uri="{FF2B5EF4-FFF2-40B4-BE49-F238E27FC236}">
                    <a16:creationId xmlns:a16="http://schemas.microsoft.com/office/drawing/2014/main" id="{DAC6958A-984A-9681-0264-54B12E290532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4" name="object 35">
                <a:extLst>
                  <a:ext uri="{FF2B5EF4-FFF2-40B4-BE49-F238E27FC236}">
                    <a16:creationId xmlns:a16="http://schemas.microsoft.com/office/drawing/2014/main" id="{F5BE27FA-7902-6343-BFAF-F208E1B86B49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5" name="object 36">
                <a:extLst>
                  <a:ext uri="{FF2B5EF4-FFF2-40B4-BE49-F238E27FC236}">
                    <a16:creationId xmlns:a16="http://schemas.microsoft.com/office/drawing/2014/main" id="{F39B0C4B-1994-C988-CAD1-E10FB983819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6" name="object 37">
                <a:extLst>
                  <a:ext uri="{FF2B5EF4-FFF2-40B4-BE49-F238E27FC236}">
                    <a16:creationId xmlns:a16="http://schemas.microsoft.com/office/drawing/2014/main" id="{15FD15A8-8ED3-6291-E392-BAA660782EB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7" name="object 38">
                <a:extLst>
                  <a:ext uri="{FF2B5EF4-FFF2-40B4-BE49-F238E27FC236}">
                    <a16:creationId xmlns:a16="http://schemas.microsoft.com/office/drawing/2014/main" id="{770B686F-6120-2857-B9DB-7E9415423DD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8" name="object 39">
                <a:extLst>
                  <a:ext uri="{FF2B5EF4-FFF2-40B4-BE49-F238E27FC236}">
                    <a16:creationId xmlns:a16="http://schemas.microsoft.com/office/drawing/2014/main" id="{8A5C1E34-449A-572D-42DA-746B60070C6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9" name="object 40">
                <a:extLst>
                  <a:ext uri="{FF2B5EF4-FFF2-40B4-BE49-F238E27FC236}">
                    <a16:creationId xmlns:a16="http://schemas.microsoft.com/office/drawing/2014/main" id="{A3A8F13B-F958-9A64-D079-36C9C42F1A3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10" name="object 41">
                <a:extLst>
                  <a:ext uri="{FF2B5EF4-FFF2-40B4-BE49-F238E27FC236}">
                    <a16:creationId xmlns:a16="http://schemas.microsoft.com/office/drawing/2014/main" id="{70EC646C-8105-7B9E-22B3-BD4C3CCC69CB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682" name="object 129">
              <a:extLst>
                <a:ext uri="{FF2B5EF4-FFF2-40B4-BE49-F238E27FC236}">
                  <a16:creationId xmlns:a16="http://schemas.microsoft.com/office/drawing/2014/main" id="{A8D607F5-9D4B-A993-8B34-C0BA7D3D258D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683" name="object 130">
                <a:extLst>
                  <a:ext uri="{FF2B5EF4-FFF2-40B4-BE49-F238E27FC236}">
                    <a16:creationId xmlns:a16="http://schemas.microsoft.com/office/drawing/2014/main" id="{6D0CEEC1-29C9-1B28-5AB9-5EF16B5D60B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4" name="object 131">
                <a:extLst>
                  <a:ext uri="{FF2B5EF4-FFF2-40B4-BE49-F238E27FC236}">
                    <a16:creationId xmlns:a16="http://schemas.microsoft.com/office/drawing/2014/main" id="{20920F9F-200E-F6ED-7987-ED8DCC8C646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711" name="Down Arrow 5710">
            <a:extLst>
              <a:ext uri="{FF2B5EF4-FFF2-40B4-BE49-F238E27FC236}">
                <a16:creationId xmlns:a16="http://schemas.microsoft.com/office/drawing/2014/main" id="{B73CB604-7C11-B435-5181-FDBC3888C069}"/>
              </a:ext>
            </a:extLst>
          </p:cNvPr>
          <p:cNvSpPr/>
          <p:nvPr/>
        </p:nvSpPr>
        <p:spPr>
          <a:xfrm rot="10800000">
            <a:off x="2601004" y="5035041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12" name="Down Arrow 5711">
            <a:extLst>
              <a:ext uri="{FF2B5EF4-FFF2-40B4-BE49-F238E27FC236}">
                <a16:creationId xmlns:a16="http://schemas.microsoft.com/office/drawing/2014/main" id="{01CB9E97-E26F-F679-4A4E-EBB7BB83D57E}"/>
              </a:ext>
            </a:extLst>
          </p:cNvPr>
          <p:cNvSpPr/>
          <p:nvPr/>
        </p:nvSpPr>
        <p:spPr>
          <a:xfrm rot="10800000">
            <a:off x="2946150" y="5035769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13" name="Down Arrow 5712">
            <a:extLst>
              <a:ext uri="{FF2B5EF4-FFF2-40B4-BE49-F238E27FC236}">
                <a16:creationId xmlns:a16="http://schemas.microsoft.com/office/drawing/2014/main" id="{269C51A7-8271-EE40-84D9-45CB1AA96AA3}"/>
              </a:ext>
            </a:extLst>
          </p:cNvPr>
          <p:cNvSpPr/>
          <p:nvPr/>
        </p:nvSpPr>
        <p:spPr>
          <a:xfrm rot="10800000">
            <a:off x="3288556" y="5033789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14" name="Rectangle 5713">
            <a:extLst>
              <a:ext uri="{FF2B5EF4-FFF2-40B4-BE49-F238E27FC236}">
                <a16:creationId xmlns:a16="http://schemas.microsoft.com/office/drawing/2014/main" id="{E176972A-959A-6ADB-9FC3-621FE5DB49F2}"/>
              </a:ext>
            </a:extLst>
          </p:cNvPr>
          <p:cNvSpPr/>
          <p:nvPr/>
        </p:nvSpPr>
        <p:spPr>
          <a:xfrm>
            <a:off x="2498820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715" name="Rectangle 5714">
            <a:extLst>
              <a:ext uri="{FF2B5EF4-FFF2-40B4-BE49-F238E27FC236}">
                <a16:creationId xmlns:a16="http://schemas.microsoft.com/office/drawing/2014/main" id="{97ECF4CE-F14F-8959-A9A2-C47F65709359}"/>
              </a:ext>
            </a:extLst>
          </p:cNvPr>
          <p:cNvSpPr/>
          <p:nvPr/>
        </p:nvSpPr>
        <p:spPr>
          <a:xfrm>
            <a:off x="2854955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716" name="Rectangle 5715">
            <a:extLst>
              <a:ext uri="{FF2B5EF4-FFF2-40B4-BE49-F238E27FC236}">
                <a16:creationId xmlns:a16="http://schemas.microsoft.com/office/drawing/2014/main" id="{FF219459-D75C-B83B-854E-FD78438BFA75}"/>
              </a:ext>
            </a:extLst>
          </p:cNvPr>
          <p:cNvSpPr/>
          <p:nvPr/>
        </p:nvSpPr>
        <p:spPr>
          <a:xfrm>
            <a:off x="3211090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cxnSp>
        <p:nvCxnSpPr>
          <p:cNvPr id="5719" name="Curved Connector 5718">
            <a:extLst>
              <a:ext uri="{FF2B5EF4-FFF2-40B4-BE49-F238E27FC236}">
                <a16:creationId xmlns:a16="http://schemas.microsoft.com/office/drawing/2014/main" id="{EB5DA18C-442C-92EC-E68C-D45C015FC13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61483" y="3055609"/>
            <a:ext cx="244943" cy="154659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20" name="TextBox 5719">
            <a:extLst>
              <a:ext uri="{FF2B5EF4-FFF2-40B4-BE49-F238E27FC236}">
                <a16:creationId xmlns:a16="http://schemas.microsoft.com/office/drawing/2014/main" id="{FE5C6F60-C258-666C-2FF9-FEB56A0743B4}"/>
              </a:ext>
            </a:extLst>
          </p:cNvPr>
          <p:cNvSpPr txBox="1"/>
          <p:nvPr/>
        </p:nvSpPr>
        <p:spPr>
          <a:xfrm>
            <a:off x="2784634" y="2332863"/>
            <a:ext cx="2376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auto-regressive decoding</a:t>
            </a:r>
          </a:p>
        </p:txBody>
      </p:sp>
      <p:grpSp>
        <p:nvGrpSpPr>
          <p:cNvPr id="5724" name="Group 5723">
            <a:extLst>
              <a:ext uri="{FF2B5EF4-FFF2-40B4-BE49-F238E27FC236}">
                <a16:creationId xmlns:a16="http://schemas.microsoft.com/office/drawing/2014/main" id="{45827ABF-3F7F-429F-851F-686CF894A6EE}"/>
              </a:ext>
            </a:extLst>
          </p:cNvPr>
          <p:cNvGrpSpPr/>
          <p:nvPr/>
        </p:nvGrpSpPr>
        <p:grpSpPr>
          <a:xfrm>
            <a:off x="1761701" y="3789387"/>
            <a:ext cx="2527636" cy="1189537"/>
            <a:chOff x="1972348" y="3789387"/>
            <a:chExt cx="2527636" cy="1189537"/>
          </a:xfrm>
        </p:grpSpPr>
        <p:sp>
          <p:nvSpPr>
            <p:cNvPr id="5678" name="Rounded Rectangle 5677">
              <a:extLst>
                <a:ext uri="{FF2B5EF4-FFF2-40B4-BE49-F238E27FC236}">
                  <a16:creationId xmlns:a16="http://schemas.microsoft.com/office/drawing/2014/main" id="{ABB89725-19DC-0ED1-D55D-1CC76E45403E}"/>
                </a:ext>
              </a:extLst>
            </p:cNvPr>
            <p:cNvSpPr/>
            <p:nvPr/>
          </p:nvSpPr>
          <p:spPr>
            <a:xfrm>
              <a:off x="1972348" y="3789387"/>
              <a:ext cx="2527636" cy="118549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latin typeface="Avenir Book" panose="02000503020000020003" pitchFamily="2" charset="0"/>
                </a:rPr>
                <a:t>LM</a:t>
              </a:r>
            </a:p>
          </p:txBody>
        </p:sp>
        <p:sp>
          <p:nvSpPr>
            <p:cNvPr id="5721" name="TextBox 5720">
              <a:extLst>
                <a:ext uri="{FF2B5EF4-FFF2-40B4-BE49-F238E27FC236}">
                  <a16:creationId xmlns:a16="http://schemas.microsoft.com/office/drawing/2014/main" id="{6D6BE3C7-B100-E410-70AC-613E8DB87FF2}"/>
                </a:ext>
              </a:extLst>
            </p:cNvPr>
            <p:cNvSpPr txBox="1"/>
            <p:nvPr/>
          </p:nvSpPr>
          <p:spPr>
            <a:xfrm>
              <a:off x="2799131" y="4609592"/>
              <a:ext cx="9966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trained</a:t>
              </a:r>
            </a:p>
          </p:txBody>
        </p:sp>
      </p:grpSp>
      <p:sp>
        <p:nvSpPr>
          <p:cNvPr id="5722" name="TextBox 5721">
            <a:extLst>
              <a:ext uri="{FF2B5EF4-FFF2-40B4-BE49-F238E27FC236}">
                <a16:creationId xmlns:a16="http://schemas.microsoft.com/office/drawing/2014/main" id="{0816A1D9-BFFC-7A60-A904-763C37D9FF7E}"/>
              </a:ext>
            </a:extLst>
          </p:cNvPr>
          <p:cNvSpPr txBox="1"/>
          <p:nvPr/>
        </p:nvSpPr>
        <p:spPr>
          <a:xfrm>
            <a:off x="1790982" y="1509104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Test time</a:t>
            </a:r>
            <a:endParaRPr lang="en-US" sz="2400" b="1" dirty="0"/>
          </a:p>
        </p:txBody>
      </p:sp>
      <p:sp>
        <p:nvSpPr>
          <p:cNvPr id="5723" name="Down Arrow 5722">
            <a:extLst>
              <a:ext uri="{FF2B5EF4-FFF2-40B4-BE49-F238E27FC236}">
                <a16:creationId xmlns:a16="http://schemas.microsoft.com/office/drawing/2014/main" id="{87E7E0EA-53C5-A7A2-D6A3-DAB8965475E5}"/>
              </a:ext>
            </a:extLst>
          </p:cNvPr>
          <p:cNvSpPr/>
          <p:nvPr/>
        </p:nvSpPr>
        <p:spPr>
          <a:xfrm rot="5400000">
            <a:off x="5498837" y="4109882"/>
            <a:ext cx="961428" cy="5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/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the window available during training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blipFill>
                <a:blip r:embed="rId8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CCD1D13-EC08-31E9-C38C-6FAEA033256B}"/>
              </a:ext>
            </a:extLst>
          </p:cNvPr>
          <p:cNvSpPr/>
          <p:nvPr/>
        </p:nvSpPr>
        <p:spPr>
          <a:xfrm>
            <a:off x="3565128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228A8678-4FB9-11FE-AC37-26F2630EBBBD}"/>
              </a:ext>
            </a:extLst>
          </p:cNvPr>
          <p:cNvSpPr/>
          <p:nvPr/>
        </p:nvSpPr>
        <p:spPr>
          <a:xfrm rot="10800000">
            <a:off x="3639596" y="503650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2A876F3-5534-3CD8-DE79-F3119551C32A}"/>
              </a:ext>
            </a:extLst>
          </p:cNvPr>
          <p:cNvSpPr/>
          <p:nvPr/>
        </p:nvSpPr>
        <p:spPr>
          <a:xfrm rot="10800000">
            <a:off x="2239948" y="5034327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BA4D5C-6A24-2601-0374-2B3BAD7EE935}"/>
              </a:ext>
            </a:extLst>
          </p:cNvPr>
          <p:cNvSpPr/>
          <p:nvPr/>
        </p:nvSpPr>
        <p:spPr>
          <a:xfrm>
            <a:off x="2142224" y="5374754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772055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19">
    <p:spTree>
      <p:nvGrpSpPr>
        <p:cNvPr id="1" name="">
          <a:extLst>
            <a:ext uri="{FF2B5EF4-FFF2-40B4-BE49-F238E27FC236}">
              <a16:creationId xmlns:a16="http://schemas.microsoft.com/office/drawing/2014/main" id="{B75E3603-8260-0206-B5D2-0E9D41E5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390-3DD8-217F-2A81-72F3A42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length: the gory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B45C1-66C1-CFD0-84C3-8D455B49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C00AE2-8423-874C-58E0-59768FAC1CB8}"/>
              </a:ext>
            </a:extLst>
          </p:cNvPr>
          <p:cNvSpPr/>
          <p:nvPr/>
        </p:nvSpPr>
        <p:spPr>
          <a:xfrm>
            <a:off x="7545870" y="3789387"/>
            <a:ext cx="2856291" cy="11854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venir Book" panose="02000503020000020003" pitchFamily="2" charset="0"/>
              </a:rPr>
              <a:t>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439D9-791E-1FC0-3E53-51D15390D7AC}"/>
              </a:ext>
            </a:extLst>
          </p:cNvPr>
          <p:cNvSpPr/>
          <p:nvPr/>
        </p:nvSpPr>
        <p:spPr>
          <a:xfrm>
            <a:off x="7757555" y="5345543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39E74F-1EC4-4C49-0535-D25B9D324D63}"/>
              </a:ext>
            </a:extLst>
          </p:cNvPr>
          <p:cNvSpPr/>
          <p:nvPr/>
        </p:nvSpPr>
        <p:spPr>
          <a:xfrm>
            <a:off x="809643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ED275-9C34-6BA8-280A-20AC48367048}"/>
              </a:ext>
            </a:extLst>
          </p:cNvPr>
          <p:cNvSpPr/>
          <p:nvPr/>
        </p:nvSpPr>
        <p:spPr>
          <a:xfrm>
            <a:off x="845257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2B2-C2AB-46D5-3BF6-D2778009F6BF}"/>
              </a:ext>
            </a:extLst>
          </p:cNvPr>
          <p:cNvSpPr/>
          <p:nvPr/>
        </p:nvSpPr>
        <p:spPr>
          <a:xfrm>
            <a:off x="8808708" y="5345850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B23CB-3282-139F-FDC0-DE05AA6F4938}"/>
              </a:ext>
            </a:extLst>
          </p:cNvPr>
          <p:cNvSpPr/>
          <p:nvPr/>
        </p:nvSpPr>
        <p:spPr>
          <a:xfrm>
            <a:off x="916484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172FC1-9E10-61F8-0011-A241FBD58C8C}"/>
              </a:ext>
            </a:extLst>
          </p:cNvPr>
          <p:cNvSpPr/>
          <p:nvPr/>
        </p:nvSpPr>
        <p:spPr>
          <a:xfrm>
            <a:off x="9520978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A7995-5DBA-9BDF-9F1E-A518C753DD99}"/>
              </a:ext>
            </a:extLst>
          </p:cNvPr>
          <p:cNvSpPr/>
          <p:nvPr/>
        </p:nvSpPr>
        <p:spPr>
          <a:xfrm>
            <a:off x="9877113" y="5345487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C89FF9CE-CEA6-1127-ED08-B8F08CE857C2}"/>
              </a:ext>
            </a:extLst>
          </p:cNvPr>
          <p:cNvSpPr/>
          <p:nvPr/>
        </p:nvSpPr>
        <p:spPr>
          <a:xfrm rot="10800000">
            <a:off x="7840779" y="4999535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128" name="Picture 8" descr="Unlocked - Free security icons">
            <a:extLst>
              <a:ext uri="{FF2B5EF4-FFF2-40B4-BE49-F238E27FC236}">
                <a16:creationId xmlns:a16="http://schemas.microsoft.com/office/drawing/2014/main" id="{D2548E7D-7C4A-5332-A265-CD792257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03" y="4158122"/>
            <a:ext cx="395552" cy="3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41BFBBD-7175-FF44-23FB-6DE8FAEC331F}"/>
              </a:ext>
            </a:extLst>
          </p:cNvPr>
          <p:cNvSpPr/>
          <p:nvPr/>
        </p:nvSpPr>
        <p:spPr>
          <a:xfrm rot="10800000">
            <a:off x="8191822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1CEFFF-EA41-DF5D-B897-E310ECFE59D9}"/>
              </a:ext>
            </a:extLst>
          </p:cNvPr>
          <p:cNvSpPr/>
          <p:nvPr/>
        </p:nvSpPr>
        <p:spPr>
          <a:xfrm rot="10800000">
            <a:off x="8545114" y="50082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F95CC80-56B3-3E97-7F0F-DC6FB40690D6}"/>
              </a:ext>
            </a:extLst>
          </p:cNvPr>
          <p:cNvSpPr/>
          <p:nvPr/>
        </p:nvSpPr>
        <p:spPr>
          <a:xfrm rot="10800000">
            <a:off x="8910093" y="500942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D99C5D0-7A10-FB55-E8DE-3C0112D22A37}"/>
              </a:ext>
            </a:extLst>
          </p:cNvPr>
          <p:cNvSpPr/>
          <p:nvPr/>
        </p:nvSpPr>
        <p:spPr>
          <a:xfrm rot="10800000">
            <a:off x="9267027" y="5005060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0B8F1221-FCA8-EB9A-7CF4-DA29593E65E5}"/>
              </a:ext>
            </a:extLst>
          </p:cNvPr>
          <p:cNvSpPr/>
          <p:nvPr/>
        </p:nvSpPr>
        <p:spPr>
          <a:xfrm rot="10800000">
            <a:off x="9612173" y="500578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D404A2-B712-A321-E18A-F3480D0458EA}"/>
              </a:ext>
            </a:extLst>
          </p:cNvPr>
          <p:cNvSpPr/>
          <p:nvPr/>
        </p:nvSpPr>
        <p:spPr>
          <a:xfrm rot="10800000">
            <a:off x="9954579" y="500380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AEA1106-2671-4D57-6436-5F718980962B}"/>
              </a:ext>
            </a:extLst>
          </p:cNvPr>
          <p:cNvSpPr/>
          <p:nvPr/>
        </p:nvSpPr>
        <p:spPr>
          <a:xfrm rot="10800000">
            <a:off x="7838798" y="338844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30BF010-3510-3AB1-6D2D-27BF2AFEA15D}"/>
              </a:ext>
            </a:extLst>
          </p:cNvPr>
          <p:cNvSpPr/>
          <p:nvPr/>
        </p:nvSpPr>
        <p:spPr>
          <a:xfrm rot="10800000">
            <a:off x="8189841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41DD579-13FC-6754-D1EB-78D4861A1301}"/>
              </a:ext>
            </a:extLst>
          </p:cNvPr>
          <p:cNvSpPr/>
          <p:nvPr/>
        </p:nvSpPr>
        <p:spPr>
          <a:xfrm rot="10800000">
            <a:off x="8543133" y="33971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F6F10681-A342-5330-5A0A-E9E9CC09087D}"/>
              </a:ext>
            </a:extLst>
          </p:cNvPr>
          <p:cNvSpPr/>
          <p:nvPr/>
        </p:nvSpPr>
        <p:spPr>
          <a:xfrm rot="10800000">
            <a:off x="8908112" y="339832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910C4071-9410-407F-91C8-B73C6193B7AC}"/>
              </a:ext>
            </a:extLst>
          </p:cNvPr>
          <p:cNvSpPr/>
          <p:nvPr/>
        </p:nvSpPr>
        <p:spPr>
          <a:xfrm rot="10800000">
            <a:off x="9265046" y="3393968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3DFC7E7F-CB1C-A040-077C-A089A3A2AB06}"/>
              </a:ext>
            </a:extLst>
          </p:cNvPr>
          <p:cNvSpPr/>
          <p:nvPr/>
        </p:nvSpPr>
        <p:spPr>
          <a:xfrm rot="10800000">
            <a:off x="9610192" y="339469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5404D698-2F29-E3F3-5D90-7D196ED2A731}"/>
              </a:ext>
            </a:extLst>
          </p:cNvPr>
          <p:cNvSpPr/>
          <p:nvPr/>
        </p:nvSpPr>
        <p:spPr>
          <a:xfrm rot="10800000">
            <a:off x="9952598" y="339271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96428-4CA1-37C7-338E-6D4CE7788346}"/>
              </a:ext>
            </a:extLst>
          </p:cNvPr>
          <p:cNvGrpSpPr>
            <a:grpSpLocks noChangeAspect="1"/>
          </p:cNvGrpSpPr>
          <p:nvPr/>
        </p:nvGrpSpPr>
        <p:grpSpPr>
          <a:xfrm>
            <a:off x="7773979" y="3214061"/>
            <a:ext cx="293997" cy="104174"/>
            <a:chOff x="7316835" y="187982"/>
            <a:chExt cx="1490982" cy="528309"/>
          </a:xfrm>
        </p:grpSpPr>
        <p:grpSp>
          <p:nvGrpSpPr>
            <p:cNvPr id="60" name="object 14">
              <a:extLst>
                <a:ext uri="{FF2B5EF4-FFF2-40B4-BE49-F238E27FC236}">
                  <a16:creationId xmlns:a16="http://schemas.microsoft.com/office/drawing/2014/main" id="{4D079A68-E723-3ABB-2FAD-CBC6013B9A42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20" name="object 16">
                <a:extLst>
                  <a:ext uri="{FF2B5EF4-FFF2-40B4-BE49-F238E27FC236}">
                    <a16:creationId xmlns:a16="http://schemas.microsoft.com/office/drawing/2014/main" id="{0D1CD13C-0EF1-8D8A-61A9-4940713382CD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1" name="object 17">
                <a:extLst>
                  <a:ext uri="{FF2B5EF4-FFF2-40B4-BE49-F238E27FC236}">
                    <a16:creationId xmlns:a16="http://schemas.microsoft.com/office/drawing/2014/main" id="{8DDF7E1D-505C-A994-021C-796322E72BC6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2" name="object 18">
                <a:extLst>
                  <a:ext uri="{FF2B5EF4-FFF2-40B4-BE49-F238E27FC236}">
                    <a16:creationId xmlns:a16="http://schemas.microsoft.com/office/drawing/2014/main" id="{D120D1C6-E8E8-9351-F945-00BDAF9DA04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3" name="object 19">
                <a:extLst>
                  <a:ext uri="{FF2B5EF4-FFF2-40B4-BE49-F238E27FC236}">
                    <a16:creationId xmlns:a16="http://schemas.microsoft.com/office/drawing/2014/main" id="{2F3745E4-BB13-C108-7FC5-865079C0FD8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5" name="object 20">
                <a:extLst>
                  <a:ext uri="{FF2B5EF4-FFF2-40B4-BE49-F238E27FC236}">
                    <a16:creationId xmlns:a16="http://schemas.microsoft.com/office/drawing/2014/main" id="{0DD603E9-653B-E6EC-31F6-C1D7FE459C0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6" name="object 21">
                <a:extLst>
                  <a:ext uri="{FF2B5EF4-FFF2-40B4-BE49-F238E27FC236}">
                    <a16:creationId xmlns:a16="http://schemas.microsoft.com/office/drawing/2014/main" id="{41F7795E-4B73-59CE-1F34-A359152A0E7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7" name="object 22">
                <a:extLst>
                  <a:ext uri="{FF2B5EF4-FFF2-40B4-BE49-F238E27FC236}">
                    <a16:creationId xmlns:a16="http://schemas.microsoft.com/office/drawing/2014/main" id="{0246AD39-9EA1-2A2B-7B40-2BE18437DE76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29" name="object 23">
                <a:extLst>
                  <a:ext uri="{FF2B5EF4-FFF2-40B4-BE49-F238E27FC236}">
                    <a16:creationId xmlns:a16="http://schemas.microsoft.com/office/drawing/2014/main" id="{485EE945-7D23-AB02-081D-3C85E61E2DA4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0" name="object 24">
                <a:extLst>
                  <a:ext uri="{FF2B5EF4-FFF2-40B4-BE49-F238E27FC236}">
                    <a16:creationId xmlns:a16="http://schemas.microsoft.com/office/drawing/2014/main" id="{326E5163-F7A4-FBB1-ED37-3A405746797F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1" name="object 25">
                <a:extLst>
                  <a:ext uri="{FF2B5EF4-FFF2-40B4-BE49-F238E27FC236}">
                    <a16:creationId xmlns:a16="http://schemas.microsoft.com/office/drawing/2014/main" id="{B58F3FB2-5B61-FC78-A2F1-ADECAFA35E7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2" name="object 26">
                <a:extLst>
                  <a:ext uri="{FF2B5EF4-FFF2-40B4-BE49-F238E27FC236}">
                    <a16:creationId xmlns:a16="http://schemas.microsoft.com/office/drawing/2014/main" id="{399C21F7-9F61-3E52-03FE-7F5903F812DE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3" name="object 27">
                <a:extLst>
                  <a:ext uri="{FF2B5EF4-FFF2-40B4-BE49-F238E27FC236}">
                    <a16:creationId xmlns:a16="http://schemas.microsoft.com/office/drawing/2014/main" id="{99BB1B74-A42A-B2BD-FF54-D1256C81B467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4" name="object 28">
                <a:extLst>
                  <a:ext uri="{FF2B5EF4-FFF2-40B4-BE49-F238E27FC236}">
                    <a16:creationId xmlns:a16="http://schemas.microsoft.com/office/drawing/2014/main" id="{8F64CF42-D653-0186-CF07-CFAC29C2B694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5" name="object 29">
                <a:extLst>
                  <a:ext uri="{FF2B5EF4-FFF2-40B4-BE49-F238E27FC236}">
                    <a16:creationId xmlns:a16="http://schemas.microsoft.com/office/drawing/2014/main" id="{61D735F5-65B8-8180-4A30-A9937572AA3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6" name="object 30">
                <a:extLst>
                  <a:ext uri="{FF2B5EF4-FFF2-40B4-BE49-F238E27FC236}">
                    <a16:creationId xmlns:a16="http://schemas.microsoft.com/office/drawing/2014/main" id="{0AC69274-433B-B962-749E-FF1EA201DFA1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7" name="object 31">
                <a:extLst>
                  <a:ext uri="{FF2B5EF4-FFF2-40B4-BE49-F238E27FC236}">
                    <a16:creationId xmlns:a16="http://schemas.microsoft.com/office/drawing/2014/main" id="{AC4C6D19-593D-3E46-D2BF-1B27F8761C6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8" name="object 32">
                <a:extLst>
                  <a:ext uri="{FF2B5EF4-FFF2-40B4-BE49-F238E27FC236}">
                    <a16:creationId xmlns:a16="http://schemas.microsoft.com/office/drawing/2014/main" id="{D087A6E3-3783-E795-C87D-4BA606B6086D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39" name="object 33">
                <a:extLst>
                  <a:ext uri="{FF2B5EF4-FFF2-40B4-BE49-F238E27FC236}">
                    <a16:creationId xmlns:a16="http://schemas.microsoft.com/office/drawing/2014/main" id="{FEDA18AE-23AC-DC23-065C-395E484F46A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0" name="object 34">
                <a:extLst>
                  <a:ext uri="{FF2B5EF4-FFF2-40B4-BE49-F238E27FC236}">
                    <a16:creationId xmlns:a16="http://schemas.microsoft.com/office/drawing/2014/main" id="{822A6E4A-F373-F4E8-9C65-ADCE05052183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1" name="object 35">
                <a:extLst>
                  <a:ext uri="{FF2B5EF4-FFF2-40B4-BE49-F238E27FC236}">
                    <a16:creationId xmlns:a16="http://schemas.microsoft.com/office/drawing/2014/main" id="{389C0A4B-14C2-2EE6-E2A3-7A7977FDFDA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2" name="object 36">
                <a:extLst>
                  <a:ext uri="{FF2B5EF4-FFF2-40B4-BE49-F238E27FC236}">
                    <a16:creationId xmlns:a16="http://schemas.microsoft.com/office/drawing/2014/main" id="{A8FB9F43-F913-3F78-0CFA-CFCA587E7DA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3" name="object 37">
                <a:extLst>
                  <a:ext uri="{FF2B5EF4-FFF2-40B4-BE49-F238E27FC236}">
                    <a16:creationId xmlns:a16="http://schemas.microsoft.com/office/drawing/2014/main" id="{1F1BD06C-EED1-4D31-5679-E3BA94117D4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4" name="object 38">
                <a:extLst>
                  <a:ext uri="{FF2B5EF4-FFF2-40B4-BE49-F238E27FC236}">
                    <a16:creationId xmlns:a16="http://schemas.microsoft.com/office/drawing/2014/main" id="{743220A2-0432-E5F8-7647-03686B7B337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5" name="object 39">
                <a:extLst>
                  <a:ext uri="{FF2B5EF4-FFF2-40B4-BE49-F238E27FC236}">
                    <a16:creationId xmlns:a16="http://schemas.microsoft.com/office/drawing/2014/main" id="{9FA1669B-1B9C-A4F5-ECAA-A31243EDE4A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6" name="object 40">
                <a:extLst>
                  <a:ext uri="{FF2B5EF4-FFF2-40B4-BE49-F238E27FC236}">
                    <a16:creationId xmlns:a16="http://schemas.microsoft.com/office/drawing/2014/main" id="{4737A6F0-66E3-482D-5AAB-D03DE22F8C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47" name="object 41">
                <a:extLst>
                  <a:ext uri="{FF2B5EF4-FFF2-40B4-BE49-F238E27FC236}">
                    <a16:creationId xmlns:a16="http://schemas.microsoft.com/office/drawing/2014/main" id="{712B04F0-2CA7-F974-B773-7AB1CFAE28A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61" name="object 129">
              <a:extLst>
                <a:ext uri="{FF2B5EF4-FFF2-40B4-BE49-F238E27FC236}">
                  <a16:creationId xmlns:a16="http://schemas.microsoft.com/office/drawing/2014/main" id="{05EC253C-53FF-C5E1-370A-D55BDFEDC52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62" name="object 130">
                <a:extLst>
                  <a:ext uri="{FF2B5EF4-FFF2-40B4-BE49-F238E27FC236}">
                    <a16:creationId xmlns:a16="http://schemas.microsoft.com/office/drawing/2014/main" id="{C0A4E2A1-9E98-10DA-DD09-1D4CC5548D8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63" name="object 131">
                <a:extLst>
                  <a:ext uri="{FF2B5EF4-FFF2-40B4-BE49-F238E27FC236}">
                    <a16:creationId xmlns:a16="http://schemas.microsoft.com/office/drawing/2014/main" id="{BDB01E8C-7E24-5FED-D604-6D2490864A59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179" name="Group 5178">
            <a:extLst>
              <a:ext uri="{FF2B5EF4-FFF2-40B4-BE49-F238E27FC236}">
                <a16:creationId xmlns:a16="http://schemas.microsoft.com/office/drawing/2014/main" id="{07923FD6-8E72-DFEB-7278-ADF6DE0B980D}"/>
              </a:ext>
            </a:extLst>
          </p:cNvPr>
          <p:cNvGrpSpPr>
            <a:grpSpLocks noChangeAspect="1"/>
          </p:cNvGrpSpPr>
          <p:nvPr/>
        </p:nvGrpSpPr>
        <p:grpSpPr>
          <a:xfrm>
            <a:off x="8124202" y="3214061"/>
            <a:ext cx="293997" cy="104174"/>
            <a:chOff x="7316835" y="187982"/>
            <a:chExt cx="1490982" cy="528309"/>
          </a:xfrm>
        </p:grpSpPr>
        <p:grpSp>
          <p:nvGrpSpPr>
            <p:cNvPr id="5180" name="object 14">
              <a:extLst>
                <a:ext uri="{FF2B5EF4-FFF2-40B4-BE49-F238E27FC236}">
                  <a16:creationId xmlns:a16="http://schemas.microsoft.com/office/drawing/2014/main" id="{098BECDC-D918-95E2-307A-F18139686031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184" name="object 16">
                <a:extLst>
                  <a:ext uri="{FF2B5EF4-FFF2-40B4-BE49-F238E27FC236}">
                    <a16:creationId xmlns:a16="http://schemas.microsoft.com/office/drawing/2014/main" id="{1FBCABB6-8AF6-23BA-C76D-F3C48262EA22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5" name="object 17">
                <a:extLst>
                  <a:ext uri="{FF2B5EF4-FFF2-40B4-BE49-F238E27FC236}">
                    <a16:creationId xmlns:a16="http://schemas.microsoft.com/office/drawing/2014/main" id="{1F567A05-304A-1BE4-7777-66AB8A7E728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6" name="object 18">
                <a:extLst>
                  <a:ext uri="{FF2B5EF4-FFF2-40B4-BE49-F238E27FC236}">
                    <a16:creationId xmlns:a16="http://schemas.microsoft.com/office/drawing/2014/main" id="{7CD04C20-E66C-8B28-696F-A1530E05373C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7" name="object 19">
                <a:extLst>
                  <a:ext uri="{FF2B5EF4-FFF2-40B4-BE49-F238E27FC236}">
                    <a16:creationId xmlns:a16="http://schemas.microsoft.com/office/drawing/2014/main" id="{9FC5F90E-CBBB-5199-5572-1400F23697A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8" name="object 20">
                <a:extLst>
                  <a:ext uri="{FF2B5EF4-FFF2-40B4-BE49-F238E27FC236}">
                    <a16:creationId xmlns:a16="http://schemas.microsoft.com/office/drawing/2014/main" id="{B90AEFC6-5F5B-5FC9-DD55-46478F7A86B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9" name="object 21">
                <a:extLst>
                  <a:ext uri="{FF2B5EF4-FFF2-40B4-BE49-F238E27FC236}">
                    <a16:creationId xmlns:a16="http://schemas.microsoft.com/office/drawing/2014/main" id="{AC85BA4E-CA21-BBA9-2703-4C3026A190A9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0" name="object 22">
                <a:extLst>
                  <a:ext uri="{FF2B5EF4-FFF2-40B4-BE49-F238E27FC236}">
                    <a16:creationId xmlns:a16="http://schemas.microsoft.com/office/drawing/2014/main" id="{8D7FB4D4-4207-C4EA-1AE0-10DAF19523A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1" name="object 23">
                <a:extLst>
                  <a:ext uri="{FF2B5EF4-FFF2-40B4-BE49-F238E27FC236}">
                    <a16:creationId xmlns:a16="http://schemas.microsoft.com/office/drawing/2014/main" id="{3E39657C-E0C7-70E3-90C7-99435006FDF0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2" name="object 24">
                <a:extLst>
                  <a:ext uri="{FF2B5EF4-FFF2-40B4-BE49-F238E27FC236}">
                    <a16:creationId xmlns:a16="http://schemas.microsoft.com/office/drawing/2014/main" id="{5FC91FBC-50F9-F70A-CFC6-8E533CDDE5F6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3" name="object 25">
                <a:extLst>
                  <a:ext uri="{FF2B5EF4-FFF2-40B4-BE49-F238E27FC236}">
                    <a16:creationId xmlns:a16="http://schemas.microsoft.com/office/drawing/2014/main" id="{58E7530B-FA88-5FF4-E1A1-FE8847FDD62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4" name="object 26">
                <a:extLst>
                  <a:ext uri="{FF2B5EF4-FFF2-40B4-BE49-F238E27FC236}">
                    <a16:creationId xmlns:a16="http://schemas.microsoft.com/office/drawing/2014/main" id="{43B9CB1B-1AC4-92F6-6AD7-05FAA73DC1F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5" name="object 27">
                <a:extLst>
                  <a:ext uri="{FF2B5EF4-FFF2-40B4-BE49-F238E27FC236}">
                    <a16:creationId xmlns:a16="http://schemas.microsoft.com/office/drawing/2014/main" id="{71BD384D-A38B-EDE9-002B-0F5D1403F14B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6" name="object 28">
                <a:extLst>
                  <a:ext uri="{FF2B5EF4-FFF2-40B4-BE49-F238E27FC236}">
                    <a16:creationId xmlns:a16="http://schemas.microsoft.com/office/drawing/2014/main" id="{BC4DBE01-4978-8C0D-7E4B-1144CB799E2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7" name="object 29">
                <a:extLst>
                  <a:ext uri="{FF2B5EF4-FFF2-40B4-BE49-F238E27FC236}">
                    <a16:creationId xmlns:a16="http://schemas.microsoft.com/office/drawing/2014/main" id="{12587C73-33C3-B7D1-8B9C-F223F7136288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8" name="object 30">
                <a:extLst>
                  <a:ext uri="{FF2B5EF4-FFF2-40B4-BE49-F238E27FC236}">
                    <a16:creationId xmlns:a16="http://schemas.microsoft.com/office/drawing/2014/main" id="{094F8BBF-A3B9-B7E4-17AF-7EBD7BE069D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99" name="object 31">
                <a:extLst>
                  <a:ext uri="{FF2B5EF4-FFF2-40B4-BE49-F238E27FC236}">
                    <a16:creationId xmlns:a16="http://schemas.microsoft.com/office/drawing/2014/main" id="{87D77798-9530-4677-E24E-EC7B023483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0" name="object 32">
                <a:extLst>
                  <a:ext uri="{FF2B5EF4-FFF2-40B4-BE49-F238E27FC236}">
                    <a16:creationId xmlns:a16="http://schemas.microsoft.com/office/drawing/2014/main" id="{F8392F0B-2739-4363-FCE9-31161FA2431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1" name="object 33">
                <a:extLst>
                  <a:ext uri="{FF2B5EF4-FFF2-40B4-BE49-F238E27FC236}">
                    <a16:creationId xmlns:a16="http://schemas.microsoft.com/office/drawing/2014/main" id="{EB8D9CA7-B9D6-1006-7DBC-5BD29A74049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2" name="object 34">
                <a:extLst>
                  <a:ext uri="{FF2B5EF4-FFF2-40B4-BE49-F238E27FC236}">
                    <a16:creationId xmlns:a16="http://schemas.microsoft.com/office/drawing/2014/main" id="{47A1F785-FB6E-6D02-88B8-B9E9E4A0C034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3" name="object 35">
                <a:extLst>
                  <a:ext uri="{FF2B5EF4-FFF2-40B4-BE49-F238E27FC236}">
                    <a16:creationId xmlns:a16="http://schemas.microsoft.com/office/drawing/2014/main" id="{55DC9068-AE35-E26D-0ED6-A3C6FAECD208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4" name="object 36">
                <a:extLst>
                  <a:ext uri="{FF2B5EF4-FFF2-40B4-BE49-F238E27FC236}">
                    <a16:creationId xmlns:a16="http://schemas.microsoft.com/office/drawing/2014/main" id="{7F41A162-5C0C-664F-939F-BA18161DBAC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5" name="object 37">
                <a:extLst>
                  <a:ext uri="{FF2B5EF4-FFF2-40B4-BE49-F238E27FC236}">
                    <a16:creationId xmlns:a16="http://schemas.microsoft.com/office/drawing/2014/main" id="{286BC773-C581-2EF4-13EA-9E515D5824D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6" name="object 38">
                <a:extLst>
                  <a:ext uri="{FF2B5EF4-FFF2-40B4-BE49-F238E27FC236}">
                    <a16:creationId xmlns:a16="http://schemas.microsoft.com/office/drawing/2014/main" id="{5990AE17-B577-C9D2-3DC4-625AD256E80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7" name="object 39">
                <a:extLst>
                  <a:ext uri="{FF2B5EF4-FFF2-40B4-BE49-F238E27FC236}">
                    <a16:creationId xmlns:a16="http://schemas.microsoft.com/office/drawing/2014/main" id="{6B2909FC-6548-EF5B-CA4C-0490A938FF2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8" name="object 40">
                <a:extLst>
                  <a:ext uri="{FF2B5EF4-FFF2-40B4-BE49-F238E27FC236}">
                    <a16:creationId xmlns:a16="http://schemas.microsoft.com/office/drawing/2014/main" id="{9D2714C0-3D1D-73C3-38E1-18F4DC2618E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09" name="object 41">
                <a:extLst>
                  <a:ext uri="{FF2B5EF4-FFF2-40B4-BE49-F238E27FC236}">
                    <a16:creationId xmlns:a16="http://schemas.microsoft.com/office/drawing/2014/main" id="{41584CAC-F4DE-983C-A7FD-1C3E9E0AD1BD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181" name="object 129">
              <a:extLst>
                <a:ext uri="{FF2B5EF4-FFF2-40B4-BE49-F238E27FC236}">
                  <a16:creationId xmlns:a16="http://schemas.microsoft.com/office/drawing/2014/main" id="{0C038C0B-F73C-C0A6-31E6-FCADC2A2B1C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182" name="object 130">
                <a:extLst>
                  <a:ext uri="{FF2B5EF4-FFF2-40B4-BE49-F238E27FC236}">
                    <a16:creationId xmlns:a16="http://schemas.microsoft.com/office/drawing/2014/main" id="{085C1D16-65AF-DBD4-E663-BD27CD763835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183" name="object 131">
                <a:extLst>
                  <a:ext uri="{FF2B5EF4-FFF2-40B4-BE49-F238E27FC236}">
                    <a16:creationId xmlns:a16="http://schemas.microsoft.com/office/drawing/2014/main" id="{E1924619-DDDA-EA0F-4188-3DD89B30B96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10" name="Group 5209">
            <a:extLst>
              <a:ext uri="{FF2B5EF4-FFF2-40B4-BE49-F238E27FC236}">
                <a16:creationId xmlns:a16="http://schemas.microsoft.com/office/drawing/2014/main" id="{AD7A947A-FF54-8BEA-8FE7-C073BF3845DE}"/>
              </a:ext>
            </a:extLst>
          </p:cNvPr>
          <p:cNvGrpSpPr>
            <a:grpSpLocks noChangeAspect="1"/>
          </p:cNvGrpSpPr>
          <p:nvPr/>
        </p:nvGrpSpPr>
        <p:grpSpPr>
          <a:xfrm>
            <a:off x="8473921" y="3216103"/>
            <a:ext cx="293997" cy="104174"/>
            <a:chOff x="7316835" y="187982"/>
            <a:chExt cx="1490982" cy="528309"/>
          </a:xfrm>
        </p:grpSpPr>
        <p:grpSp>
          <p:nvGrpSpPr>
            <p:cNvPr id="5211" name="object 14">
              <a:extLst>
                <a:ext uri="{FF2B5EF4-FFF2-40B4-BE49-F238E27FC236}">
                  <a16:creationId xmlns:a16="http://schemas.microsoft.com/office/drawing/2014/main" id="{F7C8D2EE-2271-14C0-883C-B11E6DD6382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15" name="object 16">
                <a:extLst>
                  <a:ext uri="{FF2B5EF4-FFF2-40B4-BE49-F238E27FC236}">
                    <a16:creationId xmlns:a16="http://schemas.microsoft.com/office/drawing/2014/main" id="{5FBDEEC9-17BA-4D2E-7FD9-9CF990E6C438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6" name="object 17">
                <a:extLst>
                  <a:ext uri="{FF2B5EF4-FFF2-40B4-BE49-F238E27FC236}">
                    <a16:creationId xmlns:a16="http://schemas.microsoft.com/office/drawing/2014/main" id="{777B2D9E-78D1-B7FA-D2E9-B48AED985F79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7" name="object 18">
                <a:extLst>
                  <a:ext uri="{FF2B5EF4-FFF2-40B4-BE49-F238E27FC236}">
                    <a16:creationId xmlns:a16="http://schemas.microsoft.com/office/drawing/2014/main" id="{26E9DBFF-582C-8D82-C423-E2DF082A6AA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8" name="object 19">
                <a:extLst>
                  <a:ext uri="{FF2B5EF4-FFF2-40B4-BE49-F238E27FC236}">
                    <a16:creationId xmlns:a16="http://schemas.microsoft.com/office/drawing/2014/main" id="{00C067B6-F690-2781-34F0-BCEDB5FB5820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9" name="object 20">
                <a:extLst>
                  <a:ext uri="{FF2B5EF4-FFF2-40B4-BE49-F238E27FC236}">
                    <a16:creationId xmlns:a16="http://schemas.microsoft.com/office/drawing/2014/main" id="{AEB0741B-FA42-BC53-3C11-087405178491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0" name="object 21">
                <a:extLst>
                  <a:ext uri="{FF2B5EF4-FFF2-40B4-BE49-F238E27FC236}">
                    <a16:creationId xmlns:a16="http://schemas.microsoft.com/office/drawing/2014/main" id="{1436D051-2879-887F-4305-3A7BB21128A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1" name="object 22">
                <a:extLst>
                  <a:ext uri="{FF2B5EF4-FFF2-40B4-BE49-F238E27FC236}">
                    <a16:creationId xmlns:a16="http://schemas.microsoft.com/office/drawing/2014/main" id="{08BCBB04-5767-5949-0BB5-A8DFB398F96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2" name="object 23">
                <a:extLst>
                  <a:ext uri="{FF2B5EF4-FFF2-40B4-BE49-F238E27FC236}">
                    <a16:creationId xmlns:a16="http://schemas.microsoft.com/office/drawing/2014/main" id="{CBF42064-B10E-2F3E-0EB8-A44F1376CE0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3" name="object 24">
                <a:extLst>
                  <a:ext uri="{FF2B5EF4-FFF2-40B4-BE49-F238E27FC236}">
                    <a16:creationId xmlns:a16="http://schemas.microsoft.com/office/drawing/2014/main" id="{4D399F9B-7363-E654-BAB6-BC56909D70E8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4" name="object 25">
                <a:extLst>
                  <a:ext uri="{FF2B5EF4-FFF2-40B4-BE49-F238E27FC236}">
                    <a16:creationId xmlns:a16="http://schemas.microsoft.com/office/drawing/2014/main" id="{35FD4165-F8EB-A624-D765-A274761DE4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5" name="object 26">
                <a:extLst>
                  <a:ext uri="{FF2B5EF4-FFF2-40B4-BE49-F238E27FC236}">
                    <a16:creationId xmlns:a16="http://schemas.microsoft.com/office/drawing/2014/main" id="{975DD896-EC92-6FC5-1170-AD0C699B3E3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6" name="object 27">
                <a:extLst>
                  <a:ext uri="{FF2B5EF4-FFF2-40B4-BE49-F238E27FC236}">
                    <a16:creationId xmlns:a16="http://schemas.microsoft.com/office/drawing/2014/main" id="{22452F6A-97CC-59FA-A7C4-E559505A2BCA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7" name="object 28">
                <a:extLst>
                  <a:ext uri="{FF2B5EF4-FFF2-40B4-BE49-F238E27FC236}">
                    <a16:creationId xmlns:a16="http://schemas.microsoft.com/office/drawing/2014/main" id="{0C59EA0D-0EEB-A633-AC63-5DC9BDFE5E56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8" name="object 29">
                <a:extLst>
                  <a:ext uri="{FF2B5EF4-FFF2-40B4-BE49-F238E27FC236}">
                    <a16:creationId xmlns:a16="http://schemas.microsoft.com/office/drawing/2014/main" id="{B2BEB9A9-D85D-32E3-FBF4-477E95DB569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29" name="object 30">
                <a:extLst>
                  <a:ext uri="{FF2B5EF4-FFF2-40B4-BE49-F238E27FC236}">
                    <a16:creationId xmlns:a16="http://schemas.microsoft.com/office/drawing/2014/main" id="{7A796B6A-BE08-C30F-DBA9-5184F97A591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0" name="object 31">
                <a:extLst>
                  <a:ext uri="{FF2B5EF4-FFF2-40B4-BE49-F238E27FC236}">
                    <a16:creationId xmlns:a16="http://schemas.microsoft.com/office/drawing/2014/main" id="{1A921D9C-9D88-33F2-7ED7-E1BF7719C210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1" name="object 32">
                <a:extLst>
                  <a:ext uri="{FF2B5EF4-FFF2-40B4-BE49-F238E27FC236}">
                    <a16:creationId xmlns:a16="http://schemas.microsoft.com/office/drawing/2014/main" id="{F494314A-DBAD-F344-438D-9E00C03DFC9E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2" name="object 33">
                <a:extLst>
                  <a:ext uri="{FF2B5EF4-FFF2-40B4-BE49-F238E27FC236}">
                    <a16:creationId xmlns:a16="http://schemas.microsoft.com/office/drawing/2014/main" id="{CD9D3122-7AD0-08FC-4ED1-0CEDA9C2295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3" name="object 34">
                <a:extLst>
                  <a:ext uri="{FF2B5EF4-FFF2-40B4-BE49-F238E27FC236}">
                    <a16:creationId xmlns:a16="http://schemas.microsoft.com/office/drawing/2014/main" id="{28E7DD89-96D0-DFE1-66D7-FD43E274DB65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4" name="object 35">
                <a:extLst>
                  <a:ext uri="{FF2B5EF4-FFF2-40B4-BE49-F238E27FC236}">
                    <a16:creationId xmlns:a16="http://schemas.microsoft.com/office/drawing/2014/main" id="{BD731AED-780F-C390-AFA9-3C624026548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5" name="object 36">
                <a:extLst>
                  <a:ext uri="{FF2B5EF4-FFF2-40B4-BE49-F238E27FC236}">
                    <a16:creationId xmlns:a16="http://schemas.microsoft.com/office/drawing/2014/main" id="{3D170748-6690-A57B-4D74-29CF12A508CD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6" name="object 37">
                <a:extLst>
                  <a:ext uri="{FF2B5EF4-FFF2-40B4-BE49-F238E27FC236}">
                    <a16:creationId xmlns:a16="http://schemas.microsoft.com/office/drawing/2014/main" id="{1A404688-F786-82E3-1DE0-7033DF4688E8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7" name="object 38">
                <a:extLst>
                  <a:ext uri="{FF2B5EF4-FFF2-40B4-BE49-F238E27FC236}">
                    <a16:creationId xmlns:a16="http://schemas.microsoft.com/office/drawing/2014/main" id="{A4EC633F-4D8B-4EA6-1B5B-8D7066152FC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8" name="object 39">
                <a:extLst>
                  <a:ext uri="{FF2B5EF4-FFF2-40B4-BE49-F238E27FC236}">
                    <a16:creationId xmlns:a16="http://schemas.microsoft.com/office/drawing/2014/main" id="{59F1623C-14EA-83D9-5915-89C53310A2F5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39" name="object 40">
                <a:extLst>
                  <a:ext uri="{FF2B5EF4-FFF2-40B4-BE49-F238E27FC236}">
                    <a16:creationId xmlns:a16="http://schemas.microsoft.com/office/drawing/2014/main" id="{24FA0044-D7D0-827A-1128-F264E783E65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0" name="object 41">
                <a:extLst>
                  <a:ext uri="{FF2B5EF4-FFF2-40B4-BE49-F238E27FC236}">
                    <a16:creationId xmlns:a16="http://schemas.microsoft.com/office/drawing/2014/main" id="{7DF77675-F805-210B-8E9A-64C5D82EB5B8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12" name="object 129">
              <a:extLst>
                <a:ext uri="{FF2B5EF4-FFF2-40B4-BE49-F238E27FC236}">
                  <a16:creationId xmlns:a16="http://schemas.microsoft.com/office/drawing/2014/main" id="{14071A7D-B7BB-5E74-12FF-A5AEF0BE8B73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13" name="object 130">
                <a:extLst>
                  <a:ext uri="{FF2B5EF4-FFF2-40B4-BE49-F238E27FC236}">
                    <a16:creationId xmlns:a16="http://schemas.microsoft.com/office/drawing/2014/main" id="{48602261-8B63-D011-8DC2-C742747571B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14" name="object 131">
                <a:extLst>
                  <a:ext uri="{FF2B5EF4-FFF2-40B4-BE49-F238E27FC236}">
                    <a16:creationId xmlns:a16="http://schemas.microsoft.com/office/drawing/2014/main" id="{6450841C-9B2A-B92D-4ABC-99F2BEC440BD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41" name="Group 5240">
            <a:extLst>
              <a:ext uri="{FF2B5EF4-FFF2-40B4-BE49-F238E27FC236}">
                <a16:creationId xmlns:a16="http://schemas.microsoft.com/office/drawing/2014/main" id="{BC5CAD96-33C9-2882-6812-FB83584399F6}"/>
              </a:ext>
            </a:extLst>
          </p:cNvPr>
          <p:cNvGrpSpPr>
            <a:grpSpLocks noChangeAspect="1"/>
          </p:cNvGrpSpPr>
          <p:nvPr/>
        </p:nvGrpSpPr>
        <p:grpSpPr>
          <a:xfrm>
            <a:off x="8830056" y="3218619"/>
            <a:ext cx="293997" cy="104174"/>
            <a:chOff x="7316835" y="187982"/>
            <a:chExt cx="1490982" cy="528309"/>
          </a:xfrm>
        </p:grpSpPr>
        <p:grpSp>
          <p:nvGrpSpPr>
            <p:cNvPr id="5242" name="object 14">
              <a:extLst>
                <a:ext uri="{FF2B5EF4-FFF2-40B4-BE49-F238E27FC236}">
                  <a16:creationId xmlns:a16="http://schemas.microsoft.com/office/drawing/2014/main" id="{302AE0B4-6434-9E0D-FC5D-CF889E13671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46" name="object 16">
                <a:extLst>
                  <a:ext uri="{FF2B5EF4-FFF2-40B4-BE49-F238E27FC236}">
                    <a16:creationId xmlns:a16="http://schemas.microsoft.com/office/drawing/2014/main" id="{9ED066FF-B146-B305-2396-C5FAAFB864CC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7" name="object 17">
                <a:extLst>
                  <a:ext uri="{FF2B5EF4-FFF2-40B4-BE49-F238E27FC236}">
                    <a16:creationId xmlns:a16="http://schemas.microsoft.com/office/drawing/2014/main" id="{C1DD939B-0FDF-AB06-7E80-5B39EC4FFA8C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8" name="object 18">
                <a:extLst>
                  <a:ext uri="{FF2B5EF4-FFF2-40B4-BE49-F238E27FC236}">
                    <a16:creationId xmlns:a16="http://schemas.microsoft.com/office/drawing/2014/main" id="{1EF3DD17-75F3-4555-9780-814C2DF420D4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9" name="object 19">
                <a:extLst>
                  <a:ext uri="{FF2B5EF4-FFF2-40B4-BE49-F238E27FC236}">
                    <a16:creationId xmlns:a16="http://schemas.microsoft.com/office/drawing/2014/main" id="{AD8E6C85-043D-CC75-F671-D4020899FFF1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0" name="object 20">
                <a:extLst>
                  <a:ext uri="{FF2B5EF4-FFF2-40B4-BE49-F238E27FC236}">
                    <a16:creationId xmlns:a16="http://schemas.microsoft.com/office/drawing/2014/main" id="{4C915214-EBBD-5C25-795C-8719C160B8CD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1" name="object 21">
                <a:extLst>
                  <a:ext uri="{FF2B5EF4-FFF2-40B4-BE49-F238E27FC236}">
                    <a16:creationId xmlns:a16="http://schemas.microsoft.com/office/drawing/2014/main" id="{B721198E-4960-5430-BF08-FD30280333E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2" name="object 22">
                <a:extLst>
                  <a:ext uri="{FF2B5EF4-FFF2-40B4-BE49-F238E27FC236}">
                    <a16:creationId xmlns:a16="http://schemas.microsoft.com/office/drawing/2014/main" id="{0C2B1565-01B9-ECB2-AC39-D78CE2FD852A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3" name="object 23">
                <a:extLst>
                  <a:ext uri="{FF2B5EF4-FFF2-40B4-BE49-F238E27FC236}">
                    <a16:creationId xmlns:a16="http://schemas.microsoft.com/office/drawing/2014/main" id="{88114708-5505-D95F-C217-A4A3BF551D41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4" name="object 24">
                <a:extLst>
                  <a:ext uri="{FF2B5EF4-FFF2-40B4-BE49-F238E27FC236}">
                    <a16:creationId xmlns:a16="http://schemas.microsoft.com/office/drawing/2014/main" id="{837950ED-B05E-57EA-9625-A6B27E1FC5D3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5" name="object 25">
                <a:extLst>
                  <a:ext uri="{FF2B5EF4-FFF2-40B4-BE49-F238E27FC236}">
                    <a16:creationId xmlns:a16="http://schemas.microsoft.com/office/drawing/2014/main" id="{87BE8663-1054-B198-5E09-C33484A90C4B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6" name="object 26">
                <a:extLst>
                  <a:ext uri="{FF2B5EF4-FFF2-40B4-BE49-F238E27FC236}">
                    <a16:creationId xmlns:a16="http://schemas.microsoft.com/office/drawing/2014/main" id="{88962842-2367-0D07-A975-55CF619030C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7" name="object 27">
                <a:extLst>
                  <a:ext uri="{FF2B5EF4-FFF2-40B4-BE49-F238E27FC236}">
                    <a16:creationId xmlns:a16="http://schemas.microsoft.com/office/drawing/2014/main" id="{3BE01744-44D9-6306-A45E-CBF865FE912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8" name="object 28">
                <a:extLst>
                  <a:ext uri="{FF2B5EF4-FFF2-40B4-BE49-F238E27FC236}">
                    <a16:creationId xmlns:a16="http://schemas.microsoft.com/office/drawing/2014/main" id="{B1A374EB-5828-872C-9A9B-7A5AFC3A3D23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59" name="object 29">
                <a:extLst>
                  <a:ext uri="{FF2B5EF4-FFF2-40B4-BE49-F238E27FC236}">
                    <a16:creationId xmlns:a16="http://schemas.microsoft.com/office/drawing/2014/main" id="{2C7BF566-D270-5CD9-474E-1F2D3CCFE951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0" name="object 30">
                <a:extLst>
                  <a:ext uri="{FF2B5EF4-FFF2-40B4-BE49-F238E27FC236}">
                    <a16:creationId xmlns:a16="http://schemas.microsoft.com/office/drawing/2014/main" id="{E8A2A6A2-0BD3-71AA-66A7-86398B06459F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1" name="object 31">
                <a:extLst>
                  <a:ext uri="{FF2B5EF4-FFF2-40B4-BE49-F238E27FC236}">
                    <a16:creationId xmlns:a16="http://schemas.microsoft.com/office/drawing/2014/main" id="{C8E2BA3D-415A-3F66-8970-B96F886096D9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2" name="object 32">
                <a:extLst>
                  <a:ext uri="{FF2B5EF4-FFF2-40B4-BE49-F238E27FC236}">
                    <a16:creationId xmlns:a16="http://schemas.microsoft.com/office/drawing/2014/main" id="{66BE8A35-D999-4F7A-9D46-C6A6CE1CA5A8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3" name="object 33">
                <a:extLst>
                  <a:ext uri="{FF2B5EF4-FFF2-40B4-BE49-F238E27FC236}">
                    <a16:creationId xmlns:a16="http://schemas.microsoft.com/office/drawing/2014/main" id="{B3B4F80A-84A2-45AB-ED9B-5742E3507F4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4" name="object 34">
                <a:extLst>
                  <a:ext uri="{FF2B5EF4-FFF2-40B4-BE49-F238E27FC236}">
                    <a16:creationId xmlns:a16="http://schemas.microsoft.com/office/drawing/2014/main" id="{1AA94FFC-4242-5C75-8662-608FDEEBD4D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5" name="object 35">
                <a:extLst>
                  <a:ext uri="{FF2B5EF4-FFF2-40B4-BE49-F238E27FC236}">
                    <a16:creationId xmlns:a16="http://schemas.microsoft.com/office/drawing/2014/main" id="{BDD186C5-E636-637B-6B11-E7178564B971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6" name="object 36">
                <a:extLst>
                  <a:ext uri="{FF2B5EF4-FFF2-40B4-BE49-F238E27FC236}">
                    <a16:creationId xmlns:a16="http://schemas.microsoft.com/office/drawing/2014/main" id="{382F4582-DA4E-D619-19BA-14767BCD8F9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7" name="object 37">
                <a:extLst>
                  <a:ext uri="{FF2B5EF4-FFF2-40B4-BE49-F238E27FC236}">
                    <a16:creationId xmlns:a16="http://schemas.microsoft.com/office/drawing/2014/main" id="{1EF85651-9703-3D53-6CFB-19952FF19537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8" name="object 38">
                <a:extLst>
                  <a:ext uri="{FF2B5EF4-FFF2-40B4-BE49-F238E27FC236}">
                    <a16:creationId xmlns:a16="http://schemas.microsoft.com/office/drawing/2014/main" id="{BC3815FC-7849-A1A3-D958-B4FF41995ED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69" name="object 39">
                <a:extLst>
                  <a:ext uri="{FF2B5EF4-FFF2-40B4-BE49-F238E27FC236}">
                    <a16:creationId xmlns:a16="http://schemas.microsoft.com/office/drawing/2014/main" id="{90DC0CE3-FA02-4F99-B670-876CFC82A1C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0" name="object 40">
                <a:extLst>
                  <a:ext uri="{FF2B5EF4-FFF2-40B4-BE49-F238E27FC236}">
                    <a16:creationId xmlns:a16="http://schemas.microsoft.com/office/drawing/2014/main" id="{F011CE7A-1FF0-0EBE-F695-013F813CE115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1" name="object 41">
                <a:extLst>
                  <a:ext uri="{FF2B5EF4-FFF2-40B4-BE49-F238E27FC236}">
                    <a16:creationId xmlns:a16="http://schemas.microsoft.com/office/drawing/2014/main" id="{2CB87909-8DBE-E2D7-0D33-4113E75C1822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43" name="object 129">
              <a:extLst>
                <a:ext uri="{FF2B5EF4-FFF2-40B4-BE49-F238E27FC236}">
                  <a16:creationId xmlns:a16="http://schemas.microsoft.com/office/drawing/2014/main" id="{0BC15370-39FD-C179-0A94-86A6D77F51EC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44" name="object 130">
                <a:extLst>
                  <a:ext uri="{FF2B5EF4-FFF2-40B4-BE49-F238E27FC236}">
                    <a16:creationId xmlns:a16="http://schemas.microsoft.com/office/drawing/2014/main" id="{3574C4A4-9961-B36C-8C9C-5F18DDF3915A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45" name="object 131">
                <a:extLst>
                  <a:ext uri="{FF2B5EF4-FFF2-40B4-BE49-F238E27FC236}">
                    <a16:creationId xmlns:a16="http://schemas.microsoft.com/office/drawing/2014/main" id="{60588918-B931-A4A9-6F1C-7C8BBAC9E15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272" name="Group 5271">
            <a:extLst>
              <a:ext uri="{FF2B5EF4-FFF2-40B4-BE49-F238E27FC236}">
                <a16:creationId xmlns:a16="http://schemas.microsoft.com/office/drawing/2014/main" id="{D06B8F01-D817-0C51-800B-268F02B50285}"/>
              </a:ext>
            </a:extLst>
          </p:cNvPr>
          <p:cNvGrpSpPr>
            <a:grpSpLocks noChangeAspect="1"/>
          </p:cNvGrpSpPr>
          <p:nvPr/>
        </p:nvGrpSpPr>
        <p:grpSpPr>
          <a:xfrm>
            <a:off x="9198197" y="3220137"/>
            <a:ext cx="293997" cy="104174"/>
            <a:chOff x="7316835" y="187982"/>
            <a:chExt cx="1490982" cy="528309"/>
          </a:xfrm>
        </p:grpSpPr>
        <p:grpSp>
          <p:nvGrpSpPr>
            <p:cNvPr id="5273" name="object 14">
              <a:extLst>
                <a:ext uri="{FF2B5EF4-FFF2-40B4-BE49-F238E27FC236}">
                  <a16:creationId xmlns:a16="http://schemas.microsoft.com/office/drawing/2014/main" id="{ADE6A03B-B4F2-2506-B687-1D97BCD48470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277" name="object 16">
                <a:extLst>
                  <a:ext uri="{FF2B5EF4-FFF2-40B4-BE49-F238E27FC236}">
                    <a16:creationId xmlns:a16="http://schemas.microsoft.com/office/drawing/2014/main" id="{A1FE1C0C-CDD7-AE0E-F7C3-90744367EC07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8" name="object 17">
                <a:extLst>
                  <a:ext uri="{FF2B5EF4-FFF2-40B4-BE49-F238E27FC236}">
                    <a16:creationId xmlns:a16="http://schemas.microsoft.com/office/drawing/2014/main" id="{11B274D4-0D24-57D8-3DC2-8796225110BE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9" name="object 18">
                <a:extLst>
                  <a:ext uri="{FF2B5EF4-FFF2-40B4-BE49-F238E27FC236}">
                    <a16:creationId xmlns:a16="http://schemas.microsoft.com/office/drawing/2014/main" id="{48890284-976F-C502-6063-F700403DB322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0" name="object 19">
                <a:extLst>
                  <a:ext uri="{FF2B5EF4-FFF2-40B4-BE49-F238E27FC236}">
                    <a16:creationId xmlns:a16="http://schemas.microsoft.com/office/drawing/2014/main" id="{FD39E36E-FE0C-26C3-265D-8EFE2F90DEE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1" name="object 20">
                <a:extLst>
                  <a:ext uri="{FF2B5EF4-FFF2-40B4-BE49-F238E27FC236}">
                    <a16:creationId xmlns:a16="http://schemas.microsoft.com/office/drawing/2014/main" id="{24C48D72-91F9-99AD-ADD5-0E34659FE8E5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2" name="object 21">
                <a:extLst>
                  <a:ext uri="{FF2B5EF4-FFF2-40B4-BE49-F238E27FC236}">
                    <a16:creationId xmlns:a16="http://schemas.microsoft.com/office/drawing/2014/main" id="{AF6C4054-2E17-D148-54B6-8E46414C4D6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3" name="object 22">
                <a:extLst>
                  <a:ext uri="{FF2B5EF4-FFF2-40B4-BE49-F238E27FC236}">
                    <a16:creationId xmlns:a16="http://schemas.microsoft.com/office/drawing/2014/main" id="{870B2493-F0AF-B748-83A8-85100CF19DE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4" name="object 23">
                <a:extLst>
                  <a:ext uri="{FF2B5EF4-FFF2-40B4-BE49-F238E27FC236}">
                    <a16:creationId xmlns:a16="http://schemas.microsoft.com/office/drawing/2014/main" id="{2979E2D7-C77C-2D18-DEDC-D28383A7966E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5" name="object 24">
                <a:extLst>
                  <a:ext uri="{FF2B5EF4-FFF2-40B4-BE49-F238E27FC236}">
                    <a16:creationId xmlns:a16="http://schemas.microsoft.com/office/drawing/2014/main" id="{C7486DE1-0605-A4C2-F811-80A0A58738EC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6" name="object 25">
                <a:extLst>
                  <a:ext uri="{FF2B5EF4-FFF2-40B4-BE49-F238E27FC236}">
                    <a16:creationId xmlns:a16="http://schemas.microsoft.com/office/drawing/2014/main" id="{46BDACA1-9BD1-FAA4-F1F1-5944A85C0E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7" name="object 26">
                <a:extLst>
                  <a:ext uri="{FF2B5EF4-FFF2-40B4-BE49-F238E27FC236}">
                    <a16:creationId xmlns:a16="http://schemas.microsoft.com/office/drawing/2014/main" id="{0055CA66-6277-B2B8-891D-A86C9DB903F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8" name="object 27">
                <a:extLst>
                  <a:ext uri="{FF2B5EF4-FFF2-40B4-BE49-F238E27FC236}">
                    <a16:creationId xmlns:a16="http://schemas.microsoft.com/office/drawing/2014/main" id="{912AD28A-C914-9C66-976C-977B47C94D40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89" name="object 28">
                <a:extLst>
                  <a:ext uri="{FF2B5EF4-FFF2-40B4-BE49-F238E27FC236}">
                    <a16:creationId xmlns:a16="http://schemas.microsoft.com/office/drawing/2014/main" id="{DE32D91D-D7B4-3DA2-05EE-F949F93B658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0" name="object 29">
                <a:extLst>
                  <a:ext uri="{FF2B5EF4-FFF2-40B4-BE49-F238E27FC236}">
                    <a16:creationId xmlns:a16="http://schemas.microsoft.com/office/drawing/2014/main" id="{7509AC8E-5829-4AB0-2555-AB1EB217AFC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1" name="object 30">
                <a:extLst>
                  <a:ext uri="{FF2B5EF4-FFF2-40B4-BE49-F238E27FC236}">
                    <a16:creationId xmlns:a16="http://schemas.microsoft.com/office/drawing/2014/main" id="{C4EF54F9-6952-B5D0-9752-F09826FFD13C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2" name="object 31">
                <a:extLst>
                  <a:ext uri="{FF2B5EF4-FFF2-40B4-BE49-F238E27FC236}">
                    <a16:creationId xmlns:a16="http://schemas.microsoft.com/office/drawing/2014/main" id="{93317C10-0612-7F72-1ACA-F7C8A57CD04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3" name="object 32">
                <a:extLst>
                  <a:ext uri="{FF2B5EF4-FFF2-40B4-BE49-F238E27FC236}">
                    <a16:creationId xmlns:a16="http://schemas.microsoft.com/office/drawing/2014/main" id="{4F5D9D4F-8CAA-98AF-BA8C-4CC44B28C4D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4" name="object 33">
                <a:extLst>
                  <a:ext uri="{FF2B5EF4-FFF2-40B4-BE49-F238E27FC236}">
                    <a16:creationId xmlns:a16="http://schemas.microsoft.com/office/drawing/2014/main" id="{4177F9A4-83C7-A1A8-D920-43A3DFE96E04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5" name="object 34">
                <a:extLst>
                  <a:ext uri="{FF2B5EF4-FFF2-40B4-BE49-F238E27FC236}">
                    <a16:creationId xmlns:a16="http://schemas.microsoft.com/office/drawing/2014/main" id="{512B7CB1-8402-AF73-AB7D-A35F931994BB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6" name="object 35">
                <a:extLst>
                  <a:ext uri="{FF2B5EF4-FFF2-40B4-BE49-F238E27FC236}">
                    <a16:creationId xmlns:a16="http://schemas.microsoft.com/office/drawing/2014/main" id="{57F812AB-2B4B-ADE9-14B7-194FA1B0E1FC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7" name="object 36">
                <a:extLst>
                  <a:ext uri="{FF2B5EF4-FFF2-40B4-BE49-F238E27FC236}">
                    <a16:creationId xmlns:a16="http://schemas.microsoft.com/office/drawing/2014/main" id="{AFCE0039-82A5-7D77-8322-F30ED37E5F86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8" name="object 37">
                <a:extLst>
                  <a:ext uri="{FF2B5EF4-FFF2-40B4-BE49-F238E27FC236}">
                    <a16:creationId xmlns:a16="http://schemas.microsoft.com/office/drawing/2014/main" id="{4357AA90-06FD-B938-A609-E2EC27CEF971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99" name="object 38">
                <a:extLst>
                  <a:ext uri="{FF2B5EF4-FFF2-40B4-BE49-F238E27FC236}">
                    <a16:creationId xmlns:a16="http://schemas.microsoft.com/office/drawing/2014/main" id="{DA1CF2C9-AE7E-0D6D-021C-FCB8A684C76A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0" name="object 39">
                <a:extLst>
                  <a:ext uri="{FF2B5EF4-FFF2-40B4-BE49-F238E27FC236}">
                    <a16:creationId xmlns:a16="http://schemas.microsoft.com/office/drawing/2014/main" id="{78142631-CFEB-6731-71D7-C0932C692EB4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1" name="object 40">
                <a:extLst>
                  <a:ext uri="{FF2B5EF4-FFF2-40B4-BE49-F238E27FC236}">
                    <a16:creationId xmlns:a16="http://schemas.microsoft.com/office/drawing/2014/main" id="{8BED9D8F-EC88-F89A-AC06-ACEED65C022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2" name="object 41">
                <a:extLst>
                  <a:ext uri="{FF2B5EF4-FFF2-40B4-BE49-F238E27FC236}">
                    <a16:creationId xmlns:a16="http://schemas.microsoft.com/office/drawing/2014/main" id="{E98CAC42-8763-8DCA-C9F5-A8C3356F81A4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274" name="object 129">
              <a:extLst>
                <a:ext uri="{FF2B5EF4-FFF2-40B4-BE49-F238E27FC236}">
                  <a16:creationId xmlns:a16="http://schemas.microsoft.com/office/drawing/2014/main" id="{D31DC852-F5CB-C594-A677-48D6C958C887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275" name="object 130">
                <a:extLst>
                  <a:ext uri="{FF2B5EF4-FFF2-40B4-BE49-F238E27FC236}">
                    <a16:creationId xmlns:a16="http://schemas.microsoft.com/office/drawing/2014/main" id="{F4A7E14B-55D7-FC41-C43C-CA6F61BF95FB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276" name="object 131">
                <a:extLst>
                  <a:ext uri="{FF2B5EF4-FFF2-40B4-BE49-F238E27FC236}">
                    <a16:creationId xmlns:a16="http://schemas.microsoft.com/office/drawing/2014/main" id="{A460AC49-4A8B-DD34-7B29-5E6017527598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03" name="Group 5302">
            <a:extLst>
              <a:ext uri="{FF2B5EF4-FFF2-40B4-BE49-F238E27FC236}">
                <a16:creationId xmlns:a16="http://schemas.microsoft.com/office/drawing/2014/main" id="{5F40D43A-81C9-BEBF-ED0F-86B8D54B2D3F}"/>
              </a:ext>
            </a:extLst>
          </p:cNvPr>
          <p:cNvGrpSpPr>
            <a:grpSpLocks noChangeAspect="1"/>
          </p:cNvGrpSpPr>
          <p:nvPr/>
        </p:nvGrpSpPr>
        <p:grpSpPr>
          <a:xfrm>
            <a:off x="9545115" y="3222979"/>
            <a:ext cx="293997" cy="104174"/>
            <a:chOff x="7316835" y="187982"/>
            <a:chExt cx="1490982" cy="528309"/>
          </a:xfrm>
        </p:grpSpPr>
        <p:grpSp>
          <p:nvGrpSpPr>
            <p:cNvPr id="5304" name="object 14">
              <a:extLst>
                <a:ext uri="{FF2B5EF4-FFF2-40B4-BE49-F238E27FC236}">
                  <a16:creationId xmlns:a16="http://schemas.microsoft.com/office/drawing/2014/main" id="{FE178E50-8F97-321C-45D4-89F4B177C7A4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08" name="object 16">
                <a:extLst>
                  <a:ext uri="{FF2B5EF4-FFF2-40B4-BE49-F238E27FC236}">
                    <a16:creationId xmlns:a16="http://schemas.microsoft.com/office/drawing/2014/main" id="{BD29F225-2EA9-0558-BB1F-F1CE88D60503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9" name="object 17">
                <a:extLst>
                  <a:ext uri="{FF2B5EF4-FFF2-40B4-BE49-F238E27FC236}">
                    <a16:creationId xmlns:a16="http://schemas.microsoft.com/office/drawing/2014/main" id="{3B8539BC-1C38-1BE2-E656-6CA952FFED2A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0" name="object 18">
                <a:extLst>
                  <a:ext uri="{FF2B5EF4-FFF2-40B4-BE49-F238E27FC236}">
                    <a16:creationId xmlns:a16="http://schemas.microsoft.com/office/drawing/2014/main" id="{C6FEBE21-5F25-20E8-CADD-4EA8E4DE5E3D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1" name="object 19">
                <a:extLst>
                  <a:ext uri="{FF2B5EF4-FFF2-40B4-BE49-F238E27FC236}">
                    <a16:creationId xmlns:a16="http://schemas.microsoft.com/office/drawing/2014/main" id="{7DB34EB0-AE26-7C6A-FBA9-51F988DA25D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2" name="object 20">
                <a:extLst>
                  <a:ext uri="{FF2B5EF4-FFF2-40B4-BE49-F238E27FC236}">
                    <a16:creationId xmlns:a16="http://schemas.microsoft.com/office/drawing/2014/main" id="{860C7826-F3E3-1963-40EF-084E6843B420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3" name="object 21">
                <a:extLst>
                  <a:ext uri="{FF2B5EF4-FFF2-40B4-BE49-F238E27FC236}">
                    <a16:creationId xmlns:a16="http://schemas.microsoft.com/office/drawing/2014/main" id="{1463C1A5-F7D3-748A-C227-A3E7517E2FB8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4" name="object 22">
                <a:extLst>
                  <a:ext uri="{FF2B5EF4-FFF2-40B4-BE49-F238E27FC236}">
                    <a16:creationId xmlns:a16="http://schemas.microsoft.com/office/drawing/2014/main" id="{A83F2B9B-89A4-71AB-3BEB-81FF8A4577A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5" name="object 23">
                <a:extLst>
                  <a:ext uri="{FF2B5EF4-FFF2-40B4-BE49-F238E27FC236}">
                    <a16:creationId xmlns:a16="http://schemas.microsoft.com/office/drawing/2014/main" id="{9D858AAA-EA18-115E-7918-C08499B7516D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6" name="object 24">
                <a:extLst>
                  <a:ext uri="{FF2B5EF4-FFF2-40B4-BE49-F238E27FC236}">
                    <a16:creationId xmlns:a16="http://schemas.microsoft.com/office/drawing/2014/main" id="{CBD423CA-ED63-618B-5F03-7B4998457A29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7" name="object 25">
                <a:extLst>
                  <a:ext uri="{FF2B5EF4-FFF2-40B4-BE49-F238E27FC236}">
                    <a16:creationId xmlns:a16="http://schemas.microsoft.com/office/drawing/2014/main" id="{B635DFA1-1619-D964-A738-D753D5CA952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8" name="object 26">
                <a:extLst>
                  <a:ext uri="{FF2B5EF4-FFF2-40B4-BE49-F238E27FC236}">
                    <a16:creationId xmlns:a16="http://schemas.microsoft.com/office/drawing/2014/main" id="{538C6AA5-8528-4C5E-49EA-C107AB34A863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19" name="object 27">
                <a:extLst>
                  <a:ext uri="{FF2B5EF4-FFF2-40B4-BE49-F238E27FC236}">
                    <a16:creationId xmlns:a16="http://schemas.microsoft.com/office/drawing/2014/main" id="{DA39A90F-FE0E-0140-5ED0-B862FDB3C361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0" name="object 28">
                <a:extLst>
                  <a:ext uri="{FF2B5EF4-FFF2-40B4-BE49-F238E27FC236}">
                    <a16:creationId xmlns:a16="http://schemas.microsoft.com/office/drawing/2014/main" id="{97F68B53-C92C-C1AA-69EE-E6DBA581F28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1" name="object 29">
                <a:extLst>
                  <a:ext uri="{FF2B5EF4-FFF2-40B4-BE49-F238E27FC236}">
                    <a16:creationId xmlns:a16="http://schemas.microsoft.com/office/drawing/2014/main" id="{8770358B-32E8-6D5F-8391-370ED3EAF3EF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2" name="object 30">
                <a:extLst>
                  <a:ext uri="{FF2B5EF4-FFF2-40B4-BE49-F238E27FC236}">
                    <a16:creationId xmlns:a16="http://schemas.microsoft.com/office/drawing/2014/main" id="{1EB69A2B-62E6-918D-E881-1CEC9C707CCA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3" name="object 31">
                <a:extLst>
                  <a:ext uri="{FF2B5EF4-FFF2-40B4-BE49-F238E27FC236}">
                    <a16:creationId xmlns:a16="http://schemas.microsoft.com/office/drawing/2014/main" id="{77B0E48C-A9D3-357B-3CE7-617935DEB4D4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4" name="object 32">
                <a:extLst>
                  <a:ext uri="{FF2B5EF4-FFF2-40B4-BE49-F238E27FC236}">
                    <a16:creationId xmlns:a16="http://schemas.microsoft.com/office/drawing/2014/main" id="{7CFC62C7-48B5-746E-95F0-9A920F156D17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5" name="object 33">
                <a:extLst>
                  <a:ext uri="{FF2B5EF4-FFF2-40B4-BE49-F238E27FC236}">
                    <a16:creationId xmlns:a16="http://schemas.microsoft.com/office/drawing/2014/main" id="{24B84200-C2B8-61E8-6A71-175BA14373D3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6" name="object 34">
                <a:extLst>
                  <a:ext uri="{FF2B5EF4-FFF2-40B4-BE49-F238E27FC236}">
                    <a16:creationId xmlns:a16="http://schemas.microsoft.com/office/drawing/2014/main" id="{92B0C99F-0A4F-CFD6-9A1A-2AF69E19824D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7" name="object 35">
                <a:extLst>
                  <a:ext uri="{FF2B5EF4-FFF2-40B4-BE49-F238E27FC236}">
                    <a16:creationId xmlns:a16="http://schemas.microsoft.com/office/drawing/2014/main" id="{E7E0BE5D-6C11-E18C-7E92-15896738AA6A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8" name="object 36">
                <a:extLst>
                  <a:ext uri="{FF2B5EF4-FFF2-40B4-BE49-F238E27FC236}">
                    <a16:creationId xmlns:a16="http://schemas.microsoft.com/office/drawing/2014/main" id="{428F7AE9-AAA7-679F-DCBF-CC0D5CED481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29" name="object 37">
                <a:extLst>
                  <a:ext uri="{FF2B5EF4-FFF2-40B4-BE49-F238E27FC236}">
                    <a16:creationId xmlns:a16="http://schemas.microsoft.com/office/drawing/2014/main" id="{5952E5F9-4937-D351-6E88-A752F82EAB55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0" name="object 38">
                <a:extLst>
                  <a:ext uri="{FF2B5EF4-FFF2-40B4-BE49-F238E27FC236}">
                    <a16:creationId xmlns:a16="http://schemas.microsoft.com/office/drawing/2014/main" id="{F3CC8308-0F20-9AF3-3121-0EC5C67D1F79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1" name="object 39">
                <a:extLst>
                  <a:ext uri="{FF2B5EF4-FFF2-40B4-BE49-F238E27FC236}">
                    <a16:creationId xmlns:a16="http://schemas.microsoft.com/office/drawing/2014/main" id="{3F462AD1-745E-4FFE-2F45-5B2056545500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2" name="object 40">
                <a:extLst>
                  <a:ext uri="{FF2B5EF4-FFF2-40B4-BE49-F238E27FC236}">
                    <a16:creationId xmlns:a16="http://schemas.microsoft.com/office/drawing/2014/main" id="{36D5948F-6DDA-986F-9540-DC3766F2EFB6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33" name="object 41">
                <a:extLst>
                  <a:ext uri="{FF2B5EF4-FFF2-40B4-BE49-F238E27FC236}">
                    <a16:creationId xmlns:a16="http://schemas.microsoft.com/office/drawing/2014/main" id="{694E7637-A37D-A090-A143-25B01156FAC9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05" name="object 129">
              <a:extLst>
                <a:ext uri="{FF2B5EF4-FFF2-40B4-BE49-F238E27FC236}">
                  <a16:creationId xmlns:a16="http://schemas.microsoft.com/office/drawing/2014/main" id="{2CFEBAB5-9B0C-6528-445A-14CFD86DA261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06" name="object 130">
                <a:extLst>
                  <a:ext uri="{FF2B5EF4-FFF2-40B4-BE49-F238E27FC236}">
                    <a16:creationId xmlns:a16="http://schemas.microsoft.com/office/drawing/2014/main" id="{8C4C7768-2A69-EEF0-6CAE-73FD875B7A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07" name="object 131">
                <a:extLst>
                  <a:ext uri="{FF2B5EF4-FFF2-40B4-BE49-F238E27FC236}">
                    <a16:creationId xmlns:a16="http://schemas.microsoft.com/office/drawing/2014/main" id="{12F06DD5-ADD7-CE22-0BC5-C54376573716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grpSp>
        <p:nvGrpSpPr>
          <p:cNvPr id="5365" name="Group 5364">
            <a:extLst>
              <a:ext uri="{FF2B5EF4-FFF2-40B4-BE49-F238E27FC236}">
                <a16:creationId xmlns:a16="http://schemas.microsoft.com/office/drawing/2014/main" id="{3DEB869D-BCF2-5F3D-F2C1-CDFFF51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9884229" y="3227094"/>
            <a:ext cx="293997" cy="104174"/>
            <a:chOff x="7316835" y="187982"/>
            <a:chExt cx="1490982" cy="528309"/>
          </a:xfrm>
        </p:grpSpPr>
        <p:grpSp>
          <p:nvGrpSpPr>
            <p:cNvPr id="5366" name="object 14">
              <a:extLst>
                <a:ext uri="{FF2B5EF4-FFF2-40B4-BE49-F238E27FC236}">
                  <a16:creationId xmlns:a16="http://schemas.microsoft.com/office/drawing/2014/main" id="{18812443-57BF-79B9-AD10-AEF1AECA9497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370" name="object 16">
                <a:extLst>
                  <a:ext uri="{FF2B5EF4-FFF2-40B4-BE49-F238E27FC236}">
                    <a16:creationId xmlns:a16="http://schemas.microsoft.com/office/drawing/2014/main" id="{07E42FE0-9FDC-C5F9-F0F4-F84EA440F495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1" name="object 17">
                <a:extLst>
                  <a:ext uri="{FF2B5EF4-FFF2-40B4-BE49-F238E27FC236}">
                    <a16:creationId xmlns:a16="http://schemas.microsoft.com/office/drawing/2014/main" id="{8E853141-BF80-105D-0F1D-6B0211814942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2" name="object 18">
                <a:extLst>
                  <a:ext uri="{FF2B5EF4-FFF2-40B4-BE49-F238E27FC236}">
                    <a16:creationId xmlns:a16="http://schemas.microsoft.com/office/drawing/2014/main" id="{6E0FA679-8E2C-F113-0D58-B2745F2B3EE5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3" name="object 19">
                <a:extLst>
                  <a:ext uri="{FF2B5EF4-FFF2-40B4-BE49-F238E27FC236}">
                    <a16:creationId xmlns:a16="http://schemas.microsoft.com/office/drawing/2014/main" id="{97BB935D-2C4A-5F2E-B23A-BABBEF90F93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4" name="object 20">
                <a:extLst>
                  <a:ext uri="{FF2B5EF4-FFF2-40B4-BE49-F238E27FC236}">
                    <a16:creationId xmlns:a16="http://schemas.microsoft.com/office/drawing/2014/main" id="{FFF26977-8E80-018A-D3D6-4629BB496BB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5" name="object 21">
                <a:extLst>
                  <a:ext uri="{FF2B5EF4-FFF2-40B4-BE49-F238E27FC236}">
                    <a16:creationId xmlns:a16="http://schemas.microsoft.com/office/drawing/2014/main" id="{DC00C746-D6AF-FFB0-4995-C850F9E92586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6" name="object 22">
                <a:extLst>
                  <a:ext uri="{FF2B5EF4-FFF2-40B4-BE49-F238E27FC236}">
                    <a16:creationId xmlns:a16="http://schemas.microsoft.com/office/drawing/2014/main" id="{EC5BCE36-714A-8C8B-A7C0-93085C61E6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7" name="object 23">
                <a:extLst>
                  <a:ext uri="{FF2B5EF4-FFF2-40B4-BE49-F238E27FC236}">
                    <a16:creationId xmlns:a16="http://schemas.microsoft.com/office/drawing/2014/main" id="{2C553F76-D0FC-6188-E3E5-718162B1EE3C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8" name="object 24">
                <a:extLst>
                  <a:ext uri="{FF2B5EF4-FFF2-40B4-BE49-F238E27FC236}">
                    <a16:creationId xmlns:a16="http://schemas.microsoft.com/office/drawing/2014/main" id="{03423DB8-1CC0-4C9D-6085-D93E1BBCC0D1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79" name="object 25">
                <a:extLst>
                  <a:ext uri="{FF2B5EF4-FFF2-40B4-BE49-F238E27FC236}">
                    <a16:creationId xmlns:a16="http://schemas.microsoft.com/office/drawing/2014/main" id="{536637A0-D10D-6FDB-3EE0-08993A496C37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0" name="object 26">
                <a:extLst>
                  <a:ext uri="{FF2B5EF4-FFF2-40B4-BE49-F238E27FC236}">
                    <a16:creationId xmlns:a16="http://schemas.microsoft.com/office/drawing/2014/main" id="{34726F43-040B-AB33-1D68-E9566F53CCD9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1" name="object 27">
                <a:extLst>
                  <a:ext uri="{FF2B5EF4-FFF2-40B4-BE49-F238E27FC236}">
                    <a16:creationId xmlns:a16="http://schemas.microsoft.com/office/drawing/2014/main" id="{5142F604-CD3D-56AB-48B7-8DA50BF1D5E8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2" name="object 28">
                <a:extLst>
                  <a:ext uri="{FF2B5EF4-FFF2-40B4-BE49-F238E27FC236}">
                    <a16:creationId xmlns:a16="http://schemas.microsoft.com/office/drawing/2014/main" id="{BFEAA515-4CA3-7635-6D3B-564C8AA9624E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3" name="object 29">
                <a:extLst>
                  <a:ext uri="{FF2B5EF4-FFF2-40B4-BE49-F238E27FC236}">
                    <a16:creationId xmlns:a16="http://schemas.microsoft.com/office/drawing/2014/main" id="{4DF6A74C-0B54-5268-259D-820BC9BD9AFB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4" name="object 30">
                <a:extLst>
                  <a:ext uri="{FF2B5EF4-FFF2-40B4-BE49-F238E27FC236}">
                    <a16:creationId xmlns:a16="http://schemas.microsoft.com/office/drawing/2014/main" id="{98372D54-20D3-38CF-D7C1-DA10A2D3BB12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5" name="object 31">
                <a:extLst>
                  <a:ext uri="{FF2B5EF4-FFF2-40B4-BE49-F238E27FC236}">
                    <a16:creationId xmlns:a16="http://schemas.microsoft.com/office/drawing/2014/main" id="{D8B9FF1B-37BE-38C0-7589-61AD3088283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6" name="object 32">
                <a:extLst>
                  <a:ext uri="{FF2B5EF4-FFF2-40B4-BE49-F238E27FC236}">
                    <a16:creationId xmlns:a16="http://schemas.microsoft.com/office/drawing/2014/main" id="{02BEA0A0-CE07-B5C9-60B7-DB88DD369A41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7" name="object 33">
                <a:extLst>
                  <a:ext uri="{FF2B5EF4-FFF2-40B4-BE49-F238E27FC236}">
                    <a16:creationId xmlns:a16="http://schemas.microsoft.com/office/drawing/2014/main" id="{1F0EE334-55EB-51B8-ADBA-7C382D7D7315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8" name="object 34">
                <a:extLst>
                  <a:ext uri="{FF2B5EF4-FFF2-40B4-BE49-F238E27FC236}">
                    <a16:creationId xmlns:a16="http://schemas.microsoft.com/office/drawing/2014/main" id="{69184A60-B764-E328-5EC5-457B04A10310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89" name="object 35">
                <a:extLst>
                  <a:ext uri="{FF2B5EF4-FFF2-40B4-BE49-F238E27FC236}">
                    <a16:creationId xmlns:a16="http://schemas.microsoft.com/office/drawing/2014/main" id="{3DADE068-DDD1-73E0-FE60-AE1208B60A2E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0" name="object 36">
                <a:extLst>
                  <a:ext uri="{FF2B5EF4-FFF2-40B4-BE49-F238E27FC236}">
                    <a16:creationId xmlns:a16="http://schemas.microsoft.com/office/drawing/2014/main" id="{44B8EB1C-7646-2FED-D488-BB179CDBA002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1" name="object 37">
                <a:extLst>
                  <a:ext uri="{FF2B5EF4-FFF2-40B4-BE49-F238E27FC236}">
                    <a16:creationId xmlns:a16="http://schemas.microsoft.com/office/drawing/2014/main" id="{AEA3CB1C-0140-0761-20F9-A6DDFAFF920A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2" name="object 38">
                <a:extLst>
                  <a:ext uri="{FF2B5EF4-FFF2-40B4-BE49-F238E27FC236}">
                    <a16:creationId xmlns:a16="http://schemas.microsoft.com/office/drawing/2014/main" id="{A0606D98-879C-D2F6-1BA1-21860D8050C2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3" name="object 39">
                <a:extLst>
                  <a:ext uri="{FF2B5EF4-FFF2-40B4-BE49-F238E27FC236}">
                    <a16:creationId xmlns:a16="http://schemas.microsoft.com/office/drawing/2014/main" id="{D890D6F6-2BCA-4174-5FA2-01A71268B2A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4" name="object 40">
                <a:extLst>
                  <a:ext uri="{FF2B5EF4-FFF2-40B4-BE49-F238E27FC236}">
                    <a16:creationId xmlns:a16="http://schemas.microsoft.com/office/drawing/2014/main" id="{817F9CD2-8FFE-1487-A9C9-9AB1F461B26C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95" name="object 41">
                <a:extLst>
                  <a:ext uri="{FF2B5EF4-FFF2-40B4-BE49-F238E27FC236}">
                    <a16:creationId xmlns:a16="http://schemas.microsoft.com/office/drawing/2014/main" id="{F860D16C-9E75-41C1-B3D4-DAC64B0795FA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367" name="object 129">
              <a:extLst>
                <a:ext uri="{FF2B5EF4-FFF2-40B4-BE49-F238E27FC236}">
                  <a16:creationId xmlns:a16="http://schemas.microsoft.com/office/drawing/2014/main" id="{C9B76A7A-DC0E-FC0C-C68C-1139FC7DA03F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368" name="object 130">
                <a:extLst>
                  <a:ext uri="{FF2B5EF4-FFF2-40B4-BE49-F238E27FC236}">
                    <a16:creationId xmlns:a16="http://schemas.microsoft.com/office/drawing/2014/main" id="{E8381350-7825-A220-66DA-8E3186B4A8E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369" name="object 131">
                <a:extLst>
                  <a:ext uri="{FF2B5EF4-FFF2-40B4-BE49-F238E27FC236}">
                    <a16:creationId xmlns:a16="http://schemas.microsoft.com/office/drawing/2014/main" id="{BCC118BC-AD03-D595-8F07-2A03310F8B63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396" name="TextBox 5395">
            <a:extLst>
              <a:ext uri="{FF2B5EF4-FFF2-40B4-BE49-F238E27FC236}">
                <a16:creationId xmlns:a16="http://schemas.microsoft.com/office/drawing/2014/main" id="{CEB8802F-E82F-043A-00DA-2D373415ACEF}"/>
              </a:ext>
            </a:extLst>
          </p:cNvPr>
          <p:cNvSpPr txBox="1"/>
          <p:nvPr/>
        </p:nvSpPr>
        <p:spPr>
          <a:xfrm>
            <a:off x="8040280" y="4617652"/>
            <a:ext cx="270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causal masking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/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98" name="TextBox 5397">
                <a:extLst>
                  <a:ext uri="{FF2B5EF4-FFF2-40B4-BE49-F238E27FC236}">
                    <a16:creationId xmlns:a16="http://schemas.microsoft.com/office/drawing/2014/main" id="{83A598EC-1078-E7AC-C808-F6981C6D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382" y="3614750"/>
                <a:ext cx="4937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/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99" name="TextBox 5398">
                <a:extLst>
                  <a:ext uri="{FF2B5EF4-FFF2-40B4-BE49-F238E27FC236}">
                    <a16:creationId xmlns:a16="http://schemas.microsoft.com/office/drawing/2014/main" id="{EA25A5AD-680E-5EAD-2087-E3A36D5F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125" y="2806018"/>
                <a:ext cx="685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00" name="Curved Connector 5399">
            <a:extLst>
              <a:ext uri="{FF2B5EF4-FFF2-40B4-BE49-F238E27FC236}">
                <a16:creationId xmlns:a16="http://schemas.microsoft.com/office/drawing/2014/main" id="{A2FD3C74-CD1D-CBDE-90C0-140EBF6F38EB}"/>
              </a:ext>
            </a:extLst>
          </p:cNvPr>
          <p:cNvCxnSpPr>
            <a:cxnSpLocks/>
            <a:stCxn id="5399" idx="2"/>
            <a:endCxn id="5" idx="3"/>
          </p:cNvCxnSpPr>
          <p:nvPr/>
        </p:nvCxnSpPr>
        <p:spPr>
          <a:xfrm rot="5400000">
            <a:off x="9888122" y="3689389"/>
            <a:ext cx="1206782" cy="178704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5" name="TextBox 5404">
            <a:extLst>
              <a:ext uri="{FF2B5EF4-FFF2-40B4-BE49-F238E27FC236}">
                <a16:creationId xmlns:a16="http://schemas.microsoft.com/office/drawing/2014/main" id="{1F099CF8-4586-96A2-A039-6142657E41EF}"/>
              </a:ext>
            </a:extLst>
          </p:cNvPr>
          <p:cNvSpPr txBox="1"/>
          <p:nvPr/>
        </p:nvSpPr>
        <p:spPr>
          <a:xfrm>
            <a:off x="8972318" y="2795628"/>
            <a:ext cx="137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      +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/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09" name="TextBox 5408">
                <a:extLst>
                  <a:ext uri="{FF2B5EF4-FFF2-40B4-BE49-F238E27FC236}">
                    <a16:creationId xmlns:a16="http://schemas.microsoft.com/office/drawing/2014/main" id="{D930E8F5-701A-8DAB-1968-302FAD6F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01" y="2205191"/>
                <a:ext cx="4058433" cy="369332"/>
              </a:xfrm>
              <a:prstGeom prst="rect">
                <a:avLst/>
              </a:prstGeom>
              <a:blipFill>
                <a:blip r:embed="rId6"/>
                <a:stretch>
                  <a:fillRect l="-124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/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10" name="TextBox 5409">
                <a:extLst>
                  <a:ext uri="{FF2B5EF4-FFF2-40B4-BE49-F238E27FC236}">
                    <a16:creationId xmlns:a16="http://schemas.microsoft.com/office/drawing/2014/main" id="{1AC0956F-B45B-4AAA-D174-321DCB9A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38" y="2788377"/>
                <a:ext cx="270073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6" name="Right Brace 5415">
            <a:extLst>
              <a:ext uri="{FF2B5EF4-FFF2-40B4-BE49-F238E27FC236}">
                <a16:creationId xmlns:a16="http://schemas.microsoft.com/office/drawing/2014/main" id="{30A0DC49-2ECF-5AE1-EDB7-E6A180460E30}"/>
              </a:ext>
            </a:extLst>
          </p:cNvPr>
          <p:cNvSpPr/>
          <p:nvPr/>
        </p:nvSpPr>
        <p:spPr>
          <a:xfrm rot="5400000">
            <a:off x="8900507" y="4900107"/>
            <a:ext cx="178008" cy="2441613"/>
          </a:xfrm>
          <a:prstGeom prst="rightBrace">
            <a:avLst>
              <a:gd name="adj1" fmla="val 18577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1" name="TextBox 5620">
            <a:extLst>
              <a:ext uri="{FF2B5EF4-FFF2-40B4-BE49-F238E27FC236}">
                <a16:creationId xmlns:a16="http://schemas.microsoft.com/office/drawing/2014/main" id="{D655906F-C52B-1B91-9B3A-D8D9752FE548}"/>
              </a:ext>
            </a:extLst>
          </p:cNvPr>
          <p:cNvSpPr txBox="1"/>
          <p:nvPr/>
        </p:nvSpPr>
        <p:spPr>
          <a:xfrm>
            <a:off x="7858343" y="1516909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Training time</a:t>
            </a:r>
            <a:endParaRPr lang="en-US" sz="2400" b="1" dirty="0"/>
          </a:p>
        </p:txBody>
      </p:sp>
      <p:sp>
        <p:nvSpPr>
          <p:cNvPr id="5679" name="Down Arrow 5678">
            <a:extLst>
              <a:ext uri="{FF2B5EF4-FFF2-40B4-BE49-F238E27FC236}">
                <a16:creationId xmlns:a16="http://schemas.microsoft.com/office/drawing/2014/main" id="{BFD81F2D-6EFB-A859-0148-1CE763532E74}"/>
              </a:ext>
            </a:extLst>
          </p:cNvPr>
          <p:cNvSpPr/>
          <p:nvPr/>
        </p:nvSpPr>
        <p:spPr>
          <a:xfrm rot="10800000">
            <a:off x="3663453" y="3441703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680" name="Group 5679">
            <a:extLst>
              <a:ext uri="{FF2B5EF4-FFF2-40B4-BE49-F238E27FC236}">
                <a16:creationId xmlns:a16="http://schemas.microsoft.com/office/drawing/2014/main" id="{E2834AA7-76B9-7641-D3F6-D624D7650F03}"/>
              </a:ext>
            </a:extLst>
          </p:cNvPr>
          <p:cNvGrpSpPr>
            <a:grpSpLocks noChangeAspect="1"/>
          </p:cNvGrpSpPr>
          <p:nvPr/>
        </p:nvGrpSpPr>
        <p:grpSpPr>
          <a:xfrm>
            <a:off x="3595084" y="3276081"/>
            <a:ext cx="293997" cy="104174"/>
            <a:chOff x="7316835" y="187982"/>
            <a:chExt cx="1490982" cy="528309"/>
          </a:xfrm>
        </p:grpSpPr>
        <p:grpSp>
          <p:nvGrpSpPr>
            <p:cNvPr id="5681" name="object 14">
              <a:extLst>
                <a:ext uri="{FF2B5EF4-FFF2-40B4-BE49-F238E27FC236}">
                  <a16:creationId xmlns:a16="http://schemas.microsoft.com/office/drawing/2014/main" id="{7756AAAA-D5B3-1507-5040-FA711AB2F8CB}"/>
                </a:ext>
              </a:extLst>
            </p:cNvPr>
            <p:cNvGrpSpPr/>
            <p:nvPr/>
          </p:nvGrpSpPr>
          <p:grpSpPr>
            <a:xfrm>
              <a:off x="7316835" y="187982"/>
              <a:ext cx="1490982" cy="527960"/>
              <a:chOff x="8191551" y="1012122"/>
              <a:chExt cx="2100580" cy="710501"/>
            </a:xfrm>
          </p:grpSpPr>
          <p:sp>
            <p:nvSpPr>
              <p:cNvPr id="5685" name="object 16">
                <a:extLst>
                  <a:ext uri="{FF2B5EF4-FFF2-40B4-BE49-F238E27FC236}">
                    <a16:creationId xmlns:a16="http://schemas.microsoft.com/office/drawing/2014/main" id="{8B702378-E48A-7E3E-695B-FE2AE2B34CB1}"/>
                  </a:ext>
                </a:extLst>
              </p:cNvPr>
              <p:cNvSpPr/>
              <p:nvPr/>
            </p:nvSpPr>
            <p:spPr>
              <a:xfrm>
                <a:off x="8191551" y="1711511"/>
                <a:ext cx="336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6550">
                    <a:moveTo>
                      <a:pt x="0" y="0"/>
                    </a:moveTo>
                    <a:lnTo>
                      <a:pt x="336506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6" name="object 17">
                <a:extLst>
                  <a:ext uri="{FF2B5EF4-FFF2-40B4-BE49-F238E27FC236}">
                    <a16:creationId xmlns:a16="http://schemas.microsoft.com/office/drawing/2014/main" id="{E07F274D-10E3-7A2A-BD7B-EA9972DC2A43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4794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79425">
                    <a:moveTo>
                      <a:pt x="0" y="0"/>
                    </a:moveTo>
                    <a:lnTo>
                      <a:pt x="479204" y="0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7" name="object 18">
                <a:extLst>
                  <a:ext uri="{FF2B5EF4-FFF2-40B4-BE49-F238E27FC236}">
                    <a16:creationId xmlns:a16="http://schemas.microsoft.com/office/drawing/2014/main" id="{DF37431F-C902-6F72-1955-539F3B218B89}"/>
                  </a:ext>
                </a:extLst>
              </p:cNvPr>
              <p:cNvSpPr/>
              <p:nvPr/>
            </p:nvSpPr>
            <p:spPr>
              <a:xfrm>
                <a:off x="10098210" y="1711511"/>
                <a:ext cx="193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675">
                    <a:moveTo>
                      <a:pt x="0" y="0"/>
                    </a:moveTo>
                    <a:lnTo>
                      <a:pt x="193322" y="0"/>
                    </a:lnTo>
                  </a:path>
                </a:pathLst>
              </a:custGeom>
              <a:ln w="12576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8" name="object 19">
                <a:extLst>
                  <a:ext uri="{FF2B5EF4-FFF2-40B4-BE49-F238E27FC236}">
                    <a16:creationId xmlns:a16="http://schemas.microsoft.com/office/drawing/2014/main" id="{C6114F4F-0A25-0D07-E4D7-1CF3619A3E6F}"/>
                  </a:ext>
                </a:extLst>
              </p:cNvPr>
              <p:cNvSpPr/>
              <p:nvPr/>
            </p:nvSpPr>
            <p:spPr>
              <a:xfrm>
                <a:off x="8191551" y="1716273"/>
                <a:ext cx="210058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 h="6350">
                    <a:moveTo>
                      <a:pt x="1906658" y="0"/>
                    </a:moveTo>
                    <a:lnTo>
                      <a:pt x="2099981" y="0"/>
                    </a:lnTo>
                  </a:path>
                  <a:path w="2100579" h="6350">
                    <a:moveTo>
                      <a:pt x="0" y="6288"/>
                    </a:moveTo>
                    <a:lnTo>
                      <a:pt x="2099981" y="6288"/>
                    </a:lnTo>
                  </a:path>
                </a:pathLst>
              </a:custGeom>
              <a:ln w="317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9" name="object 20">
                <a:extLst>
                  <a:ext uri="{FF2B5EF4-FFF2-40B4-BE49-F238E27FC236}">
                    <a16:creationId xmlns:a16="http://schemas.microsoft.com/office/drawing/2014/main" id="{A815D8BD-E307-178D-D83B-94C0F7F11B52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0" name="object 21">
                <a:extLst>
                  <a:ext uri="{FF2B5EF4-FFF2-40B4-BE49-F238E27FC236}">
                    <a16:creationId xmlns:a16="http://schemas.microsoft.com/office/drawing/2014/main" id="{B868AA11-FCE5-FC54-5C7C-F65420443AEF}"/>
                  </a:ext>
                </a:extLst>
              </p:cNvPr>
              <p:cNvSpPr/>
              <p:nvPr/>
            </p:nvSpPr>
            <p:spPr>
              <a:xfrm>
                <a:off x="8385361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1" name="object 22">
                <a:extLst>
                  <a:ext uri="{FF2B5EF4-FFF2-40B4-BE49-F238E27FC236}">
                    <a16:creationId xmlns:a16="http://schemas.microsoft.com/office/drawing/2014/main" id="{EDBB5980-3A74-8709-4AAB-39F0CF008FEB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6"/>
                    </a:lnTo>
                    <a:lnTo>
                      <a:pt x="143183" y="70567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2" name="object 23">
                <a:extLst>
                  <a:ext uri="{FF2B5EF4-FFF2-40B4-BE49-F238E27FC236}">
                    <a16:creationId xmlns:a16="http://schemas.microsoft.com/office/drawing/2014/main" id="{00604B8A-5A38-7033-059B-8F00BEC6D772}"/>
                  </a:ext>
                </a:extLst>
              </p:cNvPr>
              <p:cNvSpPr/>
              <p:nvPr/>
            </p:nvSpPr>
            <p:spPr>
              <a:xfrm>
                <a:off x="8528058" y="1012122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3" name="object 24">
                <a:extLst>
                  <a:ext uri="{FF2B5EF4-FFF2-40B4-BE49-F238E27FC236}">
                    <a16:creationId xmlns:a16="http://schemas.microsoft.com/office/drawing/2014/main" id="{D513DE3C-316C-1FE8-BD96-069A2C0039D2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5"/>
                    </a:lnTo>
                    <a:lnTo>
                      <a:pt x="143183" y="18245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4" name="object 25">
                <a:extLst>
                  <a:ext uri="{FF2B5EF4-FFF2-40B4-BE49-F238E27FC236}">
                    <a16:creationId xmlns:a16="http://schemas.microsoft.com/office/drawing/2014/main" id="{F9C90A85-A279-E6C1-6D3B-39CA8CB74C1A}"/>
                  </a:ext>
                </a:extLst>
              </p:cNvPr>
              <p:cNvSpPr/>
              <p:nvPr/>
            </p:nvSpPr>
            <p:spPr>
              <a:xfrm>
                <a:off x="8670755" y="1535343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5" name="object 26">
                <a:extLst>
                  <a:ext uri="{FF2B5EF4-FFF2-40B4-BE49-F238E27FC236}">
                    <a16:creationId xmlns:a16="http://schemas.microsoft.com/office/drawing/2014/main" id="{F6BCD703-CF29-75B5-1446-1A9B772ECD76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6" name="object 27">
                <a:extLst>
                  <a:ext uri="{FF2B5EF4-FFF2-40B4-BE49-F238E27FC236}">
                    <a16:creationId xmlns:a16="http://schemas.microsoft.com/office/drawing/2014/main" id="{1E0CE015-E3D8-CF78-1A2C-7B2E9A36DBF4}"/>
                  </a:ext>
                </a:extLst>
              </p:cNvPr>
              <p:cNvSpPr/>
              <p:nvPr/>
            </p:nvSpPr>
            <p:spPr>
              <a:xfrm>
                <a:off x="8813451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7" name="object 28">
                <a:extLst>
                  <a:ext uri="{FF2B5EF4-FFF2-40B4-BE49-F238E27FC236}">
                    <a16:creationId xmlns:a16="http://schemas.microsoft.com/office/drawing/2014/main" id="{68099EA6-F019-3D4F-A5BD-E626640CC83D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8" name="object 29">
                <a:extLst>
                  <a:ext uri="{FF2B5EF4-FFF2-40B4-BE49-F238E27FC236}">
                    <a16:creationId xmlns:a16="http://schemas.microsoft.com/office/drawing/2014/main" id="{8A5BA923-0FF9-143B-1ABC-F6024F8CE649}"/>
                  </a:ext>
                </a:extLst>
              </p:cNvPr>
              <p:cNvSpPr/>
              <p:nvPr/>
            </p:nvSpPr>
            <p:spPr>
              <a:xfrm>
                <a:off x="8956149" y="163030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99" name="object 30">
                <a:extLst>
                  <a:ext uri="{FF2B5EF4-FFF2-40B4-BE49-F238E27FC236}">
                    <a16:creationId xmlns:a16="http://schemas.microsoft.com/office/drawing/2014/main" id="{6543DC7C-B5B0-AF91-2207-DBE5196FD988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0" name="object 31">
                <a:extLst>
                  <a:ext uri="{FF2B5EF4-FFF2-40B4-BE49-F238E27FC236}">
                    <a16:creationId xmlns:a16="http://schemas.microsoft.com/office/drawing/2014/main" id="{45BAFC0A-3A2F-10B5-33D2-2B36D8CD1A8B}"/>
                  </a:ext>
                </a:extLst>
              </p:cNvPr>
              <p:cNvSpPr/>
              <p:nvPr/>
            </p:nvSpPr>
            <p:spPr>
              <a:xfrm>
                <a:off x="9098846" y="140326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1" name="object 32">
                <a:extLst>
                  <a:ext uri="{FF2B5EF4-FFF2-40B4-BE49-F238E27FC236}">
                    <a16:creationId xmlns:a16="http://schemas.microsoft.com/office/drawing/2014/main" id="{0E2472D8-3688-0BAA-319E-2B344CCC08E6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2" name="object 33">
                <a:extLst>
                  <a:ext uri="{FF2B5EF4-FFF2-40B4-BE49-F238E27FC236}">
                    <a16:creationId xmlns:a16="http://schemas.microsoft.com/office/drawing/2014/main" id="{C4A75E0C-72BE-E036-95A7-5F98465850BF}"/>
                  </a:ext>
                </a:extLst>
              </p:cNvPr>
              <p:cNvSpPr/>
              <p:nvPr/>
            </p:nvSpPr>
            <p:spPr>
              <a:xfrm>
                <a:off x="9241543" y="1427091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3" name="object 34">
                <a:extLst>
                  <a:ext uri="{FF2B5EF4-FFF2-40B4-BE49-F238E27FC236}">
                    <a16:creationId xmlns:a16="http://schemas.microsoft.com/office/drawing/2014/main" id="{DAC6958A-984A-9681-0264-54B12E290532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4" name="object 35">
                <a:extLst>
                  <a:ext uri="{FF2B5EF4-FFF2-40B4-BE49-F238E27FC236}">
                    <a16:creationId xmlns:a16="http://schemas.microsoft.com/office/drawing/2014/main" id="{F5BE27FA-7902-6343-BFAF-F208E1B86B49}"/>
                  </a:ext>
                </a:extLst>
              </p:cNvPr>
              <p:cNvSpPr/>
              <p:nvPr/>
            </p:nvSpPr>
            <p:spPr>
              <a:xfrm>
                <a:off x="9526937" y="1585520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5" name="object 36">
                <a:extLst>
                  <a:ext uri="{FF2B5EF4-FFF2-40B4-BE49-F238E27FC236}">
                    <a16:creationId xmlns:a16="http://schemas.microsoft.com/office/drawing/2014/main" id="{F39B0C4B-1994-C988-CAD1-E10FB983819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30"/>
                    </a:lnTo>
                    <a:lnTo>
                      <a:pt x="143183" y="2381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6" name="object 37">
                <a:extLst>
                  <a:ext uri="{FF2B5EF4-FFF2-40B4-BE49-F238E27FC236}">
                    <a16:creationId xmlns:a16="http://schemas.microsoft.com/office/drawing/2014/main" id="{15FD15A8-8ED3-6291-E392-BAA660782EBB}"/>
                  </a:ext>
                </a:extLst>
              </p:cNvPr>
              <p:cNvSpPr/>
              <p:nvPr/>
            </p:nvSpPr>
            <p:spPr>
              <a:xfrm>
                <a:off x="9669635" y="1479669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7" name="object 38">
                <a:extLst>
                  <a:ext uri="{FF2B5EF4-FFF2-40B4-BE49-F238E27FC236}">
                    <a16:creationId xmlns:a16="http://schemas.microsoft.com/office/drawing/2014/main" id="{770B686F-6120-2857-B9DB-7E9415423DDE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3" y="32153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8" name="object 39">
                <a:extLst>
                  <a:ext uri="{FF2B5EF4-FFF2-40B4-BE49-F238E27FC236}">
                    <a16:creationId xmlns:a16="http://schemas.microsoft.com/office/drawing/2014/main" id="{8A5C1E34-449A-572D-42DA-746B60070C61}"/>
                  </a:ext>
                </a:extLst>
              </p:cNvPr>
              <p:cNvSpPr/>
              <p:nvPr/>
            </p:nvSpPr>
            <p:spPr>
              <a:xfrm>
                <a:off x="9812332" y="1396268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09" name="object 40">
                <a:extLst>
                  <a:ext uri="{FF2B5EF4-FFF2-40B4-BE49-F238E27FC236}">
                    <a16:creationId xmlns:a16="http://schemas.microsoft.com/office/drawing/2014/main" id="{A3A8F13B-F958-9A64-D079-36C9C42F1A30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1"/>
                    </a:lnTo>
                    <a:lnTo>
                      <a:pt x="143183" y="55911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710" name="object 41">
                <a:extLst>
                  <a:ext uri="{FF2B5EF4-FFF2-40B4-BE49-F238E27FC236}">
                    <a16:creationId xmlns:a16="http://schemas.microsoft.com/office/drawing/2014/main" id="{70EC646C-8105-7B9E-22B3-BD4C3CCC69CB}"/>
                  </a:ext>
                </a:extLst>
              </p:cNvPr>
              <p:cNvSpPr/>
              <p:nvPr/>
            </p:nvSpPr>
            <p:spPr>
              <a:xfrm>
                <a:off x="9955026" y="1661887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  <p:grpSp>
          <p:nvGrpSpPr>
            <p:cNvPr id="5682" name="object 129">
              <a:extLst>
                <a:ext uri="{FF2B5EF4-FFF2-40B4-BE49-F238E27FC236}">
                  <a16:creationId xmlns:a16="http://schemas.microsoft.com/office/drawing/2014/main" id="{A8D607F5-9D4B-A993-8B34-C0BA7D3D258D}"/>
                </a:ext>
              </a:extLst>
            </p:cNvPr>
            <p:cNvGrpSpPr/>
            <p:nvPr/>
          </p:nvGrpSpPr>
          <p:grpSpPr>
            <a:xfrm>
              <a:off x="8160019" y="315212"/>
              <a:ext cx="108623" cy="401079"/>
              <a:chOff x="9379478" y="1183342"/>
              <a:chExt cx="153035" cy="539750"/>
            </a:xfrm>
          </p:grpSpPr>
          <p:sp>
            <p:nvSpPr>
              <p:cNvPr id="5683" name="object 130">
                <a:extLst>
                  <a:ext uri="{FF2B5EF4-FFF2-40B4-BE49-F238E27FC236}">
                    <a16:creationId xmlns:a16="http://schemas.microsoft.com/office/drawing/2014/main" id="{6D0CEEC1-29C9-1B28-5AB9-5EF16B5D60BE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5684" name="object 131">
                <a:extLst>
                  <a:ext uri="{FF2B5EF4-FFF2-40B4-BE49-F238E27FC236}">
                    <a16:creationId xmlns:a16="http://schemas.microsoft.com/office/drawing/2014/main" id="{20920F9F-200E-F6ED-7987-ED8DCC8C6467}"/>
                  </a:ext>
                </a:extLst>
              </p:cNvPr>
              <p:cNvSpPr/>
              <p:nvPr/>
            </p:nvSpPr>
            <p:spPr>
              <a:xfrm>
                <a:off x="9384241" y="1188105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 sz="1050" dirty="0">
                  <a:latin typeface="Corbel" panose="020B0503020204020204" pitchFamily="34" charset="0"/>
                </a:endParaRPr>
              </a:p>
            </p:txBody>
          </p:sp>
        </p:grpSp>
      </p:grpSp>
      <p:sp>
        <p:nvSpPr>
          <p:cNvPr id="5711" name="Down Arrow 5710">
            <a:extLst>
              <a:ext uri="{FF2B5EF4-FFF2-40B4-BE49-F238E27FC236}">
                <a16:creationId xmlns:a16="http://schemas.microsoft.com/office/drawing/2014/main" id="{B73CB604-7C11-B435-5181-FDBC3888C069}"/>
              </a:ext>
            </a:extLst>
          </p:cNvPr>
          <p:cNvSpPr/>
          <p:nvPr/>
        </p:nvSpPr>
        <p:spPr>
          <a:xfrm rot="10800000">
            <a:off x="2601004" y="5035041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12" name="Down Arrow 5711">
            <a:extLst>
              <a:ext uri="{FF2B5EF4-FFF2-40B4-BE49-F238E27FC236}">
                <a16:creationId xmlns:a16="http://schemas.microsoft.com/office/drawing/2014/main" id="{01CB9E97-E26F-F679-4A4E-EBB7BB83D57E}"/>
              </a:ext>
            </a:extLst>
          </p:cNvPr>
          <p:cNvSpPr/>
          <p:nvPr/>
        </p:nvSpPr>
        <p:spPr>
          <a:xfrm rot="10800000">
            <a:off x="2946150" y="5035769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13" name="Down Arrow 5712">
            <a:extLst>
              <a:ext uri="{FF2B5EF4-FFF2-40B4-BE49-F238E27FC236}">
                <a16:creationId xmlns:a16="http://schemas.microsoft.com/office/drawing/2014/main" id="{269C51A7-8271-EE40-84D9-45CB1AA96AA3}"/>
              </a:ext>
            </a:extLst>
          </p:cNvPr>
          <p:cNvSpPr/>
          <p:nvPr/>
        </p:nvSpPr>
        <p:spPr>
          <a:xfrm rot="10800000">
            <a:off x="3288556" y="5033789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14" name="Rectangle 5713">
            <a:extLst>
              <a:ext uri="{FF2B5EF4-FFF2-40B4-BE49-F238E27FC236}">
                <a16:creationId xmlns:a16="http://schemas.microsoft.com/office/drawing/2014/main" id="{E176972A-959A-6ADB-9FC3-621FE5DB49F2}"/>
              </a:ext>
            </a:extLst>
          </p:cNvPr>
          <p:cNvSpPr/>
          <p:nvPr/>
        </p:nvSpPr>
        <p:spPr>
          <a:xfrm>
            <a:off x="2498820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715" name="Rectangle 5714">
            <a:extLst>
              <a:ext uri="{FF2B5EF4-FFF2-40B4-BE49-F238E27FC236}">
                <a16:creationId xmlns:a16="http://schemas.microsoft.com/office/drawing/2014/main" id="{97ECF4CE-F14F-8959-A9A2-C47F65709359}"/>
              </a:ext>
            </a:extLst>
          </p:cNvPr>
          <p:cNvSpPr/>
          <p:nvPr/>
        </p:nvSpPr>
        <p:spPr>
          <a:xfrm>
            <a:off x="2854955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716" name="Rectangle 5715">
            <a:extLst>
              <a:ext uri="{FF2B5EF4-FFF2-40B4-BE49-F238E27FC236}">
                <a16:creationId xmlns:a16="http://schemas.microsoft.com/office/drawing/2014/main" id="{FF219459-D75C-B83B-854E-FD78438BFA75}"/>
              </a:ext>
            </a:extLst>
          </p:cNvPr>
          <p:cNvSpPr/>
          <p:nvPr/>
        </p:nvSpPr>
        <p:spPr>
          <a:xfrm>
            <a:off x="3211090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cxnSp>
        <p:nvCxnSpPr>
          <p:cNvPr id="5719" name="Curved Connector 5718">
            <a:extLst>
              <a:ext uri="{FF2B5EF4-FFF2-40B4-BE49-F238E27FC236}">
                <a16:creationId xmlns:a16="http://schemas.microsoft.com/office/drawing/2014/main" id="{EB5DA18C-442C-92EC-E68C-D45C015FC13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61483" y="3055609"/>
            <a:ext cx="244943" cy="154659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20" name="TextBox 5719">
            <a:extLst>
              <a:ext uri="{FF2B5EF4-FFF2-40B4-BE49-F238E27FC236}">
                <a16:creationId xmlns:a16="http://schemas.microsoft.com/office/drawing/2014/main" id="{FE5C6F60-C258-666C-2FF9-FEB56A0743B4}"/>
              </a:ext>
            </a:extLst>
          </p:cNvPr>
          <p:cNvSpPr txBox="1"/>
          <p:nvPr/>
        </p:nvSpPr>
        <p:spPr>
          <a:xfrm>
            <a:off x="2784634" y="2332863"/>
            <a:ext cx="2376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auto-regressive decoding</a:t>
            </a:r>
          </a:p>
        </p:txBody>
      </p:sp>
      <p:grpSp>
        <p:nvGrpSpPr>
          <p:cNvPr id="5724" name="Group 5723">
            <a:extLst>
              <a:ext uri="{FF2B5EF4-FFF2-40B4-BE49-F238E27FC236}">
                <a16:creationId xmlns:a16="http://schemas.microsoft.com/office/drawing/2014/main" id="{45827ABF-3F7F-429F-851F-686CF894A6EE}"/>
              </a:ext>
            </a:extLst>
          </p:cNvPr>
          <p:cNvGrpSpPr/>
          <p:nvPr/>
        </p:nvGrpSpPr>
        <p:grpSpPr>
          <a:xfrm>
            <a:off x="1761701" y="3789387"/>
            <a:ext cx="2527636" cy="1189537"/>
            <a:chOff x="1972348" y="3789387"/>
            <a:chExt cx="2527636" cy="1189537"/>
          </a:xfrm>
        </p:grpSpPr>
        <p:sp>
          <p:nvSpPr>
            <p:cNvPr id="5678" name="Rounded Rectangle 5677">
              <a:extLst>
                <a:ext uri="{FF2B5EF4-FFF2-40B4-BE49-F238E27FC236}">
                  <a16:creationId xmlns:a16="http://schemas.microsoft.com/office/drawing/2014/main" id="{ABB89725-19DC-0ED1-D55D-1CC76E45403E}"/>
                </a:ext>
              </a:extLst>
            </p:cNvPr>
            <p:cNvSpPr/>
            <p:nvPr/>
          </p:nvSpPr>
          <p:spPr>
            <a:xfrm>
              <a:off x="1972348" y="3789387"/>
              <a:ext cx="2527636" cy="118549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latin typeface="Avenir Book" panose="02000503020000020003" pitchFamily="2" charset="0"/>
                </a:rPr>
                <a:t>LM</a:t>
              </a:r>
            </a:p>
          </p:txBody>
        </p:sp>
        <p:sp>
          <p:nvSpPr>
            <p:cNvPr id="5721" name="TextBox 5720">
              <a:extLst>
                <a:ext uri="{FF2B5EF4-FFF2-40B4-BE49-F238E27FC236}">
                  <a16:creationId xmlns:a16="http://schemas.microsoft.com/office/drawing/2014/main" id="{6D6BE3C7-B100-E410-70AC-613E8DB87FF2}"/>
                </a:ext>
              </a:extLst>
            </p:cNvPr>
            <p:cNvSpPr txBox="1"/>
            <p:nvPr/>
          </p:nvSpPr>
          <p:spPr>
            <a:xfrm>
              <a:off x="2799131" y="4609592"/>
              <a:ext cx="9966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trained</a:t>
              </a:r>
            </a:p>
          </p:txBody>
        </p:sp>
      </p:grpSp>
      <p:sp>
        <p:nvSpPr>
          <p:cNvPr id="5722" name="TextBox 5721">
            <a:extLst>
              <a:ext uri="{FF2B5EF4-FFF2-40B4-BE49-F238E27FC236}">
                <a16:creationId xmlns:a16="http://schemas.microsoft.com/office/drawing/2014/main" id="{0816A1D9-BFFC-7A60-A904-763C37D9FF7E}"/>
              </a:ext>
            </a:extLst>
          </p:cNvPr>
          <p:cNvSpPr txBox="1"/>
          <p:nvPr/>
        </p:nvSpPr>
        <p:spPr>
          <a:xfrm>
            <a:off x="1790982" y="1509104"/>
            <a:ext cx="252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Test time</a:t>
            </a:r>
            <a:endParaRPr lang="en-US" sz="2400" b="1" dirty="0"/>
          </a:p>
        </p:txBody>
      </p:sp>
      <p:sp>
        <p:nvSpPr>
          <p:cNvPr id="5723" name="Down Arrow 5722">
            <a:extLst>
              <a:ext uri="{FF2B5EF4-FFF2-40B4-BE49-F238E27FC236}">
                <a16:creationId xmlns:a16="http://schemas.microsoft.com/office/drawing/2014/main" id="{87E7E0EA-53C5-A7A2-D6A3-DAB8965475E5}"/>
              </a:ext>
            </a:extLst>
          </p:cNvPr>
          <p:cNvSpPr/>
          <p:nvPr/>
        </p:nvSpPr>
        <p:spPr>
          <a:xfrm rot="5400000">
            <a:off x="5498837" y="4109882"/>
            <a:ext cx="961428" cy="5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/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the window available during training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FAC64-D9F5-B67D-45BB-143FF3516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971" y="6194720"/>
                <a:ext cx="2946826" cy="646331"/>
              </a:xfrm>
              <a:prstGeom prst="rect">
                <a:avLst/>
              </a:prstGeom>
              <a:blipFill>
                <a:blip r:embed="rId8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6D913250-23FB-14D4-3261-65DD5EB99FC6}"/>
              </a:ext>
            </a:extLst>
          </p:cNvPr>
          <p:cNvSpPr/>
          <p:nvPr/>
        </p:nvSpPr>
        <p:spPr>
          <a:xfrm rot="5400000">
            <a:off x="2933857" y="5273233"/>
            <a:ext cx="178008" cy="1721529"/>
          </a:xfrm>
          <a:prstGeom prst="rightBrace">
            <a:avLst>
              <a:gd name="adj1" fmla="val 18577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E9FC50-D701-30E7-B729-03371DF07622}"/>
                  </a:ext>
                </a:extLst>
              </p:cNvPr>
              <p:cNvSpPr txBox="1"/>
              <p:nvPr/>
            </p:nvSpPr>
            <p:spPr>
              <a:xfrm>
                <a:off x="1053462" y="6170246"/>
                <a:ext cx="39386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  <m:t>test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the window</a:t>
                </a:r>
                <a:b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</a:br>
                <a:r>
                  <a:rPr lang="en-US" sz="1800" dirty="0">
                    <a:effectLst/>
                    <a:latin typeface="Arial" panose="020B0604020202020204" pitchFamily="34" charset="0"/>
                    <a:ea typeface="Apple Symbols" panose="02000000000000000000" pitchFamily="2" charset="-79"/>
                    <a:cs typeface="Arial" panose="020B0604020202020204" pitchFamily="34" charset="0"/>
                  </a:rPr>
                  <a:t> during the test time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E9FC50-D701-30E7-B729-03371DF0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62" y="6170246"/>
                <a:ext cx="3938680" cy="646331"/>
              </a:xfrm>
              <a:prstGeom prst="rect">
                <a:avLst/>
              </a:prstGeom>
              <a:blipFill>
                <a:blip r:embed="rId9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CCD1D13-EC08-31E9-C38C-6FAEA033256B}"/>
              </a:ext>
            </a:extLst>
          </p:cNvPr>
          <p:cNvSpPr/>
          <p:nvPr/>
        </p:nvSpPr>
        <p:spPr>
          <a:xfrm>
            <a:off x="3565128" y="5375468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228A8678-4FB9-11FE-AC37-26F2630EBBBD}"/>
              </a:ext>
            </a:extLst>
          </p:cNvPr>
          <p:cNvSpPr/>
          <p:nvPr/>
        </p:nvSpPr>
        <p:spPr>
          <a:xfrm rot="10800000">
            <a:off x="3639596" y="5036506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2A876F3-5534-3CD8-DE79-F3119551C32A}"/>
              </a:ext>
            </a:extLst>
          </p:cNvPr>
          <p:cNvSpPr/>
          <p:nvPr/>
        </p:nvSpPr>
        <p:spPr>
          <a:xfrm rot="10800000">
            <a:off x="2239948" y="5034327"/>
            <a:ext cx="163629" cy="3022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BA4D5C-6A24-2601-0374-2B3BAD7EE935}"/>
              </a:ext>
            </a:extLst>
          </p:cNvPr>
          <p:cNvSpPr/>
          <p:nvPr/>
        </p:nvSpPr>
        <p:spPr>
          <a:xfrm>
            <a:off x="2142224" y="5374754"/>
            <a:ext cx="356135" cy="307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384812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0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08;p33" title="context_scaling_plot.png">
            <a:extLst>
              <a:ext uri="{FF2B5EF4-FFF2-40B4-BE49-F238E27FC236}">
                <a16:creationId xmlns:a16="http://schemas.microsoft.com/office/drawing/2014/main" id="{19A18160-0C59-674A-D4A5-9ABC2DEE8E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65917" t="13710"/>
          <a:stretch>
            <a:fillRect/>
          </a:stretch>
        </p:blipFill>
        <p:spPr>
          <a:xfrm>
            <a:off x="2956725" y="1307418"/>
            <a:ext cx="5953430" cy="50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A98132-03E3-C733-F9FF-8BF730B3C6A7}"/>
              </a:ext>
            </a:extLst>
          </p:cNvPr>
          <p:cNvSpPr txBox="1"/>
          <p:nvPr/>
        </p:nvSpPr>
        <p:spPr>
          <a:xfrm>
            <a:off x="134616" y="6475724"/>
            <a:ext cx="11884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59BE431-E252-F8E3-441E-CDF3826C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23EB48-50B9-1CA6-085A-C2A8AB5DC954}"/>
              </a:ext>
            </a:extLst>
          </p:cNvPr>
          <p:cNvSpPr/>
          <p:nvPr/>
        </p:nvSpPr>
        <p:spPr>
          <a:xfrm>
            <a:off x="4206240" y="2042160"/>
            <a:ext cx="4673435" cy="3413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622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1">
    <p:spTree>
      <p:nvGrpSpPr>
        <p:cNvPr id="1" name="Shape 206">
          <a:extLst>
            <a:ext uri="{FF2B5EF4-FFF2-40B4-BE49-F238E27FC236}">
              <a16:creationId xmlns:a16="http://schemas.microsoft.com/office/drawing/2014/main" id="{4EEF1158-83D4-50C4-F43B-B3873D83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08;p33" title="context_scaling_plot.png">
            <a:extLst>
              <a:ext uri="{FF2B5EF4-FFF2-40B4-BE49-F238E27FC236}">
                <a16:creationId xmlns:a16="http://schemas.microsoft.com/office/drawing/2014/main" id="{46CCCBEA-6B65-1117-7F3D-7DEFC26EA6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65917" t="13710"/>
          <a:stretch>
            <a:fillRect/>
          </a:stretch>
        </p:blipFill>
        <p:spPr>
          <a:xfrm>
            <a:off x="2956725" y="1307418"/>
            <a:ext cx="5953430" cy="50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C2086C-FEB5-3EE3-01F0-AF2F89C8399E}"/>
              </a:ext>
            </a:extLst>
          </p:cNvPr>
          <p:cNvSpPr txBox="1"/>
          <p:nvPr/>
        </p:nvSpPr>
        <p:spPr>
          <a:xfrm>
            <a:off x="134616" y="6475724"/>
            <a:ext cx="11884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6112351-C78F-767D-445F-C0B9AD91B09E}"/>
              </a:ext>
            </a:extLst>
          </p:cNvPr>
          <p:cNvSpPr/>
          <p:nvPr/>
        </p:nvSpPr>
        <p:spPr>
          <a:xfrm>
            <a:off x="4246880" y="2560320"/>
            <a:ext cx="4724400" cy="2919142"/>
          </a:xfrm>
          <a:custGeom>
            <a:avLst/>
            <a:gdLst>
              <a:gd name="csX0" fmla="*/ 0 w 4724400"/>
              <a:gd name="csY0" fmla="*/ 426720 h 2794000"/>
              <a:gd name="csX1" fmla="*/ 1452880 w 4724400"/>
              <a:gd name="csY1" fmla="*/ 0 h 2794000"/>
              <a:gd name="csX2" fmla="*/ 2245360 w 4724400"/>
              <a:gd name="csY2" fmla="*/ 772160 h 2794000"/>
              <a:gd name="csX3" fmla="*/ 2987040 w 4724400"/>
              <a:gd name="csY3" fmla="*/ 883920 h 2794000"/>
              <a:gd name="csX4" fmla="*/ 4724400 w 4724400"/>
              <a:gd name="csY4" fmla="*/ 1696720 h 2794000"/>
              <a:gd name="csX5" fmla="*/ 4693920 w 4724400"/>
              <a:gd name="csY5" fmla="*/ 2794000 h 2794000"/>
              <a:gd name="csX6" fmla="*/ 0 w 4724400"/>
              <a:gd name="csY6" fmla="*/ 2692400 h 2794000"/>
              <a:gd name="csX7" fmla="*/ 0 w 4724400"/>
              <a:gd name="csY7" fmla="*/ 426720 h 279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24400" h="2794000">
                <a:moveTo>
                  <a:pt x="0" y="426720"/>
                </a:moveTo>
                <a:lnTo>
                  <a:pt x="1452880" y="0"/>
                </a:lnTo>
                <a:lnTo>
                  <a:pt x="2245360" y="772160"/>
                </a:lnTo>
                <a:lnTo>
                  <a:pt x="2987040" y="883920"/>
                </a:lnTo>
                <a:lnTo>
                  <a:pt x="4724400" y="1696720"/>
                </a:lnTo>
                <a:lnTo>
                  <a:pt x="4693920" y="2794000"/>
                </a:lnTo>
                <a:lnTo>
                  <a:pt x="0" y="2692400"/>
                </a:lnTo>
                <a:cubicBezTo>
                  <a:pt x="3387" y="1940560"/>
                  <a:pt x="6773" y="1188720"/>
                  <a:pt x="0" y="42672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9507F5C-8569-6AB8-A692-252EF13D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</p:spTree>
    <p:extLst>
      <p:ext uri="{BB962C8B-B14F-4D97-AF65-F5344CB8AC3E}">
        <p14:creationId xmlns:p14="http://schemas.microsoft.com/office/powerpoint/2010/main" val="38309490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2">
    <p:spTree>
      <p:nvGrpSpPr>
        <p:cNvPr id="1" name="Shape 206">
          <a:extLst>
            <a:ext uri="{FF2B5EF4-FFF2-40B4-BE49-F238E27FC236}">
              <a16:creationId xmlns:a16="http://schemas.microsoft.com/office/drawing/2014/main" id="{4EEF1158-83D4-50C4-F43B-B3873D83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08;p33" title="context_scaling_plot.png">
            <a:extLst>
              <a:ext uri="{FF2B5EF4-FFF2-40B4-BE49-F238E27FC236}">
                <a16:creationId xmlns:a16="http://schemas.microsoft.com/office/drawing/2014/main" id="{46CCCBEA-6B65-1117-7F3D-7DEFC26EA6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65917" t="13710"/>
          <a:stretch>
            <a:fillRect/>
          </a:stretch>
        </p:blipFill>
        <p:spPr>
          <a:xfrm>
            <a:off x="2956725" y="1307418"/>
            <a:ext cx="5953430" cy="50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C2086C-FEB5-3EE3-01F0-AF2F89C8399E}"/>
              </a:ext>
            </a:extLst>
          </p:cNvPr>
          <p:cNvSpPr txBox="1"/>
          <p:nvPr/>
        </p:nvSpPr>
        <p:spPr>
          <a:xfrm>
            <a:off x="134616" y="6475724"/>
            <a:ext cx="11884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6112351-C78F-767D-445F-C0B9AD91B09E}"/>
              </a:ext>
            </a:extLst>
          </p:cNvPr>
          <p:cNvSpPr/>
          <p:nvPr/>
        </p:nvSpPr>
        <p:spPr>
          <a:xfrm>
            <a:off x="4246880" y="2560320"/>
            <a:ext cx="4724400" cy="2919142"/>
          </a:xfrm>
          <a:custGeom>
            <a:avLst/>
            <a:gdLst>
              <a:gd name="csX0" fmla="*/ 0 w 4724400"/>
              <a:gd name="csY0" fmla="*/ 426720 h 2794000"/>
              <a:gd name="csX1" fmla="*/ 1452880 w 4724400"/>
              <a:gd name="csY1" fmla="*/ 0 h 2794000"/>
              <a:gd name="csX2" fmla="*/ 2245360 w 4724400"/>
              <a:gd name="csY2" fmla="*/ 772160 h 2794000"/>
              <a:gd name="csX3" fmla="*/ 2987040 w 4724400"/>
              <a:gd name="csY3" fmla="*/ 883920 h 2794000"/>
              <a:gd name="csX4" fmla="*/ 4724400 w 4724400"/>
              <a:gd name="csY4" fmla="*/ 1696720 h 2794000"/>
              <a:gd name="csX5" fmla="*/ 4693920 w 4724400"/>
              <a:gd name="csY5" fmla="*/ 2794000 h 2794000"/>
              <a:gd name="csX6" fmla="*/ 0 w 4724400"/>
              <a:gd name="csY6" fmla="*/ 2692400 h 2794000"/>
              <a:gd name="csX7" fmla="*/ 0 w 4724400"/>
              <a:gd name="csY7" fmla="*/ 426720 h 279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24400" h="2794000">
                <a:moveTo>
                  <a:pt x="0" y="426720"/>
                </a:moveTo>
                <a:lnTo>
                  <a:pt x="1452880" y="0"/>
                </a:lnTo>
                <a:lnTo>
                  <a:pt x="2245360" y="772160"/>
                </a:lnTo>
                <a:lnTo>
                  <a:pt x="2987040" y="883920"/>
                </a:lnTo>
                <a:lnTo>
                  <a:pt x="4724400" y="1696720"/>
                </a:lnTo>
                <a:lnTo>
                  <a:pt x="4693920" y="2794000"/>
                </a:lnTo>
                <a:lnTo>
                  <a:pt x="0" y="2692400"/>
                </a:lnTo>
                <a:cubicBezTo>
                  <a:pt x="3387" y="1940560"/>
                  <a:pt x="6773" y="1188720"/>
                  <a:pt x="0" y="42672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57C791-CB05-C1F4-B65E-F0A9DFDA2D81}"/>
              </a:ext>
            </a:extLst>
          </p:cNvPr>
          <p:cNvCxnSpPr>
            <a:cxnSpLocks/>
          </p:cNvCxnSpPr>
          <p:nvPr/>
        </p:nvCxnSpPr>
        <p:spPr>
          <a:xfrm>
            <a:off x="5774252" y="1980719"/>
            <a:ext cx="0" cy="3485885"/>
          </a:xfrm>
          <a:prstGeom prst="line">
            <a:avLst/>
          </a:prstGeom>
          <a:ln w="57150">
            <a:solidFill>
              <a:srgbClr val="D6222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>
            <a:extLst>
              <a:ext uri="{FF2B5EF4-FFF2-40B4-BE49-F238E27FC236}">
                <a16:creationId xmlns:a16="http://schemas.microsoft.com/office/drawing/2014/main" id="{29507F5C-8569-6AB8-A692-252EF13D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144CB6CC-1726-AF59-D68E-8495E0E5A669}"/>
              </a:ext>
            </a:extLst>
          </p:cNvPr>
          <p:cNvSpPr/>
          <p:nvPr/>
        </p:nvSpPr>
        <p:spPr>
          <a:xfrm>
            <a:off x="6417749" y="4019891"/>
            <a:ext cx="4517576" cy="1238378"/>
          </a:xfrm>
          <a:prstGeom prst="wedgeRoundRectCallout">
            <a:avLst>
              <a:gd name="adj1" fmla="val -63427"/>
              <a:gd name="adj2" fmla="val -749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rgbClr val="D7222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Inflection point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beyond which training on longer context is hurting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21397457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3">
    <p:spTree>
      <p:nvGrpSpPr>
        <p:cNvPr id="1" name="Shape 206">
          <a:extLst>
            <a:ext uri="{FF2B5EF4-FFF2-40B4-BE49-F238E27FC236}">
              <a16:creationId xmlns:a16="http://schemas.microsoft.com/office/drawing/2014/main" id="{4EEF1158-83D4-50C4-F43B-B3873D83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08;p33" title="context_scaling_plot.png">
            <a:extLst>
              <a:ext uri="{FF2B5EF4-FFF2-40B4-BE49-F238E27FC236}">
                <a16:creationId xmlns:a16="http://schemas.microsoft.com/office/drawing/2014/main" id="{46CCCBEA-6B65-1117-7F3D-7DEFC26EA6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65917" t="13710"/>
          <a:stretch>
            <a:fillRect/>
          </a:stretch>
        </p:blipFill>
        <p:spPr>
          <a:xfrm>
            <a:off x="2956725" y="1307418"/>
            <a:ext cx="5953430" cy="50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C2086C-FEB5-3EE3-01F0-AF2F89C8399E}"/>
              </a:ext>
            </a:extLst>
          </p:cNvPr>
          <p:cNvSpPr txBox="1"/>
          <p:nvPr/>
        </p:nvSpPr>
        <p:spPr>
          <a:xfrm>
            <a:off x="134616" y="6475724"/>
            <a:ext cx="11884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6112351-C78F-767D-445F-C0B9AD91B09E}"/>
              </a:ext>
            </a:extLst>
          </p:cNvPr>
          <p:cNvSpPr/>
          <p:nvPr/>
        </p:nvSpPr>
        <p:spPr>
          <a:xfrm>
            <a:off x="4246880" y="2560320"/>
            <a:ext cx="4724400" cy="2919142"/>
          </a:xfrm>
          <a:custGeom>
            <a:avLst/>
            <a:gdLst>
              <a:gd name="csX0" fmla="*/ 0 w 4724400"/>
              <a:gd name="csY0" fmla="*/ 426720 h 2794000"/>
              <a:gd name="csX1" fmla="*/ 1452880 w 4724400"/>
              <a:gd name="csY1" fmla="*/ 0 h 2794000"/>
              <a:gd name="csX2" fmla="*/ 2245360 w 4724400"/>
              <a:gd name="csY2" fmla="*/ 772160 h 2794000"/>
              <a:gd name="csX3" fmla="*/ 2987040 w 4724400"/>
              <a:gd name="csY3" fmla="*/ 883920 h 2794000"/>
              <a:gd name="csX4" fmla="*/ 4724400 w 4724400"/>
              <a:gd name="csY4" fmla="*/ 1696720 h 2794000"/>
              <a:gd name="csX5" fmla="*/ 4693920 w 4724400"/>
              <a:gd name="csY5" fmla="*/ 2794000 h 2794000"/>
              <a:gd name="csX6" fmla="*/ 0 w 4724400"/>
              <a:gd name="csY6" fmla="*/ 2692400 h 2794000"/>
              <a:gd name="csX7" fmla="*/ 0 w 4724400"/>
              <a:gd name="csY7" fmla="*/ 426720 h 279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24400" h="2794000">
                <a:moveTo>
                  <a:pt x="0" y="426720"/>
                </a:moveTo>
                <a:lnTo>
                  <a:pt x="1452880" y="0"/>
                </a:lnTo>
                <a:lnTo>
                  <a:pt x="2245360" y="772160"/>
                </a:lnTo>
                <a:lnTo>
                  <a:pt x="2987040" y="883920"/>
                </a:lnTo>
                <a:lnTo>
                  <a:pt x="4724400" y="1696720"/>
                </a:lnTo>
                <a:lnTo>
                  <a:pt x="4693920" y="2794000"/>
                </a:lnTo>
                <a:lnTo>
                  <a:pt x="0" y="2692400"/>
                </a:lnTo>
                <a:cubicBezTo>
                  <a:pt x="3387" y="1940560"/>
                  <a:pt x="6773" y="1188720"/>
                  <a:pt x="0" y="42672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57C791-CB05-C1F4-B65E-F0A9DFDA2D81}"/>
              </a:ext>
            </a:extLst>
          </p:cNvPr>
          <p:cNvCxnSpPr>
            <a:cxnSpLocks/>
          </p:cNvCxnSpPr>
          <p:nvPr/>
        </p:nvCxnSpPr>
        <p:spPr>
          <a:xfrm>
            <a:off x="5774252" y="1980719"/>
            <a:ext cx="0" cy="3485885"/>
          </a:xfrm>
          <a:prstGeom prst="line">
            <a:avLst/>
          </a:prstGeom>
          <a:ln w="57150">
            <a:solidFill>
              <a:srgbClr val="D6222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>
            <a:extLst>
              <a:ext uri="{FF2B5EF4-FFF2-40B4-BE49-F238E27FC236}">
                <a16:creationId xmlns:a16="http://schemas.microsoft.com/office/drawing/2014/main" id="{29507F5C-8569-6AB8-A692-252EF13D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694C3C-CE00-3710-9307-2D69D255CD0B}"/>
              </a:ext>
            </a:extLst>
          </p:cNvPr>
          <p:cNvSpPr/>
          <p:nvPr/>
        </p:nvSpPr>
        <p:spPr>
          <a:xfrm>
            <a:off x="670560" y="312638"/>
            <a:ext cx="11023600" cy="1006475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pretraining context window grows, performance improves up to an optimum window length. 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144CB6CC-1726-AF59-D68E-8495E0E5A669}"/>
              </a:ext>
            </a:extLst>
          </p:cNvPr>
          <p:cNvSpPr/>
          <p:nvPr/>
        </p:nvSpPr>
        <p:spPr>
          <a:xfrm>
            <a:off x="6417749" y="4019891"/>
            <a:ext cx="4517576" cy="1238378"/>
          </a:xfrm>
          <a:prstGeom prst="wedgeRoundRectCallout">
            <a:avLst>
              <a:gd name="adj1" fmla="val -63427"/>
              <a:gd name="adj2" fmla="val -749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rgbClr val="D7222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Inflection point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beyond which training on longer context is hurting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31696352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4">
    <p:spTree>
      <p:nvGrpSpPr>
        <p:cNvPr id="1" name="Shape 206">
          <a:extLst>
            <a:ext uri="{FF2B5EF4-FFF2-40B4-BE49-F238E27FC236}">
              <a16:creationId xmlns:a16="http://schemas.microsoft.com/office/drawing/2014/main" id="{8535FF44-AB42-6D06-0737-751D66EC8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871BFF5-B57F-7C34-F965-1F37F43D200C}"/>
              </a:ext>
            </a:extLst>
          </p:cNvPr>
          <p:cNvSpPr txBox="1"/>
          <p:nvPr/>
        </p:nvSpPr>
        <p:spPr>
          <a:xfrm>
            <a:off x="134616" y="6475724"/>
            <a:ext cx="11884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pic>
        <p:nvPicPr>
          <p:cNvPr id="15" name="Google Shape;208;p33" title="context_scaling_plot.png">
            <a:extLst>
              <a:ext uri="{FF2B5EF4-FFF2-40B4-BE49-F238E27FC236}">
                <a16:creationId xmlns:a16="http://schemas.microsoft.com/office/drawing/2014/main" id="{5CAD2BF6-6776-6BE9-9F52-F55D1730D7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65917" t="13710"/>
          <a:stretch>
            <a:fillRect/>
          </a:stretch>
        </p:blipFill>
        <p:spPr>
          <a:xfrm>
            <a:off x="2956725" y="1307418"/>
            <a:ext cx="5953430" cy="50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91497A-4D1D-41E3-7B1E-0B3A389FB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850" y="1616158"/>
            <a:ext cx="7772400" cy="3763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A5C2AD7D-0822-0A59-D279-292A8CD6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75A8660-DBEC-01D5-071F-64C982AB6554}"/>
              </a:ext>
            </a:extLst>
          </p:cNvPr>
          <p:cNvSpPr/>
          <p:nvPr/>
        </p:nvSpPr>
        <p:spPr>
          <a:xfrm>
            <a:off x="670560" y="312638"/>
            <a:ext cx="11023600" cy="1006475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pretraining context window grows, performance improves up to an optimum window length. </a:t>
            </a:r>
          </a:p>
        </p:txBody>
      </p:sp>
    </p:spTree>
    <p:extLst>
      <p:ext uri="{BB962C8B-B14F-4D97-AF65-F5344CB8AC3E}">
        <p14:creationId xmlns:p14="http://schemas.microsoft.com/office/powerpoint/2010/main" val="402788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5">
    <p:spTree>
      <p:nvGrpSpPr>
        <p:cNvPr id="1" name="Shape 206">
          <a:extLst>
            <a:ext uri="{FF2B5EF4-FFF2-40B4-BE49-F238E27FC236}">
              <a16:creationId xmlns:a16="http://schemas.microsoft.com/office/drawing/2014/main" id="{AAC0CA73-BB46-DE75-EFF4-AE19309D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 title="context_scaling_plot.png">
            <a:extLst>
              <a:ext uri="{FF2B5EF4-FFF2-40B4-BE49-F238E27FC236}">
                <a16:creationId xmlns:a16="http://schemas.microsoft.com/office/drawing/2014/main" id="{B53A62E1-0721-44D6-01E7-1777704B68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65917" t="13710"/>
          <a:stretch>
            <a:fillRect/>
          </a:stretch>
        </p:blipFill>
        <p:spPr>
          <a:xfrm>
            <a:off x="8036559" y="2355577"/>
            <a:ext cx="4155445" cy="356503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17E6C3-638D-F0A1-7372-280851F631C4}"/>
              </a:ext>
            </a:extLst>
          </p:cNvPr>
          <p:cNvSpPr txBox="1"/>
          <p:nvPr/>
        </p:nvSpPr>
        <p:spPr>
          <a:xfrm>
            <a:off x="134616" y="6475724"/>
            <a:ext cx="11884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pic>
        <p:nvPicPr>
          <p:cNvPr id="7" name="Google Shape;208;p33" title="context_scaling_plot.png">
            <a:extLst>
              <a:ext uri="{FF2B5EF4-FFF2-40B4-BE49-F238E27FC236}">
                <a16:creationId xmlns:a16="http://schemas.microsoft.com/office/drawing/2014/main" id="{6E622738-6F83-617A-4C81-8CCADF3CE8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13710" r="67750"/>
          <a:stretch>
            <a:fillRect/>
          </a:stretch>
        </p:blipFill>
        <p:spPr>
          <a:xfrm>
            <a:off x="144145" y="2355576"/>
            <a:ext cx="3931920" cy="3565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08;p33" title="context_scaling_plot.png">
            <a:extLst>
              <a:ext uri="{FF2B5EF4-FFF2-40B4-BE49-F238E27FC236}">
                <a16:creationId xmlns:a16="http://schemas.microsoft.com/office/drawing/2014/main" id="{7C936004-F28C-16D1-51FB-4C52C679DD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32333" t="13710" r="33750"/>
          <a:stretch>
            <a:fillRect/>
          </a:stretch>
        </p:blipFill>
        <p:spPr>
          <a:xfrm>
            <a:off x="4017010" y="2355576"/>
            <a:ext cx="4135120" cy="3565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 17">
            <a:extLst>
              <a:ext uri="{FF2B5EF4-FFF2-40B4-BE49-F238E27FC236}">
                <a16:creationId xmlns:a16="http://schemas.microsoft.com/office/drawing/2014/main" id="{36154CE6-7428-B9F4-BDDB-F11FEB31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controlled experiment for scaling context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B3DBE0-5AE2-0CB6-3D5B-F2C1EDB24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850" y="1646638"/>
            <a:ext cx="7772400" cy="3763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6A97269-77EE-5DE8-EFBA-5E675B87F6B2}"/>
              </a:ext>
            </a:extLst>
          </p:cNvPr>
          <p:cNvSpPr/>
          <p:nvPr/>
        </p:nvSpPr>
        <p:spPr>
          <a:xfrm>
            <a:off x="670560" y="312638"/>
            <a:ext cx="11023600" cy="1006475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pretraining context window grows, performance improves up to an optimum window length. </a:t>
            </a:r>
          </a:p>
        </p:txBody>
      </p:sp>
    </p:spTree>
    <p:extLst>
      <p:ext uri="{BB962C8B-B14F-4D97-AF65-F5344CB8AC3E}">
        <p14:creationId xmlns:p14="http://schemas.microsoft.com/office/powerpoint/2010/main" val="142140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6">
    <p:spTree>
      <p:nvGrpSpPr>
        <p:cNvPr id="1" name="">
          <a:extLst>
            <a:ext uri="{FF2B5EF4-FFF2-40B4-BE49-F238E27FC236}">
              <a16:creationId xmlns:a16="http://schemas.microsoft.com/office/drawing/2014/main" id="{4CB23168-9213-3DD7-13E6-1CB95B09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871D-3A57-7BF2-AE8F-49B79417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Abundance Paradox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1F86-F165-71FA-32DF-53A32358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38B01-845C-8401-2749-F24C78798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3040" y="5195704"/>
            <a:ext cx="1775424" cy="1660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19BCF3-567E-D5F7-95A7-7ED7D7C43037}"/>
              </a:ext>
            </a:extLst>
          </p:cNvPr>
          <p:cNvSpPr txBox="1"/>
          <p:nvPr/>
        </p:nvSpPr>
        <p:spPr>
          <a:xfrm>
            <a:off x="1337293" y="6502675"/>
            <a:ext cx="10580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</p:spTree>
    <p:extLst>
      <p:ext uri="{BB962C8B-B14F-4D97-AF65-F5344CB8AC3E}">
        <p14:creationId xmlns:p14="http://schemas.microsoft.com/office/powerpoint/2010/main" val="2871801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7">
    <p:spTree>
      <p:nvGrpSpPr>
        <p:cNvPr id="1" name="">
          <a:extLst>
            <a:ext uri="{FF2B5EF4-FFF2-40B4-BE49-F238E27FC236}">
              <a16:creationId xmlns:a16="http://schemas.microsoft.com/office/drawing/2014/main" id="{4CB23168-9213-3DD7-13E6-1CB95B09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871D-3A57-7BF2-AE8F-49B79417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Abundance Paradox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1F86-F165-71FA-32DF-53A32358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BA8836-049D-C045-E346-8CA46CBD56EF}"/>
              </a:ext>
            </a:extLst>
          </p:cNvPr>
          <p:cNvSpPr/>
          <p:nvPr/>
        </p:nvSpPr>
        <p:spPr>
          <a:xfrm>
            <a:off x="1193377" y="2428064"/>
            <a:ext cx="9843343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available context (in training) </a:t>
            </a:r>
            <a:b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reduce the pressure to internalize information.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38B01-845C-8401-2749-F24C78798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3040" y="5195704"/>
            <a:ext cx="1775424" cy="1660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19BCF3-567E-D5F7-95A7-7ED7D7C43037}"/>
              </a:ext>
            </a:extLst>
          </p:cNvPr>
          <p:cNvSpPr txBox="1"/>
          <p:nvPr/>
        </p:nvSpPr>
        <p:spPr>
          <a:xfrm>
            <a:off x="1337293" y="6502675"/>
            <a:ext cx="10580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</p:spTree>
    <p:extLst>
      <p:ext uri="{BB962C8B-B14F-4D97-AF65-F5344CB8AC3E}">
        <p14:creationId xmlns:p14="http://schemas.microsoft.com/office/powerpoint/2010/main" val="42901265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8">
    <p:spTree>
      <p:nvGrpSpPr>
        <p:cNvPr id="1" name="">
          <a:extLst>
            <a:ext uri="{FF2B5EF4-FFF2-40B4-BE49-F238E27FC236}">
              <a16:creationId xmlns:a16="http://schemas.microsoft.com/office/drawing/2014/main" id="{97EBEBD0-357E-F08E-CA8B-5A1A23AC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88AB-784D-67A0-8348-6CFAF63A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Perspective from learning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3123-4F8A-3CBD-1B3F-6EFF0EF9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 dirty="0"/>
              <a:t>Prediction loss can decrease in two ways: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Parametric internalization:</a:t>
            </a:r>
            <a:r>
              <a:rPr lang="en-US" b="1" dirty="0"/>
              <a:t> </a:t>
            </a:r>
            <a:r>
              <a:rPr lang="en-US" dirty="0"/>
              <a:t>Encode information in model parameters.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Contextualization:</a:t>
            </a:r>
            <a:r>
              <a:rPr lang="en-US" dirty="0"/>
              <a:t> Use information available in the current context.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Certain experimental settings can create a tug-of-war between these mechanisms.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8E0E-4116-E68B-664A-B80C7044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7" name="Picture 6" descr="Teeter-Totter Images – Browse 183,451 Stock Photos, Vectors, and Video | Adobe Stock">
            <a:extLst>
              <a:ext uri="{FF2B5EF4-FFF2-40B4-BE49-F238E27FC236}">
                <a16:creationId xmlns:a16="http://schemas.microsoft.com/office/drawing/2014/main" id="{34A64788-FFEF-320F-1C04-F9B2C525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9" b="11474"/>
          <a:stretch>
            <a:fillRect/>
          </a:stretch>
        </p:blipFill>
        <p:spPr>
          <a:xfrm>
            <a:off x="7943887" y="4358886"/>
            <a:ext cx="3748050" cy="169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B746B-D680-1E13-9BF8-EBC3A6EA0406}"/>
              </a:ext>
            </a:extLst>
          </p:cNvPr>
          <p:cNvSpPr txBox="1"/>
          <p:nvPr/>
        </p:nvSpPr>
        <p:spPr>
          <a:xfrm>
            <a:off x="934721" y="6502675"/>
            <a:ext cx="10572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5F7096-E75B-C03C-47F0-DBF07218AA51}"/>
              </a:ext>
            </a:extLst>
          </p:cNvPr>
          <p:cNvSpPr/>
          <p:nvPr/>
        </p:nvSpPr>
        <p:spPr>
          <a:xfrm>
            <a:off x="849277" y="4480560"/>
            <a:ext cx="6797674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training context may shift the balance toward </a:t>
            </a:r>
            <a:r>
              <a:rPr lang="en-US" sz="2800" b="1" dirty="0">
                <a:solidFill>
                  <a:srgbClr val="D7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contextualization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0E7E7-5169-BF3B-CEB0-379B255AED51}"/>
              </a:ext>
            </a:extLst>
          </p:cNvPr>
          <p:cNvSpPr/>
          <p:nvPr/>
        </p:nvSpPr>
        <p:spPr>
          <a:xfrm>
            <a:off x="619675" y="1548773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DA2F9D-302A-6156-21FB-9369D36CB51E}"/>
              </a:ext>
            </a:extLst>
          </p:cNvPr>
          <p:cNvSpPr/>
          <p:nvPr/>
        </p:nvSpPr>
        <p:spPr>
          <a:xfrm>
            <a:off x="728553" y="2030960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EE8E4-E55D-0964-A626-A497E3C9B222}"/>
              </a:ext>
            </a:extLst>
          </p:cNvPr>
          <p:cNvSpPr/>
          <p:nvPr/>
        </p:nvSpPr>
        <p:spPr>
          <a:xfrm>
            <a:off x="773215" y="2468842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CF2BEC-6248-E636-1B10-B69C0D9A1D28}"/>
              </a:ext>
            </a:extLst>
          </p:cNvPr>
          <p:cNvSpPr/>
          <p:nvPr/>
        </p:nvSpPr>
        <p:spPr>
          <a:xfrm>
            <a:off x="728552" y="3330963"/>
            <a:ext cx="11301521" cy="100647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E0D18-B1C2-3C20-CE6E-0790DF2ECFA9}"/>
              </a:ext>
            </a:extLst>
          </p:cNvPr>
          <p:cNvSpPr/>
          <p:nvPr/>
        </p:nvSpPr>
        <p:spPr>
          <a:xfrm>
            <a:off x="7940150" y="4228854"/>
            <a:ext cx="3861433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1997E-BEE4-351B-24E8-F2F71866E018}"/>
              </a:ext>
            </a:extLst>
          </p:cNvPr>
          <p:cNvSpPr/>
          <p:nvPr/>
        </p:nvSpPr>
        <p:spPr>
          <a:xfrm>
            <a:off x="500063" y="4352321"/>
            <a:ext cx="7211596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8437270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29">
    <p:spTree>
      <p:nvGrpSpPr>
        <p:cNvPr id="1" name="">
          <a:extLst>
            <a:ext uri="{FF2B5EF4-FFF2-40B4-BE49-F238E27FC236}">
              <a16:creationId xmlns:a16="http://schemas.microsoft.com/office/drawing/2014/main" id="{97EBEBD0-357E-F08E-CA8B-5A1A23AC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88AB-784D-67A0-8348-6CFAF63A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Perspective from learning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3123-4F8A-3CBD-1B3F-6EFF0EF9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 dirty="0"/>
              <a:t>Prediction loss can decrease in two ways: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Parametric internalization:</a:t>
            </a:r>
            <a:r>
              <a:rPr lang="en-US" b="1" dirty="0"/>
              <a:t> </a:t>
            </a:r>
            <a:r>
              <a:rPr lang="en-US" dirty="0"/>
              <a:t>Encode information in model parameters.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Contextualization:</a:t>
            </a:r>
            <a:r>
              <a:rPr lang="en-US" dirty="0"/>
              <a:t> Use information available in the current context.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Certain experimental settings can create a tug-of-war between these mechanisms.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8E0E-4116-E68B-664A-B80C7044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pic>
        <p:nvPicPr>
          <p:cNvPr id="7" name="Picture 6" descr="Teeter-Totter Images – Browse 183,451 Stock Photos, Vectors, and Video | Adobe Stock">
            <a:extLst>
              <a:ext uri="{FF2B5EF4-FFF2-40B4-BE49-F238E27FC236}">
                <a16:creationId xmlns:a16="http://schemas.microsoft.com/office/drawing/2014/main" id="{34A64788-FFEF-320F-1C04-F9B2C525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9" b="11474"/>
          <a:stretch>
            <a:fillRect/>
          </a:stretch>
        </p:blipFill>
        <p:spPr>
          <a:xfrm>
            <a:off x="7943887" y="4358886"/>
            <a:ext cx="3748050" cy="169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B746B-D680-1E13-9BF8-EBC3A6EA0406}"/>
              </a:ext>
            </a:extLst>
          </p:cNvPr>
          <p:cNvSpPr txBox="1"/>
          <p:nvPr/>
        </p:nvSpPr>
        <p:spPr>
          <a:xfrm>
            <a:off x="934721" y="6502675"/>
            <a:ext cx="10572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5F7096-E75B-C03C-47F0-DBF07218AA51}"/>
              </a:ext>
            </a:extLst>
          </p:cNvPr>
          <p:cNvSpPr/>
          <p:nvPr/>
        </p:nvSpPr>
        <p:spPr>
          <a:xfrm>
            <a:off x="849277" y="4480560"/>
            <a:ext cx="6797674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training context may shift the balance toward </a:t>
            </a:r>
            <a:r>
              <a:rPr lang="en-US" sz="2800" b="1" dirty="0">
                <a:solidFill>
                  <a:srgbClr val="D7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contextualization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DA2F9D-302A-6156-21FB-9369D36CB51E}"/>
              </a:ext>
            </a:extLst>
          </p:cNvPr>
          <p:cNvSpPr/>
          <p:nvPr/>
        </p:nvSpPr>
        <p:spPr>
          <a:xfrm>
            <a:off x="728553" y="2030960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EE8E4-E55D-0964-A626-A497E3C9B222}"/>
              </a:ext>
            </a:extLst>
          </p:cNvPr>
          <p:cNvSpPr/>
          <p:nvPr/>
        </p:nvSpPr>
        <p:spPr>
          <a:xfrm>
            <a:off x="773215" y="2468842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CF2BEC-6248-E636-1B10-B69C0D9A1D28}"/>
              </a:ext>
            </a:extLst>
          </p:cNvPr>
          <p:cNvSpPr/>
          <p:nvPr/>
        </p:nvSpPr>
        <p:spPr>
          <a:xfrm>
            <a:off x="728552" y="3330963"/>
            <a:ext cx="11301521" cy="100647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E0D18-B1C2-3C20-CE6E-0790DF2ECFA9}"/>
              </a:ext>
            </a:extLst>
          </p:cNvPr>
          <p:cNvSpPr/>
          <p:nvPr/>
        </p:nvSpPr>
        <p:spPr>
          <a:xfrm>
            <a:off x="7940150" y="4228854"/>
            <a:ext cx="3861433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1997E-BEE4-351B-24E8-F2F71866E018}"/>
              </a:ext>
            </a:extLst>
          </p:cNvPr>
          <p:cNvSpPr/>
          <p:nvPr/>
        </p:nvSpPr>
        <p:spPr>
          <a:xfrm>
            <a:off x="500063" y="4352321"/>
            <a:ext cx="7211596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019293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0">
    <p:spTree>
      <p:nvGrpSpPr>
        <p:cNvPr id="1" name="">
          <a:extLst>
            <a:ext uri="{FF2B5EF4-FFF2-40B4-BE49-F238E27FC236}">
              <a16:creationId xmlns:a16="http://schemas.microsoft.com/office/drawing/2014/main" id="{97EBEBD0-357E-F08E-CA8B-5A1A23AC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88AB-784D-67A0-8348-6CFAF63A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Perspective from learning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3123-4F8A-3CBD-1B3F-6EFF0EF9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 dirty="0"/>
              <a:t>Prediction loss can decrease in two ways: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Parametric internalization:</a:t>
            </a:r>
            <a:r>
              <a:rPr lang="en-US" b="1" dirty="0"/>
              <a:t> </a:t>
            </a:r>
            <a:r>
              <a:rPr lang="en-US" dirty="0"/>
              <a:t>Encode information in model parameters.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Contextualization:</a:t>
            </a:r>
            <a:r>
              <a:rPr lang="en-US" dirty="0"/>
              <a:t> Use information available in the current context.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Certain experimental settings can create a tug-of-war between these mechanisms.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8E0E-4116-E68B-664A-B80C7044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pic>
        <p:nvPicPr>
          <p:cNvPr id="7" name="Picture 6" descr="Teeter-Totter Images – Browse 183,451 Stock Photos, Vectors, and Video | Adobe Stock">
            <a:extLst>
              <a:ext uri="{FF2B5EF4-FFF2-40B4-BE49-F238E27FC236}">
                <a16:creationId xmlns:a16="http://schemas.microsoft.com/office/drawing/2014/main" id="{34A64788-FFEF-320F-1C04-F9B2C525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9" b="11474"/>
          <a:stretch>
            <a:fillRect/>
          </a:stretch>
        </p:blipFill>
        <p:spPr>
          <a:xfrm>
            <a:off x="7943887" y="4358886"/>
            <a:ext cx="3748050" cy="169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B746B-D680-1E13-9BF8-EBC3A6EA0406}"/>
              </a:ext>
            </a:extLst>
          </p:cNvPr>
          <p:cNvSpPr txBox="1"/>
          <p:nvPr/>
        </p:nvSpPr>
        <p:spPr>
          <a:xfrm>
            <a:off x="934721" y="6502675"/>
            <a:ext cx="10572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5F7096-E75B-C03C-47F0-DBF07218AA51}"/>
              </a:ext>
            </a:extLst>
          </p:cNvPr>
          <p:cNvSpPr/>
          <p:nvPr/>
        </p:nvSpPr>
        <p:spPr>
          <a:xfrm>
            <a:off x="849277" y="4480560"/>
            <a:ext cx="6797674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training context may shift the balance toward </a:t>
            </a:r>
            <a:r>
              <a:rPr lang="en-US" sz="2800" b="1" dirty="0">
                <a:solidFill>
                  <a:srgbClr val="D7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contextualization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EE8E4-E55D-0964-A626-A497E3C9B222}"/>
              </a:ext>
            </a:extLst>
          </p:cNvPr>
          <p:cNvSpPr/>
          <p:nvPr/>
        </p:nvSpPr>
        <p:spPr>
          <a:xfrm>
            <a:off x="773215" y="2468842"/>
            <a:ext cx="11301521" cy="46746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CF2BEC-6248-E636-1B10-B69C0D9A1D28}"/>
              </a:ext>
            </a:extLst>
          </p:cNvPr>
          <p:cNvSpPr/>
          <p:nvPr/>
        </p:nvSpPr>
        <p:spPr>
          <a:xfrm>
            <a:off x="728552" y="3330963"/>
            <a:ext cx="11301521" cy="100647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E0D18-B1C2-3C20-CE6E-0790DF2ECFA9}"/>
              </a:ext>
            </a:extLst>
          </p:cNvPr>
          <p:cNvSpPr/>
          <p:nvPr/>
        </p:nvSpPr>
        <p:spPr>
          <a:xfrm>
            <a:off x="7940150" y="4228854"/>
            <a:ext cx="3861433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1997E-BEE4-351B-24E8-F2F71866E018}"/>
              </a:ext>
            </a:extLst>
          </p:cNvPr>
          <p:cNvSpPr/>
          <p:nvPr/>
        </p:nvSpPr>
        <p:spPr>
          <a:xfrm>
            <a:off x="500063" y="4352321"/>
            <a:ext cx="7211596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474694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1">
    <p:spTree>
      <p:nvGrpSpPr>
        <p:cNvPr id="1" name="">
          <a:extLst>
            <a:ext uri="{FF2B5EF4-FFF2-40B4-BE49-F238E27FC236}">
              <a16:creationId xmlns:a16="http://schemas.microsoft.com/office/drawing/2014/main" id="{97EBEBD0-357E-F08E-CA8B-5A1A23AC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88AB-784D-67A0-8348-6CFAF63A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Perspective from learning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3123-4F8A-3CBD-1B3F-6EFF0EF9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 dirty="0"/>
              <a:t>Prediction loss can decrease in two ways: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Parametric internalization:</a:t>
            </a:r>
            <a:r>
              <a:rPr lang="en-US" b="1" dirty="0"/>
              <a:t> </a:t>
            </a:r>
            <a:r>
              <a:rPr lang="en-US" dirty="0"/>
              <a:t>Encode information in model parameters.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Contextualization:</a:t>
            </a:r>
            <a:r>
              <a:rPr lang="en-US" dirty="0"/>
              <a:t> Use information available in the current context.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Certain experimental settings can create a tug-of-war between these mechanisms.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8E0E-4116-E68B-664A-B80C7044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pic>
        <p:nvPicPr>
          <p:cNvPr id="7" name="Picture 6" descr="Teeter-Totter Images – Browse 183,451 Stock Photos, Vectors, and Video | Adobe Stock">
            <a:extLst>
              <a:ext uri="{FF2B5EF4-FFF2-40B4-BE49-F238E27FC236}">
                <a16:creationId xmlns:a16="http://schemas.microsoft.com/office/drawing/2014/main" id="{34A64788-FFEF-320F-1C04-F9B2C525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9" b="11474"/>
          <a:stretch>
            <a:fillRect/>
          </a:stretch>
        </p:blipFill>
        <p:spPr>
          <a:xfrm>
            <a:off x="7943887" y="4358886"/>
            <a:ext cx="3748050" cy="169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B746B-D680-1E13-9BF8-EBC3A6EA0406}"/>
              </a:ext>
            </a:extLst>
          </p:cNvPr>
          <p:cNvSpPr txBox="1"/>
          <p:nvPr/>
        </p:nvSpPr>
        <p:spPr>
          <a:xfrm>
            <a:off x="934721" y="6502675"/>
            <a:ext cx="10572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5F7096-E75B-C03C-47F0-DBF07218AA51}"/>
              </a:ext>
            </a:extLst>
          </p:cNvPr>
          <p:cNvSpPr/>
          <p:nvPr/>
        </p:nvSpPr>
        <p:spPr>
          <a:xfrm>
            <a:off x="849277" y="4480560"/>
            <a:ext cx="6797674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training context may shift the balance toward </a:t>
            </a:r>
            <a:r>
              <a:rPr lang="en-US" sz="2800" b="1" dirty="0">
                <a:solidFill>
                  <a:srgbClr val="D7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contextualization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CF2BEC-6248-E636-1B10-B69C0D9A1D28}"/>
              </a:ext>
            </a:extLst>
          </p:cNvPr>
          <p:cNvSpPr/>
          <p:nvPr/>
        </p:nvSpPr>
        <p:spPr>
          <a:xfrm>
            <a:off x="728552" y="3330963"/>
            <a:ext cx="11301521" cy="100647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E0D18-B1C2-3C20-CE6E-0790DF2ECFA9}"/>
              </a:ext>
            </a:extLst>
          </p:cNvPr>
          <p:cNvSpPr/>
          <p:nvPr/>
        </p:nvSpPr>
        <p:spPr>
          <a:xfrm>
            <a:off x="7940150" y="4228854"/>
            <a:ext cx="3861433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1997E-BEE4-351B-24E8-F2F71866E018}"/>
              </a:ext>
            </a:extLst>
          </p:cNvPr>
          <p:cNvSpPr/>
          <p:nvPr/>
        </p:nvSpPr>
        <p:spPr>
          <a:xfrm>
            <a:off x="500063" y="4352321"/>
            <a:ext cx="7211596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315151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2">
    <p:spTree>
      <p:nvGrpSpPr>
        <p:cNvPr id="1" name="">
          <a:extLst>
            <a:ext uri="{FF2B5EF4-FFF2-40B4-BE49-F238E27FC236}">
              <a16:creationId xmlns:a16="http://schemas.microsoft.com/office/drawing/2014/main" id="{97EBEBD0-357E-F08E-CA8B-5A1A23AC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88AB-784D-67A0-8348-6CFAF63A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Perspective from learning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3123-4F8A-3CBD-1B3F-6EFF0EF9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 dirty="0"/>
              <a:t>Prediction loss can decrease in two ways: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Parametric internalization:</a:t>
            </a:r>
            <a:r>
              <a:rPr lang="en-US" b="1" dirty="0"/>
              <a:t> </a:t>
            </a:r>
            <a:r>
              <a:rPr lang="en-US" dirty="0"/>
              <a:t>Encode information in model parameters.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Contextualization:</a:t>
            </a:r>
            <a:r>
              <a:rPr lang="en-US" dirty="0"/>
              <a:t> Use information available in the current context.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Certain experimental settings can create a tug-of-war between these mechanisms.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8E0E-4116-E68B-664A-B80C7044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pic>
        <p:nvPicPr>
          <p:cNvPr id="7" name="Picture 6" descr="Teeter-Totter Images – Browse 183,451 Stock Photos, Vectors, and Video | Adobe Stock">
            <a:extLst>
              <a:ext uri="{FF2B5EF4-FFF2-40B4-BE49-F238E27FC236}">
                <a16:creationId xmlns:a16="http://schemas.microsoft.com/office/drawing/2014/main" id="{34A64788-FFEF-320F-1C04-F9B2C525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9" b="11474"/>
          <a:stretch>
            <a:fillRect/>
          </a:stretch>
        </p:blipFill>
        <p:spPr>
          <a:xfrm>
            <a:off x="7943887" y="4358886"/>
            <a:ext cx="3748050" cy="169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B746B-D680-1E13-9BF8-EBC3A6EA0406}"/>
              </a:ext>
            </a:extLst>
          </p:cNvPr>
          <p:cNvSpPr txBox="1"/>
          <p:nvPr/>
        </p:nvSpPr>
        <p:spPr>
          <a:xfrm>
            <a:off x="934721" y="6502675"/>
            <a:ext cx="10572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5F7096-E75B-C03C-47F0-DBF07218AA51}"/>
              </a:ext>
            </a:extLst>
          </p:cNvPr>
          <p:cNvSpPr/>
          <p:nvPr/>
        </p:nvSpPr>
        <p:spPr>
          <a:xfrm>
            <a:off x="849277" y="4480560"/>
            <a:ext cx="6797674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training context may shift the balance toward </a:t>
            </a:r>
            <a:r>
              <a:rPr lang="en-US" sz="2800" b="1" dirty="0">
                <a:solidFill>
                  <a:srgbClr val="D7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contextualization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1997E-BEE4-351B-24E8-F2F71866E018}"/>
              </a:ext>
            </a:extLst>
          </p:cNvPr>
          <p:cNvSpPr/>
          <p:nvPr/>
        </p:nvSpPr>
        <p:spPr>
          <a:xfrm>
            <a:off x="500063" y="4352321"/>
            <a:ext cx="7211596" cy="198240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627629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3">
    <p:spTree>
      <p:nvGrpSpPr>
        <p:cNvPr id="1" name="">
          <a:extLst>
            <a:ext uri="{FF2B5EF4-FFF2-40B4-BE49-F238E27FC236}">
              <a16:creationId xmlns:a16="http://schemas.microsoft.com/office/drawing/2014/main" id="{97EBEBD0-357E-F08E-CA8B-5A1A23AC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88AB-784D-67A0-8348-6CFAF63A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Perspective from learning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3123-4F8A-3CBD-1B3F-6EFF0EF9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 dirty="0"/>
              <a:t>Prediction loss can decrease in two ways: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Parametric internalization:</a:t>
            </a:r>
            <a:r>
              <a:rPr lang="en-US" b="1" dirty="0"/>
              <a:t> </a:t>
            </a:r>
            <a:r>
              <a:rPr lang="en-US" dirty="0"/>
              <a:t>Encode information in model parameters.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>
                <a:solidFill>
                  <a:srgbClr val="D72222"/>
                </a:solidFill>
              </a:rPr>
              <a:t>Contextualization:</a:t>
            </a:r>
            <a:r>
              <a:rPr lang="en-US" dirty="0"/>
              <a:t> Use information available in the current context.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Certain experimental settings can create a tug-of-war between these mechanisms.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8E0E-4116-E68B-664A-B80C7044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pic>
        <p:nvPicPr>
          <p:cNvPr id="7" name="Picture 6" descr="Teeter-Totter Images – Browse 183,451 Stock Photos, Vectors, and Video | Adobe Stock">
            <a:extLst>
              <a:ext uri="{FF2B5EF4-FFF2-40B4-BE49-F238E27FC236}">
                <a16:creationId xmlns:a16="http://schemas.microsoft.com/office/drawing/2014/main" id="{34A64788-FFEF-320F-1C04-F9B2C525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09" b="11474"/>
          <a:stretch>
            <a:fillRect/>
          </a:stretch>
        </p:blipFill>
        <p:spPr>
          <a:xfrm>
            <a:off x="7943887" y="4358886"/>
            <a:ext cx="3748050" cy="169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B746B-D680-1E13-9BF8-EBC3A6EA0406}"/>
              </a:ext>
            </a:extLst>
          </p:cNvPr>
          <p:cNvSpPr txBox="1"/>
          <p:nvPr/>
        </p:nvSpPr>
        <p:spPr>
          <a:xfrm>
            <a:off x="934721" y="6502675"/>
            <a:ext cx="10572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Uzunoglu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Information Abundance Paradox: Long-Context Training Undermines Parametric Knowledge, 2026.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5F7096-E75B-C03C-47F0-DBF07218AA51}"/>
              </a:ext>
            </a:extLst>
          </p:cNvPr>
          <p:cNvSpPr/>
          <p:nvPr/>
        </p:nvSpPr>
        <p:spPr>
          <a:xfrm>
            <a:off x="849277" y="4480560"/>
            <a:ext cx="6797674" cy="1453056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training context may shift the balance toward </a:t>
            </a:r>
            <a:r>
              <a:rPr lang="en-US" sz="2800" b="1" dirty="0">
                <a:solidFill>
                  <a:srgbClr val="D7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contextualization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88276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AB2E-1B8A-3F47-386D-C72DA517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Takeaways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021C0-086D-01AD-6BEE-92A23E320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835"/>
            <a:ext cx="10817884" cy="4662488"/>
          </a:xfrm>
        </p:spPr>
        <p:txBody>
          <a:bodyPr/>
          <a:lstStyle/>
          <a:p>
            <a:r>
              <a:rPr lang="en-US" dirty="0">
                <a:ea typeface="Calibri"/>
                <a:sym typeface="Calibri"/>
              </a:rPr>
              <a:t>Context scaling changes the nature of learning: </a:t>
            </a:r>
            <a:r>
              <a:rPr lang="en-US" i="1" dirty="0">
                <a:ea typeface="Calibri"/>
                <a:sym typeface="Calibri"/>
              </a:rPr>
              <a:t>More informative context at train-time weakens knowledge internalization.</a:t>
            </a:r>
          </a:p>
          <a:p>
            <a:endParaRPr lang="en-US" dirty="0">
              <a:ea typeface="Calibri"/>
              <a:sym typeface="Calibri"/>
            </a:endParaRPr>
          </a:p>
          <a:p>
            <a:pPr marL="0" indent="0">
              <a:buNone/>
            </a:pPr>
            <a:endParaRPr lang="en-US" dirty="0">
              <a:ea typeface="Calibri"/>
              <a:sym typeface="Calibri"/>
            </a:endParaRPr>
          </a:p>
          <a:p>
            <a:r>
              <a:rPr lang="en-US" dirty="0">
                <a:ea typeface="Calibri"/>
                <a:sym typeface="Calibri"/>
              </a:rPr>
              <a:t>We’re </a:t>
            </a:r>
            <a:r>
              <a:rPr lang="en-US" b="1" dirty="0">
                <a:ea typeface="Calibri"/>
                <a:sym typeface="Calibri"/>
              </a:rPr>
              <a:t>not</a:t>
            </a:r>
            <a:r>
              <a:rPr lang="en-US" dirty="0">
                <a:ea typeface="Calibri"/>
                <a:sym typeface="Calibri"/>
              </a:rPr>
              <a:t> ruling out very long context models. </a:t>
            </a:r>
          </a:p>
          <a:p>
            <a:pPr lvl="1"/>
            <a:r>
              <a:rPr lang="en-US" dirty="0">
                <a:ea typeface="Calibri"/>
                <a:sym typeface="Calibri"/>
              </a:rPr>
              <a:t>They remain possible. </a:t>
            </a:r>
          </a:p>
          <a:p>
            <a:pPr lvl="1"/>
            <a:r>
              <a:rPr lang="en-US" dirty="0">
                <a:ea typeface="Calibri"/>
                <a:sym typeface="Calibri"/>
              </a:rPr>
              <a:t>But scaling data alone is not the complete recipe.</a:t>
            </a:r>
          </a:p>
          <a:p>
            <a:pPr marL="133350" marR="381000" lvl="0" indent="0">
              <a:spcBef>
                <a:spcPts val="1200"/>
              </a:spcBef>
              <a:spcAft>
                <a:spcPts val="0"/>
              </a:spcAft>
              <a:buSzPts val="1500"/>
              <a:buNone/>
            </a:pPr>
            <a:endParaRPr lang="en-US" dirty="0">
              <a:ea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8D393-8D5C-1FA6-D770-B5BBE80C8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66C7D-594F-8E83-B859-3FA61D43E4A8}"/>
              </a:ext>
            </a:extLst>
          </p:cNvPr>
          <p:cNvSpPr/>
          <p:nvPr/>
        </p:nvSpPr>
        <p:spPr>
          <a:xfrm>
            <a:off x="619675" y="1548773"/>
            <a:ext cx="11301521" cy="139762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AF769-49A0-3D1C-CE87-10FC29789A87}"/>
              </a:ext>
            </a:extLst>
          </p:cNvPr>
          <p:cNvSpPr/>
          <p:nvPr/>
        </p:nvSpPr>
        <p:spPr>
          <a:xfrm>
            <a:off x="535916" y="3834773"/>
            <a:ext cx="11301521" cy="139762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801411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AB2E-1B8A-3F47-386D-C72DA517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Takeaways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021C0-086D-01AD-6BEE-92A23E320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835"/>
            <a:ext cx="10817884" cy="4662488"/>
          </a:xfrm>
        </p:spPr>
        <p:txBody>
          <a:bodyPr/>
          <a:lstStyle/>
          <a:p>
            <a:r>
              <a:rPr lang="en-US" dirty="0">
                <a:ea typeface="Calibri"/>
                <a:sym typeface="Calibri"/>
              </a:rPr>
              <a:t>Context scaling changes the nature of learning: </a:t>
            </a:r>
            <a:r>
              <a:rPr lang="en-US" i="1" dirty="0">
                <a:ea typeface="Calibri"/>
                <a:sym typeface="Calibri"/>
              </a:rPr>
              <a:t>More informative context at train-time weakens knowledge internalization.</a:t>
            </a:r>
          </a:p>
          <a:p>
            <a:endParaRPr lang="en-US" dirty="0">
              <a:ea typeface="Calibri"/>
              <a:sym typeface="Calibri"/>
            </a:endParaRPr>
          </a:p>
          <a:p>
            <a:pPr marL="0" indent="0">
              <a:buNone/>
            </a:pPr>
            <a:endParaRPr lang="en-US" dirty="0">
              <a:ea typeface="Calibri"/>
              <a:sym typeface="Calibri"/>
            </a:endParaRPr>
          </a:p>
          <a:p>
            <a:r>
              <a:rPr lang="en-US" dirty="0">
                <a:ea typeface="Calibri"/>
                <a:sym typeface="Calibri"/>
              </a:rPr>
              <a:t>We’re </a:t>
            </a:r>
            <a:r>
              <a:rPr lang="en-US" b="1" dirty="0">
                <a:ea typeface="Calibri"/>
                <a:sym typeface="Calibri"/>
              </a:rPr>
              <a:t>not</a:t>
            </a:r>
            <a:r>
              <a:rPr lang="en-US" dirty="0">
                <a:ea typeface="Calibri"/>
                <a:sym typeface="Calibri"/>
              </a:rPr>
              <a:t> ruling out very long context models. </a:t>
            </a:r>
          </a:p>
          <a:p>
            <a:pPr lvl="1"/>
            <a:r>
              <a:rPr lang="en-US" dirty="0">
                <a:ea typeface="Calibri"/>
                <a:sym typeface="Calibri"/>
              </a:rPr>
              <a:t>They remain possible. </a:t>
            </a:r>
          </a:p>
          <a:p>
            <a:pPr lvl="1"/>
            <a:r>
              <a:rPr lang="en-US" dirty="0">
                <a:ea typeface="Calibri"/>
                <a:sym typeface="Calibri"/>
              </a:rPr>
              <a:t>But scaling data alone is not the complete recipe.</a:t>
            </a:r>
          </a:p>
          <a:p>
            <a:pPr marL="133350" marR="381000" lvl="0" indent="0">
              <a:spcBef>
                <a:spcPts val="1200"/>
              </a:spcBef>
              <a:spcAft>
                <a:spcPts val="0"/>
              </a:spcAft>
              <a:buSzPts val="1500"/>
              <a:buNone/>
            </a:pPr>
            <a:endParaRPr lang="en-US" dirty="0">
              <a:ea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8D393-8D5C-1FA6-D770-B5BBE80C8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AF769-49A0-3D1C-CE87-10FC29789A87}"/>
              </a:ext>
            </a:extLst>
          </p:cNvPr>
          <p:cNvSpPr/>
          <p:nvPr/>
        </p:nvSpPr>
        <p:spPr>
          <a:xfrm>
            <a:off x="535916" y="3834773"/>
            <a:ext cx="11301521" cy="139762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720262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AB2E-1B8A-3F47-386D-C72DA517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Information Abundance Paradox: </a:t>
            </a:r>
            <a:br>
              <a:rPr lang="en-US" sz="2800" dirty="0"/>
            </a:br>
            <a:r>
              <a:rPr lang="en-US" dirty="0"/>
              <a:t>Takeaways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021C0-086D-01AD-6BEE-92A23E320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835"/>
            <a:ext cx="10817884" cy="4662488"/>
          </a:xfrm>
        </p:spPr>
        <p:txBody>
          <a:bodyPr/>
          <a:lstStyle/>
          <a:p>
            <a:r>
              <a:rPr lang="en-US" dirty="0">
                <a:ea typeface="Calibri"/>
                <a:sym typeface="Calibri"/>
              </a:rPr>
              <a:t>Context scaling changes the nature of learning: </a:t>
            </a:r>
            <a:r>
              <a:rPr lang="en-US" i="1" dirty="0">
                <a:ea typeface="Calibri"/>
                <a:sym typeface="Calibri"/>
              </a:rPr>
              <a:t>More informative context at train-time weakens knowledge internalization.</a:t>
            </a:r>
          </a:p>
          <a:p>
            <a:endParaRPr lang="en-US" dirty="0">
              <a:ea typeface="Calibri"/>
              <a:sym typeface="Calibri"/>
            </a:endParaRPr>
          </a:p>
          <a:p>
            <a:pPr marL="0" indent="0">
              <a:buNone/>
            </a:pPr>
            <a:endParaRPr lang="en-US" dirty="0">
              <a:ea typeface="Calibri"/>
              <a:sym typeface="Calibri"/>
            </a:endParaRPr>
          </a:p>
          <a:p>
            <a:r>
              <a:rPr lang="en-US" dirty="0">
                <a:ea typeface="Calibri"/>
                <a:sym typeface="Calibri"/>
              </a:rPr>
              <a:t>We’re </a:t>
            </a:r>
            <a:r>
              <a:rPr lang="en-US" b="1" dirty="0">
                <a:ea typeface="Calibri"/>
                <a:sym typeface="Calibri"/>
              </a:rPr>
              <a:t>not</a:t>
            </a:r>
            <a:r>
              <a:rPr lang="en-US" dirty="0">
                <a:ea typeface="Calibri"/>
                <a:sym typeface="Calibri"/>
              </a:rPr>
              <a:t> ruling out very long context models. </a:t>
            </a:r>
          </a:p>
          <a:p>
            <a:pPr lvl="1"/>
            <a:r>
              <a:rPr lang="en-US" dirty="0">
                <a:ea typeface="Calibri"/>
                <a:sym typeface="Calibri"/>
              </a:rPr>
              <a:t>They remain possible. </a:t>
            </a:r>
          </a:p>
          <a:p>
            <a:pPr lvl="1"/>
            <a:r>
              <a:rPr lang="en-US" dirty="0">
                <a:ea typeface="Calibri"/>
                <a:sym typeface="Calibri"/>
              </a:rPr>
              <a:t>But scaling data alone is not the complete recipe.</a:t>
            </a:r>
          </a:p>
          <a:p>
            <a:pPr marL="133350" marR="381000" lvl="0" indent="0">
              <a:spcBef>
                <a:spcPts val="1200"/>
              </a:spcBef>
              <a:spcAft>
                <a:spcPts val="0"/>
              </a:spcAft>
              <a:buSzPts val="1500"/>
              <a:buNone/>
            </a:pPr>
            <a:endParaRPr lang="en-US" dirty="0">
              <a:ea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8D393-8D5C-1FA6-D770-B5BBE80C8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443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7">
    <p:spTree>
      <p:nvGrpSpPr>
        <p:cNvPr id="1" name="">
          <a:extLst>
            <a:ext uri="{FF2B5EF4-FFF2-40B4-BE49-F238E27FC236}">
              <a16:creationId xmlns:a16="http://schemas.microsoft.com/office/drawing/2014/main" id="{D7753769-4BE1-EBE9-E57E-2E862167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A723B7-B164-4774-D7BE-5A8E562BA05E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949F6-F820-E832-AB83-2C56135E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Roadmap:</a:t>
            </a:r>
            <a:r>
              <a:rPr lang="en-US" dirty="0"/>
              <a:t> long-running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0E40-A077-33F5-3DD7-0C4CEFAD6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69395-B6EB-50BE-D895-A86AE6AD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1528E5B-73DC-0E9C-9EB3-BBAEEFE17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737" y="1548773"/>
            <a:ext cx="1413740" cy="146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20CEB3-4B7C-4C85-D265-9E5C30C50654}"/>
              </a:ext>
            </a:extLst>
          </p:cNvPr>
          <p:cNvSpPr/>
          <p:nvPr/>
        </p:nvSpPr>
        <p:spPr>
          <a:xfrm>
            <a:off x="593966" y="3381063"/>
            <a:ext cx="10437641" cy="325518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701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8">
    <p:spTree>
      <p:nvGrpSpPr>
        <p:cNvPr id="1" name="">
          <a:extLst>
            <a:ext uri="{FF2B5EF4-FFF2-40B4-BE49-F238E27FC236}">
              <a16:creationId xmlns:a16="http://schemas.microsoft.com/office/drawing/2014/main" id="{6C0C6E05-D055-1E00-2F2E-24F51733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D0964F-5B4B-E1EB-70A4-0F894C1CD1E3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3DA9-D6F5-DB67-5A34-5EC1767D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Roadmap:</a:t>
            </a:r>
            <a:r>
              <a:rPr lang="en-US" dirty="0"/>
              <a:t> long-running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8E2E-6B9A-53C5-E356-11A9AABD3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Approach 1:</a:t>
            </a:r>
            <a:r>
              <a:rPr lang="en-US" b="1" dirty="0"/>
              <a:t> Expand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more of the history </a:t>
            </a:r>
            <a:r>
              <a:rPr lang="en-US" i="1" dirty="0"/>
              <a:t>directly available.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Approach 2:</a:t>
            </a:r>
            <a:r>
              <a:rPr lang="en-US" b="1" dirty="0"/>
              <a:t> </a:t>
            </a:r>
            <a:r>
              <a:rPr lang="en-US" dirty="0"/>
              <a:t>Manage a </a:t>
            </a:r>
            <a:r>
              <a:rPr lang="en-US" b="1" dirty="0"/>
              <a:t>bounded context: </a:t>
            </a:r>
          </a:p>
          <a:p>
            <a:pPr lvl="1"/>
            <a:r>
              <a:rPr lang="en-US" dirty="0"/>
              <a:t>Selectively preserve what matters through </a:t>
            </a:r>
            <a:r>
              <a:rPr lang="en-US" i="1" dirty="0"/>
              <a:t>compression</a:t>
            </a:r>
            <a:r>
              <a:rPr lang="en-US" dirty="0"/>
              <a:t> and </a:t>
            </a:r>
            <a:r>
              <a:rPr lang="en-US" i="1" dirty="0"/>
              <a:t>retrieval.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1CB21-3167-07F2-502B-76B894F70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3DBDAE0-2D4F-DD83-C9D2-72EC9FF56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737" y="1548773"/>
            <a:ext cx="1413740" cy="146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64153F-C266-0CE1-5E11-D6BDAAAC802C}"/>
              </a:ext>
            </a:extLst>
          </p:cNvPr>
          <p:cNvSpPr/>
          <p:nvPr/>
        </p:nvSpPr>
        <p:spPr>
          <a:xfrm>
            <a:off x="593967" y="1939905"/>
            <a:ext cx="8296034" cy="130884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00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39">
    <p:spTree>
      <p:nvGrpSpPr>
        <p:cNvPr id="1" name="">
          <a:extLst>
            <a:ext uri="{FF2B5EF4-FFF2-40B4-BE49-F238E27FC236}">
              <a16:creationId xmlns:a16="http://schemas.microsoft.com/office/drawing/2014/main" id="{9DDA0068-ABE6-F183-CB24-A4682C28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7E3DFD-5D96-5F80-BAE7-93342FDF2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F65EB3-5443-551C-2C6B-3727EC48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Why bounded context? </a:t>
            </a:r>
            <a:br>
              <a:rPr lang="en-US" sz="2400" dirty="0"/>
            </a:br>
            <a:r>
              <a:rPr lang="en-US" dirty="0"/>
              <a:t>Challenge of scaling context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B1AD6-00E9-C61D-95EC-2E649422F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8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0">
    <p:spTree>
      <p:nvGrpSpPr>
        <p:cNvPr id="1" name="">
          <a:extLst>
            <a:ext uri="{FF2B5EF4-FFF2-40B4-BE49-F238E27FC236}">
              <a16:creationId xmlns:a16="http://schemas.microsoft.com/office/drawing/2014/main" id="{9DDA0068-ABE6-F183-CB24-A4682C28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2BBBDC-D23E-432D-04CB-B3F2AE4C1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515"/>
            <a:ext cx="10515600" cy="4662488"/>
          </a:xfrm>
        </p:spPr>
        <p:txBody>
          <a:bodyPr/>
          <a:lstStyle/>
          <a:p>
            <a:r>
              <a:rPr lang="en-US" dirty="0"/>
              <a:t>There are fundamental challenges in how to effectively scale the context window of models (cf. our earlier discussion).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7E3DFD-5D96-5F80-BAE7-93342FDF2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F65EB3-5443-551C-2C6B-3727EC48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Why bounded context? </a:t>
            </a:r>
            <a:br>
              <a:rPr lang="en-US" sz="2400" dirty="0"/>
            </a:br>
            <a:r>
              <a:rPr lang="en-US" dirty="0"/>
              <a:t>Challenge of scaling context</a:t>
            </a:r>
          </a:p>
        </p:txBody>
      </p:sp>
    </p:spTree>
    <p:extLst>
      <p:ext uri="{BB962C8B-B14F-4D97-AF65-F5344CB8AC3E}">
        <p14:creationId xmlns:p14="http://schemas.microsoft.com/office/powerpoint/2010/main" val="39859925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1">
    <p:spTree>
      <p:nvGrpSpPr>
        <p:cNvPr id="1" name="">
          <a:extLst>
            <a:ext uri="{FF2B5EF4-FFF2-40B4-BE49-F238E27FC236}">
              <a16:creationId xmlns:a16="http://schemas.microsoft.com/office/drawing/2014/main" id="{84F11BE0-865D-48C7-C702-0A9BD7FC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50F12A-ABDA-63F3-29A2-59C1EDC0B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71E4B-BFC4-B46F-522F-B725A4025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4B96EC-DE65-92F4-DCD7-686616A3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Why bounded context? </a:t>
            </a:r>
            <a:br>
              <a:rPr lang="en-US" sz="2400" dirty="0"/>
            </a:br>
            <a:r>
              <a:rPr lang="en-US" dirty="0"/>
              <a:t>Cost</a:t>
            </a:r>
            <a:r>
              <a:rPr lang="en-US" sz="28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00F7B-9DB9-99D9-DF57-1B5D7122B50F}"/>
              </a:ext>
            </a:extLst>
          </p:cNvPr>
          <p:cNvSpPr txBox="1"/>
          <p:nvPr/>
        </p:nvSpPr>
        <p:spPr>
          <a:xfrm>
            <a:off x="4346321" y="2167092"/>
            <a:ext cx="345960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>
                <a:solidFill>
                  <a:srgbClr val="07833C"/>
                </a:solidFill>
              </a:rPr>
              <a:t>$$$</a:t>
            </a:r>
          </a:p>
        </p:txBody>
      </p:sp>
    </p:spTree>
    <p:extLst>
      <p:ext uri="{BB962C8B-B14F-4D97-AF65-F5344CB8AC3E}">
        <p14:creationId xmlns:p14="http://schemas.microsoft.com/office/powerpoint/2010/main" val="41121601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2">
    <p:spTree>
      <p:nvGrpSpPr>
        <p:cNvPr id="1" name="">
          <a:extLst>
            <a:ext uri="{FF2B5EF4-FFF2-40B4-BE49-F238E27FC236}">
              <a16:creationId xmlns:a16="http://schemas.microsoft.com/office/drawing/2014/main" id="{777AFB34-B9A2-9F44-B1C9-688194F3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9A33B-D850-38CA-5752-48C6CF341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195"/>
            <a:ext cx="10515600" cy="4662488"/>
          </a:xfrm>
        </p:spPr>
        <p:txBody>
          <a:bodyPr/>
          <a:lstStyle/>
          <a:p>
            <a:r>
              <a:rPr lang="en-US" dirty="0"/>
              <a:t>Increasing context lowers attention fidelity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5E96CC-B5C1-B2AD-D4DE-49D862F89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E55DF4-86A0-D1E7-F1E3-3C5C7167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Why bounded context?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Context rot </a:t>
            </a:r>
          </a:p>
        </p:txBody>
      </p:sp>
    </p:spTree>
    <p:extLst>
      <p:ext uri="{BB962C8B-B14F-4D97-AF65-F5344CB8AC3E}">
        <p14:creationId xmlns:p14="http://schemas.microsoft.com/office/powerpoint/2010/main" val="13979360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3">
    <p:spTree>
      <p:nvGrpSpPr>
        <p:cNvPr id="1" name="">
          <a:extLst>
            <a:ext uri="{FF2B5EF4-FFF2-40B4-BE49-F238E27FC236}">
              <a16:creationId xmlns:a16="http://schemas.microsoft.com/office/drawing/2014/main" id="{777AFB34-B9A2-9F44-B1C9-688194F3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9A33B-D850-38CA-5752-48C6CF341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195"/>
            <a:ext cx="10515600" cy="4662488"/>
          </a:xfrm>
        </p:spPr>
        <p:txBody>
          <a:bodyPr/>
          <a:lstStyle/>
          <a:p>
            <a:r>
              <a:rPr lang="en-US" dirty="0"/>
              <a:t>Increasing context lowers attention fidelity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5E96CC-B5C1-B2AD-D4DE-49D862F89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E55DF4-86A0-D1E7-F1E3-3C5C7167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Why bounded context?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Context rot </a:t>
            </a:r>
          </a:p>
        </p:txBody>
      </p:sp>
      <p:sp>
        <p:nvSpPr>
          <p:cNvPr id="5" name="Google Shape;139;p20">
            <a:extLst>
              <a:ext uri="{FF2B5EF4-FFF2-40B4-BE49-F238E27FC236}">
                <a16:creationId xmlns:a16="http://schemas.microsoft.com/office/drawing/2014/main" id="{326F0DD7-2CBF-8775-4568-7EC2E03C14D4}"/>
              </a:ext>
            </a:extLst>
          </p:cNvPr>
          <p:cNvSpPr txBox="1"/>
          <p:nvPr/>
        </p:nvSpPr>
        <p:spPr>
          <a:xfrm>
            <a:off x="6954663" y="6074305"/>
            <a:ext cx="458215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Hsieh et al. RULER: What’s the Real Context Size of Your Long-Context Language Models? COLM, 2024. 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140;p20">
            <a:extLst>
              <a:ext uri="{FF2B5EF4-FFF2-40B4-BE49-F238E27FC236}">
                <a16:creationId xmlns:a16="http://schemas.microsoft.com/office/drawing/2014/main" id="{C9A034EC-1719-407E-9913-6E35C61701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b="39127"/>
          <a:stretch>
            <a:fillRect/>
          </a:stretch>
        </p:blipFill>
        <p:spPr>
          <a:xfrm>
            <a:off x="6974540" y="2540883"/>
            <a:ext cx="4379259" cy="30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2CD27293-7FBA-69B2-9EF3-C5A11CAFA186}"/>
              </a:ext>
            </a:extLst>
          </p:cNvPr>
          <p:cNvSpPr/>
          <p:nvPr/>
        </p:nvSpPr>
        <p:spPr>
          <a:xfrm>
            <a:off x="764973" y="3150892"/>
            <a:ext cx="5429940" cy="1569258"/>
          </a:xfrm>
          <a:prstGeom prst="roundRect">
            <a:avLst/>
          </a:prstGeom>
          <a:solidFill>
            <a:srgbClr val="EAEEFE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effective context window of models is much smaller than what they’re claimed to be. </a:t>
            </a:r>
          </a:p>
        </p:txBody>
      </p:sp>
    </p:spTree>
    <p:extLst>
      <p:ext uri="{BB962C8B-B14F-4D97-AF65-F5344CB8AC3E}">
        <p14:creationId xmlns:p14="http://schemas.microsoft.com/office/powerpoint/2010/main" val="41212291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4">
    <p:spTree>
      <p:nvGrpSpPr>
        <p:cNvPr id="1" name="">
          <a:extLst>
            <a:ext uri="{FF2B5EF4-FFF2-40B4-BE49-F238E27FC236}">
              <a16:creationId xmlns:a16="http://schemas.microsoft.com/office/drawing/2014/main" id="{A95275CF-C70A-E4DE-54EF-A477FEDC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CC6FD-CD38-02CA-746F-FFB8BDFD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92411-5939-BA69-D2F0-C967A79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common mechanism to shorten context: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dirty="0"/>
              <a:t>“Compaction”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3F53E-1505-2940-8227-04A24B53B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594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5">
    <p:spTree>
      <p:nvGrpSpPr>
        <p:cNvPr id="1" name="">
          <a:extLst>
            <a:ext uri="{FF2B5EF4-FFF2-40B4-BE49-F238E27FC236}">
              <a16:creationId xmlns:a16="http://schemas.microsoft.com/office/drawing/2014/main" id="{A95275CF-C70A-E4DE-54EF-A477FEDC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1ADB45-B7A7-9948-6B37-CFFEECC2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95"/>
            <a:ext cx="10515600" cy="4662488"/>
          </a:xfrm>
        </p:spPr>
        <p:txBody>
          <a:bodyPr/>
          <a:lstStyle/>
          <a:p>
            <a:r>
              <a:rPr lang="en-US" sz="3200" dirty="0"/>
              <a:t>Compaction :=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condenses that context into a short summary,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releases the memory,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generation continues from the summary.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CC6FD-CD38-02CA-746F-FFB8BDFD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92411-5939-BA69-D2F0-C967A79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common mechanism to shorten context: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dirty="0"/>
              <a:t>“Compaction”</a:t>
            </a:r>
          </a:p>
        </p:txBody>
      </p:sp>
    </p:spTree>
    <p:extLst>
      <p:ext uri="{BB962C8B-B14F-4D97-AF65-F5344CB8AC3E}">
        <p14:creationId xmlns:p14="http://schemas.microsoft.com/office/powerpoint/2010/main" val="31991388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6">
    <p:spTree>
      <p:nvGrpSpPr>
        <p:cNvPr id="1" name="">
          <a:extLst>
            <a:ext uri="{FF2B5EF4-FFF2-40B4-BE49-F238E27FC236}">
              <a16:creationId xmlns:a16="http://schemas.microsoft.com/office/drawing/2014/main" id="{A95275CF-C70A-E4DE-54EF-A477FEDC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1ADB45-B7A7-9948-6B37-CFFEECC2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95"/>
            <a:ext cx="10515600" cy="4662488"/>
          </a:xfrm>
        </p:spPr>
        <p:txBody>
          <a:bodyPr/>
          <a:lstStyle/>
          <a:p>
            <a:r>
              <a:rPr lang="en-US" sz="3200" dirty="0"/>
              <a:t>Compaction :=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condenses that context into a short summary,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releases the memory,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generation continues from the summary.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CC6FD-CD38-02CA-746F-FFB8BDFD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92411-5939-BA69-D2F0-C967A79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common mechanism to shorten context: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dirty="0"/>
              <a:t>“Compaction”</a:t>
            </a:r>
          </a:p>
        </p:txBody>
      </p:sp>
    </p:spTree>
    <p:extLst>
      <p:ext uri="{BB962C8B-B14F-4D97-AF65-F5344CB8AC3E}">
        <p14:creationId xmlns:p14="http://schemas.microsoft.com/office/powerpoint/2010/main" val="340121652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7">
    <p:spTree>
      <p:nvGrpSpPr>
        <p:cNvPr id="1" name="">
          <a:extLst>
            <a:ext uri="{FF2B5EF4-FFF2-40B4-BE49-F238E27FC236}">
              <a16:creationId xmlns:a16="http://schemas.microsoft.com/office/drawing/2014/main" id="{A95275CF-C70A-E4DE-54EF-A477FEDC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1ADB45-B7A7-9948-6B37-CFFEECC2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95"/>
            <a:ext cx="10515600" cy="4662488"/>
          </a:xfrm>
        </p:spPr>
        <p:txBody>
          <a:bodyPr/>
          <a:lstStyle/>
          <a:p>
            <a:r>
              <a:rPr lang="en-US" sz="3200" dirty="0"/>
              <a:t>Compaction :=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condenses that context into a short summary,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releases the memory,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generation continues from the summary.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CC6FD-CD38-02CA-746F-FFB8BDFD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92411-5939-BA69-D2F0-C967A79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common mechanism to shorten context: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dirty="0"/>
              <a:t>“Compaction”</a:t>
            </a:r>
          </a:p>
        </p:txBody>
      </p:sp>
    </p:spTree>
    <p:extLst>
      <p:ext uri="{BB962C8B-B14F-4D97-AF65-F5344CB8AC3E}">
        <p14:creationId xmlns:p14="http://schemas.microsoft.com/office/powerpoint/2010/main" val="29254674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8">
    <p:spTree>
      <p:nvGrpSpPr>
        <p:cNvPr id="1" name="">
          <a:extLst>
            <a:ext uri="{FF2B5EF4-FFF2-40B4-BE49-F238E27FC236}">
              <a16:creationId xmlns:a16="http://schemas.microsoft.com/office/drawing/2014/main" id="{A95275CF-C70A-E4DE-54EF-A477FEDC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1ADB45-B7A7-9948-6B37-CFFEECC2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95"/>
            <a:ext cx="10515600" cy="4662488"/>
          </a:xfrm>
        </p:spPr>
        <p:txBody>
          <a:bodyPr/>
          <a:lstStyle/>
          <a:p>
            <a:r>
              <a:rPr lang="en-US" sz="3200" dirty="0"/>
              <a:t>Compaction :=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condenses that context into a short summary,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releases the memory,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generation continues from the summary.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CC6FD-CD38-02CA-746F-FFB8BDFD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92411-5939-BA69-D2F0-C967A79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common mechanism to shorten context: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dirty="0"/>
              <a:t>“Compaction”</a:t>
            </a:r>
          </a:p>
        </p:txBody>
      </p:sp>
    </p:spTree>
    <p:extLst>
      <p:ext uri="{BB962C8B-B14F-4D97-AF65-F5344CB8AC3E}">
        <p14:creationId xmlns:p14="http://schemas.microsoft.com/office/powerpoint/2010/main" val="32062156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49">
    <p:spTree>
      <p:nvGrpSpPr>
        <p:cNvPr id="1" name="">
          <a:extLst>
            <a:ext uri="{FF2B5EF4-FFF2-40B4-BE49-F238E27FC236}">
              <a16:creationId xmlns:a16="http://schemas.microsoft.com/office/drawing/2014/main" id="{371195B1-EFD8-ED1D-5566-C78F6568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387EA-A72E-5A31-60E8-0E99042A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440734"/>
            <a:ext cx="11675511" cy="4662488"/>
          </a:xfrm>
        </p:spPr>
        <p:txBody>
          <a:bodyPr/>
          <a:lstStyle/>
          <a:p>
            <a:r>
              <a:rPr lang="en-US"/>
              <a:t>Nowadays compaction is used in all agentic tools. </a:t>
            </a:r>
          </a:p>
          <a:p>
            <a:endParaRPr lang="en-US"/>
          </a:p>
          <a:p>
            <a:r>
              <a:rPr lang="en-US"/>
              <a:t>It used to be that it triggered near the point of exceeding the window. </a:t>
            </a:r>
          </a:p>
          <a:p>
            <a:r>
              <a:rPr lang="en-US"/>
              <a:t>Increasingly compaction is frequent and invisible. </a:t>
            </a:r>
          </a:p>
          <a:p>
            <a:endParaRPr lang="en-US"/>
          </a:p>
          <a:p>
            <a:r>
              <a:rPr lang="en-US"/>
              <a:t>It works more or less, </a:t>
            </a:r>
            <a:r>
              <a:rPr lang="en-US" b="1"/>
              <a:t>but</a:t>
            </a:r>
            <a:r>
              <a:rPr lang="en-US"/>
              <a:t>: </a:t>
            </a:r>
          </a:p>
          <a:p>
            <a:pPr lvl="1"/>
            <a:r>
              <a:rPr lang="en-US"/>
              <a:t>Hard to study it scientifically. </a:t>
            </a:r>
          </a:p>
          <a:p>
            <a:pPr lvl="1"/>
            <a:r>
              <a:rPr lang="en-US"/>
              <a:t>Not perfect and not doing it at the right time will be harmful. </a:t>
            </a:r>
          </a:p>
          <a:p>
            <a:pPr lvl="1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83785-6000-810D-037E-ABAA41D5D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C51A75-5021-7092-8FE1-F8F49BD1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 in today’s agents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EF6FE3-2203-E8FB-F754-C8D01B7DA1CF}"/>
              </a:ext>
            </a:extLst>
          </p:cNvPr>
          <p:cNvSpPr/>
          <p:nvPr/>
        </p:nvSpPr>
        <p:spPr>
          <a:xfrm>
            <a:off x="200025" y="1272785"/>
            <a:ext cx="10904541" cy="1106923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3AE15-3FFB-91B7-B607-A4FBBD4C3FD2}"/>
              </a:ext>
            </a:extLst>
          </p:cNvPr>
          <p:cNvSpPr/>
          <p:nvPr/>
        </p:nvSpPr>
        <p:spPr>
          <a:xfrm>
            <a:off x="354563" y="2590411"/>
            <a:ext cx="11301521" cy="1106923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0CDB2-513E-0DCE-8CFF-FA44D0B21EEC}"/>
              </a:ext>
            </a:extLst>
          </p:cNvPr>
          <p:cNvSpPr/>
          <p:nvPr/>
        </p:nvSpPr>
        <p:spPr>
          <a:xfrm>
            <a:off x="354562" y="4076970"/>
            <a:ext cx="11301521" cy="163737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158162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0">
    <p:spTree>
      <p:nvGrpSpPr>
        <p:cNvPr id="1" name="">
          <a:extLst>
            <a:ext uri="{FF2B5EF4-FFF2-40B4-BE49-F238E27FC236}">
              <a16:creationId xmlns:a16="http://schemas.microsoft.com/office/drawing/2014/main" id="{371195B1-EFD8-ED1D-5566-C78F6568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387EA-A72E-5A31-60E8-0E99042A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440734"/>
            <a:ext cx="11675511" cy="4662488"/>
          </a:xfrm>
        </p:spPr>
        <p:txBody>
          <a:bodyPr/>
          <a:lstStyle/>
          <a:p>
            <a:r>
              <a:rPr lang="en-US"/>
              <a:t>Nowadays compaction is used in all agentic tools. </a:t>
            </a:r>
          </a:p>
          <a:p>
            <a:endParaRPr lang="en-US"/>
          </a:p>
          <a:p>
            <a:r>
              <a:rPr lang="en-US"/>
              <a:t>It used to be that it triggered near the point of exceeding the window. </a:t>
            </a:r>
          </a:p>
          <a:p>
            <a:r>
              <a:rPr lang="en-US"/>
              <a:t>Increasingly compaction is frequent and invisible. </a:t>
            </a:r>
          </a:p>
          <a:p>
            <a:endParaRPr lang="en-US"/>
          </a:p>
          <a:p>
            <a:r>
              <a:rPr lang="en-US"/>
              <a:t>It works more or less, </a:t>
            </a:r>
            <a:r>
              <a:rPr lang="en-US" b="1"/>
              <a:t>but</a:t>
            </a:r>
            <a:r>
              <a:rPr lang="en-US"/>
              <a:t>: </a:t>
            </a:r>
          </a:p>
          <a:p>
            <a:pPr lvl="1"/>
            <a:r>
              <a:rPr lang="en-US"/>
              <a:t>Hard to study it scientifically. </a:t>
            </a:r>
          </a:p>
          <a:p>
            <a:pPr lvl="1"/>
            <a:r>
              <a:rPr lang="en-US"/>
              <a:t>Not perfect and not doing it at the right time will be harmful. </a:t>
            </a:r>
          </a:p>
          <a:p>
            <a:pPr lvl="1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83785-6000-810D-037E-ABAA41D5D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C51A75-5021-7092-8FE1-F8F49BD1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 in today’s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3AE15-3FFB-91B7-B607-A4FBBD4C3FD2}"/>
              </a:ext>
            </a:extLst>
          </p:cNvPr>
          <p:cNvSpPr/>
          <p:nvPr/>
        </p:nvSpPr>
        <p:spPr>
          <a:xfrm>
            <a:off x="354563" y="2590411"/>
            <a:ext cx="11301521" cy="1106923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0CDB2-513E-0DCE-8CFF-FA44D0B21EEC}"/>
              </a:ext>
            </a:extLst>
          </p:cNvPr>
          <p:cNvSpPr/>
          <p:nvPr/>
        </p:nvSpPr>
        <p:spPr>
          <a:xfrm>
            <a:off x="354562" y="4076970"/>
            <a:ext cx="11301521" cy="163737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221737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1">
    <p:spTree>
      <p:nvGrpSpPr>
        <p:cNvPr id="1" name="">
          <a:extLst>
            <a:ext uri="{FF2B5EF4-FFF2-40B4-BE49-F238E27FC236}">
              <a16:creationId xmlns:a16="http://schemas.microsoft.com/office/drawing/2014/main" id="{371195B1-EFD8-ED1D-5566-C78F6568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387EA-A72E-5A31-60E8-0E99042A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440734"/>
            <a:ext cx="11675511" cy="4662488"/>
          </a:xfrm>
        </p:spPr>
        <p:txBody>
          <a:bodyPr/>
          <a:lstStyle/>
          <a:p>
            <a:r>
              <a:rPr lang="en-US"/>
              <a:t>Nowadays compaction is used in all agentic tools. </a:t>
            </a:r>
          </a:p>
          <a:p>
            <a:endParaRPr lang="en-US"/>
          </a:p>
          <a:p>
            <a:r>
              <a:rPr lang="en-US"/>
              <a:t>It used to be that it triggered near the point of exceeding the window. </a:t>
            </a:r>
          </a:p>
          <a:p>
            <a:r>
              <a:rPr lang="en-US"/>
              <a:t>Increasingly compaction is frequent and invisible. </a:t>
            </a:r>
          </a:p>
          <a:p>
            <a:endParaRPr lang="en-US"/>
          </a:p>
          <a:p>
            <a:r>
              <a:rPr lang="en-US"/>
              <a:t>It works more or less, </a:t>
            </a:r>
            <a:r>
              <a:rPr lang="en-US" b="1"/>
              <a:t>but</a:t>
            </a:r>
            <a:r>
              <a:rPr lang="en-US"/>
              <a:t>: </a:t>
            </a:r>
          </a:p>
          <a:p>
            <a:pPr lvl="1"/>
            <a:r>
              <a:rPr lang="en-US"/>
              <a:t>Hard to study it scientifically. </a:t>
            </a:r>
          </a:p>
          <a:p>
            <a:pPr lvl="1"/>
            <a:r>
              <a:rPr lang="en-US"/>
              <a:t>Not perfect and not doing it at the right time will be harmful. </a:t>
            </a:r>
          </a:p>
          <a:p>
            <a:pPr lvl="1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83785-6000-810D-037E-ABAA41D5D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C51A75-5021-7092-8FE1-F8F49BD1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 in today’s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0CDB2-513E-0DCE-8CFF-FA44D0B21EEC}"/>
              </a:ext>
            </a:extLst>
          </p:cNvPr>
          <p:cNvSpPr/>
          <p:nvPr/>
        </p:nvSpPr>
        <p:spPr>
          <a:xfrm>
            <a:off x="354562" y="4076970"/>
            <a:ext cx="11301521" cy="1637379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177649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2">
    <p:spTree>
      <p:nvGrpSpPr>
        <p:cNvPr id="1" name="">
          <a:extLst>
            <a:ext uri="{FF2B5EF4-FFF2-40B4-BE49-F238E27FC236}">
              <a16:creationId xmlns:a16="http://schemas.microsoft.com/office/drawing/2014/main" id="{371195B1-EFD8-ED1D-5566-C78F6568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387EA-A72E-5A31-60E8-0E99042A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440734"/>
            <a:ext cx="11675511" cy="4662488"/>
          </a:xfrm>
        </p:spPr>
        <p:txBody>
          <a:bodyPr/>
          <a:lstStyle/>
          <a:p>
            <a:r>
              <a:rPr lang="en-US"/>
              <a:t>Nowadays compaction is used in all agentic tools. </a:t>
            </a:r>
          </a:p>
          <a:p>
            <a:endParaRPr lang="en-US"/>
          </a:p>
          <a:p>
            <a:r>
              <a:rPr lang="en-US"/>
              <a:t>It used to be that it triggered near the point of exceeding the window. </a:t>
            </a:r>
          </a:p>
          <a:p>
            <a:r>
              <a:rPr lang="en-US"/>
              <a:t>Increasingly compaction is frequent and invisible. </a:t>
            </a:r>
          </a:p>
          <a:p>
            <a:endParaRPr lang="en-US"/>
          </a:p>
          <a:p>
            <a:r>
              <a:rPr lang="en-US"/>
              <a:t>It works more or less, </a:t>
            </a:r>
            <a:r>
              <a:rPr lang="en-US" b="1"/>
              <a:t>but</a:t>
            </a:r>
            <a:r>
              <a:rPr lang="en-US"/>
              <a:t>: </a:t>
            </a:r>
          </a:p>
          <a:p>
            <a:pPr lvl="1"/>
            <a:r>
              <a:rPr lang="en-US"/>
              <a:t>Hard to study it scientifically. </a:t>
            </a:r>
          </a:p>
          <a:p>
            <a:pPr lvl="1"/>
            <a:r>
              <a:rPr lang="en-US"/>
              <a:t>Not perfect and not doing it at the right time will be harmful. </a:t>
            </a:r>
          </a:p>
          <a:p>
            <a:pPr lvl="1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83785-6000-810D-037E-ABAA41D5D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C51A75-5021-7092-8FE1-F8F49BD1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 in today’s agents</a:t>
            </a:r>
          </a:p>
        </p:txBody>
      </p:sp>
    </p:spTree>
    <p:extLst>
      <p:ext uri="{BB962C8B-B14F-4D97-AF65-F5344CB8AC3E}">
        <p14:creationId xmlns:p14="http://schemas.microsoft.com/office/powerpoint/2010/main" val="31539587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6B946-F1D5-C472-3881-CA712D9F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343465-9E5F-7AA2-80A3-653D1E75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 </a:t>
            </a:r>
          </a:p>
        </p:txBody>
      </p:sp>
    </p:spTree>
    <p:extLst>
      <p:ext uri="{BB962C8B-B14F-4D97-AF65-F5344CB8AC3E}">
        <p14:creationId xmlns:p14="http://schemas.microsoft.com/office/powerpoint/2010/main" val="386763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6B946-F1D5-C472-3881-CA712D9F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343465-9E5F-7AA2-80A3-653D1E75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217240-D6DA-D90D-B438-92BC26C0EE72}"/>
              </a:ext>
            </a:extLst>
          </p:cNvPr>
          <p:cNvSpPr/>
          <p:nvPr/>
        </p:nvSpPr>
        <p:spPr>
          <a:xfrm>
            <a:off x="1340645" y="1911979"/>
            <a:ext cx="9970358" cy="1470435"/>
          </a:xfrm>
          <a:prstGeom prst="roundRect">
            <a:avLst/>
          </a:prstGeom>
          <a:solidFill>
            <a:srgbClr val="FCFCD1"/>
          </a:solidFill>
          <a:ln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off-the-shelf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decide </a:t>
            </a:r>
            <a:b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compact their own history? </a:t>
            </a:r>
          </a:p>
        </p:txBody>
      </p:sp>
    </p:spTree>
    <p:extLst>
      <p:ext uri="{BB962C8B-B14F-4D97-AF65-F5344CB8AC3E}">
        <p14:creationId xmlns:p14="http://schemas.microsoft.com/office/powerpoint/2010/main" val="34320449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6B946-F1D5-C472-3881-CA712D9F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343465-9E5F-7AA2-80A3-653D1E75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217240-D6DA-D90D-B438-92BC26C0EE72}"/>
              </a:ext>
            </a:extLst>
          </p:cNvPr>
          <p:cNvSpPr/>
          <p:nvPr/>
        </p:nvSpPr>
        <p:spPr>
          <a:xfrm>
            <a:off x="1340645" y="1911979"/>
            <a:ext cx="9970358" cy="1470435"/>
          </a:xfrm>
          <a:prstGeom prst="roundRect">
            <a:avLst/>
          </a:prstGeom>
          <a:solidFill>
            <a:srgbClr val="FCFCD1"/>
          </a:solidFill>
          <a:ln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off-the-shelf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decide </a:t>
            </a:r>
            <a:b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compact their own history? 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3E94CFCF-FA23-F097-2FBC-FCEC3A2BC169}"/>
              </a:ext>
            </a:extLst>
          </p:cNvPr>
          <p:cNvSpPr/>
          <p:nvPr/>
        </p:nvSpPr>
        <p:spPr>
          <a:xfrm>
            <a:off x="3998052" y="3577790"/>
            <a:ext cx="1682483" cy="976745"/>
          </a:xfrm>
          <a:prstGeom prst="wedgeRoundRectCallout">
            <a:avLst>
              <a:gd name="adj1" fmla="val -32297"/>
              <a:gd name="adj2" fmla="val -9176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How? </a:t>
            </a:r>
          </a:p>
        </p:txBody>
      </p:sp>
    </p:spTree>
    <p:extLst>
      <p:ext uri="{BB962C8B-B14F-4D97-AF65-F5344CB8AC3E}">
        <p14:creationId xmlns:p14="http://schemas.microsoft.com/office/powerpoint/2010/main" val="29092145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6B946-F1D5-C472-3881-CA712D9F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343465-9E5F-7AA2-80A3-653D1E75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217240-D6DA-D90D-B438-92BC26C0EE72}"/>
              </a:ext>
            </a:extLst>
          </p:cNvPr>
          <p:cNvSpPr/>
          <p:nvPr/>
        </p:nvSpPr>
        <p:spPr>
          <a:xfrm>
            <a:off x="1340645" y="1911979"/>
            <a:ext cx="9970358" cy="1470435"/>
          </a:xfrm>
          <a:prstGeom prst="roundRect">
            <a:avLst/>
          </a:prstGeom>
          <a:solidFill>
            <a:srgbClr val="FCFCD1"/>
          </a:solidFill>
          <a:ln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off-the-shelf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decide </a:t>
            </a:r>
            <a:b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compact their own history? 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A9EA4FCC-6605-F746-3F14-251CEF6E5CA0}"/>
              </a:ext>
            </a:extLst>
          </p:cNvPr>
          <p:cNvSpPr/>
          <p:nvPr/>
        </p:nvSpPr>
        <p:spPr>
          <a:xfrm>
            <a:off x="961841" y="3577790"/>
            <a:ext cx="1682483" cy="976745"/>
          </a:xfrm>
          <a:prstGeom prst="wedgeRoundRectCallout">
            <a:avLst>
              <a:gd name="adj1" fmla="val 32822"/>
              <a:gd name="adj2" fmla="val -9276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When? 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3E94CFCF-FA23-F097-2FBC-FCEC3A2BC169}"/>
              </a:ext>
            </a:extLst>
          </p:cNvPr>
          <p:cNvSpPr/>
          <p:nvPr/>
        </p:nvSpPr>
        <p:spPr>
          <a:xfrm>
            <a:off x="3998052" y="3577790"/>
            <a:ext cx="1682483" cy="976745"/>
          </a:xfrm>
          <a:prstGeom prst="wedgeRoundRectCallout">
            <a:avLst>
              <a:gd name="adj1" fmla="val -32297"/>
              <a:gd name="adj2" fmla="val -9176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How? </a:t>
            </a:r>
          </a:p>
        </p:txBody>
      </p:sp>
    </p:spTree>
    <p:extLst>
      <p:ext uri="{BB962C8B-B14F-4D97-AF65-F5344CB8AC3E}">
        <p14:creationId xmlns:p14="http://schemas.microsoft.com/office/powerpoint/2010/main" val="23885455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7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57664929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8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111693163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59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212032121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0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32087428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1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14994723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2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4436504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3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427416741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4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191150016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5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24281F-28AD-A190-592E-B53A876ACC2B}"/>
              </a:ext>
            </a:extLst>
          </p:cNvPr>
          <p:cNvSpPr/>
          <p:nvPr/>
        </p:nvSpPr>
        <p:spPr>
          <a:xfrm>
            <a:off x="695425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B706BE-F952-A4B5-3A2D-91171A3FD89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655354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147338707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6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24281F-28AD-A190-592E-B53A876ACC2B}"/>
              </a:ext>
            </a:extLst>
          </p:cNvPr>
          <p:cNvSpPr/>
          <p:nvPr/>
        </p:nvSpPr>
        <p:spPr>
          <a:xfrm>
            <a:off x="695425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421D8A-9382-A848-A56C-942D227424D5}"/>
              </a:ext>
            </a:extLst>
          </p:cNvPr>
          <p:cNvSpPr/>
          <p:nvPr/>
        </p:nvSpPr>
        <p:spPr>
          <a:xfrm>
            <a:off x="758238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B706BE-F952-A4B5-3A2D-91171A3FD89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655354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6A46C3D-5516-A7C6-76A5-8B0F2F0A34D2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181676" y="4264880"/>
            <a:ext cx="40070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325711528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7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24281F-28AD-A190-592E-B53A876ACC2B}"/>
              </a:ext>
            </a:extLst>
          </p:cNvPr>
          <p:cNvSpPr/>
          <p:nvPr/>
        </p:nvSpPr>
        <p:spPr>
          <a:xfrm>
            <a:off x="695425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421D8A-9382-A848-A56C-942D227424D5}"/>
              </a:ext>
            </a:extLst>
          </p:cNvPr>
          <p:cNvSpPr/>
          <p:nvPr/>
        </p:nvSpPr>
        <p:spPr>
          <a:xfrm>
            <a:off x="758238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E21E73-14CC-E363-B289-D4CF6B45BF54}"/>
              </a:ext>
            </a:extLst>
          </p:cNvPr>
          <p:cNvSpPr/>
          <p:nvPr/>
        </p:nvSpPr>
        <p:spPr>
          <a:xfrm>
            <a:off x="821050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B706BE-F952-A4B5-3A2D-91171A3FD89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655354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6A46C3D-5516-A7C6-76A5-8B0F2F0A34D2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181676" y="4264880"/>
            <a:ext cx="40070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A9BB8E6-6F0C-96E0-B292-C520EE9B5B3F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780980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1634210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8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24281F-28AD-A190-592E-B53A876ACC2B}"/>
              </a:ext>
            </a:extLst>
          </p:cNvPr>
          <p:cNvSpPr/>
          <p:nvPr/>
        </p:nvSpPr>
        <p:spPr>
          <a:xfrm>
            <a:off x="695425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421D8A-9382-A848-A56C-942D227424D5}"/>
              </a:ext>
            </a:extLst>
          </p:cNvPr>
          <p:cNvSpPr/>
          <p:nvPr/>
        </p:nvSpPr>
        <p:spPr>
          <a:xfrm>
            <a:off x="758238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E21E73-14CC-E363-B289-D4CF6B45BF54}"/>
              </a:ext>
            </a:extLst>
          </p:cNvPr>
          <p:cNvSpPr/>
          <p:nvPr/>
        </p:nvSpPr>
        <p:spPr>
          <a:xfrm>
            <a:off x="821050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B6DBE-82CA-458E-6DA1-80EFF539B161}"/>
              </a:ext>
            </a:extLst>
          </p:cNvPr>
          <p:cNvSpPr txBox="1"/>
          <p:nvPr/>
        </p:nvSpPr>
        <p:spPr>
          <a:xfrm>
            <a:off x="8468407" y="4049436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B706BE-F952-A4B5-3A2D-91171A3FD89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655354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6A46C3D-5516-A7C6-76A5-8B0F2F0A34D2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181676" y="4264880"/>
            <a:ext cx="40070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A9BB8E6-6F0C-96E0-B292-C520EE9B5B3F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780980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21644399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69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654EC17-6C44-2435-14BE-2DC431461D70}"/>
              </a:ext>
            </a:extLst>
          </p:cNvPr>
          <p:cNvSpPr/>
          <p:nvPr/>
        </p:nvSpPr>
        <p:spPr>
          <a:xfrm>
            <a:off x="9502700" y="4090571"/>
            <a:ext cx="1251577" cy="394649"/>
          </a:xfrm>
          <a:prstGeom prst="roundRect">
            <a:avLst>
              <a:gd name="adj" fmla="val 30000"/>
            </a:avLst>
          </a:prstGeom>
          <a:solidFill>
            <a:srgbClr val="FDEBE9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✗ 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None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24281F-28AD-A190-592E-B53A876ACC2B}"/>
              </a:ext>
            </a:extLst>
          </p:cNvPr>
          <p:cNvSpPr/>
          <p:nvPr/>
        </p:nvSpPr>
        <p:spPr>
          <a:xfrm>
            <a:off x="695425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421D8A-9382-A848-A56C-942D227424D5}"/>
              </a:ext>
            </a:extLst>
          </p:cNvPr>
          <p:cNvSpPr/>
          <p:nvPr/>
        </p:nvSpPr>
        <p:spPr>
          <a:xfrm>
            <a:off x="758238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E21E73-14CC-E363-B289-D4CF6B45BF54}"/>
              </a:ext>
            </a:extLst>
          </p:cNvPr>
          <p:cNvSpPr/>
          <p:nvPr/>
        </p:nvSpPr>
        <p:spPr>
          <a:xfrm>
            <a:off x="821050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B6DBE-82CA-458E-6DA1-80EFF539B161}"/>
              </a:ext>
            </a:extLst>
          </p:cNvPr>
          <p:cNvSpPr txBox="1"/>
          <p:nvPr/>
        </p:nvSpPr>
        <p:spPr>
          <a:xfrm>
            <a:off x="8468407" y="4049436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B706BE-F952-A4B5-3A2D-91171A3FD89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655354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6A46C3D-5516-A7C6-76A5-8B0F2F0A34D2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181676" y="4264880"/>
            <a:ext cx="40070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A9BB8E6-6F0C-96E0-B292-C520EE9B5B3F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780980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5FD66-3032-9AAC-DBB3-B83E85B39716}"/>
              </a:ext>
            </a:extLst>
          </p:cNvPr>
          <p:cNvSpPr txBox="1"/>
          <p:nvPr/>
        </p:nvSpPr>
        <p:spPr>
          <a:xfrm>
            <a:off x="9423287" y="3630851"/>
            <a:ext cx="149862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Final Answer:</a:t>
            </a:r>
            <a:endParaRPr lang="en-US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23719925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0">
    <p:spTree>
      <p:nvGrpSpPr>
        <p:cNvPr id="1" name="">
          <a:extLst>
            <a:ext uri="{FF2B5EF4-FFF2-40B4-BE49-F238E27FC236}">
              <a16:creationId xmlns:a16="http://schemas.microsoft.com/office/drawing/2014/main" id="{77141243-8D9D-14DC-4A92-B58CC8D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654EC17-6C44-2435-14BE-2DC431461D70}"/>
              </a:ext>
            </a:extLst>
          </p:cNvPr>
          <p:cNvSpPr/>
          <p:nvPr/>
        </p:nvSpPr>
        <p:spPr>
          <a:xfrm>
            <a:off x="9502700" y="4090571"/>
            <a:ext cx="1251577" cy="394649"/>
          </a:xfrm>
          <a:prstGeom prst="roundRect">
            <a:avLst>
              <a:gd name="adj" fmla="val 30000"/>
            </a:avLst>
          </a:prstGeom>
          <a:solidFill>
            <a:srgbClr val="FDEBE9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✗ 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None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FD30AF-5B11-C873-5FE5-895C3F3DB7EB}"/>
              </a:ext>
            </a:extLst>
          </p:cNvPr>
          <p:cNvSpPr/>
          <p:nvPr/>
        </p:nvSpPr>
        <p:spPr>
          <a:xfrm>
            <a:off x="381361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450E01-94E1-D704-DE20-E3F908CCF628}"/>
              </a:ext>
            </a:extLst>
          </p:cNvPr>
          <p:cNvSpPr/>
          <p:nvPr/>
        </p:nvSpPr>
        <p:spPr>
          <a:xfrm>
            <a:off x="444174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E539AE-2C40-BCB4-98B5-66C39B5D5086}"/>
              </a:ext>
            </a:extLst>
          </p:cNvPr>
          <p:cNvSpPr/>
          <p:nvPr/>
        </p:nvSpPr>
        <p:spPr>
          <a:xfrm>
            <a:off x="506986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A3CC0-1AC8-E74F-2B2F-DE00D9C2C87C}"/>
              </a:ext>
            </a:extLst>
          </p:cNvPr>
          <p:cNvSpPr/>
          <p:nvPr/>
        </p:nvSpPr>
        <p:spPr>
          <a:xfrm>
            <a:off x="5697995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CAEEB2-B267-C882-60A5-A76740252DAF}"/>
              </a:ext>
            </a:extLst>
          </p:cNvPr>
          <p:cNvSpPr/>
          <p:nvPr/>
        </p:nvSpPr>
        <p:spPr>
          <a:xfrm>
            <a:off x="6326122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24281F-28AD-A190-592E-B53A876ACC2B}"/>
              </a:ext>
            </a:extLst>
          </p:cNvPr>
          <p:cNvSpPr/>
          <p:nvPr/>
        </p:nvSpPr>
        <p:spPr>
          <a:xfrm>
            <a:off x="695425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421D8A-9382-A848-A56C-942D227424D5}"/>
              </a:ext>
            </a:extLst>
          </p:cNvPr>
          <p:cNvSpPr/>
          <p:nvPr/>
        </p:nvSpPr>
        <p:spPr>
          <a:xfrm>
            <a:off x="7582380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E21E73-14CC-E363-B289-D4CF6B45BF54}"/>
              </a:ext>
            </a:extLst>
          </p:cNvPr>
          <p:cNvSpPr/>
          <p:nvPr/>
        </p:nvSpPr>
        <p:spPr>
          <a:xfrm>
            <a:off x="8210507" y="41511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B6DBE-82CA-458E-6DA1-80EFF539B161}"/>
              </a:ext>
            </a:extLst>
          </p:cNvPr>
          <p:cNvSpPr txBox="1"/>
          <p:nvPr/>
        </p:nvSpPr>
        <p:spPr>
          <a:xfrm>
            <a:off x="8468407" y="4049436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F2A1-403E-F03C-DDB0-85CEA973E0D8}"/>
              </a:ext>
            </a:extLst>
          </p:cNvPr>
          <p:cNvCxnSpPr>
            <a:cxnSpLocks/>
            <a:stCxn id="118" idx="3"/>
            <a:endCxn id="20" idx="2"/>
          </p:cNvCxnSpPr>
          <p:nvPr/>
        </p:nvCxnSpPr>
        <p:spPr>
          <a:xfrm>
            <a:off x="3433620" y="4262962"/>
            <a:ext cx="379992" cy="19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17EE2E-A2BD-A405-1116-F065B6F915EB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4103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DD8FFC-9A8D-4616-3516-552C857C6B1E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466916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D49C25-F8EF-B250-CFF5-AA2C7F0477E0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297294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AC45857-EC68-B251-C7FF-A3868D68340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5925422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B706BE-F952-A4B5-3A2D-91171A3FD89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6553549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6A46C3D-5516-A7C6-76A5-8B0F2F0A34D2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181676" y="4264880"/>
            <a:ext cx="40070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A9BB8E6-6F0C-96E0-B292-C520EE9B5B3F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7809806" y="4264880"/>
            <a:ext cx="400702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B56FEBEF-61BE-3E14-9C28-670CE14A3359}"/>
              </a:ext>
            </a:extLst>
          </p:cNvPr>
          <p:cNvSpPr txBox="1"/>
          <p:nvPr/>
        </p:nvSpPr>
        <p:spPr>
          <a:xfrm>
            <a:off x="2990849" y="404751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9FF02B4-8A41-8A91-DEBE-BAF678BCA328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214966B-3BFB-F962-2DE2-E5E0A590AFA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15556FA-D485-A8E0-FC28-81EF4433BE8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7B70F-0907-430A-94A8-5DA2CC605623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7181E1-512F-FB94-B705-94D6C0953E96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1153F-E101-8F7B-A1D8-6C670D636E98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96B6AC-4AE8-F52D-33F4-ADE4BA49AD4A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148ED1-4A9C-15D9-9C9E-9DFC0CD1FAE0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F7A1788-3233-E57E-65FD-1FC8FF5686DA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C323B72-5D2C-B8AD-2E8C-B1CA0F789719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EB114A-F759-3501-7E08-20901B4C3E68}"/>
              </a:ext>
            </a:extLst>
          </p:cNvPr>
          <p:cNvSpPr txBox="1"/>
          <p:nvPr/>
        </p:nvSpPr>
        <p:spPr>
          <a:xfrm>
            <a:off x="3628575" y="2826635"/>
            <a:ext cx="529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Compression baseline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31E6CCFD-25EA-63FB-0353-CEE4F8DFDC5B}"/>
              </a:ext>
            </a:extLst>
          </p:cNvPr>
          <p:cNvSpPr/>
          <p:nvPr/>
        </p:nvSpPr>
        <p:spPr>
          <a:xfrm>
            <a:off x="3636315" y="5453004"/>
            <a:ext cx="5145709" cy="976745"/>
          </a:xfrm>
          <a:prstGeom prst="wedgeRoundRectCallout">
            <a:avLst>
              <a:gd name="adj1" fmla="val -20229"/>
              <a:gd name="adj2" fmla="val -67829"/>
              <a:gd name="adj3" fmla="val 16667"/>
            </a:avLst>
          </a:prstGeom>
          <a:solidFill>
            <a:srgbClr val="FFE1E2"/>
          </a:solidFill>
          <a:ln>
            <a:solidFill>
              <a:srgbClr val="FFC9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out of context runway + costly.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5FD66-3032-9AAC-DBB3-B83E85B39716}"/>
              </a:ext>
            </a:extLst>
          </p:cNvPr>
          <p:cNvSpPr txBox="1"/>
          <p:nvPr/>
        </p:nvSpPr>
        <p:spPr>
          <a:xfrm>
            <a:off x="9423287" y="3630851"/>
            <a:ext cx="149862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Final Answer:</a:t>
            </a:r>
            <a:endParaRPr lang="en-US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EB059-375F-D515-7ACD-9D64A3810F4B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CB76CD-EC82-37CF-B8B4-3B0150AE3AC9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</p:spTree>
    <p:extLst>
      <p:ext uri="{BB962C8B-B14F-4D97-AF65-F5344CB8AC3E}">
        <p14:creationId xmlns:p14="http://schemas.microsoft.com/office/powerpoint/2010/main" val="223613018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1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</p:spTree>
    <p:extLst>
      <p:ext uri="{BB962C8B-B14F-4D97-AF65-F5344CB8AC3E}">
        <p14:creationId xmlns:p14="http://schemas.microsoft.com/office/powerpoint/2010/main" val="11084616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2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77618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3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28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4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25457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5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03569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6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80940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7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96439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8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36554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79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41851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0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60263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1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828BA96-C355-656D-8343-2A04F3030F45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AED7682-BB2B-5766-2A93-9AA6056525B9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BDBE089-39E3-CB14-E8DD-223D183FD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84114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2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A2F5722-BFFF-EEC8-3FB6-FFF862454F45}"/>
              </a:ext>
            </a:extLst>
          </p:cNvPr>
          <p:cNvSpPr txBox="1"/>
          <p:nvPr/>
        </p:nvSpPr>
        <p:spPr>
          <a:xfrm rot="5400000">
            <a:off x="3421002" y="4944652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828BA96-C355-656D-8343-2A04F3030F45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AED7682-BB2B-5766-2A93-9AA6056525B9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BDBE089-39E3-CB14-E8DD-223D183FD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81741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3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1E7B9D3-23A7-39E7-2646-5EECFEFC8225}"/>
              </a:ext>
            </a:extLst>
          </p:cNvPr>
          <p:cNvSpPr/>
          <p:nvPr/>
        </p:nvSpPr>
        <p:spPr>
          <a:xfrm>
            <a:off x="3049360" y="5554099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A2F5722-BFFF-EEC8-3FB6-FFF862454F45}"/>
              </a:ext>
            </a:extLst>
          </p:cNvPr>
          <p:cNvSpPr txBox="1"/>
          <p:nvPr/>
        </p:nvSpPr>
        <p:spPr>
          <a:xfrm rot="5400000">
            <a:off x="3421002" y="4944652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F031395B-18EF-6D90-ED16-C775291C1F5C}"/>
              </a:ext>
            </a:extLst>
          </p:cNvPr>
          <p:cNvSpPr txBox="1"/>
          <p:nvPr/>
        </p:nvSpPr>
        <p:spPr>
          <a:xfrm>
            <a:off x="2090792" y="5469355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5785126-5B00-B216-CA9F-8F10FFC084BB}"/>
              </a:ext>
            </a:extLst>
          </p:cNvPr>
          <p:cNvCxnSpPr>
            <a:cxnSpLocks/>
            <a:stCxn id="173" idx="3"/>
          </p:cNvCxnSpPr>
          <p:nvPr/>
        </p:nvCxnSpPr>
        <p:spPr>
          <a:xfrm flipV="1">
            <a:off x="2533563" y="5682313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828BA96-C355-656D-8343-2A04F3030F45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AED7682-BB2B-5766-2A93-9AA6056525B9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BDBE089-39E3-CB14-E8DD-223D183FD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22983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4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22E722D-1152-C7EB-8C39-B396DE919372}"/>
              </a:ext>
            </a:extLst>
          </p:cNvPr>
          <p:cNvCxnSpPr>
            <a:cxnSpLocks/>
            <a:stCxn id="156" idx="6"/>
          </p:cNvCxnSpPr>
          <p:nvPr/>
        </p:nvCxnSpPr>
        <p:spPr>
          <a:xfrm>
            <a:off x="3276786" y="566781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D1E7B9D3-23A7-39E7-2646-5EECFEFC8225}"/>
              </a:ext>
            </a:extLst>
          </p:cNvPr>
          <p:cNvSpPr/>
          <p:nvPr/>
        </p:nvSpPr>
        <p:spPr>
          <a:xfrm>
            <a:off x="3049360" y="5554099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B074E19-6EA8-21C6-7F2A-7BF31C8C586F}"/>
              </a:ext>
            </a:extLst>
          </p:cNvPr>
          <p:cNvSpPr/>
          <p:nvPr/>
        </p:nvSpPr>
        <p:spPr>
          <a:xfrm>
            <a:off x="4534231" y="554098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24468AC-B212-BBC8-F16E-86E1D77C226F}"/>
              </a:ext>
            </a:extLst>
          </p:cNvPr>
          <p:cNvCxnSpPr>
            <a:cxnSpLocks/>
            <a:stCxn id="163" idx="6"/>
            <a:endCxn id="157" idx="2"/>
          </p:cNvCxnSpPr>
          <p:nvPr/>
        </p:nvCxnSpPr>
        <p:spPr>
          <a:xfrm>
            <a:off x="4033867" y="565281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3F63B985-01EE-94A0-BBE3-88926C16AE5A}"/>
              </a:ext>
            </a:extLst>
          </p:cNvPr>
          <p:cNvSpPr/>
          <p:nvPr/>
        </p:nvSpPr>
        <p:spPr>
          <a:xfrm>
            <a:off x="3806441" y="553910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A2F5722-BFFF-EEC8-3FB6-FFF862454F45}"/>
              </a:ext>
            </a:extLst>
          </p:cNvPr>
          <p:cNvSpPr txBox="1"/>
          <p:nvPr/>
        </p:nvSpPr>
        <p:spPr>
          <a:xfrm rot="5400000">
            <a:off x="3421002" y="4944652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F031395B-18EF-6D90-ED16-C775291C1F5C}"/>
              </a:ext>
            </a:extLst>
          </p:cNvPr>
          <p:cNvSpPr txBox="1"/>
          <p:nvPr/>
        </p:nvSpPr>
        <p:spPr>
          <a:xfrm>
            <a:off x="2090792" y="5469355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5785126-5B00-B216-CA9F-8F10FFC084BB}"/>
              </a:ext>
            </a:extLst>
          </p:cNvPr>
          <p:cNvCxnSpPr>
            <a:cxnSpLocks/>
            <a:stCxn id="173" idx="3"/>
          </p:cNvCxnSpPr>
          <p:nvPr/>
        </p:nvCxnSpPr>
        <p:spPr>
          <a:xfrm flipV="1">
            <a:off x="2533563" y="5682313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828BA96-C355-656D-8343-2A04F3030F45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AED7682-BB2B-5766-2A93-9AA6056525B9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BDBE089-39E3-CB14-E8DD-223D183FD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53329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5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A81E673-B427-7583-E9C2-14C0058C1E85}"/>
              </a:ext>
            </a:extLst>
          </p:cNvPr>
          <p:cNvSpPr/>
          <p:nvPr/>
        </p:nvSpPr>
        <p:spPr>
          <a:xfrm>
            <a:off x="5167276" y="5436018"/>
            <a:ext cx="2263074" cy="400231"/>
          </a:xfrm>
          <a:prstGeom prst="roundRect">
            <a:avLst>
              <a:gd name="adj" fmla="val 30000"/>
            </a:avLst>
          </a:prstGeom>
          <a:solidFill>
            <a:srgbClr val="FDEBE9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✗ 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Morel Mushroom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C4D5F26-ACB5-5937-EF13-1859BF1DA416}"/>
              </a:ext>
            </a:extLst>
          </p:cNvPr>
          <p:cNvSpPr txBox="1"/>
          <p:nvPr/>
        </p:nvSpPr>
        <p:spPr>
          <a:xfrm>
            <a:off x="5708724" y="5133581"/>
            <a:ext cx="149862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Final Answer:</a:t>
            </a:r>
            <a:endParaRPr lang="en-US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22E722D-1152-C7EB-8C39-B396DE919372}"/>
              </a:ext>
            </a:extLst>
          </p:cNvPr>
          <p:cNvCxnSpPr>
            <a:cxnSpLocks/>
            <a:stCxn id="156" idx="6"/>
          </p:cNvCxnSpPr>
          <p:nvPr/>
        </p:nvCxnSpPr>
        <p:spPr>
          <a:xfrm>
            <a:off x="3276786" y="566781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D1E7B9D3-23A7-39E7-2646-5EECFEFC8225}"/>
              </a:ext>
            </a:extLst>
          </p:cNvPr>
          <p:cNvSpPr/>
          <p:nvPr/>
        </p:nvSpPr>
        <p:spPr>
          <a:xfrm>
            <a:off x="3049360" y="5554099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B074E19-6EA8-21C6-7F2A-7BF31C8C586F}"/>
              </a:ext>
            </a:extLst>
          </p:cNvPr>
          <p:cNvSpPr/>
          <p:nvPr/>
        </p:nvSpPr>
        <p:spPr>
          <a:xfrm>
            <a:off x="4534231" y="554098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24468AC-B212-BBC8-F16E-86E1D77C226F}"/>
              </a:ext>
            </a:extLst>
          </p:cNvPr>
          <p:cNvCxnSpPr>
            <a:cxnSpLocks/>
            <a:stCxn id="163" idx="6"/>
            <a:endCxn id="157" idx="2"/>
          </p:cNvCxnSpPr>
          <p:nvPr/>
        </p:nvCxnSpPr>
        <p:spPr>
          <a:xfrm>
            <a:off x="4033867" y="565281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3254CC0-70B8-9B37-4AE1-2681906E6191}"/>
              </a:ext>
            </a:extLst>
          </p:cNvPr>
          <p:cNvCxnSpPr>
            <a:cxnSpLocks/>
          </p:cNvCxnSpPr>
          <p:nvPr/>
        </p:nvCxnSpPr>
        <p:spPr>
          <a:xfrm flipV="1">
            <a:off x="4770432" y="565469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3F63B985-01EE-94A0-BBE3-88926C16AE5A}"/>
              </a:ext>
            </a:extLst>
          </p:cNvPr>
          <p:cNvSpPr/>
          <p:nvPr/>
        </p:nvSpPr>
        <p:spPr>
          <a:xfrm>
            <a:off x="3806441" y="553910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A2F5722-BFFF-EEC8-3FB6-FFF862454F45}"/>
              </a:ext>
            </a:extLst>
          </p:cNvPr>
          <p:cNvSpPr txBox="1"/>
          <p:nvPr/>
        </p:nvSpPr>
        <p:spPr>
          <a:xfrm rot="5400000">
            <a:off x="3421002" y="4944652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F031395B-18EF-6D90-ED16-C775291C1F5C}"/>
              </a:ext>
            </a:extLst>
          </p:cNvPr>
          <p:cNvSpPr txBox="1"/>
          <p:nvPr/>
        </p:nvSpPr>
        <p:spPr>
          <a:xfrm>
            <a:off x="2090792" y="5469355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5785126-5B00-B216-CA9F-8F10FFC084BB}"/>
              </a:ext>
            </a:extLst>
          </p:cNvPr>
          <p:cNvCxnSpPr>
            <a:cxnSpLocks/>
            <a:stCxn id="173" idx="3"/>
          </p:cNvCxnSpPr>
          <p:nvPr/>
        </p:nvCxnSpPr>
        <p:spPr>
          <a:xfrm flipV="1">
            <a:off x="2533563" y="5682313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828BA96-C355-656D-8343-2A04F3030F45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AED7682-BB2B-5766-2A93-9AA6056525B9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BDBE089-39E3-CB14-E8DD-223D183FD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21281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6">
    <p:spTree>
      <p:nvGrpSpPr>
        <p:cNvPr id="1" name="">
          <a:extLst>
            <a:ext uri="{FF2B5EF4-FFF2-40B4-BE49-F238E27FC236}">
              <a16:creationId xmlns:a16="http://schemas.microsoft.com/office/drawing/2014/main" id="{915C6581-A89C-F983-AB2A-E4BA2D1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53515-F0CB-8F28-D81B-6F5C2642E2DC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737385E-C3CF-D9FE-FE84-E09FBCCC7F6F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8500A3A-36E8-105D-C7E2-7C1C3F683B9B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D849EE-8300-F0CB-6DF7-74AAC01F455A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44B02DA3-E046-A8E4-7046-454D3F702557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83595-2AC8-82D9-7F8B-345A240FDA6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582BA-3946-3574-D8DB-2F5E9192039F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B9B9AF-1737-1A25-C45B-776351937EC9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501A05D-7E97-33E3-E556-8052009A88FE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CAE5C-FE1F-0F4F-6981-C7FB531BA97C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746FF44-DCE6-659E-3206-91C9B4879319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EF53243-68C2-6A5F-9CEB-6BF802038376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51ABB-9448-4365-D620-9CC085663974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A81E673-B427-7583-E9C2-14C0058C1E85}"/>
              </a:ext>
            </a:extLst>
          </p:cNvPr>
          <p:cNvSpPr/>
          <p:nvPr/>
        </p:nvSpPr>
        <p:spPr>
          <a:xfrm>
            <a:off x="5167276" y="5436018"/>
            <a:ext cx="2263074" cy="400231"/>
          </a:xfrm>
          <a:prstGeom prst="roundRect">
            <a:avLst>
              <a:gd name="adj" fmla="val 30000"/>
            </a:avLst>
          </a:prstGeom>
          <a:solidFill>
            <a:srgbClr val="FDEBE9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✗ 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Morel Mushroom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EE54-CD7D-56B3-0DEA-4F16549A2585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7F7238-3DEC-B5E8-A474-F38CE083CB8D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D7FB4C-A82C-C124-F07F-3536C1D44FAC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B96AEC-83AA-6CA0-8C08-9CFB7D987B79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39E01E-0EFA-AF9C-248C-849A86B34730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F98748-F09E-9ADA-69D2-CBAF3397792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92D1B-9C51-5D49-37FA-8B85A27789F7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C4D5F26-ACB5-5937-EF13-1859BF1DA416}"/>
              </a:ext>
            </a:extLst>
          </p:cNvPr>
          <p:cNvSpPr txBox="1"/>
          <p:nvPr/>
        </p:nvSpPr>
        <p:spPr>
          <a:xfrm>
            <a:off x="5708724" y="5133581"/>
            <a:ext cx="149862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Final Answer:</a:t>
            </a:r>
            <a:endParaRPr lang="en-US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BBB02EC-63FB-2380-A624-F209461A0372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602E752-3C1B-3699-C5D3-3E6D3BC1DA72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80466C-237B-BFB0-F341-4B5494BE207F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ED65D33-F88B-F21B-945D-3884543DD98F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2E98D9E-E108-02EF-43E8-72CF16B12A7C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D0DAA8C-F50F-C31B-5121-ACE01384DCEC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E3B0C0A-0C6F-DFEB-E94B-AC64FB455456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C1EB52-B258-F049-7893-6CB617979FBB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09EA698-03DA-4475-9D22-8C79BAA8AA36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BEB17B-1958-590A-196D-76426E6EF97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DABF655-4DF1-BC40-BE99-97843E46B243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32EC1F1-C385-5E46-19CB-1D0C6F79B835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F5D37BC-F65B-A67C-F423-5502CB5F8B29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22E722D-1152-C7EB-8C39-B396DE919372}"/>
              </a:ext>
            </a:extLst>
          </p:cNvPr>
          <p:cNvCxnSpPr>
            <a:cxnSpLocks/>
            <a:stCxn id="156" idx="6"/>
          </p:cNvCxnSpPr>
          <p:nvPr/>
        </p:nvCxnSpPr>
        <p:spPr>
          <a:xfrm>
            <a:off x="3276786" y="566781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D1E7B9D3-23A7-39E7-2646-5EECFEFC8225}"/>
              </a:ext>
            </a:extLst>
          </p:cNvPr>
          <p:cNvSpPr/>
          <p:nvPr/>
        </p:nvSpPr>
        <p:spPr>
          <a:xfrm>
            <a:off x="3049360" y="5554099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B074E19-6EA8-21C6-7F2A-7BF31C8C586F}"/>
              </a:ext>
            </a:extLst>
          </p:cNvPr>
          <p:cNvSpPr/>
          <p:nvPr/>
        </p:nvSpPr>
        <p:spPr>
          <a:xfrm>
            <a:off x="4534231" y="554098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24468AC-B212-BBC8-F16E-86E1D77C226F}"/>
              </a:ext>
            </a:extLst>
          </p:cNvPr>
          <p:cNvCxnSpPr>
            <a:cxnSpLocks/>
            <a:stCxn id="163" idx="6"/>
            <a:endCxn id="157" idx="2"/>
          </p:cNvCxnSpPr>
          <p:nvPr/>
        </p:nvCxnSpPr>
        <p:spPr>
          <a:xfrm>
            <a:off x="4033867" y="565281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3254CC0-70B8-9B37-4AE1-2681906E6191}"/>
              </a:ext>
            </a:extLst>
          </p:cNvPr>
          <p:cNvCxnSpPr>
            <a:cxnSpLocks/>
          </p:cNvCxnSpPr>
          <p:nvPr/>
        </p:nvCxnSpPr>
        <p:spPr>
          <a:xfrm flipV="1">
            <a:off x="4770432" y="565469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3F63B985-01EE-94A0-BBE3-88926C16AE5A}"/>
              </a:ext>
            </a:extLst>
          </p:cNvPr>
          <p:cNvSpPr/>
          <p:nvPr/>
        </p:nvSpPr>
        <p:spPr>
          <a:xfrm>
            <a:off x="3806441" y="553910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A2F5722-BFFF-EEC8-3FB6-FFF862454F45}"/>
              </a:ext>
            </a:extLst>
          </p:cNvPr>
          <p:cNvSpPr txBox="1"/>
          <p:nvPr/>
        </p:nvSpPr>
        <p:spPr>
          <a:xfrm rot="5400000">
            <a:off x="3421002" y="4944652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8D6F891-7602-8283-E7D9-3E2539B87427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3F44A2-5182-9932-396A-D641B1D0BDC8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F031395B-18EF-6D90-ED16-C775291C1F5C}"/>
              </a:ext>
            </a:extLst>
          </p:cNvPr>
          <p:cNvSpPr txBox="1"/>
          <p:nvPr/>
        </p:nvSpPr>
        <p:spPr>
          <a:xfrm>
            <a:off x="2090792" y="5469355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5785126-5B00-B216-CA9F-8F10FFC084BB}"/>
              </a:ext>
            </a:extLst>
          </p:cNvPr>
          <p:cNvCxnSpPr>
            <a:cxnSpLocks/>
            <a:stCxn id="173" idx="3"/>
          </p:cNvCxnSpPr>
          <p:nvPr/>
        </p:nvCxnSpPr>
        <p:spPr>
          <a:xfrm flipV="1">
            <a:off x="2533563" y="5682313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2D8440-13B5-0D85-4A29-F1324A8D43F2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6684081-0422-43CC-3BC9-98FCDD404BD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00CDC0B-9ED1-1BFD-382A-8193A9326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828BA96-C355-656D-8343-2A04F3030F45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AED7682-BB2B-5766-2A93-9AA6056525B9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BDBE089-39E3-CB14-E8DD-223D183FD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A092AEA-9140-1254-671B-C8F542837ED2}"/>
              </a:ext>
            </a:extLst>
          </p:cNvPr>
          <p:cNvSpPr txBox="1"/>
          <p:nvPr/>
        </p:nvSpPr>
        <p:spPr>
          <a:xfrm>
            <a:off x="7917596" y="3832369"/>
            <a:ext cx="46390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AgentFold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2025;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FoldAct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2025, Context-Folding, 2025; Reasoning Cache, 2026;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InftyThink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2026;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IterResearch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2026;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ReSuM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2026;…</a:t>
            </a:r>
          </a:p>
        </p:txBody>
      </p:sp>
    </p:spTree>
    <p:extLst>
      <p:ext uri="{BB962C8B-B14F-4D97-AF65-F5344CB8AC3E}">
        <p14:creationId xmlns:p14="http://schemas.microsoft.com/office/powerpoint/2010/main" val="326594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7">
    <p:spTree>
      <p:nvGrpSpPr>
        <p:cNvPr id="1" name="">
          <a:extLst>
            <a:ext uri="{FF2B5EF4-FFF2-40B4-BE49-F238E27FC236}">
              <a16:creationId xmlns:a16="http://schemas.microsoft.com/office/drawing/2014/main" id="{1CB91EFE-B5A0-9CE3-EC5E-6DC1CE10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F7D09-9323-E879-4507-A95682C04265}"/>
              </a:ext>
            </a:extLst>
          </p:cNvPr>
          <p:cNvSpPr txBox="1"/>
          <p:nvPr/>
        </p:nvSpPr>
        <p:spPr>
          <a:xfrm>
            <a:off x="604101" y="347003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2FFF31C-D0AF-6679-F785-221A8794C5C2}"/>
              </a:ext>
            </a:extLst>
          </p:cNvPr>
          <p:cNvSpPr/>
          <p:nvPr/>
        </p:nvSpPr>
        <p:spPr>
          <a:xfrm>
            <a:off x="586760" y="805682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9CC7709-E1FE-C3DB-59F7-7466D97C9F64}"/>
              </a:ext>
            </a:extLst>
          </p:cNvPr>
          <p:cNvGrpSpPr/>
          <p:nvPr/>
        </p:nvGrpSpPr>
        <p:grpSpPr>
          <a:xfrm>
            <a:off x="3243218" y="7259373"/>
            <a:ext cx="6164986" cy="400231"/>
            <a:chOff x="1474182" y="3293645"/>
            <a:chExt cx="3222347" cy="20919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CAF0B215-396E-9718-F597-9BA6E7E029B3}"/>
                </a:ext>
              </a:extLst>
            </p:cNvPr>
            <p:cNvGrpSpPr/>
            <p:nvPr/>
          </p:nvGrpSpPr>
          <p:grpSpPr>
            <a:xfrm>
              <a:off x="1474182" y="3293645"/>
              <a:ext cx="3222347" cy="209195"/>
              <a:chOff x="1513320" y="3283075"/>
              <a:chExt cx="3222347" cy="209195"/>
            </a:xfrm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A3135C49-DD5A-70B0-18D9-D001EFCEA73E}"/>
                  </a:ext>
                </a:extLst>
              </p:cNvPr>
              <p:cNvSpPr/>
              <p:nvPr/>
            </p:nvSpPr>
            <p:spPr>
              <a:xfrm>
                <a:off x="1513320" y="3283075"/>
                <a:ext cx="3222347" cy="209195"/>
              </a:xfrm>
              <a:prstGeom prst="roundRect">
                <a:avLst>
                  <a:gd name="adj" fmla="val 18429"/>
                </a:avLst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52483" tIns="52483" rIns="52483" bIns="52483" rtlCol="0" anchor="ctr"/>
              <a:lstStyle/>
              <a:p>
                <a:endParaRPr lang="en-US" sz="1531">
                  <a:solidFill>
                    <a:schemeClr val="tx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ADA5E-9004-13D7-4C23-9C0877085AE6}"/>
                  </a:ext>
                </a:extLst>
              </p:cNvPr>
              <p:cNvSpPr txBox="1"/>
              <p:nvPr/>
            </p:nvSpPr>
            <p:spPr>
              <a:xfrm>
                <a:off x="1715614" y="3331585"/>
                <a:ext cx="914892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Reasoning </a:t>
                </a:r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Trajectory</a:t>
                </a:r>
                <a:r>
                  <a:rPr lang="en-US"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AA80F9-DD8D-47C1-AC79-27CAC0E534E4}"/>
                  </a:ext>
                </a:extLst>
              </p:cNvPr>
              <p:cNvSpPr/>
              <p:nvPr/>
            </p:nvSpPr>
            <p:spPr>
              <a:xfrm>
                <a:off x="2813055" y="3334296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CDA004-834C-BC08-77C9-2CF04506A3B4}"/>
                  </a:ext>
                </a:extLst>
              </p:cNvPr>
              <p:cNvSpPr txBox="1"/>
              <p:nvPr/>
            </p:nvSpPr>
            <p:spPr>
              <a:xfrm>
                <a:off x="2963931" y="3332462"/>
                <a:ext cx="868680" cy="1154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35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</a:rPr>
                  <a:t>Summary fire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EDB5763-2251-CE17-F724-8207FE7BF66C}"/>
                  </a:ext>
                </a:extLst>
              </p:cNvPr>
              <p:cNvSpPr/>
              <p:nvPr/>
            </p:nvSpPr>
            <p:spPr>
              <a:xfrm>
                <a:off x="3796030" y="3333754"/>
                <a:ext cx="118872" cy="118872"/>
              </a:xfrm>
              <a:prstGeom prst="rect">
                <a:avLst/>
              </a:prstGeom>
              <a:solidFill>
                <a:srgbClr val="FFF6C7"/>
              </a:solidFill>
              <a:ln w="9525">
                <a:solidFill>
                  <a:srgbClr val="E3D61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C1EE5-94D5-6CC2-8986-5EA8F5C0CE78}"/>
                  </a:ext>
                </a:extLst>
              </p:cNvPr>
              <p:cNvSpPr txBox="1"/>
              <p:nvPr/>
            </p:nvSpPr>
            <p:spPr>
              <a:xfrm>
                <a:off x="3776604" y="3345407"/>
                <a:ext cx="164592" cy="107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339" b="1">
                    <a:solidFill>
                      <a:srgbClr val="27AE60"/>
                    </a:solidFill>
                    <a:latin typeface="Calibri"/>
                    <a:ea typeface="Calibri"/>
                    <a:cs typeface="Calibri"/>
                  </a:rPr>
                  <a:t>✓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97EAFDD5-5BB9-7655-DC69-27391AFEE0F1}"/>
                  </a:ext>
                </a:extLst>
              </p:cNvPr>
              <p:cNvSpPr/>
              <p:nvPr/>
            </p:nvSpPr>
            <p:spPr>
              <a:xfrm>
                <a:off x="1561438" y="3329195"/>
                <a:ext cx="118872" cy="1188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484F4D6B-E90B-3CAF-4316-806BEC938612}"/>
                </a:ext>
              </a:extLst>
            </p:cNvPr>
            <p:cNvSpPr txBox="1"/>
            <p:nvPr/>
          </p:nvSpPr>
          <p:spPr>
            <a:xfrm>
              <a:off x="3917411" y="3343974"/>
              <a:ext cx="744396" cy="1154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35">
                  <a:solidFill>
                    <a:srgbClr val="2A2A2A"/>
                  </a:solidFill>
                  <a:latin typeface="Calibri"/>
                  <a:ea typeface="Calibri"/>
                  <a:cs typeface="Calibri"/>
                </a:rPr>
                <a:t>Rubric COMPRESS</a:t>
              </a:r>
              <a:r>
                <a:rPr lang="zh-CN" altLang="en-US" sz="1435">
                  <a:solidFill>
                    <a:srgbClr val="2A2A2A"/>
                  </a:solidFill>
                  <a:latin typeface="Calibri"/>
                  <a:cs typeface="Calibri"/>
                </a:rPr>
                <a:t> </a:t>
              </a:r>
              <a:endParaRPr sz="1435">
                <a:solidFill>
                  <a:srgbClr val="2A2A2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B87CBC-97AD-F9B7-3CEA-808ADE73CE31}"/>
              </a:ext>
            </a:extLst>
          </p:cNvPr>
          <p:cNvSpPr txBox="1"/>
          <p:nvPr/>
        </p:nvSpPr>
        <p:spPr>
          <a:xfrm>
            <a:off x="626531" y="2513902"/>
            <a:ext cx="1120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Fixed-interval 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compaction (every </a:t>
            </a:r>
            <a:r>
              <a:rPr lang="en-US" sz="2800" b="1" i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</a:t>
            </a:r>
            <a:r>
              <a:rPr lang="en-US" sz="2800" b="1" dirty="0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turns or % of context limit) 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9692854-DF67-DBE5-4B45-B083CD726B75}"/>
              </a:ext>
            </a:extLst>
          </p:cNvPr>
          <p:cNvSpPr/>
          <p:nvPr/>
        </p:nvSpPr>
        <p:spPr>
          <a:xfrm>
            <a:off x="5167276" y="5436018"/>
            <a:ext cx="2263074" cy="400231"/>
          </a:xfrm>
          <a:prstGeom prst="roundRect">
            <a:avLst>
              <a:gd name="adj" fmla="val 30000"/>
            </a:avLst>
          </a:prstGeom>
          <a:solidFill>
            <a:srgbClr val="FDEBE9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✗ 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Morel Mushroom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0B3214D-48BC-4553-F489-9D20B52A66EE}"/>
              </a:ext>
            </a:extLst>
          </p:cNvPr>
          <p:cNvSpPr/>
          <p:nvPr/>
        </p:nvSpPr>
        <p:spPr>
          <a:xfrm>
            <a:off x="3772233" y="3626967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DF0C02-2B57-B590-0AB6-32802FBD6040}"/>
              </a:ext>
            </a:extLst>
          </p:cNvPr>
          <p:cNvSpPr/>
          <p:nvPr/>
        </p:nvSpPr>
        <p:spPr>
          <a:xfrm>
            <a:off x="4400361" y="3626967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9CF2647-4909-D244-F8EF-144319D69578}"/>
              </a:ext>
            </a:extLst>
          </p:cNvPr>
          <p:cNvSpPr/>
          <p:nvPr/>
        </p:nvSpPr>
        <p:spPr>
          <a:xfrm>
            <a:off x="5028488" y="3626967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783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4009E9-84BB-9611-9A1D-A500E0DBA0B0}"/>
              </a:ext>
            </a:extLst>
          </p:cNvPr>
          <p:cNvSpPr txBox="1"/>
          <p:nvPr/>
        </p:nvSpPr>
        <p:spPr>
          <a:xfrm>
            <a:off x="2139950" y="352584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DB8AF8-771B-3324-B2E2-E366A7F8CDA3}"/>
              </a:ext>
            </a:extLst>
          </p:cNvPr>
          <p:cNvCxnSpPr>
            <a:cxnSpLocks/>
            <a:stCxn id="82" idx="6"/>
            <a:endCxn id="52" idx="2"/>
          </p:cNvCxnSpPr>
          <p:nvPr/>
        </p:nvCxnSpPr>
        <p:spPr>
          <a:xfrm>
            <a:off x="3271869" y="3738801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242F54-AA4D-0024-5D30-793F93509D4B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008434" y="3740681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1AC6833-5948-3A92-EA41-E966DA5ED5F4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4627786" y="3738801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E8F4BE2-7D70-29F6-351B-0572DA565A40}"/>
              </a:ext>
            </a:extLst>
          </p:cNvPr>
          <p:cNvSpPr txBox="1"/>
          <p:nvPr/>
        </p:nvSpPr>
        <p:spPr>
          <a:xfrm>
            <a:off x="5708724" y="5133581"/>
            <a:ext cx="149862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Final Answer:</a:t>
            </a:r>
            <a:endParaRPr lang="en-US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F83C3E9-CCB5-0DD8-8FCE-0612CDE5E426}"/>
              </a:ext>
            </a:extLst>
          </p:cNvPr>
          <p:cNvSpPr/>
          <p:nvPr/>
        </p:nvSpPr>
        <p:spPr>
          <a:xfrm>
            <a:off x="3044443" y="3625088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14740A9-3E7E-8BB8-2F40-6CDCAF66E294}"/>
              </a:ext>
            </a:extLst>
          </p:cNvPr>
          <p:cNvCxnSpPr>
            <a:cxnSpLocks/>
            <a:stCxn id="69" idx="3"/>
            <a:endCxn id="82" idx="2"/>
          </p:cNvCxnSpPr>
          <p:nvPr/>
        </p:nvCxnSpPr>
        <p:spPr>
          <a:xfrm flipV="1">
            <a:off x="2582721" y="373880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691BABF-358A-8926-9B37-F06C08B58CC4}"/>
              </a:ext>
            </a:extLst>
          </p:cNvPr>
          <p:cNvSpPr txBox="1"/>
          <p:nvPr/>
        </p:nvSpPr>
        <p:spPr>
          <a:xfrm>
            <a:off x="4322594" y="3338838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83450BF-5C8C-9F99-5864-677C47089AA5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242377" y="456223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B6C606F6-A6F5-775F-39A0-9BD5CBB8AD9D}"/>
              </a:ext>
            </a:extLst>
          </p:cNvPr>
          <p:cNvSpPr/>
          <p:nvPr/>
        </p:nvSpPr>
        <p:spPr>
          <a:xfrm>
            <a:off x="3014951" y="4448519"/>
            <a:ext cx="227426" cy="227426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B81AB97A-253B-9FF6-7853-6C584A88368F}"/>
              </a:ext>
            </a:extLst>
          </p:cNvPr>
          <p:cNvSpPr/>
          <p:nvPr/>
        </p:nvSpPr>
        <p:spPr>
          <a:xfrm>
            <a:off x="4499822" y="443540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BEE1C4-C9EF-3B3E-ABF2-DAE9CC81C23F}"/>
              </a:ext>
            </a:extLst>
          </p:cNvPr>
          <p:cNvSpPr/>
          <p:nvPr/>
        </p:nvSpPr>
        <p:spPr>
          <a:xfrm>
            <a:off x="5127950" y="4435400"/>
            <a:ext cx="227426" cy="227426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9640AFF-8724-EC78-C83A-5278F047DECF}"/>
              </a:ext>
            </a:extLst>
          </p:cNvPr>
          <p:cNvSpPr/>
          <p:nvPr/>
        </p:nvSpPr>
        <p:spPr>
          <a:xfrm>
            <a:off x="5756077" y="4435400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471817-DE99-050F-A289-BCFB8F4450CD}"/>
              </a:ext>
            </a:extLst>
          </p:cNvPr>
          <p:cNvCxnSpPr>
            <a:cxnSpLocks/>
            <a:stCxn id="131" idx="6"/>
            <a:endCxn id="124" idx="2"/>
          </p:cNvCxnSpPr>
          <p:nvPr/>
        </p:nvCxnSpPr>
        <p:spPr>
          <a:xfrm>
            <a:off x="3999458" y="454723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142F115-9635-9C1C-4B8F-627703E338AE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4736023" y="454911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5925CC6-31D5-CFFC-E34A-0DF164A36424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5355375" y="4547234"/>
            <a:ext cx="390648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5145E4FA-9FD5-5DD7-F070-079521140C2A}"/>
              </a:ext>
            </a:extLst>
          </p:cNvPr>
          <p:cNvSpPr/>
          <p:nvPr/>
        </p:nvSpPr>
        <p:spPr>
          <a:xfrm>
            <a:off x="3772032" y="443352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3313B96-5E51-C4CF-5554-DE7732F4A8DF}"/>
              </a:ext>
            </a:extLst>
          </p:cNvPr>
          <p:cNvSpPr txBox="1"/>
          <p:nvPr/>
        </p:nvSpPr>
        <p:spPr>
          <a:xfrm>
            <a:off x="5050183" y="4162019"/>
            <a:ext cx="16619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Sum</a:t>
            </a:r>
            <a:endParaRPr>
              <a:solidFill>
                <a:srgbClr val="2A2A2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0C93EE7-B70E-7B4A-E274-C10A6FF9FB31}"/>
              </a:ext>
            </a:extLst>
          </p:cNvPr>
          <p:cNvCxnSpPr>
            <a:cxnSpLocks/>
            <a:stCxn id="156" idx="6"/>
          </p:cNvCxnSpPr>
          <p:nvPr/>
        </p:nvCxnSpPr>
        <p:spPr>
          <a:xfrm>
            <a:off x="3276786" y="5667812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049FFEAD-A6EA-E851-2A6E-210C34BC901F}"/>
              </a:ext>
            </a:extLst>
          </p:cNvPr>
          <p:cNvSpPr/>
          <p:nvPr/>
        </p:nvSpPr>
        <p:spPr>
          <a:xfrm>
            <a:off x="3049360" y="5554099"/>
            <a:ext cx="227426" cy="227426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3250E4BE-814E-DE2A-3521-300B023EDAAD}"/>
              </a:ext>
            </a:extLst>
          </p:cNvPr>
          <p:cNvSpPr/>
          <p:nvPr/>
        </p:nvSpPr>
        <p:spPr>
          <a:xfrm>
            <a:off x="4534231" y="554098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40ABEE8-8DD9-A4CA-1794-6B84F3027832}"/>
              </a:ext>
            </a:extLst>
          </p:cNvPr>
          <p:cNvCxnSpPr>
            <a:cxnSpLocks/>
            <a:stCxn id="163" idx="6"/>
            <a:endCxn id="157" idx="2"/>
          </p:cNvCxnSpPr>
          <p:nvPr/>
        </p:nvCxnSpPr>
        <p:spPr>
          <a:xfrm>
            <a:off x="4033867" y="5652814"/>
            <a:ext cx="500364" cy="187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E9E71BA-57B9-4376-367B-E76D472BB25C}"/>
              </a:ext>
            </a:extLst>
          </p:cNvPr>
          <p:cNvCxnSpPr>
            <a:cxnSpLocks/>
          </p:cNvCxnSpPr>
          <p:nvPr/>
        </p:nvCxnSpPr>
        <p:spPr>
          <a:xfrm flipV="1">
            <a:off x="4770432" y="5654694"/>
            <a:ext cx="391928" cy="2669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99D2484B-09A8-E4C8-4A4F-412F393550BC}"/>
              </a:ext>
            </a:extLst>
          </p:cNvPr>
          <p:cNvSpPr/>
          <p:nvPr/>
        </p:nvSpPr>
        <p:spPr>
          <a:xfrm>
            <a:off x="3806441" y="5539101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67" name="Rounded Rectangular Callout 166">
            <a:extLst>
              <a:ext uri="{FF2B5EF4-FFF2-40B4-BE49-F238E27FC236}">
                <a16:creationId xmlns:a16="http://schemas.microsoft.com/office/drawing/2014/main" id="{B58DEFF7-3515-83E7-5160-EAB0B33C43AD}"/>
              </a:ext>
            </a:extLst>
          </p:cNvPr>
          <p:cNvSpPr/>
          <p:nvPr/>
        </p:nvSpPr>
        <p:spPr>
          <a:xfrm>
            <a:off x="7700095" y="4158472"/>
            <a:ext cx="4373700" cy="1348715"/>
          </a:xfrm>
          <a:prstGeom prst="wedgeRoundRectCallout">
            <a:avLst>
              <a:gd name="adj1" fmla="val -57322"/>
              <a:gd name="adj2" fmla="val -14247"/>
              <a:gd name="adj3" fmla="val 16667"/>
            </a:avLst>
          </a:prstGeom>
          <a:solidFill>
            <a:srgbClr val="FFE1E2"/>
          </a:solidFill>
          <a:ln>
            <a:solidFill>
              <a:srgbClr val="FFC9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400" b="1">
                <a:solidFill>
                  <a:srgbClr val="C0392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poorly timed summarization</a:t>
            </a:r>
            <a:r>
              <a:rPr lang="en-US" sz="2400">
                <a:solidFill>
                  <a:srgbClr val="2A2A2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— drops verified facts; restates intent vaguely.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8B0E2FC-8329-650A-0D69-A9159C2E5244}"/>
              </a:ext>
            </a:extLst>
          </p:cNvPr>
          <p:cNvSpPr txBox="1"/>
          <p:nvPr/>
        </p:nvSpPr>
        <p:spPr>
          <a:xfrm rot="5400000">
            <a:off x="3421002" y="4944652"/>
            <a:ext cx="5248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707070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35F5B49-ECE9-1D0C-E6C1-E54824A3DE72}"/>
              </a:ext>
            </a:extLst>
          </p:cNvPr>
          <p:cNvSpPr txBox="1"/>
          <p:nvPr/>
        </p:nvSpPr>
        <p:spPr>
          <a:xfrm>
            <a:off x="2100622" y="4349023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354AC2C-4F29-3E8F-8157-691253F534BE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2543393" y="4561981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5FA1CAA-D694-B3D4-C6A8-1C0DA164A1E4}"/>
              </a:ext>
            </a:extLst>
          </p:cNvPr>
          <p:cNvSpPr txBox="1"/>
          <p:nvPr/>
        </p:nvSpPr>
        <p:spPr>
          <a:xfrm>
            <a:off x="2090792" y="5469355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FC10AC7-9867-C57C-75FB-AB3C2A28E2FF}"/>
              </a:ext>
            </a:extLst>
          </p:cNvPr>
          <p:cNvCxnSpPr>
            <a:cxnSpLocks/>
            <a:stCxn id="173" idx="3"/>
          </p:cNvCxnSpPr>
          <p:nvPr/>
        </p:nvCxnSpPr>
        <p:spPr>
          <a:xfrm flipV="1">
            <a:off x="2533563" y="5682313"/>
            <a:ext cx="461722" cy="248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EBE71D2-5581-ED4E-F9E4-6A78D21C4073}"/>
              </a:ext>
            </a:extLst>
          </p:cNvPr>
          <p:cNvGrpSpPr/>
          <p:nvPr/>
        </p:nvGrpSpPr>
        <p:grpSpPr>
          <a:xfrm>
            <a:off x="2884633" y="3493024"/>
            <a:ext cx="1661956" cy="547696"/>
            <a:chOff x="3705303" y="3391426"/>
            <a:chExt cx="980649" cy="547696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6373DFE8-0DD0-28FF-C495-3233594CDCD8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DFE98F8-D4D0-B1D3-3938-6C5471316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A234CBF-0D1F-1ABE-B46C-69627F9FEE98}"/>
              </a:ext>
            </a:extLst>
          </p:cNvPr>
          <p:cNvGrpSpPr/>
          <p:nvPr/>
        </p:nvGrpSpPr>
        <p:grpSpPr>
          <a:xfrm>
            <a:off x="3047554" y="4290928"/>
            <a:ext cx="2369111" cy="473051"/>
            <a:chOff x="3705303" y="3391426"/>
            <a:chExt cx="980649" cy="547696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32ADE40-7686-8B99-2C33-6F5757001F10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03" y="3396797"/>
              <a:ext cx="980649" cy="53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2DA9204-B6D8-0F98-EFBB-49670D79B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607" y="3391426"/>
              <a:ext cx="929396" cy="54769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79390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8">
    <p:spTree>
      <p:nvGrpSpPr>
        <p:cNvPr id="1" name="">
          <a:extLst>
            <a:ext uri="{FF2B5EF4-FFF2-40B4-BE49-F238E27FC236}">
              <a16:creationId xmlns:a16="http://schemas.microsoft.com/office/drawing/2014/main" id="{F94E2A33-C47D-7E0F-42BC-4AACBCCB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BD47AC-08E0-E26A-905E-24A566932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10" y="5726426"/>
            <a:ext cx="4043190" cy="486751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(Under review)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FA130-6ED4-0C8A-9B5E-7763D134CB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125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49A1C9-1BA8-AA05-680A-43C4B605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98DA8-3971-D304-68DC-1975C5A552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BA150-D3CC-E879-C2B2-0B3586CDC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546" y="1905453"/>
            <a:ext cx="9806918" cy="277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572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89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BDC6B-D844-52B4-4F82-C45D9FD85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60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0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0246300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1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128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9016868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2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129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AC8F7-6813-EF1D-7899-7B4CBB62CDFF}"/>
              </a:ext>
            </a:extLst>
          </p:cNvPr>
          <p:cNvSpPr/>
          <p:nvPr/>
        </p:nvSpPr>
        <p:spPr>
          <a:xfrm>
            <a:off x="1221170" y="3043021"/>
            <a:ext cx="10300446" cy="21649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065936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3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130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61FC9-FC88-74B9-8B35-371CE8084634}"/>
              </a:ext>
            </a:extLst>
          </p:cNvPr>
          <p:cNvSpPr/>
          <p:nvPr/>
        </p:nvSpPr>
        <p:spPr>
          <a:xfrm>
            <a:off x="1337710" y="3025091"/>
            <a:ext cx="10300446" cy="21649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reasoning as usual.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each turn, run </a:t>
            </a:r>
            <a:r>
              <a:rPr lang="en-US" sz="2800" b="1">
                <a:solidFill>
                  <a:srgbClr val="07833C"/>
                </a:solidFill>
              </a:rPr>
              <a:t>R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continue thinking (remove rubric from history).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call </a:t>
            </a:r>
            <a:r>
              <a:rPr lang="en-US" sz="2800" b="1">
                <a:solidFill>
                  <a:srgbClr val="0783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replace the context w/ summary.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AC8F7-6813-EF1D-7899-7B4CBB62CDFF}"/>
              </a:ext>
            </a:extLst>
          </p:cNvPr>
          <p:cNvSpPr/>
          <p:nvPr/>
        </p:nvSpPr>
        <p:spPr>
          <a:xfrm>
            <a:off x="1221170" y="3043021"/>
            <a:ext cx="10300446" cy="21649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1014614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4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131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61FC9-FC88-74B9-8B35-371CE8084634}"/>
              </a:ext>
            </a:extLst>
          </p:cNvPr>
          <p:cNvSpPr/>
          <p:nvPr/>
        </p:nvSpPr>
        <p:spPr>
          <a:xfrm>
            <a:off x="1337710" y="3025091"/>
            <a:ext cx="10300446" cy="21649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reasoning as usual.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each turn, run </a:t>
            </a:r>
            <a:r>
              <a:rPr lang="en-US" sz="2800" b="1">
                <a:solidFill>
                  <a:srgbClr val="07833C"/>
                </a:solidFill>
              </a:rPr>
              <a:t>R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continue thinking (remove rubric from history).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call </a:t>
            </a:r>
            <a:r>
              <a:rPr lang="en-US" sz="2800" b="1">
                <a:solidFill>
                  <a:srgbClr val="0783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replace the context w/ summary.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AC8F7-6813-EF1D-7899-7B4CBB62CDFF}"/>
              </a:ext>
            </a:extLst>
          </p:cNvPr>
          <p:cNvSpPr/>
          <p:nvPr/>
        </p:nvSpPr>
        <p:spPr>
          <a:xfrm>
            <a:off x="1221170" y="3043021"/>
            <a:ext cx="10300446" cy="21649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9287559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5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132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61FC9-FC88-74B9-8B35-371CE8084634}"/>
              </a:ext>
            </a:extLst>
          </p:cNvPr>
          <p:cNvSpPr/>
          <p:nvPr/>
        </p:nvSpPr>
        <p:spPr>
          <a:xfrm>
            <a:off x="1337710" y="3025091"/>
            <a:ext cx="10300446" cy="21649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reasoning as usual.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each turn, run </a:t>
            </a:r>
            <a:r>
              <a:rPr lang="en-US" sz="2800" b="1">
                <a:solidFill>
                  <a:srgbClr val="07833C"/>
                </a:solidFill>
              </a:rPr>
              <a:t>R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continue thinking (remove rubric from history).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call </a:t>
            </a:r>
            <a:r>
              <a:rPr lang="en-US" sz="2800" b="1">
                <a:solidFill>
                  <a:srgbClr val="0783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replace the context w/ summary.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AC8F7-6813-EF1D-7899-7B4CBB62CDFF}"/>
              </a:ext>
            </a:extLst>
          </p:cNvPr>
          <p:cNvSpPr/>
          <p:nvPr/>
        </p:nvSpPr>
        <p:spPr>
          <a:xfrm>
            <a:off x="1221170" y="3043021"/>
            <a:ext cx="10300446" cy="21649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1875104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6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133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61FC9-FC88-74B9-8B35-371CE8084634}"/>
              </a:ext>
            </a:extLst>
          </p:cNvPr>
          <p:cNvSpPr/>
          <p:nvPr/>
        </p:nvSpPr>
        <p:spPr>
          <a:xfrm>
            <a:off x="1337710" y="3025091"/>
            <a:ext cx="10300446" cy="21649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reasoning as usual.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each turn, run </a:t>
            </a:r>
            <a:r>
              <a:rPr lang="en-US" sz="2800" b="1">
                <a:solidFill>
                  <a:srgbClr val="07833C"/>
                </a:solidFill>
              </a:rPr>
              <a:t>R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continue thinking (remove rubric from history).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call </a:t>
            </a:r>
            <a:r>
              <a:rPr lang="en-US" sz="2800" b="1">
                <a:solidFill>
                  <a:srgbClr val="0783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replace the context w/ summary.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AC8F7-6813-EF1D-7899-7B4CBB62CDFF}"/>
              </a:ext>
            </a:extLst>
          </p:cNvPr>
          <p:cNvSpPr/>
          <p:nvPr/>
        </p:nvSpPr>
        <p:spPr>
          <a:xfrm>
            <a:off x="1221170" y="3043021"/>
            <a:ext cx="10300446" cy="21649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63630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7">
    <p:spTree>
      <p:nvGrpSpPr>
        <p:cNvPr id="1" name="">
          <a:extLst>
            <a:ext uri="{FF2B5EF4-FFF2-40B4-BE49-F238E27FC236}">
              <a16:creationId xmlns:a16="http://schemas.microsoft.com/office/drawing/2014/main" id="{410249F0-7457-4503-9891-0DE7E74C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80B42-870F-D9FD-3186-310A3938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Compaction tool (</a:t>
            </a:r>
            <a:r>
              <a:rPr lang="en-US" b="1">
                <a:solidFill>
                  <a:srgbClr val="07833C"/>
                </a:solidFill>
              </a:rPr>
              <a:t>C</a:t>
            </a:r>
            <a:r>
              <a:rPr lang="en-US" b="1"/>
              <a:t>):</a:t>
            </a:r>
            <a:r>
              <a:rPr lang="en-US"/>
              <a:t> how to compact (summarize)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Rubric (</a:t>
            </a:r>
            <a:r>
              <a:rPr lang="en-US" b="1">
                <a:solidFill>
                  <a:srgbClr val="07833C"/>
                </a:solidFill>
              </a:rPr>
              <a:t>R</a:t>
            </a:r>
            <a:r>
              <a:rPr lang="en-US" b="1"/>
              <a:t>): </a:t>
            </a:r>
            <a:r>
              <a:rPr lang="en-US"/>
              <a:t>when to fire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6EF8-D968-3D6B-3964-9B67A5AE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134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926D9-4CBD-CD9B-D463-6A6D8BAB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D9C8F-D915-CAA9-EEFD-EE58427A7ED8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61FC9-FC88-74B9-8B35-371CE8084634}"/>
              </a:ext>
            </a:extLst>
          </p:cNvPr>
          <p:cNvSpPr/>
          <p:nvPr/>
        </p:nvSpPr>
        <p:spPr>
          <a:xfrm>
            <a:off x="1337710" y="3025091"/>
            <a:ext cx="10300446" cy="21649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reasoning as usual.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each turn, run </a:t>
            </a:r>
            <a:r>
              <a:rPr lang="en-US" sz="2800" b="1">
                <a:solidFill>
                  <a:srgbClr val="07833C"/>
                </a:solidFill>
              </a:rPr>
              <a:t>R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continue thinking (remove rubric from history).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call </a:t>
            </a:r>
            <a:r>
              <a:rPr lang="en-US" sz="2800" b="1">
                <a:solidFill>
                  <a:srgbClr val="0783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replace the context w/ summary.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AC8F7-6813-EF1D-7899-7B4CBB62CDFF}"/>
              </a:ext>
            </a:extLst>
          </p:cNvPr>
          <p:cNvSpPr/>
          <p:nvPr/>
        </p:nvSpPr>
        <p:spPr>
          <a:xfrm>
            <a:off x="1221170" y="3043021"/>
            <a:ext cx="10300446" cy="21649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725B7-DE62-B42E-B33C-068843DB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29" r="4305"/>
          <a:stretch>
            <a:fillRect/>
          </a:stretch>
        </p:blipFill>
        <p:spPr>
          <a:xfrm rot="5400000">
            <a:off x="82421" y="5193495"/>
            <a:ext cx="1709423" cy="203936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8822213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8">
    <p:spTree>
      <p:nvGrpSpPr>
        <p:cNvPr id="1" name="">
          <a:extLst>
            <a:ext uri="{FF2B5EF4-FFF2-40B4-BE49-F238E27FC236}">
              <a16:creationId xmlns:a16="http://schemas.microsoft.com/office/drawing/2014/main" id="{C1CB8D93-CD6C-6276-8897-31C50E34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A627C-71C9-AFAE-C265-73D05AC31754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3ECF249-436C-BAD0-E87E-8B810FF4BB0D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1371E15-9339-9E7E-6FD5-09F3BD09BAB3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</p:spTree>
    <p:extLst>
      <p:ext uri="{BB962C8B-B14F-4D97-AF65-F5344CB8AC3E}">
        <p14:creationId xmlns:p14="http://schemas.microsoft.com/office/powerpoint/2010/main" val="193486887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099">
    <p:spTree>
      <p:nvGrpSpPr>
        <p:cNvPr id="1" name="">
          <a:extLst>
            <a:ext uri="{FF2B5EF4-FFF2-40B4-BE49-F238E27FC236}">
              <a16:creationId xmlns:a16="http://schemas.microsoft.com/office/drawing/2014/main" id="{C1CB8D93-CD6C-6276-8897-31C50E34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A627C-71C9-AFAE-C265-73D05AC31754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3ECF249-436C-BAD0-E87E-8B810FF4BB0D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1371E15-9339-9E7E-6FD5-09F3BD09BAB3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758DFD-AA38-CCBA-1F8D-45593215492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208981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0">
    <p:spTree>
      <p:nvGrpSpPr>
        <p:cNvPr id="1" name="">
          <a:extLst>
            <a:ext uri="{FF2B5EF4-FFF2-40B4-BE49-F238E27FC236}">
              <a16:creationId xmlns:a16="http://schemas.microsoft.com/office/drawing/2014/main" id="{C1CB8D93-CD6C-6276-8897-31C50E34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A627C-71C9-AFAE-C265-73D05AC31754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3ECF249-436C-BAD0-E87E-8B810FF4BB0D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1371E15-9339-9E7E-6FD5-09F3BD09BAB3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013D1C-120B-94AA-8F9F-E6C61E720F18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61E657-8EAD-DC7B-6B81-C997A1CD3E7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7758DFD-AA38-CCBA-1F8D-45593215492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642950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1">
    <p:spTree>
      <p:nvGrpSpPr>
        <p:cNvPr id="1" name="">
          <a:extLst>
            <a:ext uri="{FF2B5EF4-FFF2-40B4-BE49-F238E27FC236}">
              <a16:creationId xmlns:a16="http://schemas.microsoft.com/office/drawing/2014/main" id="{C1CB8D93-CD6C-6276-8897-31C50E34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A627C-71C9-AFAE-C265-73D05AC31754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3ECF249-436C-BAD0-E87E-8B810FF4BB0D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1371E15-9339-9E7E-6FD5-09F3BD09BAB3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013D1C-120B-94AA-8F9F-E6C61E720F18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3D655-4F39-3952-7D61-D635237A946B}"/>
              </a:ext>
            </a:extLst>
          </p:cNvPr>
          <p:cNvSpPr/>
          <p:nvPr/>
        </p:nvSpPr>
        <p:spPr>
          <a:xfrm>
            <a:off x="3237508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D2BEAA-4062-0E00-00D3-0D056EC55955}"/>
              </a:ext>
            </a:extLst>
          </p:cNvPr>
          <p:cNvSpPr txBox="1"/>
          <p:nvPr/>
        </p:nvSpPr>
        <p:spPr>
          <a:xfrm>
            <a:off x="3211267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B379AD-3BC8-A451-24A9-24A64F3D6672}"/>
              </a:ext>
            </a:extLst>
          </p:cNvPr>
          <p:cNvSpPr/>
          <p:nvPr/>
        </p:nvSpPr>
        <p:spPr>
          <a:xfrm>
            <a:off x="3237507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76BBC-B4BE-F511-5377-37B4C5BEEA13}"/>
              </a:ext>
            </a:extLst>
          </p:cNvPr>
          <p:cNvSpPr txBox="1"/>
          <p:nvPr/>
        </p:nvSpPr>
        <p:spPr>
          <a:xfrm>
            <a:off x="3162261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5F828C-495A-0D46-5391-8404A6372070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61E657-8EAD-DC7B-6B81-C997A1CD3E7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7758DFD-AA38-CCBA-1F8D-45593215492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737921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2">
    <p:spTree>
      <p:nvGrpSpPr>
        <p:cNvPr id="1" name="">
          <a:extLst>
            <a:ext uri="{FF2B5EF4-FFF2-40B4-BE49-F238E27FC236}">
              <a16:creationId xmlns:a16="http://schemas.microsoft.com/office/drawing/2014/main" id="{C1CB8D93-CD6C-6276-8897-31C50E34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A627C-71C9-AFAE-C265-73D05AC31754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3ECF249-436C-BAD0-E87E-8B810FF4BB0D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1371E15-9339-9E7E-6FD5-09F3BD09BAB3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013D1C-120B-94AA-8F9F-E6C61E720F18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3D655-4F39-3952-7D61-D635237A946B}"/>
              </a:ext>
            </a:extLst>
          </p:cNvPr>
          <p:cNvSpPr/>
          <p:nvPr/>
        </p:nvSpPr>
        <p:spPr>
          <a:xfrm>
            <a:off x="3237508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D2BEAA-4062-0E00-00D3-0D056EC55955}"/>
              </a:ext>
            </a:extLst>
          </p:cNvPr>
          <p:cNvSpPr txBox="1"/>
          <p:nvPr/>
        </p:nvSpPr>
        <p:spPr>
          <a:xfrm>
            <a:off x="3211267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B379AD-3BC8-A451-24A9-24A64F3D6672}"/>
              </a:ext>
            </a:extLst>
          </p:cNvPr>
          <p:cNvSpPr/>
          <p:nvPr/>
        </p:nvSpPr>
        <p:spPr>
          <a:xfrm>
            <a:off x="3237507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76BBC-B4BE-F511-5377-37B4C5BEEA13}"/>
              </a:ext>
            </a:extLst>
          </p:cNvPr>
          <p:cNvSpPr txBox="1"/>
          <p:nvPr/>
        </p:nvSpPr>
        <p:spPr>
          <a:xfrm>
            <a:off x="3162261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5F828C-495A-0D46-5391-8404A6372070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61E657-8EAD-DC7B-6B81-C997A1CD3E7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7758DFD-AA38-CCBA-1F8D-45593215492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DFC12-B56C-0581-7663-D190365D22D5}"/>
              </a:ext>
            </a:extLst>
          </p:cNvPr>
          <p:cNvSpPr txBox="1"/>
          <p:nvPr/>
        </p:nvSpPr>
        <p:spPr>
          <a:xfrm>
            <a:off x="3604774" y="4251425"/>
            <a:ext cx="297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1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COMPACT, CONTINUE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2476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3">
    <p:spTree>
      <p:nvGrpSpPr>
        <p:cNvPr id="1" name="">
          <a:extLst>
            <a:ext uri="{FF2B5EF4-FFF2-40B4-BE49-F238E27FC236}">
              <a16:creationId xmlns:a16="http://schemas.microsoft.com/office/drawing/2014/main" id="{10080ADF-C81F-EFE1-1E25-657EA096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27C43-B713-1420-C128-1155AFDEFF07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555CF8B-C665-E20F-373C-0A13593B57CB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AC855BC-707B-8424-1ADA-585C9D1D6B32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06C5E5-945C-837D-456D-2571DB95E16C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BD9D91-DF61-8337-46F3-72E6B1862B29}"/>
              </a:ext>
            </a:extLst>
          </p:cNvPr>
          <p:cNvSpPr/>
          <p:nvPr/>
        </p:nvSpPr>
        <p:spPr>
          <a:xfrm>
            <a:off x="3237508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14F6FD-A1EB-AB6A-E672-03D0B07E279F}"/>
              </a:ext>
            </a:extLst>
          </p:cNvPr>
          <p:cNvSpPr txBox="1"/>
          <p:nvPr/>
        </p:nvSpPr>
        <p:spPr>
          <a:xfrm>
            <a:off x="3211267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889C8E-A3E5-4E10-D709-455B74534A5F}"/>
              </a:ext>
            </a:extLst>
          </p:cNvPr>
          <p:cNvSpPr/>
          <p:nvPr/>
        </p:nvSpPr>
        <p:spPr>
          <a:xfrm>
            <a:off x="3237507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9001EE-3DB1-28C5-F31E-8196CD4F60AD}"/>
              </a:ext>
            </a:extLst>
          </p:cNvPr>
          <p:cNvSpPr txBox="1"/>
          <p:nvPr/>
        </p:nvSpPr>
        <p:spPr>
          <a:xfrm>
            <a:off x="3162261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5893CD-9975-3D27-4066-6186B43AC97D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FF47C11-E48A-7555-4F39-B51829B868BC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CAFBDA-06DB-3CC2-886B-36D5DF967DA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EB0FC-B8E8-426C-C6D6-1BEDCB4D3358}"/>
              </a:ext>
            </a:extLst>
          </p:cNvPr>
          <p:cNvSpPr txBox="1"/>
          <p:nvPr/>
        </p:nvSpPr>
        <p:spPr>
          <a:xfrm>
            <a:off x="3604774" y="4251425"/>
            <a:ext cx="297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1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COMPACT, </a:t>
            </a:r>
            <a:r>
              <a:rPr lang="en-US" sz="18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94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4">
    <p:spTree>
      <p:nvGrpSpPr>
        <p:cNvPr id="1" name="">
          <a:extLst>
            <a:ext uri="{FF2B5EF4-FFF2-40B4-BE49-F238E27FC236}">
              <a16:creationId xmlns:a16="http://schemas.microsoft.com/office/drawing/2014/main" id="{7EFAD008-1F50-39D2-30FE-5EEA6610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6A939-5C77-443C-CA80-9858FE6DBE55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8F1D2C0-2581-1D55-EDD2-11B49EAEFA63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7685B1-0233-94CB-EB58-3A3D38255C98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F1FD2F-0F4A-A77A-7938-8A77F9325671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93E314-D69D-85DE-3317-C4CE147C4092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E1ADBD-3149-FB8B-FE7B-02B8DBB340F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B8094F-716E-DFF6-39F1-47766EF5AAE1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5A19FE-18C8-27CF-B545-F3996A397B81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134743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5">
    <p:spTree>
      <p:nvGrpSpPr>
        <p:cNvPr id="1" name="">
          <a:extLst>
            <a:ext uri="{FF2B5EF4-FFF2-40B4-BE49-F238E27FC236}">
              <a16:creationId xmlns:a16="http://schemas.microsoft.com/office/drawing/2014/main" id="{7EFAD008-1F50-39D2-30FE-5EEA6610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6A939-5C77-443C-CA80-9858FE6DBE55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8F1D2C0-2581-1D55-EDD2-11B49EAEFA63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7685B1-0233-94CB-EB58-3A3D38255C98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F1FD2F-0F4A-A77A-7938-8A77F9325671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93E314-D69D-85DE-3317-C4CE147C4092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E1ADBD-3149-FB8B-FE7B-02B8DBB340F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B8094F-716E-DFF6-39F1-47766EF5AAE1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5A19FE-18C8-27CF-B545-F3996A397B81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9E901D-581A-129F-918A-15BA1CD296E4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9DB10-5604-25DF-9E93-D5FC17B5A631}"/>
              </a:ext>
            </a:extLst>
          </p:cNvPr>
          <p:cNvSpPr/>
          <p:nvPr/>
        </p:nvSpPr>
        <p:spPr>
          <a:xfrm>
            <a:off x="3953128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147515-9303-82F6-4953-1854973C1C31}"/>
              </a:ext>
            </a:extLst>
          </p:cNvPr>
          <p:cNvSpPr txBox="1"/>
          <p:nvPr/>
        </p:nvSpPr>
        <p:spPr>
          <a:xfrm>
            <a:off x="3926887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92AC5A-6A13-A63A-F0D2-D22030B86174}"/>
              </a:ext>
            </a:extLst>
          </p:cNvPr>
          <p:cNvSpPr/>
          <p:nvPr/>
        </p:nvSpPr>
        <p:spPr>
          <a:xfrm>
            <a:off x="3953127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3A5AEA-C42C-3D72-852D-00B54B7F3DC7}"/>
              </a:ext>
            </a:extLst>
          </p:cNvPr>
          <p:cNvSpPr txBox="1"/>
          <p:nvPr/>
        </p:nvSpPr>
        <p:spPr>
          <a:xfrm>
            <a:off x="3877881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014B74-FF02-43C7-948D-B58FC8E3FEA5}"/>
              </a:ext>
            </a:extLst>
          </p:cNvPr>
          <p:cNvSpPr txBox="1"/>
          <p:nvPr/>
        </p:nvSpPr>
        <p:spPr>
          <a:xfrm>
            <a:off x="4320394" y="4251425"/>
            <a:ext cx="297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1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COMPACT, CONTINUE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231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6">
    <p:spTree>
      <p:nvGrpSpPr>
        <p:cNvPr id="1" name="">
          <a:extLst>
            <a:ext uri="{FF2B5EF4-FFF2-40B4-BE49-F238E27FC236}">
              <a16:creationId xmlns:a16="http://schemas.microsoft.com/office/drawing/2014/main" id="{3ABFEA47-5E0F-DA16-C08D-F2BF910B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E7AD27-A0FB-05CA-1746-CA26B89580CF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D044BA2-C7DC-8CD7-7DC4-1AA5463442C7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3380941-EFD9-F13A-821D-D5D98D6C11AB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85EE37-DE95-F19F-D748-836AB9DEB5E2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CF0D42F-61C9-8DCA-3766-17984B53E437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E128FD-65AD-8BF4-0434-8C5073FB0AA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F8E519D-A7B9-590A-79C8-5325868FD627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D9963D-00D7-4A07-725F-B16A20CE482E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BD86EF-4F8C-DB48-4AF8-ECF848A01AC4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63AEA-77A1-AA45-46DD-528DD2084627}"/>
              </a:ext>
            </a:extLst>
          </p:cNvPr>
          <p:cNvSpPr/>
          <p:nvPr/>
        </p:nvSpPr>
        <p:spPr>
          <a:xfrm>
            <a:off x="3953128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3330A-60D5-64FD-EE2C-0B58F2C0FB81}"/>
              </a:ext>
            </a:extLst>
          </p:cNvPr>
          <p:cNvSpPr txBox="1"/>
          <p:nvPr/>
        </p:nvSpPr>
        <p:spPr>
          <a:xfrm>
            <a:off x="3926887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9144EB-0889-2874-2136-D56B3D99FAE6}"/>
              </a:ext>
            </a:extLst>
          </p:cNvPr>
          <p:cNvSpPr/>
          <p:nvPr/>
        </p:nvSpPr>
        <p:spPr>
          <a:xfrm>
            <a:off x="3953127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9A4E7-22F0-C7BD-6C69-E94F348BF80C}"/>
              </a:ext>
            </a:extLst>
          </p:cNvPr>
          <p:cNvSpPr txBox="1"/>
          <p:nvPr/>
        </p:nvSpPr>
        <p:spPr>
          <a:xfrm>
            <a:off x="3877881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AEF95-E090-6D1A-60DB-A1F74BA89EAA}"/>
              </a:ext>
            </a:extLst>
          </p:cNvPr>
          <p:cNvSpPr txBox="1"/>
          <p:nvPr/>
        </p:nvSpPr>
        <p:spPr>
          <a:xfrm>
            <a:off x="4280638" y="4251425"/>
            <a:ext cx="297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1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COMPACT, </a:t>
            </a:r>
            <a:r>
              <a:rPr lang="en-US" sz="18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6156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7">
    <p:spTree>
      <p:nvGrpSpPr>
        <p:cNvPr id="1" name="">
          <a:extLst>
            <a:ext uri="{FF2B5EF4-FFF2-40B4-BE49-F238E27FC236}">
              <a16:creationId xmlns:a16="http://schemas.microsoft.com/office/drawing/2014/main" id="{49CC8FC3-ADA3-D962-A664-D81EA127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E1A65-6876-7D18-1576-CCA0F8093EF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7E0BDB2-E6F8-D08B-0AE1-FD366BAB67C0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8082309-1C61-A30D-266C-AEAC0B1C91C8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494514-13EB-4DD0-B4DD-DC1FF48B0496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532801-ECCA-03F9-B6CB-B8FD318F749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930CB1-176D-D0A2-D48D-026DEE30D0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B4EB706-B0D2-CC03-D2FD-9120F744DEE3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BC1906-B15F-61C4-C912-69DBA50A939A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CB1A41-A339-A2E5-2C55-F77117A20914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03121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8">
    <p:spTree>
      <p:nvGrpSpPr>
        <p:cNvPr id="1" name="">
          <a:extLst>
            <a:ext uri="{FF2B5EF4-FFF2-40B4-BE49-F238E27FC236}">
              <a16:creationId xmlns:a16="http://schemas.microsoft.com/office/drawing/2014/main" id="{49CC8FC3-ADA3-D962-A664-D81EA127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E1A65-6876-7D18-1576-CCA0F8093EF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7E0BDB2-E6F8-D08B-0AE1-FD366BAB67C0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8082309-1C61-A30D-266C-AEAC0B1C91C8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494514-13EB-4DD0-B4DD-DC1FF48B0496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532801-ECCA-03F9-B6CB-B8FD318F749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930CB1-176D-D0A2-D48D-026DEE30D0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B4EB706-B0D2-CC03-D2FD-9120F744DEE3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BC1906-B15F-61C4-C912-69DBA50A939A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CB1A41-A339-A2E5-2C55-F77117A20914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2199280-8C3E-CFAA-400F-6E17821116AA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219875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09">
    <p:spTree>
      <p:nvGrpSpPr>
        <p:cNvPr id="1" name="">
          <a:extLst>
            <a:ext uri="{FF2B5EF4-FFF2-40B4-BE49-F238E27FC236}">
              <a16:creationId xmlns:a16="http://schemas.microsoft.com/office/drawing/2014/main" id="{49CC8FC3-ADA3-D962-A664-D81EA127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E1A65-6876-7D18-1576-CCA0F8093EF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7E0BDB2-E6F8-D08B-0AE1-FD366BAB67C0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8082309-1C61-A30D-266C-AEAC0B1C91C8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494514-13EB-4DD0-B4DD-DC1FF48B0496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532801-ECCA-03F9-B6CB-B8FD318F749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930CB1-176D-D0A2-D48D-026DEE30D0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B4EB706-B0D2-CC03-D2FD-9120F744DEE3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BC1906-B15F-61C4-C912-69DBA50A939A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CB1A41-A339-A2E5-2C55-F77117A20914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2199280-8C3E-CFAA-400F-6E17821116AA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6B5187-CA10-8A0D-A13E-BB29C0FA36FF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7027CE0-8C2D-BE45-B733-D5C6E3BFB2AD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13C602-759C-66FE-A1F7-FBECB4FE5E64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DD57AA-74EA-3AA5-A18D-9702A70EB729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9B7033-38D3-43DC-27E4-40065E98DB80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6B34D5-4569-C84D-F5AC-7A3494C46704}"/>
              </a:ext>
            </a:extLst>
          </p:cNvPr>
          <p:cNvSpPr txBox="1"/>
          <p:nvPr/>
        </p:nvSpPr>
        <p:spPr>
          <a:xfrm>
            <a:off x="4810726" y="4251425"/>
            <a:ext cx="297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1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COMPACT, CONTINUE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0636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0">
    <p:spTree>
      <p:nvGrpSpPr>
        <p:cNvPr id="1" name="">
          <a:extLst>
            <a:ext uri="{FF2B5EF4-FFF2-40B4-BE49-F238E27FC236}">
              <a16:creationId xmlns:a16="http://schemas.microsoft.com/office/drawing/2014/main" id="{DE9375F7-6852-6052-4967-29F27EC6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05E37-DA77-45B4-C801-FF094A5DA1E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80CB005-A918-CC89-3821-E6B5882BE6D0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BCCE63B-9F80-5EC2-C2A5-AF46D669E3FF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F0941C-66AA-B702-F21C-A0FBBF57B9B9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6827DF-DC9A-5588-39F2-8C0EBD49E462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99DE54-F4A6-6A86-B559-4323A8C060B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572ED83-FEA4-6324-0883-A90E4D634FF8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21CABF-32C7-A56B-D0ED-94B7954F88AC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D26730-703F-2419-B7B5-AE9A56C16C3A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D853785-FDD1-1EB5-8EF2-ABDD650D8427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5B4574-5689-E01A-C232-ECB022D059C1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56EA4FC-4AFD-9FEE-34A0-6D5B84631043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135F9B-BB0E-F344-1753-C40398C6EAF5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A791C5-2361-9302-C201-DDBC733EECF5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B2A3E8-97EC-E517-DD5D-98D39ED147B5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38F02F-9CA3-514A-2FAD-F26C21344187}"/>
              </a:ext>
            </a:extLst>
          </p:cNvPr>
          <p:cNvSpPr txBox="1"/>
          <p:nvPr/>
        </p:nvSpPr>
        <p:spPr>
          <a:xfrm>
            <a:off x="4810726" y="4251425"/>
            <a:ext cx="3286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18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18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CONTINUE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3704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1">
    <p:spTree>
      <p:nvGrpSpPr>
        <p:cNvPr id="1" name="">
          <a:extLst>
            <a:ext uri="{FF2B5EF4-FFF2-40B4-BE49-F238E27FC236}">
              <a16:creationId xmlns:a16="http://schemas.microsoft.com/office/drawing/2014/main" id="{3237E7C3-7942-A5A5-04EC-E3765E3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DD85B-6DDB-66AB-31AD-42A2892927A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9ACA15-0BC6-C723-2017-0CDC43CDA259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8E519E-D487-0D4B-0C2C-75E5B83B1AA4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F18A2-BDD7-BE4C-6C11-44A502159003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E7463-EB70-A355-4E25-E9FDEE1203E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542669-F6D4-CA6F-63AF-D28A0A45A5F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3FE9BB-FA88-C761-FEF5-3967388721D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F3ACA-E033-9FE9-A368-1094EE8CBC90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2B5FC3-E044-8CF3-9954-1C2FB5EA2A96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3EC69A-9E2F-CA25-0FBD-C4FBDE60D8FE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23763-BE75-4218-202C-DC1720A1825A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69202-7EF2-F661-3DEE-8D9B30157908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7C39E-F8CB-954B-EAE7-79B5EF9993C8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A367F-045E-0D54-62EA-7C007CD44B8A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16384-8BE6-0885-2287-38F7C085535F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6F95D-EF6C-FD24-BE39-FFB09F8C04E3}"/>
              </a:ext>
            </a:extLst>
          </p:cNvPr>
          <p:cNvCxnSpPr>
            <a:cxnSpLocks/>
          </p:cNvCxnSpPr>
          <p:nvPr/>
        </p:nvCxnSpPr>
        <p:spPr>
          <a:xfrm>
            <a:off x="4855484" y="442471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343A537-676E-7442-B176-84D16085A3CD}"/>
              </a:ext>
            </a:extLst>
          </p:cNvPr>
          <p:cNvSpPr/>
          <p:nvPr/>
        </p:nvSpPr>
        <p:spPr>
          <a:xfrm>
            <a:off x="5260476" y="4320859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BC7ECC-2818-D37E-1919-3D910D1BB01F}"/>
              </a:ext>
            </a:extLst>
          </p:cNvPr>
          <p:cNvCxnSpPr>
            <a:cxnSpLocks/>
          </p:cNvCxnSpPr>
          <p:nvPr/>
        </p:nvCxnSpPr>
        <p:spPr>
          <a:xfrm flipV="1">
            <a:off x="2169280" y="5269460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EADA0F-44A5-4609-0AAA-4A15559CFCA4}"/>
              </a:ext>
            </a:extLst>
          </p:cNvPr>
          <p:cNvSpPr txBox="1"/>
          <p:nvPr/>
        </p:nvSpPr>
        <p:spPr>
          <a:xfrm>
            <a:off x="1764899" y="504913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3D8EE8-AAE3-F025-402A-815ACC7849D0}"/>
              </a:ext>
            </a:extLst>
          </p:cNvPr>
          <p:cNvSpPr/>
          <p:nvPr/>
        </p:nvSpPr>
        <p:spPr>
          <a:xfrm>
            <a:off x="2572176" y="5150868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D83440C-460D-080A-1DEF-AEAED0B68A57}"/>
              </a:ext>
            </a:extLst>
          </p:cNvPr>
          <p:cNvCxnSpPr>
            <a:cxnSpLocks/>
            <a:stCxn id="45" idx="1"/>
            <a:endCxn id="15" idx="1"/>
          </p:cNvCxnSpPr>
          <p:nvPr/>
        </p:nvCxnSpPr>
        <p:spPr>
          <a:xfrm rot="10800000" flipV="1">
            <a:off x="1764899" y="4423068"/>
            <a:ext cx="6628" cy="841514"/>
          </a:xfrm>
          <a:prstGeom prst="curvedConnector3">
            <a:avLst>
              <a:gd name="adj1" fmla="val 3549004"/>
            </a:avLst>
          </a:prstGeom>
          <a:ln w="3810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42006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2">
    <p:spTree>
      <p:nvGrpSpPr>
        <p:cNvPr id="1" name="">
          <a:extLst>
            <a:ext uri="{FF2B5EF4-FFF2-40B4-BE49-F238E27FC236}">
              <a16:creationId xmlns:a16="http://schemas.microsoft.com/office/drawing/2014/main" id="{3237E7C3-7942-A5A5-04EC-E3765E3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DD85B-6DDB-66AB-31AD-42A2892927A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9ACA15-0BC6-C723-2017-0CDC43CDA259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8E519E-D487-0D4B-0C2C-75E5B83B1AA4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F18A2-BDD7-BE4C-6C11-44A502159003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E7463-EB70-A355-4E25-E9FDEE1203E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542669-F6D4-CA6F-63AF-D28A0A45A5F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3FE9BB-FA88-C761-FEF5-3967388721D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F3ACA-E033-9FE9-A368-1094EE8CBC90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2B5FC3-E044-8CF3-9954-1C2FB5EA2A96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3EC69A-9E2F-CA25-0FBD-C4FBDE60D8FE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23763-BE75-4218-202C-DC1720A1825A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69202-7EF2-F661-3DEE-8D9B30157908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7C39E-F8CB-954B-EAE7-79B5EF9993C8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A367F-045E-0D54-62EA-7C007CD44B8A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16384-8BE6-0885-2287-38F7C085535F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6F95D-EF6C-FD24-BE39-FFB09F8C04E3}"/>
              </a:ext>
            </a:extLst>
          </p:cNvPr>
          <p:cNvCxnSpPr>
            <a:cxnSpLocks/>
          </p:cNvCxnSpPr>
          <p:nvPr/>
        </p:nvCxnSpPr>
        <p:spPr>
          <a:xfrm>
            <a:off x="4855484" y="442471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343A537-676E-7442-B176-84D16085A3CD}"/>
              </a:ext>
            </a:extLst>
          </p:cNvPr>
          <p:cNvSpPr/>
          <p:nvPr/>
        </p:nvSpPr>
        <p:spPr>
          <a:xfrm>
            <a:off x="5260476" y="4320859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BC7ECC-2818-D37E-1919-3D910D1BB01F}"/>
              </a:ext>
            </a:extLst>
          </p:cNvPr>
          <p:cNvCxnSpPr>
            <a:cxnSpLocks/>
          </p:cNvCxnSpPr>
          <p:nvPr/>
        </p:nvCxnSpPr>
        <p:spPr>
          <a:xfrm flipV="1">
            <a:off x="2169280" y="5269460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EADA0F-44A5-4609-0AAA-4A15559CFCA4}"/>
              </a:ext>
            </a:extLst>
          </p:cNvPr>
          <p:cNvSpPr txBox="1"/>
          <p:nvPr/>
        </p:nvSpPr>
        <p:spPr>
          <a:xfrm>
            <a:off x="1764899" y="504913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3D8EE8-AAE3-F025-402A-815ACC7849D0}"/>
              </a:ext>
            </a:extLst>
          </p:cNvPr>
          <p:cNvSpPr/>
          <p:nvPr/>
        </p:nvSpPr>
        <p:spPr>
          <a:xfrm>
            <a:off x="2572176" y="5150868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D83440C-460D-080A-1DEF-AEAED0B68A57}"/>
              </a:ext>
            </a:extLst>
          </p:cNvPr>
          <p:cNvCxnSpPr>
            <a:cxnSpLocks/>
            <a:stCxn id="45" idx="1"/>
            <a:endCxn id="15" idx="1"/>
          </p:cNvCxnSpPr>
          <p:nvPr/>
        </p:nvCxnSpPr>
        <p:spPr>
          <a:xfrm rot="10800000" flipV="1">
            <a:off x="1764899" y="4423068"/>
            <a:ext cx="6628" cy="841514"/>
          </a:xfrm>
          <a:prstGeom prst="curvedConnector3">
            <a:avLst>
              <a:gd name="adj1" fmla="val 3549004"/>
            </a:avLst>
          </a:prstGeom>
          <a:ln w="3810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4A8EBD-A06A-5134-05FB-7C628263CF9B}"/>
              </a:ext>
            </a:extLst>
          </p:cNvPr>
          <p:cNvCxnSpPr>
            <a:cxnSpLocks/>
          </p:cNvCxnSpPr>
          <p:nvPr/>
        </p:nvCxnSpPr>
        <p:spPr>
          <a:xfrm>
            <a:off x="2820435" y="5276283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C0CE8A0-C1DB-333F-4B47-19E18230E9F2}"/>
              </a:ext>
            </a:extLst>
          </p:cNvPr>
          <p:cNvSpPr/>
          <p:nvPr/>
        </p:nvSpPr>
        <p:spPr>
          <a:xfrm>
            <a:off x="3241492" y="516257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13777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3">
    <p:spTree>
      <p:nvGrpSpPr>
        <p:cNvPr id="1" name="">
          <a:extLst>
            <a:ext uri="{FF2B5EF4-FFF2-40B4-BE49-F238E27FC236}">
              <a16:creationId xmlns:a16="http://schemas.microsoft.com/office/drawing/2014/main" id="{3237E7C3-7942-A5A5-04EC-E3765E3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DD85B-6DDB-66AB-31AD-42A2892927A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9ACA15-0BC6-C723-2017-0CDC43CDA259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8E519E-D487-0D4B-0C2C-75E5B83B1AA4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F18A2-BDD7-BE4C-6C11-44A502159003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E7463-EB70-A355-4E25-E9FDEE1203E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542669-F6D4-CA6F-63AF-D28A0A45A5F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3FE9BB-FA88-C761-FEF5-3967388721D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F3ACA-E033-9FE9-A368-1094EE8CBC90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2B5FC3-E044-8CF3-9954-1C2FB5EA2A96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3EC69A-9E2F-CA25-0FBD-C4FBDE60D8FE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23763-BE75-4218-202C-DC1720A1825A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69202-7EF2-F661-3DEE-8D9B30157908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7C39E-F8CB-954B-EAE7-79B5EF9993C8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A367F-045E-0D54-62EA-7C007CD44B8A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16384-8BE6-0885-2287-38F7C085535F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6F95D-EF6C-FD24-BE39-FFB09F8C04E3}"/>
              </a:ext>
            </a:extLst>
          </p:cNvPr>
          <p:cNvCxnSpPr>
            <a:cxnSpLocks/>
          </p:cNvCxnSpPr>
          <p:nvPr/>
        </p:nvCxnSpPr>
        <p:spPr>
          <a:xfrm>
            <a:off x="4855484" y="442471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343A537-676E-7442-B176-84D16085A3CD}"/>
              </a:ext>
            </a:extLst>
          </p:cNvPr>
          <p:cNvSpPr/>
          <p:nvPr/>
        </p:nvSpPr>
        <p:spPr>
          <a:xfrm>
            <a:off x="5260476" y="4320859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BC7ECC-2818-D37E-1919-3D910D1BB01F}"/>
              </a:ext>
            </a:extLst>
          </p:cNvPr>
          <p:cNvCxnSpPr>
            <a:cxnSpLocks/>
          </p:cNvCxnSpPr>
          <p:nvPr/>
        </p:nvCxnSpPr>
        <p:spPr>
          <a:xfrm flipV="1">
            <a:off x="2169280" y="5269460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EADA0F-44A5-4609-0AAA-4A15559CFCA4}"/>
              </a:ext>
            </a:extLst>
          </p:cNvPr>
          <p:cNvSpPr txBox="1"/>
          <p:nvPr/>
        </p:nvSpPr>
        <p:spPr>
          <a:xfrm>
            <a:off x="1764899" y="504913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3D8EE8-AAE3-F025-402A-815ACC7849D0}"/>
              </a:ext>
            </a:extLst>
          </p:cNvPr>
          <p:cNvSpPr/>
          <p:nvPr/>
        </p:nvSpPr>
        <p:spPr>
          <a:xfrm>
            <a:off x="2572176" y="5150868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D83440C-460D-080A-1DEF-AEAED0B68A57}"/>
              </a:ext>
            </a:extLst>
          </p:cNvPr>
          <p:cNvCxnSpPr>
            <a:cxnSpLocks/>
            <a:stCxn id="45" idx="1"/>
            <a:endCxn id="15" idx="1"/>
          </p:cNvCxnSpPr>
          <p:nvPr/>
        </p:nvCxnSpPr>
        <p:spPr>
          <a:xfrm rot="10800000" flipV="1">
            <a:off x="1764899" y="4423068"/>
            <a:ext cx="6628" cy="841514"/>
          </a:xfrm>
          <a:prstGeom prst="curvedConnector3">
            <a:avLst>
              <a:gd name="adj1" fmla="val 3549004"/>
            </a:avLst>
          </a:prstGeom>
          <a:ln w="3810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4A8EBD-A06A-5134-05FB-7C628263CF9B}"/>
              </a:ext>
            </a:extLst>
          </p:cNvPr>
          <p:cNvCxnSpPr>
            <a:cxnSpLocks/>
          </p:cNvCxnSpPr>
          <p:nvPr/>
        </p:nvCxnSpPr>
        <p:spPr>
          <a:xfrm>
            <a:off x="2820435" y="5276283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C0CE8A0-C1DB-333F-4B47-19E18230E9F2}"/>
              </a:ext>
            </a:extLst>
          </p:cNvPr>
          <p:cNvSpPr/>
          <p:nvPr/>
        </p:nvSpPr>
        <p:spPr>
          <a:xfrm>
            <a:off x="3241492" y="516257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0F647-5AD6-E3CC-FF68-7F06C5D46F62}"/>
              </a:ext>
            </a:extLst>
          </p:cNvPr>
          <p:cNvCxnSpPr>
            <a:cxnSpLocks/>
          </p:cNvCxnSpPr>
          <p:nvPr/>
        </p:nvCxnSpPr>
        <p:spPr>
          <a:xfrm>
            <a:off x="3499598" y="528129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40F282-AB32-F28F-B608-21AF2330B84B}"/>
              </a:ext>
            </a:extLst>
          </p:cNvPr>
          <p:cNvSpPr/>
          <p:nvPr/>
        </p:nvSpPr>
        <p:spPr>
          <a:xfrm>
            <a:off x="3926820" y="5081888"/>
            <a:ext cx="2160144" cy="362026"/>
          </a:xfrm>
          <a:prstGeom prst="roundRect">
            <a:avLst>
              <a:gd name="adj" fmla="val 30000"/>
            </a:avLst>
          </a:prstGeom>
          <a:solidFill>
            <a:srgbClr val="E8F8E5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sz="1531" b="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53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Medusa mushroom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DE74A-1A78-1052-3EF6-4A9458494307}"/>
              </a:ext>
            </a:extLst>
          </p:cNvPr>
          <p:cNvSpPr txBox="1"/>
          <p:nvPr/>
        </p:nvSpPr>
        <p:spPr>
          <a:xfrm>
            <a:off x="4357135" y="4840283"/>
            <a:ext cx="1316663" cy="235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531" b="1">
                <a:latin typeface="Calibri"/>
                <a:ea typeface="Calibri"/>
                <a:cs typeface="Calibri"/>
              </a:rPr>
              <a:t>Final Answer:</a:t>
            </a:r>
            <a:endParaRPr lang="en-US" sz="153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156873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4">
    <p:spTree>
      <p:nvGrpSpPr>
        <p:cNvPr id="1" name="">
          <a:extLst>
            <a:ext uri="{FF2B5EF4-FFF2-40B4-BE49-F238E27FC236}">
              <a16:creationId xmlns:a16="http://schemas.microsoft.com/office/drawing/2014/main" id="{3237E7C3-7942-A5A5-04EC-E3765E3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DD85B-6DDB-66AB-31AD-42A2892927A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9ACA15-0BC6-C723-2017-0CDC43CDA259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8E519E-D487-0D4B-0C2C-75E5B83B1AA4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F18A2-BDD7-BE4C-6C11-44A502159003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E7463-EB70-A355-4E25-E9FDEE1203E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542669-F6D4-CA6F-63AF-D28A0A45A5F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3FE9BB-FA88-C761-FEF5-3967388721D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F3ACA-E033-9FE9-A368-1094EE8CBC90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2B5FC3-E044-8CF3-9954-1C2FB5EA2A96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3EC69A-9E2F-CA25-0FBD-C4FBDE60D8FE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23763-BE75-4218-202C-DC1720A1825A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69202-7EF2-F661-3DEE-8D9B30157908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7C39E-F8CB-954B-EAE7-79B5EF9993C8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A367F-045E-0D54-62EA-7C007CD44B8A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16384-8BE6-0885-2287-38F7C085535F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6F95D-EF6C-FD24-BE39-FFB09F8C04E3}"/>
              </a:ext>
            </a:extLst>
          </p:cNvPr>
          <p:cNvCxnSpPr>
            <a:cxnSpLocks/>
          </p:cNvCxnSpPr>
          <p:nvPr/>
        </p:nvCxnSpPr>
        <p:spPr>
          <a:xfrm>
            <a:off x="4855484" y="442471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343A537-676E-7442-B176-84D16085A3CD}"/>
              </a:ext>
            </a:extLst>
          </p:cNvPr>
          <p:cNvSpPr/>
          <p:nvPr/>
        </p:nvSpPr>
        <p:spPr>
          <a:xfrm>
            <a:off x="5260476" y="4320859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BC7ECC-2818-D37E-1919-3D910D1BB01F}"/>
              </a:ext>
            </a:extLst>
          </p:cNvPr>
          <p:cNvCxnSpPr>
            <a:cxnSpLocks/>
          </p:cNvCxnSpPr>
          <p:nvPr/>
        </p:nvCxnSpPr>
        <p:spPr>
          <a:xfrm flipV="1">
            <a:off x="2169280" y="5269460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EADA0F-44A5-4609-0AAA-4A15559CFCA4}"/>
              </a:ext>
            </a:extLst>
          </p:cNvPr>
          <p:cNvSpPr txBox="1"/>
          <p:nvPr/>
        </p:nvSpPr>
        <p:spPr>
          <a:xfrm>
            <a:off x="1764899" y="504913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3D8EE8-AAE3-F025-402A-815ACC7849D0}"/>
              </a:ext>
            </a:extLst>
          </p:cNvPr>
          <p:cNvSpPr/>
          <p:nvPr/>
        </p:nvSpPr>
        <p:spPr>
          <a:xfrm>
            <a:off x="2572176" y="5150868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D83440C-460D-080A-1DEF-AEAED0B68A57}"/>
              </a:ext>
            </a:extLst>
          </p:cNvPr>
          <p:cNvCxnSpPr>
            <a:cxnSpLocks/>
            <a:stCxn id="45" idx="1"/>
            <a:endCxn id="15" idx="1"/>
          </p:cNvCxnSpPr>
          <p:nvPr/>
        </p:nvCxnSpPr>
        <p:spPr>
          <a:xfrm rot="10800000" flipV="1">
            <a:off x="1764899" y="4423068"/>
            <a:ext cx="6628" cy="841514"/>
          </a:xfrm>
          <a:prstGeom prst="curvedConnector3">
            <a:avLst>
              <a:gd name="adj1" fmla="val 3549004"/>
            </a:avLst>
          </a:prstGeom>
          <a:ln w="3810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4A8EBD-A06A-5134-05FB-7C628263CF9B}"/>
              </a:ext>
            </a:extLst>
          </p:cNvPr>
          <p:cNvCxnSpPr>
            <a:cxnSpLocks/>
          </p:cNvCxnSpPr>
          <p:nvPr/>
        </p:nvCxnSpPr>
        <p:spPr>
          <a:xfrm>
            <a:off x="2820435" y="5276283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C0CE8A0-C1DB-333F-4B47-19E18230E9F2}"/>
              </a:ext>
            </a:extLst>
          </p:cNvPr>
          <p:cNvSpPr/>
          <p:nvPr/>
        </p:nvSpPr>
        <p:spPr>
          <a:xfrm>
            <a:off x="3241492" y="516257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0F647-5AD6-E3CC-FF68-7F06C5D46F62}"/>
              </a:ext>
            </a:extLst>
          </p:cNvPr>
          <p:cNvCxnSpPr>
            <a:cxnSpLocks/>
          </p:cNvCxnSpPr>
          <p:nvPr/>
        </p:nvCxnSpPr>
        <p:spPr>
          <a:xfrm>
            <a:off x="3499598" y="528129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40F282-AB32-F28F-B608-21AF2330B84B}"/>
              </a:ext>
            </a:extLst>
          </p:cNvPr>
          <p:cNvSpPr/>
          <p:nvPr/>
        </p:nvSpPr>
        <p:spPr>
          <a:xfrm>
            <a:off x="3926820" y="5081888"/>
            <a:ext cx="2160144" cy="362026"/>
          </a:xfrm>
          <a:prstGeom prst="roundRect">
            <a:avLst>
              <a:gd name="adj" fmla="val 30000"/>
            </a:avLst>
          </a:prstGeom>
          <a:solidFill>
            <a:srgbClr val="E8F8E5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sz="1531" b="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53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Medusa mushroom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DE74A-1A78-1052-3EF6-4A9458494307}"/>
              </a:ext>
            </a:extLst>
          </p:cNvPr>
          <p:cNvSpPr txBox="1"/>
          <p:nvPr/>
        </p:nvSpPr>
        <p:spPr>
          <a:xfrm>
            <a:off x="4357135" y="4840283"/>
            <a:ext cx="1316663" cy="235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531" b="1">
                <a:latin typeface="Calibri"/>
                <a:ea typeface="Calibri"/>
                <a:cs typeface="Calibri"/>
              </a:rPr>
              <a:t>Final Answer:</a:t>
            </a:r>
            <a:endParaRPr lang="en-US" sz="1531">
              <a:latin typeface="Calibri"/>
              <a:ea typeface="Calibri"/>
              <a:cs typeface="Calibri"/>
            </a:endParaRPr>
          </a:p>
        </p:txBody>
      </p:sp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A089F4A9-1462-6612-6C0E-83292571136E}"/>
              </a:ext>
            </a:extLst>
          </p:cNvPr>
          <p:cNvSpPr/>
          <p:nvPr/>
        </p:nvSpPr>
        <p:spPr>
          <a:xfrm>
            <a:off x="7494431" y="4865431"/>
            <a:ext cx="4285667" cy="1422739"/>
          </a:xfrm>
          <a:prstGeom prst="wedgeRoundRectCallout">
            <a:avLst>
              <a:gd name="adj1" fmla="val -56370"/>
              <a:gd name="adj2" fmla="val 18739"/>
              <a:gd name="adj3" fmla="val 16667"/>
            </a:avLst>
          </a:prstGeom>
          <a:solidFill>
            <a:srgbClr val="E9FF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400" b="1">
                <a:solidFill>
                  <a:srgbClr val="07813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adaptive summarization</a:t>
            </a:r>
            <a:r>
              <a:rPr lang="en-US" sz="2400">
                <a:solidFill>
                  <a:srgbClr val="07813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— consolidates facts; lets model escape from loops.</a:t>
            </a:r>
          </a:p>
        </p:txBody>
      </p:sp>
    </p:spTree>
    <p:extLst>
      <p:ext uri="{BB962C8B-B14F-4D97-AF65-F5344CB8AC3E}">
        <p14:creationId xmlns:p14="http://schemas.microsoft.com/office/powerpoint/2010/main" val="409586744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5">
    <p:spTree>
      <p:nvGrpSpPr>
        <p:cNvPr id="1" name="">
          <a:extLst>
            <a:ext uri="{FF2B5EF4-FFF2-40B4-BE49-F238E27FC236}">
              <a16:creationId xmlns:a16="http://schemas.microsoft.com/office/drawing/2014/main" id="{3237E7C3-7942-A5A5-04EC-E3765E3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DD85B-6DDB-66AB-31AD-42A2892927A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9ACA15-0BC6-C723-2017-0CDC43CDA259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8E519E-D487-0D4B-0C2C-75E5B83B1AA4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F18A2-BDD7-BE4C-6C11-44A502159003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E7463-EB70-A355-4E25-E9FDEE1203E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542669-F6D4-CA6F-63AF-D28A0A45A5F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3FE9BB-FA88-C761-FEF5-3967388721D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F3ACA-E033-9FE9-A368-1094EE8CBC90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2B5FC3-E044-8CF3-9954-1C2FB5EA2A96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3EC69A-9E2F-CA25-0FBD-C4FBDE60D8FE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23763-BE75-4218-202C-DC1720A1825A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69202-7EF2-F661-3DEE-8D9B30157908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7C39E-F8CB-954B-EAE7-79B5EF9993C8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A367F-045E-0D54-62EA-7C007CD44B8A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16384-8BE6-0885-2287-38F7C085535F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6F95D-EF6C-FD24-BE39-FFB09F8C04E3}"/>
              </a:ext>
            </a:extLst>
          </p:cNvPr>
          <p:cNvCxnSpPr>
            <a:cxnSpLocks/>
          </p:cNvCxnSpPr>
          <p:nvPr/>
        </p:nvCxnSpPr>
        <p:spPr>
          <a:xfrm>
            <a:off x="4855484" y="442471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343A537-676E-7442-B176-84D16085A3CD}"/>
              </a:ext>
            </a:extLst>
          </p:cNvPr>
          <p:cNvSpPr/>
          <p:nvPr/>
        </p:nvSpPr>
        <p:spPr>
          <a:xfrm>
            <a:off x="5260476" y="4320859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BC7ECC-2818-D37E-1919-3D910D1BB01F}"/>
              </a:ext>
            </a:extLst>
          </p:cNvPr>
          <p:cNvCxnSpPr>
            <a:cxnSpLocks/>
          </p:cNvCxnSpPr>
          <p:nvPr/>
        </p:nvCxnSpPr>
        <p:spPr>
          <a:xfrm flipV="1">
            <a:off x="2169280" y="5269460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EADA0F-44A5-4609-0AAA-4A15559CFCA4}"/>
              </a:ext>
            </a:extLst>
          </p:cNvPr>
          <p:cNvSpPr txBox="1"/>
          <p:nvPr/>
        </p:nvSpPr>
        <p:spPr>
          <a:xfrm>
            <a:off x="1764899" y="504913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3D8EE8-AAE3-F025-402A-815ACC7849D0}"/>
              </a:ext>
            </a:extLst>
          </p:cNvPr>
          <p:cNvSpPr/>
          <p:nvPr/>
        </p:nvSpPr>
        <p:spPr>
          <a:xfrm>
            <a:off x="2572176" y="5150868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D83440C-460D-080A-1DEF-AEAED0B68A57}"/>
              </a:ext>
            </a:extLst>
          </p:cNvPr>
          <p:cNvCxnSpPr>
            <a:cxnSpLocks/>
            <a:stCxn id="45" idx="1"/>
            <a:endCxn id="15" idx="1"/>
          </p:cNvCxnSpPr>
          <p:nvPr/>
        </p:nvCxnSpPr>
        <p:spPr>
          <a:xfrm rot="10800000" flipV="1">
            <a:off x="1764899" y="4423068"/>
            <a:ext cx="6628" cy="841514"/>
          </a:xfrm>
          <a:prstGeom prst="curvedConnector3">
            <a:avLst>
              <a:gd name="adj1" fmla="val 3549004"/>
            </a:avLst>
          </a:prstGeom>
          <a:ln w="3810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4A8EBD-A06A-5134-05FB-7C628263CF9B}"/>
              </a:ext>
            </a:extLst>
          </p:cNvPr>
          <p:cNvCxnSpPr>
            <a:cxnSpLocks/>
          </p:cNvCxnSpPr>
          <p:nvPr/>
        </p:nvCxnSpPr>
        <p:spPr>
          <a:xfrm>
            <a:off x="2820435" y="5276283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C0CE8A0-C1DB-333F-4B47-19E18230E9F2}"/>
              </a:ext>
            </a:extLst>
          </p:cNvPr>
          <p:cNvSpPr/>
          <p:nvPr/>
        </p:nvSpPr>
        <p:spPr>
          <a:xfrm>
            <a:off x="3241492" y="516257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0F647-5AD6-E3CC-FF68-7F06C5D46F62}"/>
              </a:ext>
            </a:extLst>
          </p:cNvPr>
          <p:cNvCxnSpPr>
            <a:cxnSpLocks/>
          </p:cNvCxnSpPr>
          <p:nvPr/>
        </p:nvCxnSpPr>
        <p:spPr>
          <a:xfrm>
            <a:off x="3499598" y="528129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40F282-AB32-F28F-B608-21AF2330B84B}"/>
              </a:ext>
            </a:extLst>
          </p:cNvPr>
          <p:cNvSpPr/>
          <p:nvPr/>
        </p:nvSpPr>
        <p:spPr>
          <a:xfrm>
            <a:off x="3926820" y="5081888"/>
            <a:ext cx="2160144" cy="362026"/>
          </a:xfrm>
          <a:prstGeom prst="roundRect">
            <a:avLst>
              <a:gd name="adj" fmla="val 30000"/>
            </a:avLst>
          </a:prstGeom>
          <a:solidFill>
            <a:srgbClr val="E8F8E5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sz="1531" b="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53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Medusa mushroom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DE74A-1A78-1052-3EF6-4A9458494307}"/>
              </a:ext>
            </a:extLst>
          </p:cNvPr>
          <p:cNvSpPr txBox="1"/>
          <p:nvPr/>
        </p:nvSpPr>
        <p:spPr>
          <a:xfrm>
            <a:off x="4357135" y="4840283"/>
            <a:ext cx="1316663" cy="235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531" b="1">
                <a:latin typeface="Calibri"/>
                <a:ea typeface="Calibri"/>
                <a:cs typeface="Calibri"/>
              </a:rPr>
              <a:t>Final Answer:</a:t>
            </a:r>
            <a:endParaRPr lang="en-US" sz="1531">
              <a:latin typeface="Calibri"/>
              <a:ea typeface="Calibri"/>
              <a:cs typeface="Calibri"/>
            </a:endParaRPr>
          </a:p>
        </p:txBody>
      </p:sp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A089F4A9-1462-6612-6C0E-83292571136E}"/>
              </a:ext>
            </a:extLst>
          </p:cNvPr>
          <p:cNvSpPr/>
          <p:nvPr/>
        </p:nvSpPr>
        <p:spPr>
          <a:xfrm>
            <a:off x="7494431" y="4865431"/>
            <a:ext cx="4285667" cy="1422739"/>
          </a:xfrm>
          <a:prstGeom prst="wedgeRoundRectCallout">
            <a:avLst>
              <a:gd name="adj1" fmla="val -56370"/>
              <a:gd name="adj2" fmla="val 18739"/>
              <a:gd name="adj3" fmla="val 16667"/>
            </a:avLst>
          </a:prstGeom>
          <a:solidFill>
            <a:srgbClr val="E9FF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400" b="1">
                <a:solidFill>
                  <a:srgbClr val="07813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adaptive summarization</a:t>
            </a:r>
            <a:r>
              <a:rPr lang="en-US" sz="2400">
                <a:solidFill>
                  <a:srgbClr val="07813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— consolidates facts; lets model escape from loops.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EA2D7647-44AA-F44B-E8B7-AB09750D2190}"/>
              </a:ext>
            </a:extLst>
          </p:cNvPr>
          <p:cNvSpPr/>
          <p:nvPr/>
        </p:nvSpPr>
        <p:spPr>
          <a:xfrm>
            <a:off x="6096000" y="3429000"/>
            <a:ext cx="4235824" cy="976745"/>
          </a:xfrm>
          <a:prstGeom prst="wedgeRoundRectCallout">
            <a:avLst>
              <a:gd name="adj1" fmla="val -57359"/>
              <a:gd name="adj2" fmla="val 4414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overhead because of KV-reuse </a:t>
            </a:r>
          </a:p>
        </p:txBody>
      </p:sp>
    </p:spTree>
    <p:extLst>
      <p:ext uri="{BB962C8B-B14F-4D97-AF65-F5344CB8AC3E}">
        <p14:creationId xmlns:p14="http://schemas.microsoft.com/office/powerpoint/2010/main" val="252162990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6">
    <p:spTree>
      <p:nvGrpSpPr>
        <p:cNvPr id="1" name="">
          <a:extLst>
            <a:ext uri="{FF2B5EF4-FFF2-40B4-BE49-F238E27FC236}">
              <a16:creationId xmlns:a16="http://schemas.microsoft.com/office/drawing/2014/main" id="{3237E7C3-7942-A5A5-04EC-E3765E3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DD85B-6DDB-66AB-31AD-42A2892927AD}"/>
              </a:ext>
            </a:extLst>
          </p:cNvPr>
          <p:cNvSpPr txBox="1"/>
          <p:nvPr/>
        </p:nvSpPr>
        <p:spPr>
          <a:xfrm>
            <a:off x="604101" y="1364919"/>
            <a:ext cx="3322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QUESTION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 (</a:t>
            </a:r>
            <a:r>
              <a:rPr lang="en-US" err="1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BrowseComp</a:t>
            </a:r>
            <a:r>
              <a:rPr lang="en-US">
                <a:solidFill>
                  <a:srgbClr val="70707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9ACA15-0BC6-C723-2017-0CDC43CDA259}"/>
              </a:ext>
            </a:extLst>
          </p:cNvPr>
          <p:cNvSpPr/>
          <p:nvPr/>
        </p:nvSpPr>
        <p:spPr>
          <a:xfrm>
            <a:off x="586760" y="1823598"/>
            <a:ext cx="11054926" cy="1348715"/>
          </a:xfrm>
          <a:prstGeom prst="roundRect">
            <a:avLst>
              <a:gd name="adj" fmla="val 184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483" tIns="52483" rIns="52483" bIns="52483" rtlCol="0" anchor="ctr"/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Input prompt (</a:t>
            </a:r>
            <a:r>
              <a:rPr lang="en-US" sz="2000" b="1" i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): 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Identify a rare fungus appearing in clusters after rainfall, with raised scales on its cap, named by a French expert in the 1980s, with potential antifungal properties. Its English name matches a 1980s film character; the film was inspired by a 1970s bronze statuette. Two-word name; first word has 3 syllables, ends in vowel.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8E519E-D487-0D4B-0C2C-75E5B83B1AA4}"/>
              </a:ext>
            </a:extLst>
          </p:cNvPr>
          <p:cNvSpPr txBox="1">
            <a:spLocks/>
          </p:cNvSpPr>
          <p:nvPr/>
        </p:nvSpPr>
        <p:spPr>
          <a:xfrm>
            <a:off x="200025" y="329330"/>
            <a:ext cx="11830050" cy="10064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/>
            <a:r>
              <a:rPr lang="en-US"/>
              <a:t>Self-Compact, visually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F18A2-BDD7-BE4C-6C11-44A502159003}"/>
              </a:ext>
            </a:extLst>
          </p:cNvPr>
          <p:cNvSpPr/>
          <p:nvPr/>
        </p:nvSpPr>
        <p:spPr>
          <a:xfrm>
            <a:off x="2596410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E7463-EB70-A355-4E25-E9FDEE1203E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823836" y="442794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542669-F6D4-CA6F-63AF-D28A0A45A5F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175908" y="4427946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3FE9BB-FA88-C761-FEF5-3967388721DF}"/>
              </a:ext>
            </a:extLst>
          </p:cNvPr>
          <p:cNvSpPr txBox="1"/>
          <p:nvPr/>
        </p:nvSpPr>
        <p:spPr>
          <a:xfrm>
            <a:off x="1771527" y="4207624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F3ACA-E033-9FE9-A368-1094EE8CBC90}"/>
              </a:ext>
            </a:extLst>
          </p:cNvPr>
          <p:cNvSpPr/>
          <p:nvPr/>
        </p:nvSpPr>
        <p:spPr>
          <a:xfrm>
            <a:off x="3237507" y="4314233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2B5FC3-E044-8CF3-9954-1C2FB5EA2A96}"/>
              </a:ext>
            </a:extLst>
          </p:cNvPr>
          <p:cNvCxnSpPr>
            <a:cxnSpLocks/>
          </p:cNvCxnSpPr>
          <p:nvPr/>
        </p:nvCxnSpPr>
        <p:spPr>
          <a:xfrm>
            <a:off x="3463371" y="4424118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3EC69A-9E2F-CA25-0FBD-C4FBDE60D8FE}"/>
              </a:ext>
            </a:extLst>
          </p:cNvPr>
          <p:cNvSpPr/>
          <p:nvPr/>
        </p:nvSpPr>
        <p:spPr>
          <a:xfrm>
            <a:off x="3880238" y="4320859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23763-BE75-4218-202C-DC1720A1825A}"/>
              </a:ext>
            </a:extLst>
          </p:cNvPr>
          <p:cNvCxnSpPr>
            <a:cxnSpLocks/>
          </p:cNvCxnSpPr>
          <p:nvPr/>
        </p:nvCxnSpPr>
        <p:spPr>
          <a:xfrm>
            <a:off x="4106102" y="4430744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69202-7EF2-F661-3DEE-8D9B30157908}"/>
              </a:ext>
            </a:extLst>
          </p:cNvPr>
          <p:cNvSpPr/>
          <p:nvPr/>
        </p:nvSpPr>
        <p:spPr>
          <a:xfrm>
            <a:off x="4536226" y="4301263"/>
            <a:ext cx="227426" cy="227426"/>
          </a:xfrm>
          <a:prstGeom prst="rect">
            <a:avLst/>
          </a:prstGeom>
          <a:solidFill>
            <a:srgbClr val="F4CE6F"/>
          </a:solidFill>
          <a:ln w="9525">
            <a:solidFill>
              <a:srgbClr val="E8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7C39E-F8CB-954B-EAE7-79B5EF9993C8}"/>
              </a:ext>
            </a:extLst>
          </p:cNvPr>
          <p:cNvSpPr txBox="1"/>
          <p:nvPr/>
        </p:nvSpPr>
        <p:spPr>
          <a:xfrm>
            <a:off x="4509985" y="4311935"/>
            <a:ext cx="279908" cy="20608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9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A367F-045E-0D54-62EA-7C007CD44B8A}"/>
              </a:ext>
            </a:extLst>
          </p:cNvPr>
          <p:cNvSpPr/>
          <p:nvPr/>
        </p:nvSpPr>
        <p:spPr>
          <a:xfrm>
            <a:off x="4536225" y="4281808"/>
            <a:ext cx="293029" cy="299932"/>
          </a:xfrm>
          <a:prstGeom prst="rect">
            <a:avLst/>
          </a:prstGeom>
          <a:solidFill>
            <a:srgbClr val="FFF6C7"/>
          </a:solidFill>
          <a:ln w="9525">
            <a:solidFill>
              <a:srgbClr val="E3D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16384-8BE6-0885-2287-38F7C085535F}"/>
              </a:ext>
            </a:extLst>
          </p:cNvPr>
          <p:cNvSpPr txBox="1"/>
          <p:nvPr/>
        </p:nvSpPr>
        <p:spPr>
          <a:xfrm>
            <a:off x="4460979" y="4243968"/>
            <a:ext cx="442771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6F95D-EF6C-FD24-BE39-FFB09F8C04E3}"/>
              </a:ext>
            </a:extLst>
          </p:cNvPr>
          <p:cNvCxnSpPr>
            <a:cxnSpLocks/>
          </p:cNvCxnSpPr>
          <p:nvPr/>
        </p:nvCxnSpPr>
        <p:spPr>
          <a:xfrm>
            <a:off x="4855484" y="442471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343A537-676E-7442-B176-84D16085A3CD}"/>
              </a:ext>
            </a:extLst>
          </p:cNvPr>
          <p:cNvSpPr/>
          <p:nvPr/>
        </p:nvSpPr>
        <p:spPr>
          <a:xfrm>
            <a:off x="5260476" y="4320859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BC7ECC-2818-D37E-1919-3D910D1BB01F}"/>
              </a:ext>
            </a:extLst>
          </p:cNvPr>
          <p:cNvCxnSpPr>
            <a:cxnSpLocks/>
          </p:cNvCxnSpPr>
          <p:nvPr/>
        </p:nvCxnSpPr>
        <p:spPr>
          <a:xfrm flipV="1">
            <a:off x="2169280" y="5269460"/>
            <a:ext cx="420502" cy="53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EADA0F-44A5-4609-0AAA-4A15559CFCA4}"/>
              </a:ext>
            </a:extLst>
          </p:cNvPr>
          <p:cNvSpPr txBox="1"/>
          <p:nvPr/>
        </p:nvSpPr>
        <p:spPr>
          <a:xfrm>
            <a:off x="1764899" y="5049138"/>
            <a:ext cx="442771" cy="430887"/>
          </a:xfrm>
          <a:prstGeom prst="rect">
            <a:avLst/>
          </a:prstGeom>
          <a:noFill/>
        </p:spPr>
        <p:txBody>
          <a:bodyPr wrap="square" lIns="0" tIns="0" rIns="52483" bIns="0">
            <a:spAutoFit/>
          </a:bodyPr>
          <a:lstStyle/>
          <a:p>
            <a:pPr algn="r"/>
            <a:r>
              <a:rPr lang="en-US" sz="2800" b="1" i="1">
                <a:latin typeface="Calibri"/>
                <a:ea typeface="Calibri"/>
                <a:cs typeface="Calibri"/>
              </a:rPr>
              <a:t>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3D8EE8-AAE3-F025-402A-815ACC7849D0}"/>
              </a:ext>
            </a:extLst>
          </p:cNvPr>
          <p:cNvSpPr/>
          <p:nvPr/>
        </p:nvSpPr>
        <p:spPr>
          <a:xfrm>
            <a:off x="2572176" y="5150868"/>
            <a:ext cx="227426" cy="227426"/>
          </a:xfrm>
          <a:prstGeom prst="ellipse">
            <a:avLst/>
          </a:prstGeom>
          <a:solidFill>
            <a:srgbClr val="07833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DD83440C-460D-080A-1DEF-AEAED0B68A57}"/>
              </a:ext>
            </a:extLst>
          </p:cNvPr>
          <p:cNvCxnSpPr>
            <a:cxnSpLocks/>
            <a:stCxn id="45" idx="1"/>
            <a:endCxn id="15" idx="1"/>
          </p:cNvCxnSpPr>
          <p:nvPr/>
        </p:nvCxnSpPr>
        <p:spPr>
          <a:xfrm rot="10800000" flipV="1">
            <a:off x="1764899" y="4423068"/>
            <a:ext cx="6628" cy="841514"/>
          </a:xfrm>
          <a:prstGeom prst="curvedConnector3">
            <a:avLst>
              <a:gd name="adj1" fmla="val 3549004"/>
            </a:avLst>
          </a:prstGeom>
          <a:ln w="3810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4A8EBD-A06A-5134-05FB-7C628263CF9B}"/>
              </a:ext>
            </a:extLst>
          </p:cNvPr>
          <p:cNvCxnSpPr>
            <a:cxnSpLocks/>
          </p:cNvCxnSpPr>
          <p:nvPr/>
        </p:nvCxnSpPr>
        <p:spPr>
          <a:xfrm>
            <a:off x="2820435" y="5276283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C0CE8A0-C1DB-333F-4B47-19E18230E9F2}"/>
              </a:ext>
            </a:extLst>
          </p:cNvPr>
          <p:cNvSpPr/>
          <p:nvPr/>
        </p:nvSpPr>
        <p:spPr>
          <a:xfrm>
            <a:off x="3241492" y="5162570"/>
            <a:ext cx="227426" cy="2274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0F647-5AD6-E3CC-FF68-7F06C5D46F62}"/>
              </a:ext>
            </a:extLst>
          </p:cNvPr>
          <p:cNvCxnSpPr>
            <a:cxnSpLocks/>
          </p:cNvCxnSpPr>
          <p:nvPr/>
        </p:nvCxnSpPr>
        <p:spPr>
          <a:xfrm>
            <a:off x="3499598" y="5281296"/>
            <a:ext cx="413671" cy="38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40F282-AB32-F28F-B608-21AF2330B84B}"/>
              </a:ext>
            </a:extLst>
          </p:cNvPr>
          <p:cNvSpPr/>
          <p:nvPr/>
        </p:nvSpPr>
        <p:spPr>
          <a:xfrm>
            <a:off x="3926820" y="5081888"/>
            <a:ext cx="2160144" cy="362026"/>
          </a:xfrm>
          <a:prstGeom prst="roundRect">
            <a:avLst>
              <a:gd name="adj" fmla="val 30000"/>
            </a:avLst>
          </a:prstGeom>
          <a:solidFill>
            <a:srgbClr val="E8F8E5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494" rIns="17494" rtlCol="0" anchor="ctr"/>
          <a:lstStyle/>
          <a:p>
            <a:pPr algn="ctr"/>
            <a:r>
              <a:rPr lang="en-US" sz="1531" b="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531" dirty="0">
                <a:solidFill>
                  <a:srgbClr val="07813B"/>
                </a:solidFill>
                <a:latin typeface="Calibri"/>
                <a:ea typeface="Calibri"/>
                <a:cs typeface="Calibri"/>
              </a:rPr>
              <a:t>Medusa mushroom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DE74A-1A78-1052-3EF6-4A9458494307}"/>
              </a:ext>
            </a:extLst>
          </p:cNvPr>
          <p:cNvSpPr txBox="1"/>
          <p:nvPr/>
        </p:nvSpPr>
        <p:spPr>
          <a:xfrm>
            <a:off x="4357135" y="4840283"/>
            <a:ext cx="1316663" cy="235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531" b="1">
                <a:latin typeface="Calibri"/>
                <a:ea typeface="Calibri"/>
                <a:cs typeface="Calibri"/>
              </a:rPr>
              <a:t>Final Answer:</a:t>
            </a:r>
            <a:endParaRPr lang="en-US" sz="1531">
              <a:latin typeface="Calibri"/>
              <a:ea typeface="Calibri"/>
              <a:cs typeface="Calibri"/>
            </a:endParaRPr>
          </a:p>
        </p:txBody>
      </p:sp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A089F4A9-1462-6612-6C0E-83292571136E}"/>
              </a:ext>
            </a:extLst>
          </p:cNvPr>
          <p:cNvSpPr/>
          <p:nvPr/>
        </p:nvSpPr>
        <p:spPr>
          <a:xfrm>
            <a:off x="7494431" y="4865431"/>
            <a:ext cx="4285667" cy="1422739"/>
          </a:xfrm>
          <a:prstGeom prst="wedgeRoundRectCallout">
            <a:avLst>
              <a:gd name="adj1" fmla="val -56370"/>
              <a:gd name="adj2" fmla="val 18739"/>
              <a:gd name="adj3" fmla="val 16667"/>
            </a:avLst>
          </a:prstGeom>
          <a:solidFill>
            <a:srgbClr val="E9FF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400" b="1">
                <a:solidFill>
                  <a:srgbClr val="07813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adaptive summarization</a:t>
            </a:r>
            <a:r>
              <a:rPr lang="en-US" sz="2400">
                <a:solidFill>
                  <a:srgbClr val="07813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— consolidates facts; lets model escape from loops.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EA2D7647-44AA-F44B-E8B7-AB09750D2190}"/>
              </a:ext>
            </a:extLst>
          </p:cNvPr>
          <p:cNvSpPr/>
          <p:nvPr/>
        </p:nvSpPr>
        <p:spPr>
          <a:xfrm>
            <a:off x="6096000" y="3429000"/>
            <a:ext cx="4235824" cy="976745"/>
          </a:xfrm>
          <a:prstGeom prst="wedgeRoundRectCallout">
            <a:avLst>
              <a:gd name="adj1" fmla="val -57359"/>
              <a:gd name="adj2" fmla="val 4414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overhead because of KV-reuse </a:t>
            </a:r>
          </a:p>
        </p:txBody>
      </p: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08A5C1F6-EA7D-A225-D59C-5EB99417660D}"/>
              </a:ext>
            </a:extLst>
          </p:cNvPr>
          <p:cNvSpPr/>
          <p:nvPr/>
        </p:nvSpPr>
        <p:spPr>
          <a:xfrm>
            <a:off x="242636" y="5716525"/>
            <a:ext cx="4244086" cy="976745"/>
          </a:xfrm>
          <a:prstGeom prst="wedgeRoundRectCallout">
            <a:avLst>
              <a:gd name="adj1" fmla="val 22616"/>
              <a:gd name="adj2" fmla="val -6174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Shortens a long context 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(less tokens to attend)</a:t>
            </a:r>
          </a:p>
        </p:txBody>
      </p:sp>
    </p:spTree>
    <p:extLst>
      <p:ext uri="{BB962C8B-B14F-4D97-AF65-F5344CB8AC3E}">
        <p14:creationId xmlns:p14="http://schemas.microsoft.com/office/powerpoint/2010/main" val="392536065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BC1C7-6E73-294B-A82D-09D3AFD9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Rubric prompt is the crucial design component. </a:t>
            </a:r>
          </a:p>
          <a:p>
            <a:r>
              <a:rPr lang="en-US" dirty="0"/>
              <a:t>Guidelines for when to compact we found effectives: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subtask is complete:</a:t>
            </a:r>
          </a:p>
          <a:p>
            <a:pPr lvl="1"/>
            <a:r>
              <a:rPr lang="en-US" dirty="0"/>
              <a:t>Preserve its result; discard unnecessary intermediate work.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is stuck: </a:t>
            </a:r>
          </a:p>
          <a:p>
            <a:pPr lvl="1"/>
            <a:r>
              <a:rPr lang="en-US" dirty="0"/>
              <a:t>Consolidate findings; compaction gives it an opportunity to break out.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3C27B-9A42-A7DE-8E6C-E157FD120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2756DA-B96F-227F-61DC-3E58D868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Self-Compact: Making it work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719B4-B0CD-96E0-5537-264A55AF59EA}"/>
              </a:ext>
            </a:extLst>
          </p:cNvPr>
          <p:cNvSpPr/>
          <p:nvPr/>
        </p:nvSpPr>
        <p:spPr>
          <a:xfrm>
            <a:off x="619675" y="1514475"/>
            <a:ext cx="11301521" cy="1106923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445FF-14D4-E04A-0A0B-C2F9F7B3F0E2}"/>
              </a:ext>
            </a:extLst>
          </p:cNvPr>
          <p:cNvSpPr/>
          <p:nvPr/>
        </p:nvSpPr>
        <p:spPr>
          <a:xfrm>
            <a:off x="619674" y="2664663"/>
            <a:ext cx="11301521" cy="11069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CC345-5DE3-0865-4E3A-56CC4AE0A957}"/>
              </a:ext>
            </a:extLst>
          </p:cNvPr>
          <p:cNvSpPr/>
          <p:nvPr/>
        </p:nvSpPr>
        <p:spPr>
          <a:xfrm>
            <a:off x="728554" y="3845719"/>
            <a:ext cx="11301521" cy="161520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9486999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BC1C7-6E73-294B-A82D-09D3AFD9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Rubric prompt is the crucial design component. </a:t>
            </a:r>
          </a:p>
          <a:p>
            <a:r>
              <a:rPr lang="en-US" dirty="0"/>
              <a:t>Guidelines for when to compact we found effectives: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subtask is complete:</a:t>
            </a:r>
          </a:p>
          <a:p>
            <a:pPr lvl="1"/>
            <a:r>
              <a:rPr lang="en-US" dirty="0"/>
              <a:t>Preserve its result; discard unnecessary intermediate work.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is stuck: </a:t>
            </a:r>
          </a:p>
          <a:p>
            <a:pPr lvl="1"/>
            <a:r>
              <a:rPr lang="en-US" dirty="0"/>
              <a:t>Consolidate findings; compaction gives it an opportunity to break out.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3C27B-9A42-A7DE-8E6C-E157FD120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2756DA-B96F-227F-61DC-3E58D868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Self-Compact: Making it work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445FF-14D4-E04A-0A0B-C2F9F7B3F0E2}"/>
              </a:ext>
            </a:extLst>
          </p:cNvPr>
          <p:cNvSpPr/>
          <p:nvPr/>
        </p:nvSpPr>
        <p:spPr>
          <a:xfrm>
            <a:off x="619674" y="2664663"/>
            <a:ext cx="11301521" cy="1106924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CC345-5DE3-0865-4E3A-56CC4AE0A957}"/>
              </a:ext>
            </a:extLst>
          </p:cNvPr>
          <p:cNvSpPr/>
          <p:nvPr/>
        </p:nvSpPr>
        <p:spPr>
          <a:xfrm>
            <a:off x="728554" y="3845719"/>
            <a:ext cx="11301521" cy="161520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6400285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BC1C7-6E73-294B-A82D-09D3AFD9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Rubric prompt is the crucial design component. </a:t>
            </a:r>
          </a:p>
          <a:p>
            <a:r>
              <a:rPr lang="en-US" dirty="0"/>
              <a:t>Guidelines for when to compact we found effectives: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subtask is complete:</a:t>
            </a:r>
          </a:p>
          <a:p>
            <a:pPr lvl="1"/>
            <a:r>
              <a:rPr lang="en-US" dirty="0"/>
              <a:t>Preserve its result; discard unnecessary intermediate work.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is stuck: </a:t>
            </a:r>
          </a:p>
          <a:p>
            <a:pPr lvl="1"/>
            <a:r>
              <a:rPr lang="en-US" dirty="0"/>
              <a:t>Consolidate findings; compaction gives it an opportunity to break out.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3C27B-9A42-A7DE-8E6C-E157FD120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2756DA-B96F-227F-61DC-3E58D868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Self-Compact: Making it work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CC345-5DE3-0865-4E3A-56CC4AE0A957}"/>
              </a:ext>
            </a:extLst>
          </p:cNvPr>
          <p:cNvSpPr/>
          <p:nvPr/>
        </p:nvSpPr>
        <p:spPr>
          <a:xfrm>
            <a:off x="728554" y="3845719"/>
            <a:ext cx="11301521" cy="161520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7449466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BC1C7-6E73-294B-A82D-09D3AFD9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Rubric prompt is the crucial design component. </a:t>
            </a:r>
          </a:p>
          <a:p>
            <a:r>
              <a:rPr lang="en-US" dirty="0"/>
              <a:t>Guidelines for when to compact we found effectives: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subtask is complete:</a:t>
            </a:r>
          </a:p>
          <a:p>
            <a:pPr lvl="1"/>
            <a:r>
              <a:rPr lang="en-US" dirty="0"/>
              <a:t>Preserve its result; discard unnecessary intermediate work.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is stuck: </a:t>
            </a:r>
          </a:p>
          <a:p>
            <a:pPr lvl="1"/>
            <a:r>
              <a:rPr lang="en-US" dirty="0"/>
              <a:t>Consolidate findings; compaction gives it an opportunity to break out.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3C27B-9A42-A7DE-8E6C-E157FD120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2756DA-B96F-227F-61DC-3E58D868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Self-Compact: Making it work </a:t>
            </a:r>
          </a:p>
        </p:txBody>
      </p:sp>
    </p:spTree>
    <p:extLst>
      <p:ext uri="{BB962C8B-B14F-4D97-AF65-F5344CB8AC3E}">
        <p14:creationId xmlns:p14="http://schemas.microsoft.com/office/powerpoint/2010/main" val="406635315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1">
    <p:spTree>
      <p:nvGrpSpPr>
        <p:cNvPr id="1" name="">
          <a:extLst>
            <a:ext uri="{FF2B5EF4-FFF2-40B4-BE49-F238E27FC236}">
              <a16:creationId xmlns:a16="http://schemas.microsoft.com/office/drawing/2014/main" id="{E87AC9B8-ADCE-CEC2-3546-E465767A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BF02F-9476-ECE7-5A16-DADA17523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FCEA90-8D66-BD18-6628-2C5774C8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1556042"/>
              </p:ext>
            </p:extLst>
          </p:nvPr>
        </p:nvGraphicFramePr>
        <p:xfrm>
          <a:off x="-749632" y="2946510"/>
          <a:ext cx="7068785" cy="419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0D9A0BE-338B-21F5-6EAD-101286238DDA}"/>
              </a:ext>
            </a:extLst>
          </p:cNvPr>
          <p:cNvSpPr/>
          <p:nvPr/>
        </p:nvSpPr>
        <p:spPr>
          <a:xfrm>
            <a:off x="-379337" y="5254545"/>
            <a:ext cx="7315200" cy="212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BE8868-F324-CE33-5B12-CE15DEE2E54E}"/>
              </a:ext>
            </a:extLst>
          </p:cNvPr>
          <p:cNvSpPr txBox="1"/>
          <p:nvPr/>
        </p:nvSpPr>
        <p:spPr>
          <a:xfrm>
            <a:off x="310888" y="6562938"/>
            <a:ext cx="118840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Uses scaffold of Lee et al. 2026. “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Aggregation for Parallel Scaling of Long-Horizon Agentic Tasks”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58960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2">
    <p:spTree>
      <p:nvGrpSpPr>
        <p:cNvPr id="1" name="">
          <a:extLst>
            <a:ext uri="{FF2B5EF4-FFF2-40B4-BE49-F238E27FC236}">
              <a16:creationId xmlns:a16="http://schemas.microsoft.com/office/drawing/2014/main" id="{E87AC9B8-ADCE-CEC2-3546-E465767A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BF02F-9476-ECE7-5A16-DADA17523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159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FCEA90-8D66-BD18-6628-2C5774C8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1556042"/>
              </p:ext>
            </p:extLst>
          </p:nvPr>
        </p:nvGraphicFramePr>
        <p:xfrm>
          <a:off x="-749632" y="2946510"/>
          <a:ext cx="7068785" cy="419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0D9A0BE-338B-21F5-6EAD-101286238DDA}"/>
              </a:ext>
            </a:extLst>
          </p:cNvPr>
          <p:cNvSpPr/>
          <p:nvPr/>
        </p:nvSpPr>
        <p:spPr>
          <a:xfrm>
            <a:off x="-379337" y="5254545"/>
            <a:ext cx="7315200" cy="212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B0F9A9B-6001-F803-EE48-CC7DD5FAD56A}"/>
              </a:ext>
            </a:extLst>
          </p:cNvPr>
          <p:cNvSpPr/>
          <p:nvPr/>
        </p:nvSpPr>
        <p:spPr>
          <a:xfrm>
            <a:off x="5417125" y="2446644"/>
            <a:ext cx="6421947" cy="976745"/>
          </a:xfrm>
          <a:prstGeom prst="wedgeRoundRectCallout">
            <a:avLst>
              <a:gd name="adj1" fmla="val -66619"/>
              <a:gd name="adj2" fmla="val 6250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context management. Model stops when max context window is reached.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BE8868-F324-CE33-5B12-CE15DEE2E54E}"/>
              </a:ext>
            </a:extLst>
          </p:cNvPr>
          <p:cNvSpPr txBox="1"/>
          <p:nvPr/>
        </p:nvSpPr>
        <p:spPr>
          <a:xfrm>
            <a:off x="310888" y="6562938"/>
            <a:ext cx="118840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Uses scaffold of Lee et al. 2026. “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Aggregation for Parallel Scaling of Long-Horizon Agentic Tasks”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5976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3">
    <p:spTree>
      <p:nvGrpSpPr>
        <p:cNvPr id="1" name="">
          <a:extLst>
            <a:ext uri="{FF2B5EF4-FFF2-40B4-BE49-F238E27FC236}">
              <a16:creationId xmlns:a16="http://schemas.microsoft.com/office/drawing/2014/main" id="{E87AC9B8-ADCE-CEC2-3546-E465767A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BF02F-9476-ECE7-5A16-DADA17523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FCEA90-8D66-BD18-6628-2C5774C8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1556042"/>
              </p:ext>
            </p:extLst>
          </p:nvPr>
        </p:nvGraphicFramePr>
        <p:xfrm>
          <a:off x="-749632" y="2946510"/>
          <a:ext cx="7068785" cy="419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0D9A0BE-338B-21F5-6EAD-101286238DDA}"/>
              </a:ext>
            </a:extLst>
          </p:cNvPr>
          <p:cNvSpPr/>
          <p:nvPr/>
        </p:nvSpPr>
        <p:spPr>
          <a:xfrm>
            <a:off x="-379337" y="5254545"/>
            <a:ext cx="7315200" cy="212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B0F9A9B-6001-F803-EE48-CC7DD5FAD56A}"/>
              </a:ext>
            </a:extLst>
          </p:cNvPr>
          <p:cNvSpPr/>
          <p:nvPr/>
        </p:nvSpPr>
        <p:spPr>
          <a:xfrm>
            <a:off x="5417125" y="2446644"/>
            <a:ext cx="6421947" cy="976745"/>
          </a:xfrm>
          <a:prstGeom prst="wedgeRoundRectCallout">
            <a:avLst>
              <a:gd name="adj1" fmla="val -66619"/>
              <a:gd name="adj2" fmla="val 6250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context management. Model stops when max context window is reached.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5C70776B-EE3B-C296-B8D4-078CEB3A520E}"/>
              </a:ext>
            </a:extLst>
          </p:cNvPr>
          <p:cNvSpPr/>
          <p:nvPr/>
        </p:nvSpPr>
        <p:spPr>
          <a:xfrm>
            <a:off x="5417125" y="3688554"/>
            <a:ext cx="6421947" cy="976745"/>
          </a:xfrm>
          <a:prstGeom prst="wedgeRoundRectCallout">
            <a:avLst>
              <a:gd name="adj1" fmla="val -61046"/>
              <a:gd name="adj2" fmla="val 834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rtlCol="0" anchor="ctr"/>
          <a:lstStyle/>
          <a:p>
            <a:pPr marL="12700" lvl="1" algn="ctr"/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Summarization is triggered when 30% of the max context window is consumed 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BE8868-F324-CE33-5B12-CE15DEE2E54E}"/>
              </a:ext>
            </a:extLst>
          </p:cNvPr>
          <p:cNvSpPr txBox="1"/>
          <p:nvPr/>
        </p:nvSpPr>
        <p:spPr>
          <a:xfrm>
            <a:off x="310888" y="6562938"/>
            <a:ext cx="118840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Uses scaffold of Lee et al. 2026. “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Aggregation for Parallel Scaling of Long-Horizon Agentic Tasks”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40883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4">
    <p:spTree>
      <p:nvGrpSpPr>
        <p:cNvPr id="1" name="">
          <a:extLst>
            <a:ext uri="{FF2B5EF4-FFF2-40B4-BE49-F238E27FC236}">
              <a16:creationId xmlns:a16="http://schemas.microsoft.com/office/drawing/2014/main" id="{E87AC9B8-ADCE-CEC2-3546-E465767A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BF02F-9476-ECE7-5A16-DADA17523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FCEA90-8D66-BD18-6628-2C5774C8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1556042"/>
              </p:ext>
            </p:extLst>
          </p:nvPr>
        </p:nvGraphicFramePr>
        <p:xfrm>
          <a:off x="-749632" y="2946510"/>
          <a:ext cx="7068785" cy="419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0D9A0BE-338B-21F5-6EAD-101286238DDA}"/>
              </a:ext>
            </a:extLst>
          </p:cNvPr>
          <p:cNvSpPr/>
          <p:nvPr/>
        </p:nvSpPr>
        <p:spPr>
          <a:xfrm>
            <a:off x="-379337" y="5254545"/>
            <a:ext cx="7315200" cy="212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B0F9A9B-6001-F803-EE48-CC7DD5FAD56A}"/>
              </a:ext>
            </a:extLst>
          </p:cNvPr>
          <p:cNvSpPr/>
          <p:nvPr/>
        </p:nvSpPr>
        <p:spPr>
          <a:xfrm>
            <a:off x="5417125" y="2446644"/>
            <a:ext cx="6421947" cy="976745"/>
          </a:xfrm>
          <a:prstGeom prst="wedgeRoundRectCallout">
            <a:avLst>
              <a:gd name="adj1" fmla="val -66619"/>
              <a:gd name="adj2" fmla="val 6250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context management. Model stops when max context window is reached.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5C70776B-EE3B-C296-B8D4-078CEB3A520E}"/>
              </a:ext>
            </a:extLst>
          </p:cNvPr>
          <p:cNvSpPr/>
          <p:nvPr/>
        </p:nvSpPr>
        <p:spPr>
          <a:xfrm>
            <a:off x="5417125" y="3688554"/>
            <a:ext cx="6421947" cy="976745"/>
          </a:xfrm>
          <a:prstGeom prst="wedgeRoundRectCallout">
            <a:avLst>
              <a:gd name="adj1" fmla="val -61046"/>
              <a:gd name="adj2" fmla="val 834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rtlCol="0" anchor="ctr"/>
          <a:lstStyle/>
          <a:p>
            <a:pPr marL="12700" lvl="1" algn="ctr"/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Summarization is triggered when 30% of the max context window is consumed *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F59AB68-47D3-5157-25BA-2652245090C9}"/>
              </a:ext>
            </a:extLst>
          </p:cNvPr>
          <p:cNvSpPr/>
          <p:nvPr/>
        </p:nvSpPr>
        <p:spPr>
          <a:xfrm>
            <a:off x="5417125" y="4915126"/>
            <a:ext cx="6421947" cy="976745"/>
          </a:xfrm>
          <a:prstGeom prst="wedgeRoundRectCallout">
            <a:avLst>
              <a:gd name="adj1" fmla="val -65921"/>
              <a:gd name="adj2" fmla="val -5948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2700" lvl="1" algn="ctr"/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the model decide when to compact.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BE8868-F324-CE33-5B12-CE15DEE2E54E}"/>
              </a:ext>
            </a:extLst>
          </p:cNvPr>
          <p:cNvSpPr txBox="1"/>
          <p:nvPr/>
        </p:nvSpPr>
        <p:spPr>
          <a:xfrm>
            <a:off x="310888" y="6562938"/>
            <a:ext cx="118840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Uses scaffold of Lee et al. 2026. “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Aggregation for Parallel Scaling of Long-Horizon Agentic Tasks”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10975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5">
    <p:spTree>
      <p:nvGrpSpPr>
        <p:cNvPr id="1" name="">
          <a:extLst>
            <a:ext uri="{FF2B5EF4-FFF2-40B4-BE49-F238E27FC236}">
              <a16:creationId xmlns:a16="http://schemas.microsoft.com/office/drawing/2014/main" id="{1115467F-1F18-49B5-C2D8-83438047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7F3582-52DA-05A0-7D5F-664D5BFA0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E71F42-5464-1974-4FBD-6AFEE573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D8751-38F9-49D7-4D0D-39965945F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Mimo-V2-Flash (309B; 15B active)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5FEE728-8718-7295-0B7B-0449020AFE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064964"/>
              </p:ext>
            </p:extLst>
          </p:nvPr>
        </p:nvGraphicFramePr>
        <p:xfrm>
          <a:off x="125150" y="2282711"/>
          <a:ext cx="5701690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6845B80-C981-F3C0-3601-30DC62C29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7188298"/>
              </p:ext>
            </p:extLst>
          </p:nvPr>
        </p:nvGraphicFramePr>
        <p:xfrm>
          <a:off x="5910262" y="2261940"/>
          <a:ext cx="6098965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4CF0D65-C8FC-F9FE-1AD3-D0DD29778851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FC7A5-689C-C7DD-2FC2-0AF412440F72}"/>
              </a:ext>
            </a:extLst>
          </p:cNvPr>
          <p:cNvSpPr/>
          <p:nvPr/>
        </p:nvSpPr>
        <p:spPr>
          <a:xfrm>
            <a:off x="838200" y="2563586"/>
            <a:ext cx="4793166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65F2CD-3504-56D8-4A03-E46A14891159}"/>
              </a:ext>
            </a:extLst>
          </p:cNvPr>
          <p:cNvSpPr/>
          <p:nvPr/>
        </p:nvSpPr>
        <p:spPr>
          <a:xfrm>
            <a:off x="6644056" y="2550983"/>
            <a:ext cx="522084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0431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6">
    <p:spTree>
      <p:nvGrpSpPr>
        <p:cNvPr id="1" name="">
          <a:extLst>
            <a:ext uri="{FF2B5EF4-FFF2-40B4-BE49-F238E27FC236}">
              <a16:creationId xmlns:a16="http://schemas.microsoft.com/office/drawing/2014/main" id="{15F637B7-733D-5115-6006-8BE3E772B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5ED58-F61B-63EF-1F45-B11C420E4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EF9F82-FA0F-3F68-F88A-C54C44B5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E2BDF2-847D-CC92-6312-FF208EB90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Mimo-V2-Flash (309B; 15B active)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AAF5761-2BE4-821D-77F4-E7F1FAF49920}"/>
              </a:ext>
            </a:extLst>
          </p:cNvPr>
          <p:cNvGraphicFramePr>
            <a:graphicFrameLocks/>
          </p:cNvGraphicFramePr>
          <p:nvPr/>
        </p:nvGraphicFramePr>
        <p:xfrm>
          <a:off x="125150" y="2282711"/>
          <a:ext cx="5701690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93BC5EE-BC3B-99BC-C0D1-DF9BDC97E1AE}"/>
              </a:ext>
            </a:extLst>
          </p:cNvPr>
          <p:cNvGraphicFramePr>
            <a:graphicFrameLocks/>
          </p:cNvGraphicFramePr>
          <p:nvPr/>
        </p:nvGraphicFramePr>
        <p:xfrm>
          <a:off x="5910262" y="2261940"/>
          <a:ext cx="6098965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0BF86B5-41C6-1B29-C91D-D9EC9B62A011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86F4B-A3A2-C7E7-8900-63E8A5059E69}"/>
              </a:ext>
            </a:extLst>
          </p:cNvPr>
          <p:cNvSpPr/>
          <p:nvPr/>
        </p:nvSpPr>
        <p:spPr>
          <a:xfrm>
            <a:off x="1248937" y="2563586"/>
            <a:ext cx="710498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44A9A-D4FE-0FCA-4C1F-37E7F35C3164}"/>
              </a:ext>
            </a:extLst>
          </p:cNvPr>
          <p:cNvSpPr/>
          <p:nvPr/>
        </p:nvSpPr>
        <p:spPr>
          <a:xfrm>
            <a:off x="2471854" y="2563586"/>
            <a:ext cx="710498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1ECF65-1AFD-82C6-85A9-9A87B40E9B05}"/>
              </a:ext>
            </a:extLst>
          </p:cNvPr>
          <p:cNvSpPr/>
          <p:nvPr/>
        </p:nvSpPr>
        <p:spPr>
          <a:xfrm>
            <a:off x="3666939" y="2560874"/>
            <a:ext cx="710498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2AA38-6861-791D-F2B2-E099DEB96928}"/>
              </a:ext>
            </a:extLst>
          </p:cNvPr>
          <p:cNvSpPr/>
          <p:nvPr/>
        </p:nvSpPr>
        <p:spPr>
          <a:xfrm>
            <a:off x="4888435" y="2560874"/>
            <a:ext cx="710498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EAA782-2E62-005C-8F81-A6375B7EA790}"/>
              </a:ext>
            </a:extLst>
          </p:cNvPr>
          <p:cNvSpPr/>
          <p:nvPr/>
        </p:nvSpPr>
        <p:spPr>
          <a:xfrm>
            <a:off x="7058841" y="2542285"/>
            <a:ext cx="77415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C98FAF-1EF3-1A57-71E9-C89785432B4A}"/>
              </a:ext>
            </a:extLst>
          </p:cNvPr>
          <p:cNvSpPr/>
          <p:nvPr/>
        </p:nvSpPr>
        <p:spPr>
          <a:xfrm>
            <a:off x="8355049" y="2538840"/>
            <a:ext cx="77415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83B295-477C-1A55-0B1E-39754D315C26}"/>
              </a:ext>
            </a:extLst>
          </p:cNvPr>
          <p:cNvSpPr/>
          <p:nvPr/>
        </p:nvSpPr>
        <p:spPr>
          <a:xfrm>
            <a:off x="9684308" y="2540318"/>
            <a:ext cx="77415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A0DCA8-7A5C-F870-9BE6-14B796BC6466}"/>
              </a:ext>
            </a:extLst>
          </p:cNvPr>
          <p:cNvSpPr/>
          <p:nvPr/>
        </p:nvSpPr>
        <p:spPr>
          <a:xfrm>
            <a:off x="10991533" y="2546757"/>
            <a:ext cx="77415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903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7">
    <p:spTree>
      <p:nvGrpSpPr>
        <p:cNvPr id="1" name="">
          <a:extLst>
            <a:ext uri="{FF2B5EF4-FFF2-40B4-BE49-F238E27FC236}">
              <a16:creationId xmlns:a16="http://schemas.microsoft.com/office/drawing/2014/main" id="{CB7EF88D-6231-EC57-CFBE-F4147882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28B69-AA10-80B9-5F46-851C65D65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0F484C-ED36-3EBA-0FFB-9177DEAC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FF6BD0-8F15-7E31-BA23-DF70AE7CA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Mimo-V2-Flash (309B; 15B active)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79EE0F9-F4AE-3AAF-3E7C-995485F2266D}"/>
              </a:ext>
            </a:extLst>
          </p:cNvPr>
          <p:cNvGraphicFramePr>
            <a:graphicFrameLocks/>
          </p:cNvGraphicFramePr>
          <p:nvPr/>
        </p:nvGraphicFramePr>
        <p:xfrm>
          <a:off x="125150" y="2282711"/>
          <a:ext cx="5701690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107AEF6-1C9A-8943-3371-8276E309E2AC}"/>
              </a:ext>
            </a:extLst>
          </p:cNvPr>
          <p:cNvGraphicFramePr>
            <a:graphicFrameLocks/>
          </p:cNvGraphicFramePr>
          <p:nvPr/>
        </p:nvGraphicFramePr>
        <p:xfrm>
          <a:off x="5910262" y="2261940"/>
          <a:ext cx="6098965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B9D9FE-EF5C-2AA4-4312-8443FD13CED7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CC528-78D7-B45E-546E-B6A607AE2771}"/>
              </a:ext>
            </a:extLst>
          </p:cNvPr>
          <p:cNvSpPr/>
          <p:nvPr/>
        </p:nvSpPr>
        <p:spPr>
          <a:xfrm>
            <a:off x="1576513" y="2563586"/>
            <a:ext cx="382921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998E93-F92F-6540-243F-738E1861B860}"/>
              </a:ext>
            </a:extLst>
          </p:cNvPr>
          <p:cNvSpPr/>
          <p:nvPr/>
        </p:nvSpPr>
        <p:spPr>
          <a:xfrm>
            <a:off x="2799430" y="2563586"/>
            <a:ext cx="38292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0E3009-3F5E-7DBD-4331-B7C5AF679228}"/>
              </a:ext>
            </a:extLst>
          </p:cNvPr>
          <p:cNvSpPr/>
          <p:nvPr/>
        </p:nvSpPr>
        <p:spPr>
          <a:xfrm>
            <a:off x="4004112" y="2560874"/>
            <a:ext cx="38434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1B6F2-5A34-90F5-9696-3548F97B3C0A}"/>
              </a:ext>
            </a:extLst>
          </p:cNvPr>
          <p:cNvSpPr/>
          <p:nvPr/>
        </p:nvSpPr>
        <p:spPr>
          <a:xfrm>
            <a:off x="5227029" y="2560874"/>
            <a:ext cx="371903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893B6E-C9C0-AC47-FCE4-834CEF290F19}"/>
              </a:ext>
            </a:extLst>
          </p:cNvPr>
          <p:cNvSpPr/>
          <p:nvPr/>
        </p:nvSpPr>
        <p:spPr>
          <a:xfrm>
            <a:off x="7392318" y="2542285"/>
            <a:ext cx="451692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BBF4-6D7E-34AA-C1CD-0055F8A1B22E}"/>
              </a:ext>
            </a:extLst>
          </p:cNvPr>
          <p:cNvSpPr/>
          <p:nvPr/>
        </p:nvSpPr>
        <p:spPr>
          <a:xfrm>
            <a:off x="8724421" y="2549857"/>
            <a:ext cx="382746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251631-B198-D4C7-2A77-3AFB868624F2}"/>
              </a:ext>
            </a:extLst>
          </p:cNvPr>
          <p:cNvSpPr/>
          <p:nvPr/>
        </p:nvSpPr>
        <p:spPr>
          <a:xfrm>
            <a:off x="10031646" y="2540318"/>
            <a:ext cx="426814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31243C-8AA1-E344-3C7B-0054EB5B01AB}"/>
              </a:ext>
            </a:extLst>
          </p:cNvPr>
          <p:cNvSpPr/>
          <p:nvPr/>
        </p:nvSpPr>
        <p:spPr>
          <a:xfrm>
            <a:off x="11353799" y="2546757"/>
            <a:ext cx="411885" cy="2302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641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8">
    <p:spTree>
      <p:nvGrpSpPr>
        <p:cNvPr id="1" name="">
          <a:extLst>
            <a:ext uri="{FF2B5EF4-FFF2-40B4-BE49-F238E27FC236}">
              <a16:creationId xmlns:a16="http://schemas.microsoft.com/office/drawing/2014/main" id="{689BF8A8-1978-DBB2-3A54-F4C0B696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317B1-19BB-016C-B196-9B95A164A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AAF819-3703-B6D1-5970-380FA75D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1855E7-76B8-9563-E5D3-F9F5621F9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Mimo-V2-Flash (309B; 15B active)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5CA8299-B5B2-CCC9-AFA1-F9DD2E312483}"/>
              </a:ext>
            </a:extLst>
          </p:cNvPr>
          <p:cNvGraphicFramePr>
            <a:graphicFrameLocks/>
          </p:cNvGraphicFramePr>
          <p:nvPr/>
        </p:nvGraphicFramePr>
        <p:xfrm>
          <a:off x="125150" y="2282711"/>
          <a:ext cx="5701690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4A01418-87A4-D36E-CF33-E33CA870FF30}"/>
              </a:ext>
            </a:extLst>
          </p:cNvPr>
          <p:cNvGraphicFramePr>
            <a:graphicFrameLocks/>
          </p:cNvGraphicFramePr>
          <p:nvPr/>
        </p:nvGraphicFramePr>
        <p:xfrm>
          <a:off x="5910262" y="2261940"/>
          <a:ext cx="6098965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C79F80-BBD1-BB3C-A3DF-FE358EDE41ED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</p:spTree>
    <p:extLst>
      <p:ext uri="{BB962C8B-B14F-4D97-AF65-F5344CB8AC3E}">
        <p14:creationId xmlns:p14="http://schemas.microsoft.com/office/powerpoint/2010/main" val="124784587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29">
    <p:spTree>
      <p:nvGrpSpPr>
        <p:cNvPr id="1" name="">
          <a:extLst>
            <a:ext uri="{FF2B5EF4-FFF2-40B4-BE49-F238E27FC236}">
              <a16:creationId xmlns:a16="http://schemas.microsoft.com/office/drawing/2014/main" id="{689BF8A8-1978-DBB2-3A54-F4C0B696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317B1-19BB-016C-B196-9B95A164A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AAF819-3703-B6D1-5970-380FA75D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Empirical Results: Agentic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1855E7-76B8-9563-E5D3-F9F5621F9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Mimo-V2-Flash (309B; 15B active)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5CA8299-B5B2-CCC9-AFA1-F9DD2E312483}"/>
              </a:ext>
            </a:extLst>
          </p:cNvPr>
          <p:cNvGraphicFramePr>
            <a:graphicFrameLocks/>
          </p:cNvGraphicFramePr>
          <p:nvPr/>
        </p:nvGraphicFramePr>
        <p:xfrm>
          <a:off x="125150" y="2282711"/>
          <a:ext cx="5701690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4A01418-87A4-D36E-CF33-E33CA870FF30}"/>
              </a:ext>
            </a:extLst>
          </p:cNvPr>
          <p:cNvGraphicFramePr>
            <a:graphicFrameLocks/>
          </p:cNvGraphicFramePr>
          <p:nvPr/>
        </p:nvGraphicFramePr>
        <p:xfrm>
          <a:off x="5910262" y="2261940"/>
          <a:ext cx="6098965" cy="321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C79F80-BBD1-BB3C-A3DF-FE358EDE41ED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1EF732-6D07-97A4-2BDB-73D359A9482D}"/>
              </a:ext>
            </a:extLst>
          </p:cNvPr>
          <p:cNvSpPr/>
          <p:nvPr/>
        </p:nvSpPr>
        <p:spPr>
          <a:xfrm>
            <a:off x="1959434" y="5806807"/>
            <a:ext cx="8829840" cy="1006475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Improves accuracy of fixed-interval compaction </a:t>
            </a:r>
            <a:b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maintaining cost.</a:t>
            </a:r>
          </a:p>
        </p:txBody>
      </p:sp>
    </p:spTree>
    <p:extLst>
      <p:ext uri="{BB962C8B-B14F-4D97-AF65-F5344CB8AC3E}">
        <p14:creationId xmlns:p14="http://schemas.microsoft.com/office/powerpoint/2010/main" val="1637669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0">
    <p:spTree>
      <p:nvGrpSpPr>
        <p:cNvPr id="1" name="">
          <a:extLst>
            <a:ext uri="{FF2B5EF4-FFF2-40B4-BE49-F238E27FC236}">
              <a16:creationId xmlns:a16="http://schemas.microsoft.com/office/drawing/2014/main" id="{E2D9BB60-6FC4-C19E-F0D5-4D7F59B0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83E913-68C3-A0D2-1974-A628EE67D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11195B-45EE-B5BE-EF81-2BAA0D235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24537F-12E0-D5F2-2441-CF91F67B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it works: compaction frequency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0E373-1AED-6DCB-1994-44D3AF164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79" y="1118192"/>
            <a:ext cx="9160516" cy="4662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F2F852-1BAC-B577-DC06-D32F082A096B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</p:spTree>
    <p:extLst>
      <p:ext uri="{BB962C8B-B14F-4D97-AF65-F5344CB8AC3E}">
        <p14:creationId xmlns:p14="http://schemas.microsoft.com/office/powerpoint/2010/main" val="366353810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1">
    <p:spTree>
      <p:nvGrpSpPr>
        <p:cNvPr id="1" name="">
          <a:extLst>
            <a:ext uri="{FF2B5EF4-FFF2-40B4-BE49-F238E27FC236}">
              <a16:creationId xmlns:a16="http://schemas.microsoft.com/office/drawing/2014/main" id="{E2D9BB60-6FC4-C19E-F0D5-4D7F59B0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83E913-68C3-A0D2-1974-A628EE67D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11195B-45EE-B5BE-EF81-2BAA0D235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24537F-12E0-D5F2-2441-CF91F67B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it works: compaction frequency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0E373-1AED-6DCB-1994-44D3AF164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79" y="1118192"/>
            <a:ext cx="9160516" cy="4662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F2F852-1BAC-B577-DC06-D32F082A096B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8F7B3C-3F05-1991-4C4B-1BC592459F06}"/>
              </a:ext>
            </a:extLst>
          </p:cNvPr>
          <p:cNvSpPr/>
          <p:nvPr/>
        </p:nvSpPr>
        <p:spPr>
          <a:xfrm>
            <a:off x="1062131" y="5582652"/>
            <a:ext cx="10515601" cy="1208435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Fixed-Interval triggers at the threshold by construction; </a:t>
            </a:r>
            <a:r>
              <a:rPr lang="en-US" sz="32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SelfCompact</a:t>
            </a:r>
            <a: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spreads them across the budget.</a:t>
            </a:r>
          </a:p>
        </p:txBody>
      </p:sp>
    </p:spTree>
    <p:extLst>
      <p:ext uri="{BB962C8B-B14F-4D97-AF65-F5344CB8AC3E}">
        <p14:creationId xmlns:p14="http://schemas.microsoft.com/office/powerpoint/2010/main" val="336319729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2">
    <p:spTree>
      <p:nvGrpSpPr>
        <p:cNvPr id="1" name="">
          <a:extLst>
            <a:ext uri="{FF2B5EF4-FFF2-40B4-BE49-F238E27FC236}">
              <a16:creationId xmlns:a16="http://schemas.microsoft.com/office/drawing/2014/main" id="{E7E35899-B94F-721F-E2A8-DC003047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A4CB5-321C-4B2C-DCB3-2012EBA81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09E28-AA7E-E56B-E6C0-FF02E5D34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169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392E27-B729-A191-54B6-6FA4CC9C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it works: ease of problems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BF04F6-E25F-A8D8-90AF-787145C38A45}"/>
              </a:ext>
            </a:extLst>
          </p:cNvPr>
          <p:cNvGrpSpPr/>
          <p:nvPr/>
        </p:nvGrpSpPr>
        <p:grpSpPr>
          <a:xfrm>
            <a:off x="4606384" y="1307167"/>
            <a:ext cx="5586612" cy="4830630"/>
            <a:chOff x="4617203" y="2183092"/>
            <a:chExt cx="2892183" cy="24918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851AB3-B6BE-700D-F3DF-430494793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" r="93896"/>
            <a:stretch>
              <a:fillRect/>
            </a:stretch>
          </p:blipFill>
          <p:spPr>
            <a:xfrm>
              <a:off x="4617203" y="2183092"/>
              <a:ext cx="474406" cy="249181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08B30C-3D1F-5C8B-E444-44C661571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00" b="14124"/>
            <a:stretch>
              <a:fillRect/>
            </a:stretch>
          </p:blipFill>
          <p:spPr>
            <a:xfrm>
              <a:off x="5014451" y="2183093"/>
              <a:ext cx="2494935" cy="213988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229EFC-1248-FABB-095E-47800617F149}"/>
              </a:ext>
            </a:extLst>
          </p:cNvPr>
          <p:cNvGrpSpPr/>
          <p:nvPr/>
        </p:nvGrpSpPr>
        <p:grpSpPr>
          <a:xfrm>
            <a:off x="838200" y="2639776"/>
            <a:ext cx="3202230" cy="2165411"/>
            <a:chOff x="469884" y="2529057"/>
            <a:chExt cx="2418460" cy="16441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3A3E1C-9263-9236-7462-8E5134FAE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667" t="89077" r="58450" b="-7051"/>
            <a:stretch>
              <a:fillRect/>
            </a:stretch>
          </p:blipFill>
          <p:spPr>
            <a:xfrm>
              <a:off x="469884" y="2529057"/>
              <a:ext cx="2418459" cy="73801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DB30CFD-8143-E6D2-AB71-18E168BA5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1550" t="89077" r="40805" b="-7051"/>
            <a:stretch>
              <a:fillRect/>
            </a:stretch>
          </p:blipFill>
          <p:spPr>
            <a:xfrm>
              <a:off x="628454" y="2982135"/>
              <a:ext cx="2259890" cy="73801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2BEC43-5F0E-82F0-34FD-53303B22E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589" t="89077" r="23984" b="-7051"/>
            <a:stretch>
              <a:fillRect/>
            </a:stretch>
          </p:blipFill>
          <p:spPr>
            <a:xfrm>
              <a:off x="741485" y="3435213"/>
              <a:ext cx="1975772" cy="738018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3B2452D-C278-1738-8E23-56FC3FB14FF9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</p:spTree>
    <p:extLst>
      <p:ext uri="{BB962C8B-B14F-4D97-AF65-F5344CB8AC3E}">
        <p14:creationId xmlns:p14="http://schemas.microsoft.com/office/powerpoint/2010/main" val="374070633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3">
    <p:spTree>
      <p:nvGrpSpPr>
        <p:cNvPr id="1" name="">
          <a:extLst>
            <a:ext uri="{FF2B5EF4-FFF2-40B4-BE49-F238E27FC236}">
              <a16:creationId xmlns:a16="http://schemas.microsoft.com/office/drawing/2014/main" id="{E7E35899-B94F-721F-E2A8-DC003047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A4CB5-321C-4B2C-DCB3-2012EBA81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09E28-AA7E-E56B-E6C0-FF02E5D34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392E27-B729-A191-54B6-6FA4CC9C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it works: ease of problems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BF04F6-E25F-A8D8-90AF-787145C38A45}"/>
              </a:ext>
            </a:extLst>
          </p:cNvPr>
          <p:cNvGrpSpPr/>
          <p:nvPr/>
        </p:nvGrpSpPr>
        <p:grpSpPr>
          <a:xfrm>
            <a:off x="4606384" y="1307167"/>
            <a:ext cx="5586612" cy="4830630"/>
            <a:chOff x="4617203" y="2183092"/>
            <a:chExt cx="2892183" cy="24918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851AB3-B6BE-700D-F3DF-430494793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" r="93896"/>
            <a:stretch>
              <a:fillRect/>
            </a:stretch>
          </p:blipFill>
          <p:spPr>
            <a:xfrm>
              <a:off x="4617203" y="2183092"/>
              <a:ext cx="474406" cy="249181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08B30C-3D1F-5C8B-E444-44C661571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900" b="14124"/>
            <a:stretch>
              <a:fillRect/>
            </a:stretch>
          </p:blipFill>
          <p:spPr>
            <a:xfrm>
              <a:off x="5014451" y="2183093"/>
              <a:ext cx="2494935" cy="213988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229EFC-1248-FABB-095E-47800617F149}"/>
              </a:ext>
            </a:extLst>
          </p:cNvPr>
          <p:cNvGrpSpPr/>
          <p:nvPr/>
        </p:nvGrpSpPr>
        <p:grpSpPr>
          <a:xfrm>
            <a:off x="838200" y="2639776"/>
            <a:ext cx="3202230" cy="2165411"/>
            <a:chOff x="469884" y="2529057"/>
            <a:chExt cx="2418460" cy="16441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3A3E1C-9263-9236-7462-8E5134FAE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667" t="89077" r="58450" b="-7051"/>
            <a:stretch>
              <a:fillRect/>
            </a:stretch>
          </p:blipFill>
          <p:spPr>
            <a:xfrm>
              <a:off x="469884" y="2529057"/>
              <a:ext cx="2418459" cy="73801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DB30CFD-8143-E6D2-AB71-18E168BA5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1550" t="89077" r="40805" b="-7051"/>
            <a:stretch>
              <a:fillRect/>
            </a:stretch>
          </p:blipFill>
          <p:spPr>
            <a:xfrm>
              <a:off x="628454" y="2982135"/>
              <a:ext cx="2259890" cy="73801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2BEC43-5F0E-82F0-34FD-53303B22E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589" t="89077" r="23984" b="-7051"/>
            <a:stretch>
              <a:fillRect/>
            </a:stretch>
          </p:blipFill>
          <p:spPr>
            <a:xfrm>
              <a:off x="741485" y="3435213"/>
              <a:ext cx="1975772" cy="738018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3B2452D-C278-1738-8E23-56FC3FB14FF9}"/>
              </a:ext>
            </a:extLst>
          </p:cNvPr>
          <p:cNvSpPr txBox="1"/>
          <p:nvPr/>
        </p:nvSpPr>
        <p:spPr>
          <a:xfrm>
            <a:off x="310888" y="6475724"/>
            <a:ext cx="1188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et al. Self-Compacting Language Model Agents, 2026.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4543288-533D-BC3F-30E6-4F490AFBC365}"/>
              </a:ext>
            </a:extLst>
          </p:cNvPr>
          <p:cNvSpPr/>
          <p:nvPr/>
        </p:nvSpPr>
        <p:spPr>
          <a:xfrm>
            <a:off x="1382752" y="5534477"/>
            <a:ext cx="9843343" cy="1208435"/>
          </a:xfrm>
          <a:prstGeom prst="roundRect">
            <a:avLst/>
          </a:prstGeom>
          <a:solidFill>
            <a:srgbClr val="EAEDF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SelfCompact</a:t>
            </a:r>
            <a: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matches the others on easy bins</a:t>
            </a:r>
          </a:p>
          <a:p>
            <a:pPr algn="ctr"/>
            <a:r>
              <a:rPr 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pulls ahead on the hardest bins.</a:t>
            </a:r>
          </a:p>
        </p:txBody>
      </p:sp>
    </p:spTree>
    <p:extLst>
      <p:ext uri="{BB962C8B-B14F-4D97-AF65-F5344CB8AC3E}">
        <p14:creationId xmlns:p14="http://schemas.microsoft.com/office/powerpoint/2010/main" val="76719332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4">
    <p:spTree>
      <p:nvGrpSpPr>
        <p:cNvPr id="1" name="">
          <a:extLst>
            <a:ext uri="{FF2B5EF4-FFF2-40B4-BE49-F238E27FC236}">
              <a16:creationId xmlns:a16="http://schemas.microsoft.com/office/drawing/2014/main" id="{352BBD01-F983-650B-EEC7-1E45F7A9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77DE2C-D29A-3FEF-F090-3211777D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/>
              <a:t>Self-Compact: rubric-gated adaptive compaction. </a:t>
            </a:r>
          </a:p>
          <a:p>
            <a:pPr lvl="1"/>
            <a:r>
              <a:rPr lang="en-US"/>
              <a:t>Lightweight and training-free. </a:t>
            </a:r>
          </a:p>
          <a:p>
            <a:pPr lvl="1"/>
            <a:r>
              <a:rPr lang="en-US"/>
              <a:t>A meta-cognitive capability. </a:t>
            </a:r>
          </a:p>
          <a:p>
            <a:pPr lvl="1"/>
            <a:r>
              <a:rPr lang="en-US"/>
              <a:t>Strong empirical results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Our study is quite simple and likely there is a lot of headroom.</a:t>
            </a:r>
          </a:p>
          <a:p>
            <a:r>
              <a:rPr lang="en-US"/>
              <a:t>Call for scientific study of context management.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774CC-DA4C-2AFF-6FCA-CB50A0252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BDA49E-247E-D967-4A1B-F49CCCEA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Compacting the content (takeaways)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3FB5E-64BC-7B5D-A086-7E3988A3356E}"/>
              </a:ext>
            </a:extLst>
          </p:cNvPr>
          <p:cNvSpPr/>
          <p:nvPr/>
        </p:nvSpPr>
        <p:spPr>
          <a:xfrm>
            <a:off x="619675" y="1514475"/>
            <a:ext cx="11301521" cy="191452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C675E-9E39-DE15-B17D-17A594210F2E}"/>
              </a:ext>
            </a:extLst>
          </p:cNvPr>
          <p:cNvSpPr/>
          <p:nvPr/>
        </p:nvSpPr>
        <p:spPr>
          <a:xfrm>
            <a:off x="690453" y="3823103"/>
            <a:ext cx="11301521" cy="191452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0481307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5">
    <p:spTree>
      <p:nvGrpSpPr>
        <p:cNvPr id="1" name="">
          <a:extLst>
            <a:ext uri="{FF2B5EF4-FFF2-40B4-BE49-F238E27FC236}">
              <a16:creationId xmlns:a16="http://schemas.microsoft.com/office/drawing/2014/main" id="{352BBD01-F983-650B-EEC7-1E45F7A9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77DE2C-D29A-3FEF-F090-3211777D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/>
              <a:t>Self-Compact: rubric-gated adaptive compaction. </a:t>
            </a:r>
          </a:p>
          <a:p>
            <a:pPr lvl="1"/>
            <a:r>
              <a:rPr lang="en-US"/>
              <a:t>Lightweight and training-free. </a:t>
            </a:r>
          </a:p>
          <a:p>
            <a:pPr lvl="1"/>
            <a:r>
              <a:rPr lang="en-US"/>
              <a:t>A meta-cognitive capability. </a:t>
            </a:r>
          </a:p>
          <a:p>
            <a:pPr lvl="1"/>
            <a:r>
              <a:rPr lang="en-US"/>
              <a:t>Strong empirical results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Our study is quite simple and likely there is a lot of headroom.</a:t>
            </a:r>
          </a:p>
          <a:p>
            <a:r>
              <a:rPr lang="en-US"/>
              <a:t>Call for scientific study of context management.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774CC-DA4C-2AFF-6FCA-CB50A0252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BDA49E-247E-D967-4A1B-F49CCCEA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Compacting the content (takeaways)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C675E-9E39-DE15-B17D-17A594210F2E}"/>
              </a:ext>
            </a:extLst>
          </p:cNvPr>
          <p:cNvSpPr/>
          <p:nvPr/>
        </p:nvSpPr>
        <p:spPr>
          <a:xfrm>
            <a:off x="690453" y="3823103"/>
            <a:ext cx="11301521" cy="1914525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447039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6">
    <p:spTree>
      <p:nvGrpSpPr>
        <p:cNvPr id="1" name="">
          <a:extLst>
            <a:ext uri="{FF2B5EF4-FFF2-40B4-BE49-F238E27FC236}">
              <a16:creationId xmlns:a16="http://schemas.microsoft.com/office/drawing/2014/main" id="{352BBD01-F983-650B-EEC7-1E45F7A9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77DE2C-D29A-3FEF-F090-3211777D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4475"/>
            <a:ext cx="11191875" cy="4662488"/>
          </a:xfrm>
        </p:spPr>
        <p:txBody>
          <a:bodyPr/>
          <a:lstStyle/>
          <a:p>
            <a:r>
              <a:rPr lang="en-US"/>
              <a:t>Self-Compact: rubric-gated adaptive compaction. </a:t>
            </a:r>
          </a:p>
          <a:p>
            <a:pPr lvl="1"/>
            <a:r>
              <a:rPr lang="en-US"/>
              <a:t>Lightweight and training-free. </a:t>
            </a:r>
          </a:p>
          <a:p>
            <a:pPr lvl="1"/>
            <a:r>
              <a:rPr lang="en-US"/>
              <a:t>A meta-cognitive capability. </a:t>
            </a:r>
          </a:p>
          <a:p>
            <a:pPr lvl="1"/>
            <a:r>
              <a:rPr lang="en-US"/>
              <a:t>Strong empirical results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Our study is quite simple and likely there is a lot of headroom.</a:t>
            </a:r>
          </a:p>
          <a:p>
            <a:r>
              <a:rPr lang="en-US"/>
              <a:t>Call for scientific study of context management.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774CC-DA4C-2AFF-6FCA-CB50A0252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BDA49E-247E-D967-4A1B-F49CCCEA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Compacting the content (takeaways)</a:t>
            </a:r>
          </a:p>
        </p:txBody>
      </p:sp>
    </p:spTree>
    <p:extLst>
      <p:ext uri="{BB962C8B-B14F-4D97-AF65-F5344CB8AC3E}">
        <p14:creationId xmlns:p14="http://schemas.microsoft.com/office/powerpoint/2010/main" val="279337041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7">
    <p:spTree>
      <p:nvGrpSpPr>
        <p:cNvPr id="1" name="">
          <a:extLst>
            <a:ext uri="{FF2B5EF4-FFF2-40B4-BE49-F238E27FC236}">
              <a16:creationId xmlns:a16="http://schemas.microsoft.com/office/drawing/2014/main" id="{D2FB1C45-1D40-E77D-C044-54E1FE60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C4168D-6517-F8AA-0CBD-8A168A876A84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22753-414F-4236-E1C4-A8888AD8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636"/>
            <a:ext cx="12273280" cy="1006475"/>
          </a:xfrm>
        </p:spPr>
        <p:txBody>
          <a:bodyPr/>
          <a:lstStyle/>
          <a:p>
            <a:r>
              <a:rPr lang="en-US" sz="3200" dirty="0"/>
              <a:t>Circling back: </a:t>
            </a:r>
            <a:br>
              <a:rPr lang="en-US" sz="3200" dirty="0"/>
            </a:br>
            <a:r>
              <a:rPr lang="en-US" sz="4000" dirty="0"/>
              <a:t>Toward agents that learn and remember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8590-B92A-8E40-A5AE-98AA3088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687195"/>
            <a:ext cx="10967720" cy="4662488"/>
          </a:xfrm>
        </p:spPr>
        <p:txBody>
          <a:bodyPr/>
          <a:lstStyle/>
          <a:p>
            <a:r>
              <a:rPr lang="en-US" b="1" dirty="0"/>
              <a:t>Context scaling: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There are fundamental challenges in scaling context window of LLMs. </a:t>
            </a:r>
          </a:p>
          <a:p>
            <a:pPr lvl="1"/>
            <a:r>
              <a:rPr lang="en-US" dirty="0"/>
              <a:t>Long-running agents [probably] need more than longer histories.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Context management: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Context management (e.g., compaction) as a useful hill to climb. </a:t>
            </a:r>
          </a:p>
          <a:p>
            <a:pPr lvl="1"/>
            <a:r>
              <a:rPr lang="en-US" dirty="0"/>
              <a:t>Most of these are these are hard-coded harnesses. </a:t>
            </a:r>
          </a:p>
          <a:p>
            <a:pPr lvl="1"/>
            <a:r>
              <a:rPr lang="en-US" dirty="0"/>
              <a:t>We need to make them a subject of science to study. </a:t>
            </a:r>
          </a:p>
          <a:p>
            <a:endParaRPr lang="en-US" dirty="0"/>
          </a:p>
          <a:p>
            <a:r>
              <a:rPr lang="en-US" dirty="0"/>
              <a:t>Elephant in the room: Continual learning/training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ED7-4654-4B61-ADB6-CD031F538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96AE5-9246-2328-ABB2-7DAAC49DBC3F}"/>
              </a:ext>
            </a:extLst>
          </p:cNvPr>
          <p:cNvSpPr/>
          <p:nvPr/>
        </p:nvSpPr>
        <p:spPr>
          <a:xfrm>
            <a:off x="619675" y="1535459"/>
            <a:ext cx="11301521" cy="1156941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AA368-C1DA-E5F6-93FC-77841DC41979}"/>
              </a:ext>
            </a:extLst>
          </p:cNvPr>
          <p:cNvSpPr/>
          <p:nvPr/>
        </p:nvSpPr>
        <p:spPr>
          <a:xfrm>
            <a:off x="619675" y="2559019"/>
            <a:ext cx="11301521" cy="692182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A73D79-FF12-B3B7-A688-1BC83E18FF0C}"/>
              </a:ext>
            </a:extLst>
          </p:cNvPr>
          <p:cNvSpPr/>
          <p:nvPr/>
        </p:nvSpPr>
        <p:spPr>
          <a:xfrm>
            <a:off x="640819" y="3643689"/>
            <a:ext cx="11301521" cy="931781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59998-A178-34AC-681B-FC2D924D9348}"/>
              </a:ext>
            </a:extLst>
          </p:cNvPr>
          <p:cNvSpPr/>
          <p:nvPr/>
        </p:nvSpPr>
        <p:spPr>
          <a:xfrm>
            <a:off x="807720" y="4622235"/>
            <a:ext cx="11301521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3BD5-E978-83FB-9A87-0B5DDF6C4392}"/>
              </a:ext>
            </a:extLst>
          </p:cNvPr>
          <p:cNvSpPr/>
          <p:nvPr/>
        </p:nvSpPr>
        <p:spPr>
          <a:xfrm>
            <a:off x="884789" y="5853107"/>
            <a:ext cx="9234572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34395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8">
    <p:spTree>
      <p:nvGrpSpPr>
        <p:cNvPr id="1" name="">
          <a:extLst>
            <a:ext uri="{FF2B5EF4-FFF2-40B4-BE49-F238E27FC236}">
              <a16:creationId xmlns:a16="http://schemas.microsoft.com/office/drawing/2014/main" id="{D2FB1C45-1D40-E77D-C044-54E1FE60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C4168D-6517-F8AA-0CBD-8A168A876A84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22753-414F-4236-E1C4-A8888AD8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636"/>
            <a:ext cx="12273280" cy="1006475"/>
          </a:xfrm>
        </p:spPr>
        <p:txBody>
          <a:bodyPr/>
          <a:lstStyle/>
          <a:p>
            <a:r>
              <a:rPr lang="en-US" sz="3200" dirty="0"/>
              <a:t>Circling back: </a:t>
            </a:r>
            <a:br>
              <a:rPr lang="en-US" sz="3200" dirty="0"/>
            </a:br>
            <a:r>
              <a:rPr lang="en-US" sz="4000" dirty="0"/>
              <a:t>Toward agents that learn and remember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8590-B92A-8E40-A5AE-98AA3088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687195"/>
            <a:ext cx="10967720" cy="4662488"/>
          </a:xfrm>
        </p:spPr>
        <p:txBody>
          <a:bodyPr/>
          <a:lstStyle/>
          <a:p>
            <a:r>
              <a:rPr lang="en-US" b="1" dirty="0"/>
              <a:t>Context scaling: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There are fundamental challenges in scaling context window of LLMs. </a:t>
            </a:r>
          </a:p>
          <a:p>
            <a:pPr lvl="1"/>
            <a:r>
              <a:rPr lang="en-US" dirty="0"/>
              <a:t>Long-running agents [probably] need more than longer histories.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Context management: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Context management (e.g., compaction) as a useful hill to climb. </a:t>
            </a:r>
          </a:p>
          <a:p>
            <a:pPr lvl="1"/>
            <a:r>
              <a:rPr lang="en-US" dirty="0"/>
              <a:t>Most of these are these are hard-coded harnesses. </a:t>
            </a:r>
          </a:p>
          <a:p>
            <a:pPr lvl="1"/>
            <a:r>
              <a:rPr lang="en-US" dirty="0"/>
              <a:t>We need to make them a subject of science to study. </a:t>
            </a:r>
          </a:p>
          <a:p>
            <a:endParaRPr lang="en-US" dirty="0"/>
          </a:p>
          <a:p>
            <a:r>
              <a:rPr lang="en-US" dirty="0"/>
              <a:t>Elephant in the room: Continual learning/training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ED7-4654-4B61-ADB6-CD031F538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175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AA368-C1DA-E5F6-93FC-77841DC41979}"/>
              </a:ext>
            </a:extLst>
          </p:cNvPr>
          <p:cNvSpPr/>
          <p:nvPr/>
        </p:nvSpPr>
        <p:spPr>
          <a:xfrm>
            <a:off x="619675" y="2559019"/>
            <a:ext cx="11301521" cy="692182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A73D79-FF12-B3B7-A688-1BC83E18FF0C}"/>
              </a:ext>
            </a:extLst>
          </p:cNvPr>
          <p:cNvSpPr/>
          <p:nvPr/>
        </p:nvSpPr>
        <p:spPr>
          <a:xfrm>
            <a:off x="640819" y="3643689"/>
            <a:ext cx="11301521" cy="931781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59998-A178-34AC-681B-FC2D924D9348}"/>
              </a:ext>
            </a:extLst>
          </p:cNvPr>
          <p:cNvSpPr/>
          <p:nvPr/>
        </p:nvSpPr>
        <p:spPr>
          <a:xfrm>
            <a:off x="807720" y="4622235"/>
            <a:ext cx="11301521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3BD5-E978-83FB-9A87-0B5DDF6C4392}"/>
              </a:ext>
            </a:extLst>
          </p:cNvPr>
          <p:cNvSpPr/>
          <p:nvPr/>
        </p:nvSpPr>
        <p:spPr>
          <a:xfrm>
            <a:off x="884789" y="5853107"/>
            <a:ext cx="9234572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44828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39">
    <p:spTree>
      <p:nvGrpSpPr>
        <p:cNvPr id="1" name="">
          <a:extLst>
            <a:ext uri="{FF2B5EF4-FFF2-40B4-BE49-F238E27FC236}">
              <a16:creationId xmlns:a16="http://schemas.microsoft.com/office/drawing/2014/main" id="{D2FB1C45-1D40-E77D-C044-54E1FE60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C4168D-6517-F8AA-0CBD-8A168A876A84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22753-414F-4236-E1C4-A8888AD8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636"/>
            <a:ext cx="12273280" cy="1006475"/>
          </a:xfrm>
        </p:spPr>
        <p:txBody>
          <a:bodyPr/>
          <a:lstStyle/>
          <a:p>
            <a:r>
              <a:rPr lang="en-US" sz="3200" dirty="0"/>
              <a:t>Circling back: </a:t>
            </a:r>
            <a:br>
              <a:rPr lang="en-US" sz="3200" dirty="0"/>
            </a:br>
            <a:r>
              <a:rPr lang="en-US" sz="4000" dirty="0"/>
              <a:t>Toward agents that learn and remember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8590-B92A-8E40-A5AE-98AA3088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687195"/>
            <a:ext cx="10967720" cy="4662488"/>
          </a:xfrm>
        </p:spPr>
        <p:txBody>
          <a:bodyPr/>
          <a:lstStyle/>
          <a:p>
            <a:r>
              <a:rPr lang="en-US" b="1" dirty="0"/>
              <a:t>Context scaling: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There are fundamental challenges in scaling context window of LLMs. </a:t>
            </a:r>
          </a:p>
          <a:p>
            <a:pPr lvl="1"/>
            <a:r>
              <a:rPr lang="en-US" dirty="0"/>
              <a:t>Long-running agents [probably] need more than longer histories.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Context management: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Context management (e.g., compaction) as a useful hill to climb. </a:t>
            </a:r>
          </a:p>
          <a:p>
            <a:pPr lvl="1"/>
            <a:r>
              <a:rPr lang="en-US" dirty="0"/>
              <a:t>Most of these are these are hard-coded harnesses. </a:t>
            </a:r>
          </a:p>
          <a:p>
            <a:pPr lvl="1"/>
            <a:r>
              <a:rPr lang="en-US" dirty="0"/>
              <a:t>We need to make them a subject of science to study. </a:t>
            </a:r>
          </a:p>
          <a:p>
            <a:endParaRPr lang="en-US" dirty="0"/>
          </a:p>
          <a:p>
            <a:r>
              <a:rPr lang="en-US" dirty="0"/>
              <a:t>Elephant in the room: Continual learning/training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ED7-4654-4B61-ADB6-CD031F538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A73D79-FF12-B3B7-A688-1BC83E18FF0C}"/>
              </a:ext>
            </a:extLst>
          </p:cNvPr>
          <p:cNvSpPr/>
          <p:nvPr/>
        </p:nvSpPr>
        <p:spPr>
          <a:xfrm>
            <a:off x="640819" y="3643689"/>
            <a:ext cx="11301521" cy="931781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59998-A178-34AC-681B-FC2D924D9348}"/>
              </a:ext>
            </a:extLst>
          </p:cNvPr>
          <p:cNvSpPr/>
          <p:nvPr/>
        </p:nvSpPr>
        <p:spPr>
          <a:xfrm>
            <a:off x="807720" y="4622235"/>
            <a:ext cx="11301521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3BD5-E978-83FB-9A87-0B5DDF6C4392}"/>
              </a:ext>
            </a:extLst>
          </p:cNvPr>
          <p:cNvSpPr/>
          <p:nvPr/>
        </p:nvSpPr>
        <p:spPr>
          <a:xfrm>
            <a:off x="884789" y="5853107"/>
            <a:ext cx="9234572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2072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40">
    <p:spTree>
      <p:nvGrpSpPr>
        <p:cNvPr id="1" name="">
          <a:extLst>
            <a:ext uri="{FF2B5EF4-FFF2-40B4-BE49-F238E27FC236}">
              <a16:creationId xmlns:a16="http://schemas.microsoft.com/office/drawing/2014/main" id="{D2FB1C45-1D40-E77D-C044-54E1FE60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C4168D-6517-F8AA-0CBD-8A168A876A84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22753-414F-4236-E1C4-A8888AD8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636"/>
            <a:ext cx="12273280" cy="1006475"/>
          </a:xfrm>
        </p:spPr>
        <p:txBody>
          <a:bodyPr/>
          <a:lstStyle/>
          <a:p>
            <a:r>
              <a:rPr lang="en-US" sz="3200" dirty="0"/>
              <a:t>Circling back: </a:t>
            </a:r>
            <a:br>
              <a:rPr lang="en-US" sz="3200" dirty="0"/>
            </a:br>
            <a:r>
              <a:rPr lang="en-US" sz="4000" dirty="0"/>
              <a:t>Toward agents that learn and remember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8590-B92A-8E40-A5AE-98AA3088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687195"/>
            <a:ext cx="10967720" cy="4662488"/>
          </a:xfrm>
        </p:spPr>
        <p:txBody>
          <a:bodyPr/>
          <a:lstStyle/>
          <a:p>
            <a:r>
              <a:rPr lang="en-US" b="1" dirty="0"/>
              <a:t>Context scaling: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There are fundamental challenges in scaling context window of LLMs. </a:t>
            </a:r>
          </a:p>
          <a:p>
            <a:pPr lvl="1"/>
            <a:r>
              <a:rPr lang="en-US" dirty="0"/>
              <a:t>Long-running agents [probably] need more than longer histories.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Context management: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Context management (e.g., compaction) as a useful hill to climb. </a:t>
            </a:r>
          </a:p>
          <a:p>
            <a:pPr lvl="1"/>
            <a:r>
              <a:rPr lang="en-US" dirty="0"/>
              <a:t>Most of these are these are hard-coded harnesses. </a:t>
            </a:r>
          </a:p>
          <a:p>
            <a:pPr lvl="1"/>
            <a:r>
              <a:rPr lang="en-US" dirty="0"/>
              <a:t>We need to make them a subject of science to study. </a:t>
            </a:r>
          </a:p>
          <a:p>
            <a:endParaRPr lang="en-US" dirty="0"/>
          </a:p>
          <a:p>
            <a:r>
              <a:rPr lang="en-US" dirty="0"/>
              <a:t>Elephant in the room: Continual learning/training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ED7-4654-4B61-ADB6-CD031F538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177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59998-A178-34AC-681B-FC2D924D9348}"/>
              </a:ext>
            </a:extLst>
          </p:cNvPr>
          <p:cNvSpPr/>
          <p:nvPr/>
        </p:nvSpPr>
        <p:spPr>
          <a:xfrm>
            <a:off x="807720" y="4622235"/>
            <a:ext cx="11301521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3BD5-E978-83FB-9A87-0B5DDF6C4392}"/>
              </a:ext>
            </a:extLst>
          </p:cNvPr>
          <p:cNvSpPr/>
          <p:nvPr/>
        </p:nvSpPr>
        <p:spPr>
          <a:xfrm>
            <a:off x="884789" y="5853107"/>
            <a:ext cx="9234572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71017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41">
    <p:spTree>
      <p:nvGrpSpPr>
        <p:cNvPr id="1" name="">
          <a:extLst>
            <a:ext uri="{FF2B5EF4-FFF2-40B4-BE49-F238E27FC236}">
              <a16:creationId xmlns:a16="http://schemas.microsoft.com/office/drawing/2014/main" id="{D2FB1C45-1D40-E77D-C044-54E1FE60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C4168D-6517-F8AA-0CBD-8A168A876A84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22753-414F-4236-E1C4-A8888AD8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636"/>
            <a:ext cx="12273280" cy="1006475"/>
          </a:xfrm>
        </p:spPr>
        <p:txBody>
          <a:bodyPr/>
          <a:lstStyle/>
          <a:p>
            <a:r>
              <a:rPr lang="en-US" sz="3200" dirty="0"/>
              <a:t>Circling back: </a:t>
            </a:r>
            <a:br>
              <a:rPr lang="en-US" sz="3200" dirty="0"/>
            </a:br>
            <a:r>
              <a:rPr lang="en-US" sz="4000" dirty="0"/>
              <a:t>Toward agents that learn and remember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8590-B92A-8E40-A5AE-98AA3088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687195"/>
            <a:ext cx="10967720" cy="4662488"/>
          </a:xfrm>
        </p:spPr>
        <p:txBody>
          <a:bodyPr/>
          <a:lstStyle/>
          <a:p>
            <a:r>
              <a:rPr lang="en-US" b="1" dirty="0"/>
              <a:t>Context scaling: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There are fundamental challenges in scaling context window of LLMs. </a:t>
            </a:r>
          </a:p>
          <a:p>
            <a:pPr lvl="1"/>
            <a:r>
              <a:rPr lang="en-US" dirty="0"/>
              <a:t>Long-running agents [probably] need more than longer histories.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Context management: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Context management (e.g., compaction) as a useful hill to climb. </a:t>
            </a:r>
          </a:p>
          <a:p>
            <a:pPr lvl="1"/>
            <a:r>
              <a:rPr lang="en-US" dirty="0"/>
              <a:t>Most of these are these are hard-coded harnesses. </a:t>
            </a:r>
          </a:p>
          <a:p>
            <a:pPr lvl="1"/>
            <a:r>
              <a:rPr lang="en-US" dirty="0"/>
              <a:t>We need to make them a subject of science to study. </a:t>
            </a:r>
          </a:p>
          <a:p>
            <a:endParaRPr lang="en-US" dirty="0"/>
          </a:p>
          <a:p>
            <a:r>
              <a:rPr lang="en-US" dirty="0"/>
              <a:t>Elephant in the room: Continual learning/training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ED7-4654-4B61-ADB6-CD031F538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178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3BD5-E978-83FB-9A87-0B5DDF6C4392}"/>
              </a:ext>
            </a:extLst>
          </p:cNvPr>
          <p:cNvSpPr/>
          <p:nvPr/>
        </p:nvSpPr>
        <p:spPr>
          <a:xfrm>
            <a:off x="884789" y="5853107"/>
            <a:ext cx="9234572" cy="105524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32839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42">
    <p:spTree>
      <p:nvGrpSpPr>
        <p:cNvPr id="1" name="">
          <a:extLst>
            <a:ext uri="{FF2B5EF4-FFF2-40B4-BE49-F238E27FC236}">
              <a16:creationId xmlns:a16="http://schemas.microsoft.com/office/drawing/2014/main" id="{D2FB1C45-1D40-E77D-C044-54E1FE60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C4168D-6517-F8AA-0CBD-8A168A876A84}"/>
              </a:ext>
            </a:extLst>
          </p:cNvPr>
          <p:cNvSpPr/>
          <p:nvPr/>
        </p:nvSpPr>
        <p:spPr>
          <a:xfrm>
            <a:off x="0" y="0"/>
            <a:ext cx="12186309" cy="13088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22753-414F-4236-E1C4-A8888AD8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636"/>
            <a:ext cx="12273280" cy="1006475"/>
          </a:xfrm>
        </p:spPr>
        <p:txBody>
          <a:bodyPr/>
          <a:lstStyle/>
          <a:p>
            <a:r>
              <a:rPr lang="en-US" sz="3200" dirty="0"/>
              <a:t>Circling back: </a:t>
            </a:r>
            <a:br>
              <a:rPr lang="en-US" sz="3200" dirty="0"/>
            </a:br>
            <a:r>
              <a:rPr lang="en-US" sz="4000" dirty="0"/>
              <a:t>Toward agents that learn and remember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8590-B92A-8E40-A5AE-98AA3088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687195"/>
            <a:ext cx="10967720" cy="4662488"/>
          </a:xfrm>
        </p:spPr>
        <p:txBody>
          <a:bodyPr/>
          <a:lstStyle/>
          <a:p>
            <a:r>
              <a:rPr lang="en-US" b="1" dirty="0"/>
              <a:t>Context scaling: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There are fundamental challenges in scaling context window of LLMs. </a:t>
            </a:r>
          </a:p>
          <a:p>
            <a:pPr lvl="1"/>
            <a:r>
              <a:rPr lang="en-US" dirty="0"/>
              <a:t>Long-running agents [probably] need more than longer histories.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Context management: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Context management (e.g., compaction) as a useful hill to climb. </a:t>
            </a:r>
          </a:p>
          <a:p>
            <a:pPr lvl="1"/>
            <a:r>
              <a:rPr lang="en-US" dirty="0"/>
              <a:t>Most of these are these are hard-coded harnesses. </a:t>
            </a:r>
          </a:p>
          <a:p>
            <a:pPr lvl="1"/>
            <a:r>
              <a:rPr lang="en-US" dirty="0"/>
              <a:t>We need to make them a subject of science to study. </a:t>
            </a:r>
          </a:p>
          <a:p>
            <a:endParaRPr lang="en-US" dirty="0"/>
          </a:p>
          <a:p>
            <a:r>
              <a:rPr lang="en-US" dirty="0"/>
              <a:t>Elephant in the room: Continual learning/training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ED7-4654-4B61-ADB6-CD031F538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75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Generated: 3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CE4D0B-D37E-B71C-2434-BCE2D48E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2A99E-0345-9752-E7EF-624D12070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1240C-47AF-2F4D-83B3-CC3EDF50F794}" type="slidenum">
              <a:rPr lang="en-US" smtClean="0"/>
              <a:pPr>
                <a:defRPr/>
              </a:pPr>
              <a:t>180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A2D43C-4282-2DF5-F716-2B276176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33371"/>
      </p:ext>
    </p:extLst>
  </p:cSld>
  <p:clrMapOvr>
    <a:masterClrMapping/>
  </p:clrMapOvr>
</p:sld>
</file>

<file path=ppt/theme/theme1.xml><?xml version="1.0" encoding="utf-8"?>
<a:theme xmlns:a="http://schemas.openxmlformats.org/drawingml/2006/main" name="AI2 PPT Theme">
  <a:themeElements>
    <a:clrScheme name="AI2 PPT Colors">
      <a:dk1>
        <a:srgbClr val="303845"/>
      </a:dk1>
      <a:lt1>
        <a:srgbClr val="FFFFFF"/>
      </a:lt1>
      <a:dk2>
        <a:srgbClr val="1A4595"/>
      </a:dk2>
      <a:lt2>
        <a:srgbClr val="E8ECF2"/>
      </a:lt2>
      <a:accent1>
        <a:srgbClr val="255ED3"/>
      </a:accent1>
      <a:accent2>
        <a:srgbClr val="00D5FF"/>
      </a:accent2>
      <a:accent3>
        <a:srgbClr val="AEB7C3"/>
      </a:accent3>
      <a:accent4>
        <a:srgbClr val="8879DE"/>
      </a:accent4>
      <a:accent5>
        <a:srgbClr val="FFBB00"/>
      </a:accent5>
      <a:accent6>
        <a:srgbClr val="16C3CF"/>
      </a:accent6>
      <a:hlink>
        <a:srgbClr val="255ED3"/>
      </a:hlink>
      <a:folHlink>
        <a:srgbClr val="265ED3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2 Presentation Template" id="{8CF36B9A-930F-6C46-B116-42DBDD5C122F}" vid="{37D74BBC-B087-5D4D-857E-2E1958334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 PPT Theme</Template>
  <TotalTime>4242</TotalTime>
  <Words>17541</Words>
  <Application>Microsoft Macintosh PowerPoint</Application>
  <PresentationFormat>Widescreen</PresentationFormat>
  <Paragraphs>2154</Paragraphs>
  <Slides>180</Slides>
  <Notes>177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180</vt:i4>
      </vt:variant>
    </vt:vector>
  </HeadingPairs>
  <TitlesOfParts>
    <vt:vector size="187" baseType="lpstr">
      <vt:lpstr>Arial</vt:lpstr>
      <vt:lpstr>Avenir Book</vt:lpstr>
      <vt:lpstr>Calibri</vt:lpstr>
      <vt:lpstr>Cambria Math</vt:lpstr>
      <vt:lpstr>Corbel</vt:lpstr>
      <vt:lpstr>Lexend</vt:lpstr>
      <vt:lpstr>AI2 PPT Theme</vt:lpstr>
      <vt:lpstr>Long-running agents:  the long and short of it</vt:lpstr>
      <vt:lpstr>State of today: agents are all the rage </vt:lpstr>
      <vt:lpstr>State of today: agents are all the rage </vt:lpstr>
      <vt:lpstr>State of today: agents are all the rage </vt:lpstr>
      <vt:lpstr>State of today: agents are all the rage </vt:lpstr>
      <vt:lpstr>State of today: agents are all the rage </vt:lpstr>
      <vt:lpstr>State of today: agents are all the rage </vt:lpstr>
      <vt:lpstr>Also today: work fragmented across sessions</vt:lpstr>
      <vt:lpstr>Also today: work fragmented across sessions</vt:lpstr>
      <vt:lpstr>Also today: work fragmented across sessions</vt:lpstr>
      <vt:lpstr>Also today: work fragmented across sessions</vt:lpstr>
      <vt:lpstr>Also today: work fragmented across sessions</vt:lpstr>
      <vt:lpstr>The future is ever-longer-running agents </vt:lpstr>
      <vt:lpstr>The future is ever-longer-running agents </vt:lpstr>
      <vt:lpstr>The future is ever-longer-running agents </vt:lpstr>
      <vt:lpstr>The future is ever-longer-running agents </vt:lpstr>
      <vt:lpstr>How do we scale long-running agents?</vt:lpstr>
      <vt:lpstr>How do we scale long-running agents?</vt:lpstr>
      <vt:lpstr>How do we scale long-running agents?</vt:lpstr>
      <vt:lpstr>Roadmap: long-running agents</vt:lpstr>
      <vt:lpstr>Roadmap: long-running agents</vt:lpstr>
      <vt:lpstr>The bet on ever-scaling context windows </vt:lpstr>
      <vt:lpstr>The bet on ever-scaling context windows </vt:lpstr>
      <vt:lpstr>The bet on ever-scaling context windows </vt:lpstr>
      <vt:lpstr>The bet on ever-scaling context windows </vt:lpstr>
      <vt:lpstr>The bet on ever-scaling context windows </vt:lpstr>
      <vt:lpstr>The bet on ever-scaling context windows </vt:lpstr>
      <vt:lpstr>The bet on ever-scaling context windows </vt:lpstr>
      <vt:lpstr>The bet on ever-scaling context windows </vt:lpstr>
      <vt:lpstr>The bet on ever-scaling context windows </vt:lpstr>
      <vt:lpstr>A thought experiment on context scaling </vt:lpstr>
      <vt:lpstr>A thought experiment on context scaling </vt:lpstr>
      <vt:lpstr>A thought experiment on context scaling </vt:lpstr>
      <vt:lpstr>A thought experiment on context scaling </vt:lpstr>
      <vt:lpstr>A skeptical take</vt:lpstr>
      <vt:lpstr>A skeptical take</vt:lpstr>
      <vt:lpstr>A skeptical take</vt:lpstr>
      <vt:lpstr>A skeptical take</vt:lpstr>
      <vt:lpstr>A controlled experiment for scaling context </vt:lpstr>
      <vt:lpstr>A controlled experiment for scaling context </vt:lpstr>
      <vt:lpstr>A controlled experiment for scaling context </vt:lpstr>
      <vt:lpstr>A controlled experiment for scaling context </vt:lpstr>
      <vt:lpstr>A controlled experiment for scaling context </vt:lpstr>
      <vt:lpstr>A controlled experiment for scaling context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Context length: the gory details </vt:lpstr>
      <vt:lpstr>A controlled experiment for scaling context </vt:lpstr>
      <vt:lpstr>A controlled experiment for scaling context </vt:lpstr>
      <vt:lpstr>A controlled experiment for scaling context </vt:lpstr>
      <vt:lpstr>A controlled experiment for scaling context </vt:lpstr>
      <vt:lpstr>A controlled experiment for scaling context </vt:lpstr>
      <vt:lpstr>A controlled experiment for scaling context </vt:lpstr>
      <vt:lpstr>Information Abundance Paradox </vt:lpstr>
      <vt:lpstr>Information Abundance Paradox </vt:lpstr>
      <vt:lpstr>Information Abundance Paradox:  Perspective from learning mechanisms</vt:lpstr>
      <vt:lpstr>Information Abundance Paradox:  Perspective from learning mechanisms</vt:lpstr>
      <vt:lpstr>Information Abundance Paradox:  Perspective from learning mechanisms</vt:lpstr>
      <vt:lpstr>Information Abundance Paradox:  Perspective from learning mechanisms</vt:lpstr>
      <vt:lpstr>Information Abundance Paradox:  Perspective from learning mechanisms</vt:lpstr>
      <vt:lpstr>Information Abundance Paradox:  Perspective from learning mechanisms</vt:lpstr>
      <vt:lpstr>Information Abundance Paradox:  Takeaways and Implications</vt:lpstr>
      <vt:lpstr>Information Abundance Paradox:  Takeaways and Implications</vt:lpstr>
      <vt:lpstr>Information Abundance Paradox:  Takeaways and Implications</vt:lpstr>
      <vt:lpstr>Roadmap: long-running agents</vt:lpstr>
      <vt:lpstr>Roadmap: long-running agents</vt:lpstr>
      <vt:lpstr>Why bounded context?  Challenge of scaling context</vt:lpstr>
      <vt:lpstr>Why bounded context?  Challenge of scaling context</vt:lpstr>
      <vt:lpstr>Why bounded context?  Cost </vt:lpstr>
      <vt:lpstr>Why bounded context?   Context rot </vt:lpstr>
      <vt:lpstr>Why bounded context?   Context rot </vt:lpstr>
      <vt:lpstr>The common mechanism to shorten context:  “Compaction”</vt:lpstr>
      <vt:lpstr>The common mechanism to shorten context:  “Compaction”</vt:lpstr>
      <vt:lpstr>The common mechanism to shorten context:  “Compaction”</vt:lpstr>
      <vt:lpstr>The common mechanism to shorten context:  “Compaction”</vt:lpstr>
      <vt:lpstr>The common mechanism to shorten context:  “Compaction”</vt:lpstr>
      <vt:lpstr>Compaction in today’s agents</vt:lpstr>
      <vt:lpstr>Compaction in today’s agents</vt:lpstr>
      <vt:lpstr>Compaction in today’s agents</vt:lpstr>
      <vt:lpstr>Compaction in today’s agents</vt:lpstr>
      <vt:lpstr>Research question </vt:lpstr>
      <vt:lpstr>Research question </vt:lpstr>
      <vt:lpstr>Research question </vt:lpstr>
      <vt:lpstr>Research question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Self-Compact</vt:lpstr>
      <vt:lpstr>Self-Compact</vt:lpstr>
      <vt:lpstr>Self-Compact</vt:lpstr>
      <vt:lpstr>Self-Compact</vt:lpstr>
      <vt:lpstr>Self-Compact</vt:lpstr>
      <vt:lpstr>Self-Compact</vt:lpstr>
      <vt:lpstr>Self-Compact</vt:lpstr>
      <vt:lpstr>Self-Compact</vt:lpstr>
      <vt:lpstr>Self-Compact</vt:lpstr>
      <vt:lpstr>Self-Compact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Self-Compact: Making it work </vt:lpstr>
      <vt:lpstr>Self-Compact: Making it work </vt:lpstr>
      <vt:lpstr>Self-Compact: Making it work </vt:lpstr>
      <vt:lpstr>Self-Compact: Making it work </vt:lpstr>
      <vt:lpstr>Empirical Results: Agentic Search</vt:lpstr>
      <vt:lpstr>Empirical Results: Agentic Search</vt:lpstr>
      <vt:lpstr>Empirical Results: Agentic Search</vt:lpstr>
      <vt:lpstr>Empirical Results: Agentic Search</vt:lpstr>
      <vt:lpstr>Empirical Results: Agentic Search</vt:lpstr>
      <vt:lpstr>Empirical Results: Agentic Search</vt:lpstr>
      <vt:lpstr>Empirical Results: Agentic Search</vt:lpstr>
      <vt:lpstr>Empirical Results: Agentic Search</vt:lpstr>
      <vt:lpstr>Empirical Results: Agentic Search</vt:lpstr>
      <vt:lpstr>Why it works: compaction frequency </vt:lpstr>
      <vt:lpstr>Why it works: compaction frequency </vt:lpstr>
      <vt:lpstr>Why it works: ease of problems </vt:lpstr>
      <vt:lpstr>Why it works: ease of problems </vt:lpstr>
      <vt:lpstr>Compacting the content (takeaways)</vt:lpstr>
      <vt:lpstr>Compacting the content (takeaways)</vt:lpstr>
      <vt:lpstr>Compacting the content (takeaways)</vt:lpstr>
      <vt:lpstr>Circling back:  Toward agents that learn and remember over time</vt:lpstr>
      <vt:lpstr>Circling back:  Toward agents that learn and remember over time</vt:lpstr>
      <vt:lpstr>Circling back:  Toward agents that learn and remember over time</vt:lpstr>
      <vt:lpstr>Circling back:  Toward agents that learn and remember over time</vt:lpstr>
      <vt:lpstr>Circling back:  Toward agents that learn and remember over time</vt:lpstr>
      <vt:lpstr>Circling back:  Toward agents that learn and remember over time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UnifiedQA:  Crossing Format Boundaries With a Single QA System</dc:title>
  <dc:creator>Daniel Khashabi</dc:creator>
  <cp:lastModifiedBy>Daniel Khashabi</cp:lastModifiedBy>
  <cp:revision>137</cp:revision>
  <cp:lastPrinted>2025-12-09T14:59:54Z</cp:lastPrinted>
  <dcterms:created xsi:type="dcterms:W3CDTF">2020-06-18T00:10:56Z</dcterms:created>
  <dcterms:modified xsi:type="dcterms:W3CDTF">2026-09-14T19:52:15Z</dcterms:modified>
</cp:coreProperties>
</file>